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 Id="rId7"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4"/>
  </p:sldMasterIdLst>
  <p:notesMasterIdLst>
    <p:notesMasterId r:id="rId17"/>
  </p:notesMasterIdLst>
  <p:handoutMasterIdLst>
    <p:handoutMasterId r:id="rId18"/>
  </p:handoutMasterIdLst>
  <p:sldIdLst>
    <p:sldId id="422" r:id="rId5"/>
    <p:sldId id="433" r:id="rId6"/>
    <p:sldId id="483" r:id="rId7"/>
    <p:sldId id="507" r:id="rId8"/>
    <p:sldId id="519" r:id="rId32"/>
    <p:sldId id="518" r:id="rId31"/>
    <p:sldId id="481" r:id="rId9"/>
    <p:sldId id="526" r:id="rId33"/>
    <p:sldId id="522" r:id="rId35"/>
    <p:sldId id="523" r:id="rId36"/>
    <p:sldId id="524" r:id="rId37"/>
    <p:sldId id="508" r:id="rId10"/>
    <p:sldId id="482" r:id="rId11"/>
    <p:sldId id="509" r:id="rId12"/>
    <p:sldId id="506" r:id="rId14"/>
    <p:sldId id="511" r:id="rId15"/>
    <p:sldId id="513" r:id="rId16"/>
    <p:sldId id="525" r:id="rId38"/>
    <p:sldId id="510" r:id="rId13"/>
  </p:sldIdLst>
  <p:sldSz cx="9144000" cy="6858000" type="screen4x3"/>
  <p:notesSz cx="7023100" cy="93091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2880" userDrawn="1">
          <p15:clr>
            <a:srgbClr val="A4A3A4"/>
          </p15:clr>
        </p15:guide>
        <p15:guide id="2" orient="horz" pos="2160" userDrawn="1">
          <p15:clr>
            <a:srgbClr val="A4A3A4"/>
          </p15:clr>
        </p15:guide>
      </p15:sldGuideLst>
    </p:ext>
    <p:ext uri="{2D200454-40CA-4A62-9FC3-DE9A4176ACB9}">
      <p15:notesGuideLst xmlns:p15="http://schemas.microsoft.com/office/powerpoint/2012/main">
        <p15:guide id="1" orient="horz" pos="2932" userDrawn="1">
          <p15:clr>
            <a:srgbClr val="A4A3A4"/>
          </p15:clr>
        </p15:guide>
        <p15:guide id="2" pos="2213" userDrawn="1">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2" name="Author" initials="A" lastIdx="46" clrIdx="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F8C49"/>
    <a:srgbClr val="769FB9"/>
    <a:srgbClr val="156082"/>
    <a:srgbClr val="769FB6"/>
    <a:srgbClr val="4F505D"/>
    <a:srgbClr val="FFCFD2"/>
    <a:srgbClr val="EC9A07"/>
    <a:srgbClr val="00B050"/>
    <a:srgbClr val="FFA97B"/>
    <a:srgbClr val="DD201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03DB18F-64E6-4430-AE39-36A3F49E788B}" v="6" dt="2026-07-01T16:48:15.269"/>
  </p1510:revLst>
</p1510:revInfo>
</file>

<file path=ppt/tableStyles.xml><?xml version="1.0" encoding="utf-8"?>
<a:tblStyleLst xmlns:a="http://schemas.openxmlformats.org/drawingml/2006/main" def="{073A0DAA-6AF3-43AB-8588-CEC1D06C72B9}">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6" autoAdjust="0"/>
    <p:restoredTop sz="94660"/>
  </p:normalViewPr>
  <p:slideViewPr>
    <p:cSldViewPr snapToGrid="0">
      <p:cViewPr varScale="1">
        <p:scale>
          <a:sx n="115" d="100"/>
          <a:sy n="115" d="100"/>
        </p:scale>
        <p:origin x="1848" y="72"/>
      </p:cViewPr>
      <p:guideLst>
        <p:guide pos="2880"/>
        <p:guide orient="horz" pos="2160"/>
      </p:guideLst>
    </p:cSldViewPr>
  </p:slideViewPr>
  <p:notesTextViewPr>
    <p:cViewPr>
      <p:scale>
        <a:sx n="1" d="1"/>
        <a:sy n="1" d="1"/>
      </p:scale>
      <p:origin x="0" y="0"/>
    </p:cViewPr>
  </p:notesTextViewPr>
  <p:notesViewPr>
    <p:cSldViewPr snapToGrid="0">
      <p:cViewPr>
        <p:scale>
          <a:sx n="1" d="2"/>
          <a:sy n="1" d="2"/>
        </p:scale>
        <p:origin x="0" y="0"/>
      </p:cViewPr>
      <p:guideLst>
        <p:guide orient="horz" pos="2932"/>
        <p:guide pos="2213"/>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7.xml"/><Relationship Id="rId10" Type="http://schemas.openxmlformats.org/officeDocument/2006/relationships/slide" Target="slides/slide12.xml"/><Relationship Id="rId11" Type="http://schemas.openxmlformats.org/officeDocument/2006/relationships/slide" Target="slides/slide13.xml"/><Relationship Id="rId12" Type="http://schemas.openxmlformats.org/officeDocument/2006/relationships/slide" Target="slides/slide14.xml"/><Relationship Id="rId13" Type="http://schemas.openxmlformats.org/officeDocument/2006/relationships/slide" Target="slides/slide19.xml"/><Relationship Id="rId14" Type="http://schemas.openxmlformats.org/officeDocument/2006/relationships/slide" Target="slides/slide15.xml"/><Relationship Id="rId15" Type="http://schemas.openxmlformats.org/officeDocument/2006/relationships/slide" Target="slides/slide16.xml"/><Relationship Id="rId16" Type="http://schemas.openxmlformats.org/officeDocument/2006/relationships/slide" Target="slides/slide17.xml"/><Relationship Id="rId17" Type="http://schemas.openxmlformats.org/officeDocument/2006/relationships/notesMaster" Target="notesMasters/notesMaster1.xml"/><Relationship Id="rId18" Type="http://schemas.openxmlformats.org/officeDocument/2006/relationships/handoutMaster" Target="handoutMasters/handoutMaster1.xml"/><Relationship Id="rId19" Type="http://schemas.openxmlformats.org/officeDocument/2006/relationships/commentAuthors" Target="commentAuthors.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microsoft.com/office/2016/11/relationships/changesInfo" Target="changesInfos/changesInfo1.xml"/><Relationship Id="rId25" Type="http://schemas.microsoft.com/office/2015/10/relationships/revisionInfo" Target="revisionInfo.xml"/><Relationship Id="rId26" Type="http://schemas.microsoft.com/office/2018/10/relationships/authors" Target="authors.xml"/><Relationship Id="rId31" Type="http://schemas.openxmlformats.org/officeDocument/2006/relationships/slide" Target="slides/slide6.xml"/><Relationship Id="rId32" Type="http://schemas.openxmlformats.org/officeDocument/2006/relationships/slide" Target="slides/slide5.xml"/><Relationship Id="rId33" Type="http://schemas.openxmlformats.org/officeDocument/2006/relationships/slide" Target="slides/slide8.xml"/><Relationship Id="rId35" Type="http://schemas.openxmlformats.org/officeDocument/2006/relationships/slide" Target="slides/slide9.xml"/><Relationship Id="rId36" Type="http://schemas.openxmlformats.org/officeDocument/2006/relationships/slide" Target="slides/slide10.xml"/><Relationship Id="rId37" Type="http://schemas.openxmlformats.org/officeDocument/2006/relationships/slide" Target="slides/slide11.xml"/><Relationship Id="rId38" Type="http://schemas.openxmlformats.org/officeDocument/2006/relationships/slide" Target="slides/slide1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errick Chen" userId="c17abf16-4572-4718-92d2-b565decf0b0c" providerId="ADAL" clId="{26BCF191-4B8C-46F4-B4E0-CF774475ACF2}"/>
    <pc:docChg chg="custSel addSld delSld modSld sldOrd">
      <pc:chgData name="Derrick Chen" userId="c17abf16-4572-4718-92d2-b565decf0b0c" providerId="ADAL" clId="{26BCF191-4B8C-46F4-B4E0-CF774475ACF2}" dt="2026-07-01T18:02:56.243" v="92" actId="20577"/>
      <pc:docMkLst>
        <pc:docMk/>
      </pc:docMkLst>
      <pc:sldChg chg="modSp mod">
        <pc:chgData name="Derrick Chen" userId="c17abf16-4572-4718-92d2-b565decf0b0c" providerId="ADAL" clId="{26BCF191-4B8C-46F4-B4E0-CF774475ACF2}" dt="2026-06-26T21:09:21.628" v="25" actId="20577"/>
        <pc:sldMkLst>
          <pc:docMk/>
          <pc:sldMk cId="2627608767" sldId="422"/>
        </pc:sldMkLst>
        <pc:spChg chg="mod">
          <ac:chgData name="Derrick Chen" userId="c17abf16-4572-4718-92d2-b565decf0b0c" providerId="ADAL" clId="{26BCF191-4B8C-46F4-B4E0-CF774475ACF2}" dt="2026-06-26T21:09:21.628" v="25" actId="20577"/>
          <ac:spMkLst>
            <pc:docMk/>
            <pc:sldMk cId="2627608767" sldId="422"/>
            <ac:spMk id="3" creationId="{59638BFF-4FC7-3F12-DDB4-5547AEC40B4E}"/>
          </ac:spMkLst>
        </pc:spChg>
      </pc:sldChg>
      <pc:sldChg chg="del">
        <pc:chgData name="Derrick Chen" userId="c17abf16-4572-4718-92d2-b565decf0b0c" providerId="ADAL" clId="{26BCF191-4B8C-46F4-B4E0-CF774475ACF2}" dt="2026-07-01T00:39:06.980" v="29" actId="47"/>
        <pc:sldMkLst>
          <pc:docMk/>
          <pc:sldMk cId="2497924218" sldId="489"/>
        </pc:sldMkLst>
      </pc:sldChg>
      <pc:sldChg chg="del">
        <pc:chgData name="Derrick Chen" userId="c17abf16-4572-4718-92d2-b565decf0b0c" providerId="ADAL" clId="{26BCF191-4B8C-46F4-B4E0-CF774475ACF2}" dt="2026-07-01T00:39:14.854" v="36" actId="47"/>
        <pc:sldMkLst>
          <pc:docMk/>
          <pc:sldMk cId="637616509" sldId="492"/>
        </pc:sldMkLst>
      </pc:sldChg>
      <pc:sldChg chg="del">
        <pc:chgData name="Derrick Chen" userId="c17abf16-4572-4718-92d2-b565decf0b0c" providerId="ADAL" clId="{26BCF191-4B8C-46F4-B4E0-CF774475ACF2}" dt="2026-07-01T00:39:08.105" v="31" actId="47"/>
        <pc:sldMkLst>
          <pc:docMk/>
          <pc:sldMk cId="2727070108" sldId="493"/>
        </pc:sldMkLst>
      </pc:sldChg>
      <pc:sldChg chg="del">
        <pc:chgData name="Derrick Chen" userId="c17abf16-4572-4718-92d2-b565decf0b0c" providerId="ADAL" clId="{26BCF191-4B8C-46F4-B4E0-CF774475ACF2}" dt="2026-07-01T00:39:15.710" v="37" actId="47"/>
        <pc:sldMkLst>
          <pc:docMk/>
          <pc:sldMk cId="3714223132" sldId="495"/>
        </pc:sldMkLst>
      </pc:sldChg>
      <pc:sldChg chg="del">
        <pc:chgData name="Derrick Chen" userId="c17abf16-4572-4718-92d2-b565decf0b0c" providerId="ADAL" clId="{26BCF191-4B8C-46F4-B4E0-CF774475ACF2}" dt="2026-07-01T00:39:11.445" v="33" actId="47"/>
        <pc:sldMkLst>
          <pc:docMk/>
          <pc:sldMk cId="2747759066" sldId="496"/>
        </pc:sldMkLst>
      </pc:sldChg>
      <pc:sldChg chg="del">
        <pc:chgData name="Derrick Chen" userId="c17abf16-4572-4718-92d2-b565decf0b0c" providerId="ADAL" clId="{26BCF191-4B8C-46F4-B4E0-CF774475ACF2}" dt="2026-07-01T00:39:07.655" v="30" actId="47"/>
        <pc:sldMkLst>
          <pc:docMk/>
          <pc:sldMk cId="803245848" sldId="497"/>
        </pc:sldMkLst>
      </pc:sldChg>
      <pc:sldChg chg="del">
        <pc:chgData name="Derrick Chen" userId="c17abf16-4572-4718-92d2-b565decf0b0c" providerId="ADAL" clId="{26BCF191-4B8C-46F4-B4E0-CF774475ACF2}" dt="2026-07-01T00:39:02.384" v="26" actId="47"/>
        <pc:sldMkLst>
          <pc:docMk/>
          <pc:sldMk cId="2128817963" sldId="500"/>
        </pc:sldMkLst>
      </pc:sldChg>
      <pc:sldChg chg="del">
        <pc:chgData name="Derrick Chen" userId="c17abf16-4572-4718-92d2-b565decf0b0c" providerId="ADAL" clId="{26BCF191-4B8C-46F4-B4E0-CF774475ACF2}" dt="2026-07-01T00:39:06.286" v="28" actId="47"/>
        <pc:sldMkLst>
          <pc:docMk/>
          <pc:sldMk cId="2819474060" sldId="501"/>
        </pc:sldMkLst>
      </pc:sldChg>
      <pc:sldChg chg="del">
        <pc:chgData name="Derrick Chen" userId="c17abf16-4572-4718-92d2-b565decf0b0c" providerId="ADAL" clId="{26BCF191-4B8C-46F4-B4E0-CF774475ACF2}" dt="2026-07-01T00:39:08.637" v="32" actId="47"/>
        <pc:sldMkLst>
          <pc:docMk/>
          <pc:sldMk cId="2412664316" sldId="503"/>
        </pc:sldMkLst>
      </pc:sldChg>
      <pc:sldChg chg="del">
        <pc:chgData name="Derrick Chen" userId="c17abf16-4572-4718-92d2-b565decf0b0c" providerId="ADAL" clId="{26BCF191-4B8C-46F4-B4E0-CF774475ACF2}" dt="2026-07-01T00:39:03.402" v="27" actId="47"/>
        <pc:sldMkLst>
          <pc:docMk/>
          <pc:sldMk cId="1480335235" sldId="504"/>
        </pc:sldMkLst>
      </pc:sldChg>
      <pc:sldChg chg="del">
        <pc:chgData name="Derrick Chen" userId="c17abf16-4572-4718-92d2-b565decf0b0c" providerId="ADAL" clId="{26BCF191-4B8C-46F4-B4E0-CF774475ACF2}" dt="2026-07-01T00:39:11.912" v="34" actId="47"/>
        <pc:sldMkLst>
          <pc:docMk/>
          <pc:sldMk cId="2054142428" sldId="505"/>
        </pc:sldMkLst>
      </pc:sldChg>
      <pc:sldChg chg="delSp modSp add mod">
        <pc:chgData name="Derrick Chen" userId="c17abf16-4572-4718-92d2-b565decf0b0c" providerId="ADAL" clId="{26BCF191-4B8C-46F4-B4E0-CF774475ACF2}" dt="2026-07-01T18:02:56.243" v="92" actId="20577"/>
        <pc:sldMkLst>
          <pc:docMk/>
          <pc:sldMk cId="0" sldId="507"/>
        </pc:sldMkLst>
        <pc:spChg chg="del">
          <ac:chgData name="Derrick Chen" userId="c17abf16-4572-4718-92d2-b565decf0b0c" providerId="ADAL" clId="{26BCF191-4B8C-46F4-B4E0-CF774475ACF2}" dt="2026-07-01T17:11:22.056" v="82" actId="478"/>
          <ac:spMkLst>
            <pc:docMk/>
            <pc:sldMk cId="0" sldId="507"/>
            <ac:spMk id="3" creationId="{00000000-0000-0000-0000-000000000000}"/>
          </ac:spMkLst>
        </pc:spChg>
        <pc:spChg chg="mod">
          <ac:chgData name="Derrick Chen" userId="c17abf16-4572-4718-92d2-b565decf0b0c" providerId="ADAL" clId="{26BCF191-4B8C-46F4-B4E0-CF774475ACF2}" dt="2026-07-01T18:02:33.934" v="89" actId="20577"/>
          <ac:spMkLst>
            <pc:docMk/>
            <pc:sldMk cId="0" sldId="507"/>
            <ac:spMk id="4" creationId="{00000000-0000-0000-0000-000000000000}"/>
          </ac:spMkLst>
        </pc:spChg>
        <pc:spChg chg="mod">
          <ac:chgData name="Derrick Chen" userId="c17abf16-4572-4718-92d2-b565decf0b0c" providerId="ADAL" clId="{26BCF191-4B8C-46F4-B4E0-CF774475ACF2}" dt="2026-07-01T18:02:06.261" v="87" actId="20577"/>
          <ac:spMkLst>
            <pc:docMk/>
            <pc:sldMk cId="0" sldId="507"/>
            <ac:spMk id="6" creationId="{00000000-0000-0000-0000-000000000000}"/>
          </ac:spMkLst>
        </pc:spChg>
        <pc:spChg chg="mod">
          <ac:chgData name="Derrick Chen" userId="c17abf16-4572-4718-92d2-b565decf0b0c" providerId="ADAL" clId="{26BCF191-4B8C-46F4-B4E0-CF774475ACF2}" dt="2026-07-01T18:02:56.243" v="92" actId="20577"/>
          <ac:spMkLst>
            <pc:docMk/>
            <pc:sldMk cId="0" sldId="507"/>
            <ac:spMk id="7" creationId="{00000000-0000-0000-0000-000000000000}"/>
          </ac:spMkLst>
        </pc:spChg>
      </pc:sldChg>
      <pc:sldChg chg="del">
        <pc:chgData name="Derrick Chen" userId="c17abf16-4572-4718-92d2-b565decf0b0c" providerId="ADAL" clId="{26BCF191-4B8C-46F4-B4E0-CF774475ACF2}" dt="2026-07-01T00:39:12.514" v="35" actId="47"/>
        <pc:sldMkLst>
          <pc:docMk/>
          <pc:sldMk cId="1932589684" sldId="507"/>
        </pc:sldMkLst>
      </pc:sldChg>
      <pc:sldChg chg="delSp modSp add mod ord">
        <pc:chgData name="Derrick Chen" userId="c17abf16-4572-4718-92d2-b565decf0b0c" providerId="ADAL" clId="{26BCF191-4B8C-46F4-B4E0-CF774475ACF2}" dt="2026-07-01T17:11:17.592" v="81" actId="478"/>
        <pc:sldMkLst>
          <pc:docMk/>
          <pc:sldMk cId="0" sldId="508"/>
        </pc:sldMkLst>
        <pc:spChg chg="mod">
          <ac:chgData name="Derrick Chen" userId="c17abf16-4572-4718-92d2-b565decf0b0c" providerId="ADAL" clId="{26BCF191-4B8C-46F4-B4E0-CF774475ACF2}" dt="2026-07-01T17:10:48.501" v="78" actId="207"/>
          <ac:spMkLst>
            <pc:docMk/>
            <pc:sldMk cId="0" sldId="508"/>
            <ac:spMk id="2" creationId="{00000000-0000-0000-0000-000000000000}"/>
          </ac:spMkLst>
        </pc:spChg>
        <pc:spChg chg="del">
          <ac:chgData name="Derrick Chen" userId="c17abf16-4572-4718-92d2-b565decf0b0c" providerId="ADAL" clId="{26BCF191-4B8C-46F4-B4E0-CF774475ACF2}" dt="2026-07-01T17:11:17.592" v="81" actId="478"/>
          <ac:spMkLst>
            <pc:docMk/>
            <pc:sldMk cId="0" sldId="508"/>
            <ac:spMk id="3" creationId="{00000000-0000-0000-0000-000000000000}"/>
          </ac:spMkLst>
        </pc:spChg>
        <pc:graphicFrameChg chg="modGraphic">
          <ac:chgData name="Derrick Chen" userId="c17abf16-4572-4718-92d2-b565decf0b0c" providerId="ADAL" clId="{26BCF191-4B8C-46F4-B4E0-CF774475ACF2}" dt="2026-07-01T17:11:04.452" v="80" actId="207"/>
          <ac:graphicFrameMkLst>
            <pc:docMk/>
            <pc:sldMk cId="0" sldId="508"/>
            <ac:graphicFrameMk id="6" creationId="{00000000-0000-0000-0000-000000000000}"/>
          </ac:graphicFrameMkLst>
        </pc:graphicFrameChg>
      </pc:sldChg>
      <pc:sldChg chg="delSp modSp add mod">
        <pc:chgData name="Derrick Chen" userId="c17abf16-4572-4718-92d2-b565decf0b0c" providerId="ADAL" clId="{26BCF191-4B8C-46F4-B4E0-CF774475ACF2}" dt="2026-07-01T17:10:43.384" v="77" actId="207"/>
        <pc:sldMkLst>
          <pc:docMk/>
          <pc:sldMk cId="0" sldId="509"/>
        </pc:sldMkLst>
        <pc:spChg chg="mod">
          <ac:chgData name="Derrick Chen" userId="c17abf16-4572-4718-92d2-b565decf0b0c" providerId="ADAL" clId="{26BCF191-4B8C-46F4-B4E0-CF774475ACF2}" dt="2026-07-01T17:10:43.384" v="77" actId="207"/>
          <ac:spMkLst>
            <pc:docMk/>
            <pc:sldMk cId="0" sldId="509"/>
            <ac:spMk id="2" creationId="{00000000-0000-0000-0000-000000000000}"/>
          </ac:spMkLst>
        </pc:spChg>
        <pc:spChg chg="del">
          <ac:chgData name="Derrick Chen" userId="c17abf16-4572-4718-92d2-b565decf0b0c" providerId="ADAL" clId="{26BCF191-4B8C-46F4-B4E0-CF774475ACF2}" dt="2026-07-01T16:50:29.549" v="62" actId="478"/>
          <ac:spMkLst>
            <pc:docMk/>
            <pc:sldMk cId="0" sldId="509"/>
            <ac:spMk id="3" creationId="{00000000-0000-0000-0000-000000000000}"/>
          </ac:spMkLst>
        </pc:spChg>
        <pc:spChg chg="del mod">
          <ac:chgData name="Derrick Chen" userId="c17abf16-4572-4718-92d2-b565decf0b0c" providerId="ADAL" clId="{26BCF191-4B8C-46F4-B4E0-CF774475ACF2}" dt="2026-07-01T17:09:18.326" v="71" actId="478"/>
          <ac:spMkLst>
            <pc:docMk/>
            <pc:sldMk cId="0" sldId="509"/>
            <ac:spMk id="4" creationId="{00000000-0000-0000-0000-000000000000}"/>
          </ac:spMkLst>
        </pc:spChg>
      </pc:sldChg>
      <pc:sldChg chg="delSp modSp add mod">
        <pc:chgData name="Derrick Chen" userId="c17abf16-4572-4718-92d2-b565decf0b0c" providerId="ADAL" clId="{26BCF191-4B8C-46F4-B4E0-CF774475ACF2}" dt="2026-07-01T17:09:22.523" v="72" actId="478"/>
        <pc:sldMkLst>
          <pc:docMk/>
          <pc:sldMk cId="0" sldId="510"/>
        </pc:sldMkLst>
        <pc:spChg chg="mod">
          <ac:chgData name="Derrick Chen" userId="c17abf16-4572-4718-92d2-b565decf0b0c" providerId="ADAL" clId="{26BCF191-4B8C-46F4-B4E0-CF774475ACF2}" dt="2026-07-01T16:50:21.641" v="60" actId="207"/>
          <ac:spMkLst>
            <pc:docMk/>
            <pc:sldMk cId="0" sldId="510"/>
            <ac:spMk id="2" creationId="{00000000-0000-0000-0000-000000000000}"/>
          </ac:spMkLst>
        </pc:spChg>
        <pc:spChg chg="del">
          <ac:chgData name="Derrick Chen" userId="c17abf16-4572-4718-92d2-b565decf0b0c" providerId="ADAL" clId="{26BCF191-4B8C-46F4-B4E0-CF774475ACF2}" dt="2026-07-01T16:50:26.174" v="61" actId="478"/>
          <ac:spMkLst>
            <pc:docMk/>
            <pc:sldMk cId="0" sldId="510"/>
            <ac:spMk id="3" creationId="{00000000-0000-0000-0000-000000000000}"/>
          </ac:spMkLst>
        </pc:spChg>
        <pc:spChg chg="del">
          <ac:chgData name="Derrick Chen" userId="c17abf16-4572-4718-92d2-b565decf0b0c" providerId="ADAL" clId="{26BCF191-4B8C-46F4-B4E0-CF774475ACF2}" dt="2026-07-01T17:09:22.523" v="72" actId="478"/>
          <ac:spMkLst>
            <pc:docMk/>
            <pc:sldMk cId="0" sldId="510"/>
            <ac:spMk id="4" creationId="{00000000-0000-0000-0000-000000000000}"/>
          </ac:spMkLst>
        </pc:spChg>
        <pc:spChg chg="mod">
          <ac:chgData name="Derrick Chen" userId="c17abf16-4572-4718-92d2-b565decf0b0c" providerId="ADAL" clId="{26BCF191-4B8C-46F4-B4E0-CF774475ACF2}" dt="2026-07-01T16:49:07.489" v="52" actId="20577"/>
          <ac:spMkLst>
            <pc:docMk/>
            <pc:sldMk cId="0" sldId="510"/>
            <ac:spMk id="7" creationId="{00000000-0000-0000-0000-000000000000}"/>
          </ac:spMkLst>
        </pc:spChg>
        <pc:graphicFrameChg chg="mod modGraphic">
          <ac:chgData name="Derrick Chen" userId="c17abf16-4572-4718-92d2-b565decf0b0c" providerId="ADAL" clId="{26BCF191-4B8C-46F4-B4E0-CF774475ACF2}" dt="2026-07-01T16:48:53.063" v="49" actId="207"/>
          <ac:graphicFrameMkLst>
            <pc:docMk/>
            <pc:sldMk cId="0" sldId="510"/>
            <ac:graphicFrameMk id="6" creationId="{00000000-0000-0000-0000-000000000000}"/>
          </ac:graphicFrameMkLst>
        </pc:graphicFrameChg>
      </pc:sldChg>
      <pc:sldChg chg="delSp modSp add mod">
        <pc:chgData name="Derrick Chen" userId="c17abf16-4572-4718-92d2-b565decf0b0c" providerId="ADAL" clId="{26BCF191-4B8C-46F4-B4E0-CF774475ACF2}" dt="2026-07-01T17:10:36.157" v="76" actId="207"/>
        <pc:sldMkLst>
          <pc:docMk/>
          <pc:sldMk cId="0" sldId="511"/>
        </pc:sldMkLst>
        <pc:spChg chg="mod">
          <ac:chgData name="Derrick Chen" userId="c17abf16-4572-4718-92d2-b565decf0b0c" providerId="ADAL" clId="{26BCF191-4B8C-46F4-B4E0-CF774475ACF2}" dt="2026-07-01T17:10:36.157" v="76" actId="207"/>
          <ac:spMkLst>
            <pc:docMk/>
            <pc:sldMk cId="0" sldId="511"/>
            <ac:spMk id="2" creationId="{00000000-0000-0000-0000-000000000000}"/>
          </ac:spMkLst>
        </pc:spChg>
        <pc:spChg chg="del">
          <ac:chgData name="Derrick Chen" userId="c17abf16-4572-4718-92d2-b565decf0b0c" providerId="ADAL" clId="{26BCF191-4B8C-46F4-B4E0-CF774475ACF2}" dt="2026-07-01T17:09:26.906" v="73" actId="478"/>
          <ac:spMkLst>
            <pc:docMk/>
            <pc:sldMk cId="0" sldId="511"/>
            <ac:spMk id="4" creationId="{00000000-0000-0000-0000-000000000000}"/>
          </ac:spMkLst>
        </pc:spChg>
        <pc:spChg chg="mod">
          <ac:chgData name="Derrick Chen" userId="c17abf16-4572-4718-92d2-b565decf0b0c" providerId="ADAL" clId="{26BCF191-4B8C-46F4-B4E0-CF774475ACF2}" dt="2026-07-01T16:50:14.655" v="59" actId="20577"/>
          <ac:spMkLst>
            <pc:docMk/>
            <pc:sldMk cId="0" sldId="511"/>
            <ac:spMk id="7" creationId="{00000000-0000-0000-0000-000000000000}"/>
          </ac:spMkLst>
        </pc:spChg>
        <pc:graphicFrameChg chg="mod modGraphic">
          <ac:chgData name="Derrick Chen" userId="c17abf16-4572-4718-92d2-b565decf0b0c" providerId="ADAL" clId="{26BCF191-4B8C-46F4-B4E0-CF774475ACF2}" dt="2026-07-01T16:50:05.742" v="57" actId="207"/>
          <ac:graphicFrameMkLst>
            <pc:docMk/>
            <pc:sldMk cId="0" sldId="511"/>
            <ac:graphicFrameMk id="6" creationId="{00000000-0000-0000-0000-000000000000}"/>
          </ac:graphicFrameMkLst>
        </pc:graphicFrameChg>
      </pc:sldChg>
      <pc:sldChg chg="delSp modSp add mod">
        <pc:chgData name="Derrick Chen" userId="c17abf16-4572-4718-92d2-b565decf0b0c" providerId="ADAL" clId="{26BCF191-4B8C-46F4-B4E0-CF774475ACF2}" dt="2026-07-01T17:08:50.195" v="69" actId="20577"/>
        <pc:sldMkLst>
          <pc:docMk/>
          <pc:sldMk cId="0" sldId="512"/>
        </pc:sldMkLst>
        <pc:spChg chg="del">
          <ac:chgData name="Derrick Chen" userId="c17abf16-4572-4718-92d2-b565decf0b0c" providerId="ADAL" clId="{26BCF191-4B8C-46F4-B4E0-CF774475ACF2}" dt="2026-07-01T16:50:35.947" v="63" actId="478"/>
          <ac:spMkLst>
            <pc:docMk/>
            <pc:sldMk cId="0" sldId="512"/>
            <ac:spMk id="3" creationId="{00000000-0000-0000-0000-000000000000}"/>
          </ac:spMkLst>
        </pc:spChg>
        <pc:spChg chg="mod">
          <ac:chgData name="Derrick Chen" userId="c17abf16-4572-4718-92d2-b565decf0b0c" providerId="ADAL" clId="{26BCF191-4B8C-46F4-B4E0-CF774475ACF2}" dt="2026-07-01T17:08:33.164" v="64" actId="20577"/>
          <ac:spMkLst>
            <pc:docMk/>
            <pc:sldMk cId="0" sldId="512"/>
            <ac:spMk id="6" creationId="{00000000-0000-0000-0000-000000000000}"/>
          </ac:spMkLst>
        </pc:spChg>
        <pc:spChg chg="mod">
          <ac:chgData name="Derrick Chen" userId="c17abf16-4572-4718-92d2-b565decf0b0c" providerId="ADAL" clId="{26BCF191-4B8C-46F4-B4E0-CF774475ACF2}" dt="2026-07-01T17:08:50.195" v="69" actId="20577"/>
          <ac:spMkLst>
            <pc:docMk/>
            <pc:sldMk cId="0" sldId="512"/>
            <ac:spMk id="8" creationId="{00000000-0000-0000-0000-000000000000}"/>
          </ac:spMkLst>
        </pc:spChg>
        <pc:spChg chg="mod">
          <ac:chgData name="Derrick Chen" userId="c17abf16-4572-4718-92d2-b565decf0b0c" providerId="ADAL" clId="{26BCF191-4B8C-46F4-B4E0-CF774475ACF2}" dt="2026-07-01T17:08:37.459" v="65" actId="20577"/>
          <ac:spMkLst>
            <pc:docMk/>
            <pc:sldMk cId="0" sldId="512"/>
            <ac:spMk id="10" creationId="{00000000-0000-0000-0000-000000000000}"/>
          </ac:spMkLst>
        </pc:spChg>
        <pc:spChg chg="mod">
          <ac:chgData name="Derrick Chen" userId="c17abf16-4572-4718-92d2-b565decf0b0c" providerId="ADAL" clId="{26BCF191-4B8C-46F4-B4E0-CF774475ACF2}" dt="2026-07-01T17:08:46.793" v="68" actId="20577"/>
          <ac:spMkLst>
            <pc:docMk/>
            <pc:sldMk cId="0" sldId="512"/>
            <ac:spMk id="12" creationId="{00000000-0000-0000-0000-000000000000}"/>
          </ac:spMkLst>
        </pc:spChg>
        <pc:spChg chg="mod">
          <ac:chgData name="Derrick Chen" userId="c17abf16-4572-4718-92d2-b565decf0b0c" providerId="ADAL" clId="{26BCF191-4B8C-46F4-B4E0-CF774475ACF2}" dt="2026-07-01T17:08:40.873" v="66" actId="20577"/>
          <ac:spMkLst>
            <pc:docMk/>
            <pc:sldMk cId="0" sldId="512"/>
            <ac:spMk id="14" creationId="{00000000-0000-0000-0000-000000000000}"/>
          </ac:spMkLst>
        </pc:spChg>
        <pc:spChg chg="mod">
          <ac:chgData name="Derrick Chen" userId="c17abf16-4572-4718-92d2-b565decf0b0c" providerId="ADAL" clId="{26BCF191-4B8C-46F4-B4E0-CF774475ACF2}" dt="2026-07-01T17:08:44.045" v="67" actId="20577"/>
          <ac:spMkLst>
            <pc:docMk/>
            <pc:sldMk cId="0" sldId="512"/>
            <ac:spMk id="16" creationId="{00000000-0000-0000-0000-000000000000}"/>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5" y="3"/>
            <a:ext cx="3043342" cy="465455"/>
          </a:xfrm>
          <a:prstGeom prst="rect">
            <a:avLst/>
          </a:prstGeom>
        </p:spPr>
        <p:txBody>
          <a:bodyPr vert="horz" lIns="93969" tIns="46985" rIns="93969" bIns="46985" rtlCol="0"/>
          <a:lstStyle>
            <a:lvl1pPr algn="l">
              <a:defRPr sz="1200"/>
            </a:lvl1pPr>
          </a:lstStyle>
          <a:p>
            <a:endParaRPr/>
          </a:p>
        </p:txBody>
      </p:sp>
      <p:sp>
        <p:nvSpPr>
          <p:cNvPr id="3" name="Date Placeholder 2"/>
          <p:cNvSpPr>
            <a:spLocks noGrp="1"/>
          </p:cNvSpPr>
          <p:nvPr>
            <p:ph type="dt" sz="quarter" idx="1"/>
          </p:nvPr>
        </p:nvSpPr>
        <p:spPr>
          <a:xfrm>
            <a:off x="3978136" y="3"/>
            <a:ext cx="3043342" cy="465455"/>
          </a:xfrm>
          <a:prstGeom prst="rect">
            <a:avLst/>
          </a:prstGeom>
        </p:spPr>
        <p:txBody>
          <a:bodyPr vert="horz" lIns="93969" tIns="46985" rIns="93969" bIns="46985" rtlCol="0"/>
          <a:lstStyle>
            <a:lvl1pPr algn="r">
              <a:defRPr sz="1200"/>
            </a:lvl1pPr>
          </a:lstStyle>
          <a:p>
            <a:fld id="{128FCA9C-FF92-4024-BDEC-A6D3B663DC09}" type="datetimeFigureOut">
              <a:rPr lang="en-US"/>
              <a:t>7/2/2026</a:t>
            </a:fld>
            <a:endParaRPr/>
          </a:p>
        </p:txBody>
      </p:sp>
      <p:sp>
        <p:nvSpPr>
          <p:cNvPr id="4" name="Footer Placeholder 3"/>
          <p:cNvSpPr>
            <a:spLocks noGrp="1"/>
          </p:cNvSpPr>
          <p:nvPr>
            <p:ph type="ftr" sz="quarter" idx="2"/>
          </p:nvPr>
        </p:nvSpPr>
        <p:spPr>
          <a:xfrm>
            <a:off x="5" y="8842031"/>
            <a:ext cx="3043342" cy="465455"/>
          </a:xfrm>
          <a:prstGeom prst="rect">
            <a:avLst/>
          </a:prstGeom>
        </p:spPr>
        <p:txBody>
          <a:bodyPr vert="horz" lIns="93969" tIns="46985" rIns="93969" bIns="46985" rtlCol="0" anchor="b"/>
          <a:lstStyle>
            <a:lvl1pPr algn="l">
              <a:defRPr sz="1200"/>
            </a:lvl1pPr>
          </a:lstStyle>
          <a:p>
            <a:endParaRPr/>
          </a:p>
        </p:txBody>
      </p:sp>
      <p:sp>
        <p:nvSpPr>
          <p:cNvPr id="5" name="Slide Number Placeholder 4"/>
          <p:cNvSpPr>
            <a:spLocks noGrp="1"/>
          </p:cNvSpPr>
          <p:nvPr>
            <p:ph type="sldNum" sz="quarter" idx="3"/>
          </p:nvPr>
        </p:nvSpPr>
        <p:spPr>
          <a:xfrm>
            <a:off x="3978136" y="8842031"/>
            <a:ext cx="3043342" cy="465455"/>
          </a:xfrm>
          <a:prstGeom prst="rect">
            <a:avLst/>
          </a:prstGeom>
        </p:spPr>
        <p:txBody>
          <a:bodyPr vert="horz" lIns="93969" tIns="46985" rIns="93969" bIns="46985" rtlCol="0" anchor="b"/>
          <a:lstStyle>
            <a:lvl1pPr algn="r">
              <a:defRPr sz="1200"/>
            </a:lvl1pPr>
          </a:lstStyle>
          <a:p>
            <a:fld id="{A446DCAE-1661-43FF-8A44-43DAFDC1FD90}" type="slidenum">
              <a:rPr/>
              <a:t>‹#›</a:t>
            </a:fld>
            <a:endParaRPr/>
          </a:p>
        </p:txBody>
      </p:sp>
    </p:spTree>
    <p:extLst>
      <p:ext uri="{BB962C8B-B14F-4D97-AF65-F5344CB8AC3E}">
        <p14:creationId xmlns:p14="http://schemas.microsoft.com/office/powerpoint/2010/main" val="291980556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5" y="3"/>
            <a:ext cx="3043342" cy="465455"/>
          </a:xfrm>
          <a:prstGeom prst="rect">
            <a:avLst/>
          </a:prstGeom>
        </p:spPr>
        <p:txBody>
          <a:bodyPr vert="horz" lIns="93969" tIns="46985" rIns="93969" bIns="46985" rtlCol="0"/>
          <a:lstStyle>
            <a:lvl1pPr algn="l">
              <a:defRPr sz="1200"/>
            </a:lvl1pPr>
          </a:lstStyle>
          <a:p>
            <a:endParaRPr/>
          </a:p>
        </p:txBody>
      </p:sp>
      <p:sp>
        <p:nvSpPr>
          <p:cNvPr id="3" name="Date Placeholder 2"/>
          <p:cNvSpPr>
            <a:spLocks noGrp="1"/>
          </p:cNvSpPr>
          <p:nvPr>
            <p:ph type="dt" idx="1"/>
          </p:nvPr>
        </p:nvSpPr>
        <p:spPr>
          <a:xfrm>
            <a:off x="3978136" y="3"/>
            <a:ext cx="3043342" cy="465455"/>
          </a:xfrm>
          <a:prstGeom prst="rect">
            <a:avLst/>
          </a:prstGeom>
        </p:spPr>
        <p:txBody>
          <a:bodyPr vert="horz" lIns="93969" tIns="46985" rIns="93969" bIns="46985" rtlCol="0"/>
          <a:lstStyle>
            <a:lvl1pPr algn="r">
              <a:defRPr sz="1200"/>
            </a:lvl1pPr>
          </a:lstStyle>
          <a:p>
            <a:fld id="{772AB877-E7B1-4681-847E-D0918612832B}" type="datetimeFigureOut">
              <a:rPr lang="en-US"/>
              <a:t>7/2/2026</a:t>
            </a:fld>
            <a:endParaRPr/>
          </a:p>
        </p:txBody>
      </p:sp>
      <p:sp>
        <p:nvSpPr>
          <p:cNvPr id="4" name="Slide Image Placeholder 3"/>
          <p:cNvSpPr>
            <a:spLocks noGrp="1" noRot="1" noChangeAspect="1"/>
          </p:cNvSpPr>
          <p:nvPr>
            <p:ph type="sldImg" idx="2"/>
          </p:nvPr>
        </p:nvSpPr>
        <p:spPr>
          <a:xfrm>
            <a:off x="1184275" y="698500"/>
            <a:ext cx="4654550" cy="3490913"/>
          </a:xfrm>
          <a:prstGeom prst="rect">
            <a:avLst/>
          </a:prstGeom>
          <a:noFill/>
          <a:ln w="12700">
            <a:solidFill>
              <a:prstClr val="black"/>
            </a:solidFill>
          </a:ln>
        </p:spPr>
        <p:txBody>
          <a:bodyPr vert="horz" lIns="93969" tIns="46985" rIns="93969" bIns="46985" rtlCol="0" anchor="ctr"/>
          <a:lstStyle/>
          <a:p>
            <a:endParaRPr/>
          </a:p>
        </p:txBody>
      </p:sp>
      <p:sp>
        <p:nvSpPr>
          <p:cNvPr id="5" name="Notes Placeholder 4"/>
          <p:cNvSpPr>
            <a:spLocks noGrp="1"/>
          </p:cNvSpPr>
          <p:nvPr>
            <p:ph type="body" sz="quarter" idx="3"/>
          </p:nvPr>
        </p:nvSpPr>
        <p:spPr>
          <a:xfrm>
            <a:off x="702311" y="4421824"/>
            <a:ext cx="5618480" cy="4189095"/>
          </a:xfrm>
          <a:prstGeom prst="rect">
            <a:avLst/>
          </a:prstGeom>
        </p:spPr>
        <p:txBody>
          <a:bodyPr vert="horz" lIns="93969" tIns="46985" rIns="93969" bIns="46985" rtlCol="0"/>
          <a:lstStyle/>
          <a:p>
            <a:pPr lvl="0"/>
            <a:r>
              <a:t>Click to edit Master text styles</a:t>
            </a:r>
          </a:p>
          <a:p>
            <a:pPr lvl="1"/>
            <a:r>
              <a:t>Second level</a:t>
            </a:r>
          </a:p>
          <a:p>
            <a:pPr lvl="2"/>
            <a:r>
              <a:t>Third level</a:t>
            </a:r>
          </a:p>
          <a:p>
            <a:pPr lvl="3"/>
            <a:r>
              <a:t>Fourth level</a:t>
            </a:r>
          </a:p>
          <a:p>
            <a:pPr lvl="4"/>
            <a:r>
              <a:t>Fifth level</a:t>
            </a:r>
          </a:p>
        </p:txBody>
      </p:sp>
      <p:sp>
        <p:nvSpPr>
          <p:cNvPr id="6" name="Footer Placeholder 5"/>
          <p:cNvSpPr>
            <a:spLocks noGrp="1"/>
          </p:cNvSpPr>
          <p:nvPr>
            <p:ph type="ftr" sz="quarter" idx="4"/>
          </p:nvPr>
        </p:nvSpPr>
        <p:spPr>
          <a:xfrm>
            <a:off x="5" y="8842031"/>
            <a:ext cx="3043342" cy="465455"/>
          </a:xfrm>
          <a:prstGeom prst="rect">
            <a:avLst/>
          </a:prstGeom>
        </p:spPr>
        <p:txBody>
          <a:bodyPr vert="horz" lIns="93969" tIns="46985" rIns="93969" bIns="46985" rtlCol="0" anchor="b"/>
          <a:lstStyle>
            <a:lvl1pPr algn="l">
              <a:defRPr sz="1200"/>
            </a:lvl1pPr>
          </a:lstStyle>
          <a:p>
            <a:endParaRPr/>
          </a:p>
        </p:txBody>
      </p:sp>
      <p:sp>
        <p:nvSpPr>
          <p:cNvPr id="7" name="Slide Number Placeholder 6"/>
          <p:cNvSpPr>
            <a:spLocks noGrp="1"/>
          </p:cNvSpPr>
          <p:nvPr>
            <p:ph type="sldNum" sz="quarter" idx="5"/>
          </p:nvPr>
        </p:nvSpPr>
        <p:spPr>
          <a:xfrm>
            <a:off x="3978136" y="8842031"/>
            <a:ext cx="3043342" cy="465455"/>
          </a:xfrm>
          <a:prstGeom prst="rect">
            <a:avLst/>
          </a:prstGeom>
        </p:spPr>
        <p:txBody>
          <a:bodyPr vert="horz" lIns="93969" tIns="46985" rIns="93969" bIns="46985" rtlCol="0" anchor="b"/>
          <a:lstStyle>
            <a:lvl1pPr algn="r">
              <a:defRPr sz="1200"/>
            </a:lvl1pPr>
          </a:lstStyle>
          <a:p>
            <a:fld id="{69C971FF-EF28-4195-A575-329446EFAA55}" type="slidenum">
              <a:rPr/>
              <a:t>‹#›</a:t>
            </a:fld>
            <a:endParaRPr/>
          </a:p>
        </p:txBody>
      </p:sp>
    </p:spTree>
    <p:extLst>
      <p:ext uri="{BB962C8B-B14F-4D97-AF65-F5344CB8AC3E}">
        <p14:creationId xmlns:p14="http://schemas.microsoft.com/office/powerpoint/2010/main" val="13989950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lumMod val="50000"/>
          </a:schemeClr>
        </a:solidFill>
        <a:latin typeface="+mn-lt"/>
        <a:ea typeface="+mn-ea"/>
        <a:cs typeface="+mn-cs"/>
      </a:defRPr>
    </a:lvl1pPr>
    <a:lvl2pPr marL="457200" algn="l" defTabSz="914400" rtl="0" eaLnBrk="1" latinLnBrk="0" hangingPunct="1">
      <a:defRPr sz="1200" kern="1200">
        <a:solidFill>
          <a:schemeClr val="tx1">
            <a:lumMod val="50000"/>
          </a:schemeClr>
        </a:solidFill>
        <a:latin typeface="+mn-lt"/>
        <a:ea typeface="+mn-ea"/>
        <a:cs typeface="+mn-cs"/>
      </a:defRPr>
    </a:lvl2pPr>
    <a:lvl3pPr marL="914400" algn="l" defTabSz="914400" rtl="0" eaLnBrk="1" latinLnBrk="0" hangingPunct="1">
      <a:defRPr sz="1200" kern="1200">
        <a:solidFill>
          <a:schemeClr val="tx1">
            <a:lumMod val="50000"/>
          </a:schemeClr>
        </a:solidFill>
        <a:latin typeface="+mn-lt"/>
        <a:ea typeface="+mn-ea"/>
        <a:cs typeface="+mn-cs"/>
      </a:defRPr>
    </a:lvl3pPr>
    <a:lvl4pPr marL="1371600" algn="l" defTabSz="914400" rtl="0" eaLnBrk="1" latinLnBrk="0" hangingPunct="1">
      <a:defRPr sz="1200" kern="1200">
        <a:solidFill>
          <a:schemeClr val="tx1">
            <a:lumMod val="50000"/>
          </a:schemeClr>
        </a:solidFill>
        <a:latin typeface="+mn-lt"/>
        <a:ea typeface="+mn-ea"/>
        <a:cs typeface="+mn-cs"/>
      </a:defRPr>
    </a:lvl4pPr>
    <a:lvl5pPr marL="1828800" algn="l" defTabSz="914400" rtl="0" eaLnBrk="1" latinLnBrk="0" hangingPunct="1">
      <a:defRPr sz="1200" kern="1200">
        <a:solidFill>
          <a:schemeClr val="tx1">
            <a:lumMod val="50000"/>
          </a:schemeClr>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16013" y="679450"/>
            <a:ext cx="4510087" cy="3384550"/>
          </a:xfrm>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69C971FF-EF28-4195-A575-329446EFAA55}" type="slidenum">
              <a:rPr lang="en-US" smtClean="0"/>
              <a:t>1</a:t>
            </a:fld>
            <a:endParaRPr lang="en-US"/>
          </a:p>
        </p:txBody>
      </p:sp>
    </p:spTree>
    <p:extLst>
      <p:ext uri="{BB962C8B-B14F-4D97-AF65-F5344CB8AC3E}">
        <p14:creationId xmlns:p14="http://schemas.microsoft.com/office/powerpoint/2010/main" val="17950114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Slide">
    <p:spTree>
      <p:nvGrpSpPr>
        <p:cNvPr id="1" name=""/>
        <p:cNvGrpSpPr/>
        <p:nvPr/>
      </p:nvGrpSpPr>
      <p:grpSpPr>
        <a:xfrm>
          <a:off x="0" y="0"/>
          <a:ext cx="0" cy="0"/>
          <a:chOff x="0" y="0"/>
          <a:chExt cx="0" cy="0"/>
        </a:xfrm>
      </p:grpSpPr>
      <p:sp>
        <p:nvSpPr>
          <p:cNvPr id="7" name="Subtitle 2"/>
          <p:cNvSpPr>
            <a:spLocks noGrp="1"/>
          </p:cNvSpPr>
          <p:nvPr>
            <p:ph type="subTitle" idx="1"/>
          </p:nvPr>
        </p:nvSpPr>
        <p:spPr>
          <a:xfrm>
            <a:off x="1801232" y="5715000"/>
            <a:ext cx="5541537" cy="533400"/>
          </a:xfrm>
          <a:noFill/>
        </p:spPr>
        <p:txBody>
          <a:bodyPr>
            <a:normAutofit/>
          </a:bodyPr>
          <a:lstStyle>
            <a:lvl1pPr marL="0" indent="0" algn="ctr">
              <a:spcBef>
                <a:spcPts val="0"/>
              </a:spcBef>
              <a:buNone/>
              <a:defRPr sz="1800" i="0">
                <a:solidFill>
                  <a:schemeClr val="tx1"/>
                </a:solidFill>
                <a:latin typeface="Avenir Next LT Pro" panose="020B0504020202020204" pitchFamily="34" charset="0"/>
              </a:defRPr>
            </a:lvl1pPr>
            <a:lvl2pPr marL="342991" indent="0" algn="ctr">
              <a:buNone/>
              <a:defRPr>
                <a:solidFill>
                  <a:schemeClr val="tx1">
                    <a:tint val="75000"/>
                  </a:schemeClr>
                </a:solidFill>
              </a:defRPr>
            </a:lvl2pPr>
            <a:lvl3pPr marL="685983" indent="0" algn="ctr">
              <a:buNone/>
              <a:defRPr>
                <a:solidFill>
                  <a:schemeClr val="tx1">
                    <a:tint val="75000"/>
                  </a:schemeClr>
                </a:solidFill>
              </a:defRPr>
            </a:lvl3pPr>
            <a:lvl4pPr marL="1028974" indent="0" algn="ctr">
              <a:buNone/>
              <a:defRPr>
                <a:solidFill>
                  <a:schemeClr val="tx1">
                    <a:tint val="75000"/>
                  </a:schemeClr>
                </a:solidFill>
              </a:defRPr>
            </a:lvl4pPr>
            <a:lvl5pPr marL="1371966" indent="0" algn="ctr">
              <a:buNone/>
              <a:defRPr>
                <a:solidFill>
                  <a:schemeClr val="tx1">
                    <a:tint val="75000"/>
                  </a:schemeClr>
                </a:solidFill>
              </a:defRPr>
            </a:lvl5pPr>
            <a:lvl6pPr marL="1714957" indent="0" algn="ctr">
              <a:buNone/>
              <a:defRPr>
                <a:solidFill>
                  <a:schemeClr val="tx1">
                    <a:tint val="75000"/>
                  </a:schemeClr>
                </a:solidFill>
              </a:defRPr>
            </a:lvl6pPr>
            <a:lvl7pPr marL="2057949" indent="0" algn="ctr">
              <a:buNone/>
              <a:defRPr>
                <a:solidFill>
                  <a:schemeClr val="tx1">
                    <a:tint val="75000"/>
                  </a:schemeClr>
                </a:solidFill>
              </a:defRPr>
            </a:lvl7pPr>
            <a:lvl8pPr marL="2400940" indent="0" algn="ctr">
              <a:buNone/>
              <a:defRPr>
                <a:solidFill>
                  <a:schemeClr val="tx1">
                    <a:tint val="75000"/>
                  </a:schemeClr>
                </a:solidFill>
              </a:defRPr>
            </a:lvl8pPr>
            <a:lvl9pPr marL="2743932" indent="0" algn="ctr">
              <a:buNone/>
              <a:defRPr>
                <a:solidFill>
                  <a:schemeClr val="tx1">
                    <a:tint val="75000"/>
                  </a:schemeClr>
                </a:solidFill>
              </a:defRPr>
            </a:lvl9pPr>
          </a:lstStyle>
          <a:p>
            <a:r>
              <a:rPr lang="en-US"/>
              <a:t>Click to edit Master subtitle style</a:t>
            </a:r>
            <a:endParaRPr/>
          </a:p>
        </p:txBody>
      </p:sp>
      <p:sp>
        <p:nvSpPr>
          <p:cNvPr id="8" name="Title 6"/>
          <p:cNvSpPr>
            <a:spLocks noGrp="1"/>
          </p:cNvSpPr>
          <p:nvPr>
            <p:ph type="title"/>
          </p:nvPr>
        </p:nvSpPr>
        <p:spPr>
          <a:xfrm>
            <a:off x="1800003" y="4714977"/>
            <a:ext cx="5543995" cy="923823"/>
          </a:xfrm>
          <a:prstGeom prst="rect">
            <a:avLst/>
          </a:prstGeom>
          <a:noFill/>
        </p:spPr>
        <p:txBody>
          <a:bodyPr anchor="b" anchorCtr="0">
            <a:normAutofit/>
          </a:bodyPr>
          <a:lstStyle>
            <a:lvl1pPr marL="0" algn="ctr" defTabSz="914400" rtl="0" eaLnBrk="1" latinLnBrk="0" hangingPunct="1">
              <a:lnSpc>
                <a:spcPct val="90000"/>
              </a:lnSpc>
              <a:defRPr lang="en-US" sz="2600" kern="1200" cap="none" baseline="0" dirty="0">
                <a:ln w="0"/>
                <a:solidFill>
                  <a:schemeClr val="tx1"/>
                </a:solidFill>
                <a:effectLst/>
                <a:latin typeface="Avenir Next LT Pro" panose="020B0504020202020204" pitchFamily="34" charset="0"/>
                <a:ea typeface="+mn-ea"/>
                <a:cs typeface="+mn-cs"/>
              </a:defRPr>
            </a:lvl1pPr>
          </a:lstStyle>
          <a:p>
            <a:r>
              <a:rPr lang="en-US"/>
              <a:t>Click to edit Master title style</a:t>
            </a:r>
          </a:p>
        </p:txBody>
      </p:sp>
      <p:sp>
        <p:nvSpPr>
          <p:cNvPr id="10" name="Rectangle 9"/>
          <p:cNvSpPr/>
          <p:nvPr/>
        </p:nvSpPr>
        <p:spPr>
          <a:xfrm>
            <a:off x="152400" y="143252"/>
            <a:ext cx="8839200" cy="6571496"/>
          </a:xfrm>
          <a:prstGeom prst="rect">
            <a:avLst/>
          </a:prstGeom>
          <a:no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2400"/>
          </a:p>
        </p:txBody>
      </p:sp>
    </p:spTree>
    <p:extLst>
      <p:ext uri="{BB962C8B-B14F-4D97-AF65-F5344CB8AC3E}">
        <p14:creationId xmlns:p14="http://schemas.microsoft.com/office/powerpoint/2010/main" val="8897143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9" name="Content Placeholder 2"/>
          <p:cNvSpPr>
            <a:spLocks noGrp="1"/>
          </p:cNvSpPr>
          <p:nvPr>
            <p:ph idx="1"/>
          </p:nvPr>
        </p:nvSpPr>
        <p:spPr>
          <a:xfrm>
            <a:off x="228600" y="838200"/>
            <a:ext cx="8679365" cy="5562600"/>
          </a:xfrm>
        </p:spPr>
        <p:txBody>
          <a:bodyPr>
            <a:normAutofit/>
          </a:bodyPr>
          <a:lstStyle>
            <a:lvl1pPr marL="205795" indent="-171496">
              <a:buClr>
                <a:schemeClr val="bg1">
                  <a:lumMod val="50000"/>
                </a:schemeClr>
              </a:buClr>
              <a:buSzPct val="105000"/>
              <a:buFont typeface="Wingdings" panose="05000000000000000000" pitchFamily="2" charset="2"/>
              <a:buChar char="§"/>
              <a:defRPr sz="1200">
                <a:latin typeface="Avenir Next LT Pro" panose="020B0504020202020204" pitchFamily="34" charset="0"/>
              </a:defRPr>
            </a:lvl1pPr>
            <a:lvl2pPr marL="377291" indent="-171496">
              <a:buClr>
                <a:schemeClr val="bg1">
                  <a:lumMod val="50000"/>
                </a:schemeClr>
              </a:buClr>
              <a:buSzPct val="105000"/>
              <a:buFont typeface="Cambria" panose="02040503050406030204" pitchFamily="18" charset="0"/>
              <a:buChar char="–"/>
              <a:defRPr sz="1200">
                <a:latin typeface="Avenir Next LT Pro" panose="020B0504020202020204" pitchFamily="34" charset="0"/>
              </a:defRPr>
            </a:lvl2pPr>
            <a:lvl3pPr marL="548786" indent="-171496">
              <a:buClr>
                <a:schemeClr val="bg1">
                  <a:lumMod val="50000"/>
                </a:schemeClr>
              </a:buClr>
              <a:buSzPct val="105000"/>
              <a:buFont typeface="Cambria" panose="02040503050406030204" pitchFamily="18" charset="0"/>
              <a:buChar char="–"/>
              <a:defRPr sz="1200">
                <a:latin typeface="Avenir Next LT Pro" panose="020B0504020202020204" pitchFamily="34" charset="0"/>
              </a:defRPr>
            </a:lvl3pPr>
            <a:lvl4pPr marL="720282" indent="-171496">
              <a:buClr>
                <a:schemeClr val="bg1">
                  <a:lumMod val="50000"/>
                </a:schemeClr>
              </a:buClr>
              <a:buSzPct val="105000"/>
              <a:buFont typeface="Cambria" panose="02040503050406030204" pitchFamily="18" charset="0"/>
              <a:buChar char="–"/>
              <a:defRPr sz="1200">
                <a:latin typeface="Avenir Next LT Pro" panose="020B0504020202020204" pitchFamily="34" charset="0"/>
              </a:defRPr>
            </a:lvl4pPr>
            <a:lvl5pPr marL="891778" indent="-171496">
              <a:buClr>
                <a:schemeClr val="bg1">
                  <a:lumMod val="50000"/>
                </a:schemeClr>
              </a:buClr>
              <a:buSzPct val="105000"/>
              <a:buFont typeface="Cambria" panose="02040503050406030204" pitchFamily="18" charset="0"/>
              <a:buChar char="–"/>
              <a:defRPr sz="1200">
                <a:latin typeface="Avenir Next LT Pro" panose="020B0504020202020204" pitchFamily="34" charset="0"/>
              </a:defRPr>
            </a:lvl5pPr>
            <a:lvl6pPr>
              <a:defRPr/>
            </a:lvl6pPr>
            <a:lvl7pPr>
              <a:defRPr baseline="0"/>
            </a:lvl7pPr>
            <a:lvl8pPr>
              <a:defRPr baseline="0"/>
            </a:lvl8pPr>
            <a:lvl9pPr>
              <a:defRPr baseline="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10" name="Title 1"/>
          <p:cNvSpPr>
            <a:spLocks noGrp="1"/>
          </p:cNvSpPr>
          <p:nvPr>
            <p:ph type="title"/>
          </p:nvPr>
        </p:nvSpPr>
        <p:spPr>
          <a:xfrm>
            <a:off x="228600" y="228600"/>
            <a:ext cx="8679366" cy="478756"/>
          </a:xfrm>
          <a:prstGeom prst="rect">
            <a:avLst/>
          </a:prstGeom>
        </p:spPr>
        <p:txBody>
          <a:bodyPr anchor="b" anchorCtr="0">
            <a:normAutofit/>
          </a:bodyPr>
          <a:lstStyle>
            <a:lvl1pPr algn="r">
              <a:defRPr lang="en-GB" sz="1300" b="0" kern="1200" cap="all" baseline="0" dirty="0">
                <a:solidFill>
                  <a:schemeClr val="tx1"/>
                </a:solidFill>
                <a:latin typeface="Avenir Next LT Pro Demi" panose="020B0704020202020204" pitchFamily="34" charset="0"/>
                <a:ea typeface="+mj-ea"/>
                <a:cs typeface="+mj-cs"/>
              </a:defRPr>
            </a:lvl1pPr>
          </a:lstStyle>
          <a:p>
            <a:r>
              <a:rPr lang="en-US"/>
              <a:t>Click to edit Master title style</a:t>
            </a:r>
            <a:endParaRPr lang="en-GB"/>
          </a:p>
        </p:txBody>
      </p:sp>
      <p:cxnSp>
        <p:nvCxnSpPr>
          <p:cNvPr id="15" name="Straight Connector 14"/>
          <p:cNvCxnSpPr/>
          <p:nvPr/>
        </p:nvCxnSpPr>
        <p:spPr>
          <a:xfrm>
            <a:off x="233172" y="762000"/>
            <a:ext cx="8677656" cy="0"/>
          </a:xfrm>
          <a:prstGeom prst="line">
            <a:avLst/>
          </a:prstGeom>
          <a:ln w="1905">
            <a:solidFill>
              <a:schemeClr val="accent6">
                <a:lumMod val="50000"/>
              </a:schemeClr>
            </a:solidFill>
            <a:prstDash val="solid"/>
          </a:ln>
          <a:effectLst/>
        </p:spPr>
        <p:style>
          <a:lnRef idx="3">
            <a:schemeClr val="accent6"/>
          </a:lnRef>
          <a:fillRef idx="0">
            <a:schemeClr val="accent6"/>
          </a:fillRef>
          <a:effectRef idx="2">
            <a:schemeClr val="accent6"/>
          </a:effectRef>
          <a:fontRef idx="minor">
            <a:schemeClr val="tx1"/>
          </a:fontRef>
        </p:style>
      </p:cxnSp>
      <p:sp>
        <p:nvSpPr>
          <p:cNvPr id="21" name="Rectangle 20"/>
          <p:cNvSpPr/>
          <p:nvPr/>
        </p:nvSpPr>
        <p:spPr>
          <a:xfrm>
            <a:off x="152400" y="143252"/>
            <a:ext cx="8839200" cy="6571496"/>
          </a:xfrm>
          <a:prstGeom prst="rect">
            <a:avLst/>
          </a:prstGeom>
          <a:no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2400">
              <a:latin typeface="Avenir Next LT Pro" panose="020B0504020202020204" pitchFamily="34" charset="0"/>
            </a:endParaRPr>
          </a:p>
        </p:txBody>
      </p:sp>
      <p:cxnSp>
        <p:nvCxnSpPr>
          <p:cNvPr id="22" name="Straight Connector 21"/>
          <p:cNvCxnSpPr/>
          <p:nvPr/>
        </p:nvCxnSpPr>
        <p:spPr>
          <a:xfrm>
            <a:off x="233172" y="6462132"/>
            <a:ext cx="8677656" cy="0"/>
          </a:xfrm>
          <a:prstGeom prst="line">
            <a:avLst/>
          </a:prstGeom>
          <a:ln w="1905">
            <a:solidFill>
              <a:schemeClr val="tx1"/>
            </a:solidFill>
            <a:prstDash val="solid"/>
          </a:ln>
          <a:effectLst/>
        </p:spPr>
        <p:style>
          <a:lnRef idx="3">
            <a:schemeClr val="accent6"/>
          </a:lnRef>
          <a:fillRef idx="0">
            <a:schemeClr val="accent6"/>
          </a:fillRef>
          <a:effectRef idx="2">
            <a:schemeClr val="accent6"/>
          </a:effectRef>
          <a:fontRef idx="minor">
            <a:schemeClr val="tx1"/>
          </a:fontRef>
        </p:style>
      </p:cxnSp>
      <p:sp>
        <p:nvSpPr>
          <p:cNvPr id="13" name="Slide Number Placeholder 9"/>
          <p:cNvSpPr txBox="1">
            <a:spLocks/>
          </p:cNvSpPr>
          <p:nvPr userDrawn="1"/>
        </p:nvSpPr>
        <p:spPr>
          <a:xfrm>
            <a:off x="228600" y="6477000"/>
            <a:ext cx="3017520" cy="180974"/>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cap="none" spc="0" baseline="0">
                <a:solidFill>
                  <a:schemeClr val="tx1"/>
                </a:solidFill>
                <a:latin typeface="Avenir Next LT Pro" panose="020B0504020202020204" pitchFamily="34" charset="0"/>
              </a:rPr>
              <a:t>Kildare Partners</a:t>
            </a:r>
          </a:p>
        </p:txBody>
      </p:sp>
      <p:sp>
        <p:nvSpPr>
          <p:cNvPr id="14" name="Slide Number Placeholder 9"/>
          <p:cNvSpPr txBox="1">
            <a:spLocks/>
          </p:cNvSpPr>
          <p:nvPr userDrawn="1"/>
        </p:nvSpPr>
        <p:spPr>
          <a:xfrm>
            <a:off x="7278496" y="6490519"/>
            <a:ext cx="1636904" cy="153936"/>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pc="0" baseline="0">
                <a:solidFill>
                  <a:schemeClr val="tx1"/>
                </a:solidFill>
                <a:latin typeface="Avenir Next LT Pro" panose="020B0504020202020204" pitchFamily="34" charset="0"/>
              </a:rPr>
              <a:t>Confidential | PAGE </a:t>
            </a:r>
            <a:fld id="{F36C87F6-986D-49E6-AF40-1B3A1EE8064D}" type="slidenum">
              <a:rPr lang="en-US" spc="0" baseline="0" smtClean="0">
                <a:solidFill>
                  <a:schemeClr val="tx1"/>
                </a:solidFill>
                <a:latin typeface="Avenir Next LT Pro" panose="020B0504020202020204" pitchFamily="34" charset="0"/>
              </a:rPr>
              <a:pPr/>
              <a:t>‹#›</a:t>
            </a:fld>
            <a:endParaRPr lang="en-US" spc="0" baseline="0">
              <a:solidFill>
                <a:schemeClr val="tx1"/>
              </a:solidFill>
              <a:latin typeface="Avenir Next LT Pro" panose="020B0504020202020204" pitchFamily="34" charset="0"/>
            </a:endParaRPr>
          </a:p>
        </p:txBody>
      </p:sp>
    </p:spTree>
    <p:extLst>
      <p:ext uri="{BB962C8B-B14F-4D97-AF65-F5344CB8AC3E}">
        <p14:creationId xmlns:p14="http://schemas.microsoft.com/office/powerpoint/2010/main" val="1918354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Header">
    <p:spTree>
      <p:nvGrpSpPr>
        <p:cNvPr id="1" name=""/>
        <p:cNvGrpSpPr/>
        <p:nvPr/>
      </p:nvGrpSpPr>
      <p:grpSpPr>
        <a:xfrm>
          <a:off x="0" y="0"/>
          <a:ext cx="0" cy="0"/>
          <a:chOff x="0" y="0"/>
          <a:chExt cx="0" cy="0"/>
        </a:xfrm>
      </p:grpSpPr>
      <p:sp>
        <p:nvSpPr>
          <p:cNvPr id="8" name="Title 1"/>
          <p:cNvSpPr>
            <a:spLocks noGrp="1"/>
          </p:cNvSpPr>
          <p:nvPr>
            <p:ph type="title"/>
          </p:nvPr>
        </p:nvSpPr>
        <p:spPr>
          <a:xfrm>
            <a:off x="913448" y="3135710"/>
            <a:ext cx="7317105" cy="586581"/>
          </a:xfrm>
        </p:spPr>
        <p:txBody>
          <a:bodyPr anchor="ctr">
            <a:noAutofit/>
          </a:bodyPr>
          <a:lstStyle>
            <a:lvl1pPr algn="ctr" defTabSz="685983" rtl="0" eaLnBrk="1" latinLnBrk="0" hangingPunct="1">
              <a:lnSpc>
                <a:spcPct val="90000"/>
              </a:lnSpc>
              <a:spcBef>
                <a:spcPct val="0"/>
              </a:spcBef>
              <a:buNone/>
              <a:defRPr lang="en-GB" sz="2400" b="0" kern="1200" cap="all" baseline="0" dirty="0">
                <a:solidFill>
                  <a:srgbClr val="AF8C49"/>
                </a:solidFill>
                <a:latin typeface="Avenir Next LT Pro" panose="020B0504020202020204" pitchFamily="34" charset="0"/>
                <a:ea typeface="+mj-ea"/>
                <a:cs typeface="+mj-cs"/>
              </a:defRPr>
            </a:lvl1pPr>
          </a:lstStyle>
          <a:p>
            <a:r>
              <a:rPr lang="en-US"/>
              <a:t>Click to edit Master title style</a:t>
            </a:r>
            <a:endParaRPr/>
          </a:p>
        </p:txBody>
      </p:sp>
      <p:sp>
        <p:nvSpPr>
          <p:cNvPr id="12" name="Slide Number Placeholder 9"/>
          <p:cNvSpPr txBox="1">
            <a:spLocks/>
          </p:cNvSpPr>
          <p:nvPr/>
        </p:nvSpPr>
        <p:spPr>
          <a:xfrm>
            <a:off x="228600" y="6477000"/>
            <a:ext cx="3017520" cy="180974"/>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cap="none" spc="0" baseline="0">
                <a:solidFill>
                  <a:schemeClr val="tx1"/>
                </a:solidFill>
                <a:latin typeface="Avenir Next LT Pro" panose="020B0504020202020204" pitchFamily="34" charset="0"/>
              </a:rPr>
              <a:t>Kildare Partners</a:t>
            </a:r>
          </a:p>
        </p:txBody>
      </p:sp>
      <p:sp>
        <p:nvSpPr>
          <p:cNvPr id="13" name="Rectangle 12"/>
          <p:cNvSpPr/>
          <p:nvPr/>
        </p:nvSpPr>
        <p:spPr>
          <a:xfrm>
            <a:off x="152400" y="143252"/>
            <a:ext cx="8839200" cy="6571496"/>
          </a:xfrm>
          <a:prstGeom prst="rect">
            <a:avLst/>
          </a:prstGeom>
          <a:no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2400"/>
          </a:p>
        </p:txBody>
      </p:sp>
      <p:cxnSp>
        <p:nvCxnSpPr>
          <p:cNvPr id="14" name="Straight Connector 13"/>
          <p:cNvCxnSpPr/>
          <p:nvPr/>
        </p:nvCxnSpPr>
        <p:spPr>
          <a:xfrm>
            <a:off x="233172" y="6462132"/>
            <a:ext cx="8677656" cy="0"/>
          </a:xfrm>
          <a:prstGeom prst="line">
            <a:avLst/>
          </a:prstGeom>
          <a:ln w="1905">
            <a:solidFill>
              <a:schemeClr val="tx1"/>
            </a:solidFill>
            <a:prstDash val="solid"/>
          </a:ln>
          <a:effectLst/>
        </p:spPr>
        <p:style>
          <a:lnRef idx="3">
            <a:schemeClr val="accent6"/>
          </a:lnRef>
          <a:fillRef idx="0">
            <a:schemeClr val="accent6"/>
          </a:fillRef>
          <a:effectRef idx="2">
            <a:schemeClr val="accent6"/>
          </a:effectRef>
          <a:fontRef idx="minor">
            <a:schemeClr val="tx1"/>
          </a:fontRef>
        </p:style>
      </p:cxnSp>
      <p:cxnSp>
        <p:nvCxnSpPr>
          <p:cNvPr id="9" name="Straight Connector 8"/>
          <p:cNvCxnSpPr/>
          <p:nvPr userDrawn="1"/>
        </p:nvCxnSpPr>
        <p:spPr>
          <a:xfrm>
            <a:off x="420752" y="845820"/>
            <a:ext cx="8302496" cy="0"/>
          </a:xfrm>
          <a:prstGeom prst="line">
            <a:avLst/>
          </a:prstGeom>
          <a:ln w="1905">
            <a:solidFill>
              <a:schemeClr val="accent6">
                <a:lumMod val="50000"/>
              </a:schemeClr>
            </a:solidFill>
            <a:prstDash val="solid"/>
          </a:ln>
          <a:effectLst/>
        </p:spPr>
        <p:style>
          <a:lnRef idx="3">
            <a:schemeClr val="accent6"/>
          </a:lnRef>
          <a:fillRef idx="0">
            <a:schemeClr val="accent6"/>
          </a:fillRef>
          <a:effectRef idx="2">
            <a:schemeClr val="accent6"/>
          </a:effectRef>
          <a:fontRef idx="minor">
            <a:schemeClr val="tx1"/>
          </a:fontRef>
        </p:style>
      </p:cxnSp>
      <p:sp>
        <p:nvSpPr>
          <p:cNvPr id="10" name="Slide Number Placeholder 9"/>
          <p:cNvSpPr txBox="1">
            <a:spLocks/>
          </p:cNvSpPr>
          <p:nvPr userDrawn="1"/>
        </p:nvSpPr>
        <p:spPr>
          <a:xfrm>
            <a:off x="7278496" y="6490519"/>
            <a:ext cx="1636904" cy="153936"/>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pc="0" baseline="0">
                <a:solidFill>
                  <a:schemeClr val="tx1"/>
                </a:solidFill>
                <a:latin typeface="Avenir Next LT Pro" panose="020B0504020202020204" pitchFamily="34" charset="0"/>
              </a:rPr>
              <a:t>Confidential | PAGE </a:t>
            </a:r>
            <a:fld id="{F36C87F6-986D-49E6-AF40-1B3A1EE8064D}" type="slidenum">
              <a:rPr lang="en-US" spc="0" baseline="0" smtClean="0">
                <a:solidFill>
                  <a:schemeClr val="tx1"/>
                </a:solidFill>
                <a:latin typeface="Avenir Next LT Pro" panose="020B0504020202020204" pitchFamily="34" charset="0"/>
              </a:rPr>
              <a:pPr/>
              <a:t>‹#›</a:t>
            </a:fld>
            <a:endParaRPr lang="en-US" spc="0" baseline="0">
              <a:solidFill>
                <a:schemeClr val="tx1"/>
              </a:solidFill>
              <a:latin typeface="Avenir Next LT Pro" panose="020B0504020202020204" pitchFamily="34" charset="0"/>
            </a:endParaRPr>
          </a:p>
        </p:txBody>
      </p:sp>
      <p:sp>
        <p:nvSpPr>
          <p:cNvPr id="2" name="Rectangle 1">
            <a:extLst>
              <a:ext uri="{FF2B5EF4-FFF2-40B4-BE49-F238E27FC236}">
                <a16:creationId xmlns:a16="http://schemas.microsoft.com/office/drawing/2014/main" id="{C3C3C381-A40D-8C46-E61E-BFF1FE6905FC}"/>
              </a:ext>
            </a:extLst>
          </p:cNvPr>
          <p:cNvSpPr/>
          <p:nvPr userDrawn="1"/>
        </p:nvSpPr>
        <p:spPr>
          <a:xfrm>
            <a:off x="304800" y="609600"/>
            <a:ext cx="8534400" cy="533399"/>
          </a:xfrm>
          <a:prstGeom prst="rect">
            <a:avLst/>
          </a:prstGeom>
          <a:solidFill>
            <a:schemeClr val="bg1"/>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2400"/>
          </a:p>
        </p:txBody>
      </p:sp>
    </p:spTree>
    <p:extLst>
      <p:ext uri="{BB962C8B-B14F-4D97-AF65-F5344CB8AC3E}">
        <p14:creationId xmlns:p14="http://schemas.microsoft.com/office/powerpoint/2010/main" val="21484319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with Caption">
    <p:spTree>
      <p:nvGrpSpPr>
        <p:cNvPr id="1" name=""/>
        <p:cNvGrpSpPr/>
        <p:nvPr/>
      </p:nvGrpSpPr>
      <p:grpSpPr>
        <a:xfrm>
          <a:off x="0" y="0"/>
          <a:ext cx="0" cy="0"/>
          <a:chOff x="0" y="0"/>
          <a:chExt cx="0" cy="0"/>
        </a:xfrm>
      </p:grpSpPr>
      <p:pic>
        <p:nvPicPr>
          <p:cNvPr id="13" name="Picture 12"/>
          <p:cNvPicPr>
            <a:picLocks/>
          </p:cNvPicPr>
          <p:nvPr/>
        </p:nvPicPr>
        <p:blipFill>
          <a:blip r:embed="rId2" cstate="print">
            <a:extLst>
              <a:ext uri="{28A0092B-C50C-407E-A947-70E740481C1C}">
                <a14:useLocalDpi xmlns:a14="http://schemas.microsoft.com/office/drawing/2010/main" val="0"/>
              </a:ext>
            </a:extLst>
          </a:blip>
          <a:stretch>
            <a:fillRect/>
          </a:stretch>
        </p:blipFill>
        <p:spPr>
          <a:xfrm>
            <a:off x="0" y="0"/>
            <a:ext cx="3886200" cy="6858000"/>
          </a:xfrm>
          <a:prstGeom prst="rect">
            <a:avLst/>
          </a:prstGeom>
          <a:noFill/>
        </p:spPr>
      </p:pic>
      <p:sp>
        <p:nvSpPr>
          <p:cNvPr id="14" name="Content Placeholder 2"/>
          <p:cNvSpPr>
            <a:spLocks noGrp="1"/>
          </p:cNvSpPr>
          <p:nvPr>
            <p:ph idx="1"/>
          </p:nvPr>
        </p:nvSpPr>
        <p:spPr>
          <a:xfrm>
            <a:off x="4400508" y="685800"/>
            <a:ext cx="4230202" cy="5486400"/>
          </a:xfrm>
        </p:spPr>
        <p:txBody>
          <a:bodyPr>
            <a:normAutofit/>
          </a:bodyPr>
          <a:lstStyle>
            <a:lvl1pPr>
              <a:defRPr sz="1800">
                <a:latin typeface="Avenir Next LT Pro" panose="020B0504020202020204" pitchFamily="34" charset="0"/>
              </a:defRPr>
            </a:lvl1pPr>
            <a:lvl2pPr marL="377291" marR="0" indent="-171496" algn="l" defTabSz="685983" rtl="0" eaLnBrk="1" fontAlgn="auto" latinLnBrk="0" hangingPunct="1">
              <a:lnSpc>
                <a:spcPct val="90000"/>
              </a:lnSpc>
              <a:spcBef>
                <a:spcPts val="450"/>
              </a:spcBef>
              <a:spcAft>
                <a:spcPts val="0"/>
              </a:spcAft>
              <a:buClr>
                <a:schemeClr val="bg1">
                  <a:lumMod val="50000"/>
                </a:schemeClr>
              </a:buClr>
              <a:buSzPct val="105000"/>
              <a:buFont typeface="Cambria" panose="02040503050406030204" pitchFamily="18" charset="0"/>
              <a:buChar char="–"/>
              <a:tabLst/>
              <a:defRPr sz="1200">
                <a:latin typeface="Avenir Next LT Pro" panose="020B0504020202020204" pitchFamily="34" charset="0"/>
              </a:defRPr>
            </a:lvl2pPr>
            <a:lvl3pPr marL="548786" indent="-171496" algn="l" defTabSz="685983" rtl="0" eaLnBrk="1" latinLnBrk="0" hangingPunct="1">
              <a:lnSpc>
                <a:spcPct val="90000"/>
              </a:lnSpc>
              <a:spcBef>
                <a:spcPts val="450"/>
              </a:spcBef>
              <a:buClr>
                <a:schemeClr val="bg1">
                  <a:lumMod val="50000"/>
                </a:schemeClr>
              </a:buClr>
              <a:buSzPct val="105000"/>
              <a:buFont typeface="Cambria" panose="02040503050406030204" pitchFamily="18" charset="0"/>
              <a:buChar char="–"/>
              <a:defRPr sz="1200">
                <a:latin typeface="Avenir Next LT Pro" panose="020B0504020202020204" pitchFamily="34" charset="0"/>
              </a:defRPr>
            </a:lvl3pPr>
            <a:lvl4pPr marL="720282" indent="-171496" algn="l" defTabSz="685983" rtl="0" eaLnBrk="1" latinLnBrk="0" hangingPunct="1">
              <a:lnSpc>
                <a:spcPct val="90000"/>
              </a:lnSpc>
              <a:spcBef>
                <a:spcPts val="450"/>
              </a:spcBef>
              <a:buClr>
                <a:schemeClr val="bg1">
                  <a:lumMod val="50000"/>
                </a:schemeClr>
              </a:buClr>
              <a:buSzPct val="105000"/>
              <a:buFont typeface="Cambria" panose="02040503050406030204" pitchFamily="18" charset="0"/>
              <a:buChar char="–"/>
              <a:defRPr sz="1200">
                <a:latin typeface="Avenir Next LT Pro" panose="020B0504020202020204" pitchFamily="34" charset="0"/>
              </a:defRPr>
            </a:lvl4pPr>
            <a:lvl5pPr marL="891778" indent="-171496" algn="l" defTabSz="685983" rtl="0" eaLnBrk="1" latinLnBrk="0" hangingPunct="1">
              <a:lnSpc>
                <a:spcPct val="90000"/>
              </a:lnSpc>
              <a:spcBef>
                <a:spcPts val="450"/>
              </a:spcBef>
              <a:buClr>
                <a:schemeClr val="bg1">
                  <a:lumMod val="50000"/>
                </a:schemeClr>
              </a:buClr>
              <a:buSzPct val="105000"/>
              <a:buFont typeface="Cambria" panose="02040503050406030204" pitchFamily="18" charset="0"/>
              <a:buChar char="–"/>
              <a:defRPr sz="1200">
                <a:latin typeface="Avenir Next LT Pro" panose="020B0504020202020204" pitchFamily="34" charset="0"/>
              </a:defRPr>
            </a:lvl5pPr>
            <a:lvl6pPr>
              <a:defRPr sz="1200"/>
            </a:lvl6pPr>
            <a:lvl7pPr>
              <a:defRPr sz="1200"/>
            </a:lvl7pPr>
            <a:lvl8pPr>
              <a:defRPr sz="1200"/>
            </a:lvl8pPr>
            <a:lvl9pPr>
              <a:defRPr sz="1200"/>
            </a:lvl9pPr>
          </a:lstStyle>
          <a:p>
            <a:pPr marL="155335" marR="0" lvl="0"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Click to edit Master text styles</a:t>
            </a:r>
          </a:p>
          <a:p>
            <a:pPr marL="155335" marR="0" lvl="1"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Second level</a:t>
            </a:r>
          </a:p>
          <a:p>
            <a:pPr marL="155335" marR="0" lvl="2"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Third level</a:t>
            </a:r>
          </a:p>
          <a:p>
            <a:pPr marL="155335" marR="0" lvl="3"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Fourth level</a:t>
            </a:r>
          </a:p>
          <a:p>
            <a:pPr marL="155335" marR="0" lvl="4"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Fifth level</a:t>
            </a:r>
          </a:p>
        </p:txBody>
      </p:sp>
      <p:sp>
        <p:nvSpPr>
          <p:cNvPr id="15" name="Slide Number Placeholder 9"/>
          <p:cNvSpPr txBox="1">
            <a:spLocks/>
          </p:cNvSpPr>
          <p:nvPr/>
        </p:nvSpPr>
        <p:spPr>
          <a:xfrm>
            <a:off x="7278496" y="6490519"/>
            <a:ext cx="1636904" cy="153936"/>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pc="0" baseline="0">
                <a:solidFill>
                  <a:schemeClr val="tx1"/>
                </a:solidFill>
                <a:latin typeface="Avenir Next LT Pro" panose="020B0504020202020204" pitchFamily="34" charset="0"/>
              </a:rPr>
              <a:t>CONFIDENTIAL | PAGE </a:t>
            </a:r>
            <a:fld id="{F36C87F6-986D-49E6-AF40-1B3A1EE8064D}" type="slidenum">
              <a:rPr lang="en-US" spc="0" baseline="0" smtClean="0">
                <a:solidFill>
                  <a:schemeClr val="tx1"/>
                </a:solidFill>
                <a:latin typeface="Avenir Next LT Pro" panose="020B0504020202020204" pitchFamily="34" charset="0"/>
              </a:rPr>
              <a:pPr/>
              <a:t>‹#›</a:t>
            </a:fld>
            <a:endParaRPr lang="en-US" spc="0" baseline="0">
              <a:solidFill>
                <a:schemeClr val="tx1"/>
              </a:solidFill>
              <a:latin typeface="Avenir Next LT Pro" panose="020B0504020202020204" pitchFamily="34" charset="0"/>
            </a:endParaRPr>
          </a:p>
        </p:txBody>
      </p:sp>
      <p:sp>
        <p:nvSpPr>
          <p:cNvPr id="16" name="Slide Number Placeholder 9"/>
          <p:cNvSpPr txBox="1">
            <a:spLocks/>
          </p:cNvSpPr>
          <p:nvPr/>
        </p:nvSpPr>
        <p:spPr>
          <a:xfrm>
            <a:off x="228600" y="6477000"/>
            <a:ext cx="3017520" cy="180974"/>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cap="none" spc="0" baseline="0">
                <a:solidFill>
                  <a:schemeClr val="bg1"/>
                </a:solidFill>
                <a:latin typeface="Avenir Next LT Pro" panose="020B0504020202020204" pitchFamily="34" charset="0"/>
              </a:rPr>
              <a:t>Kildare Partners</a:t>
            </a:r>
          </a:p>
        </p:txBody>
      </p:sp>
      <p:cxnSp>
        <p:nvCxnSpPr>
          <p:cNvPr id="18" name="Straight Connector 17"/>
          <p:cNvCxnSpPr/>
          <p:nvPr/>
        </p:nvCxnSpPr>
        <p:spPr>
          <a:xfrm>
            <a:off x="233172" y="6462132"/>
            <a:ext cx="8677656" cy="0"/>
          </a:xfrm>
          <a:prstGeom prst="line">
            <a:avLst/>
          </a:prstGeom>
          <a:ln w="1905">
            <a:solidFill>
              <a:schemeClr val="tx1"/>
            </a:solidFill>
            <a:prstDash val="solid"/>
          </a:ln>
          <a:effectLst/>
        </p:spPr>
        <p:style>
          <a:lnRef idx="3">
            <a:schemeClr val="accent6"/>
          </a:lnRef>
          <a:fillRef idx="0">
            <a:schemeClr val="accent6"/>
          </a:fillRef>
          <a:effectRef idx="2">
            <a:schemeClr val="accent6"/>
          </a:effectRef>
          <a:fontRef idx="minor">
            <a:schemeClr val="tx1"/>
          </a:fontRef>
        </p:style>
      </p:cxnSp>
      <p:sp>
        <p:nvSpPr>
          <p:cNvPr id="19" name="Title 1"/>
          <p:cNvSpPr>
            <a:spLocks noGrp="1"/>
          </p:cNvSpPr>
          <p:nvPr>
            <p:ph type="title"/>
          </p:nvPr>
        </p:nvSpPr>
        <p:spPr>
          <a:xfrm>
            <a:off x="513296" y="685800"/>
            <a:ext cx="2915409" cy="4038600"/>
          </a:xfrm>
        </p:spPr>
        <p:txBody>
          <a:bodyPr anchor="b">
            <a:noAutofit/>
          </a:bodyPr>
          <a:lstStyle>
            <a:lvl1pPr algn="l">
              <a:defRPr sz="2800" b="0">
                <a:solidFill>
                  <a:srgbClr val="AF8C49"/>
                </a:solidFill>
                <a:latin typeface="Avenir Next LT Pro Demi" panose="020B0704020202020204" pitchFamily="34" charset="0"/>
              </a:defRPr>
            </a:lvl1pPr>
          </a:lstStyle>
          <a:p>
            <a:r>
              <a:rPr lang="en-US"/>
              <a:t>Click to edit Master title style</a:t>
            </a:r>
            <a:endParaRPr/>
          </a:p>
        </p:txBody>
      </p:sp>
      <p:sp>
        <p:nvSpPr>
          <p:cNvPr id="20" name="Text Placeholder 3"/>
          <p:cNvSpPr>
            <a:spLocks noGrp="1"/>
          </p:cNvSpPr>
          <p:nvPr>
            <p:ph type="body" sz="half" idx="2"/>
          </p:nvPr>
        </p:nvSpPr>
        <p:spPr>
          <a:xfrm>
            <a:off x="513296" y="4876800"/>
            <a:ext cx="2915409" cy="1295400"/>
          </a:xfrm>
        </p:spPr>
        <p:txBody>
          <a:bodyPr>
            <a:normAutofit/>
          </a:bodyPr>
          <a:lstStyle>
            <a:lvl1pPr marL="0" indent="0">
              <a:spcBef>
                <a:spcPts val="0"/>
              </a:spcBef>
              <a:buNone/>
              <a:defRPr sz="1400">
                <a:solidFill>
                  <a:schemeClr val="bg1"/>
                </a:solidFill>
                <a:latin typeface="Avenir Next LT Pro" panose="020B0504020202020204" pitchFamily="34" charset="0"/>
              </a:defRPr>
            </a:lvl1pPr>
            <a:lvl2pPr marL="342991" indent="0">
              <a:buNone/>
              <a:defRPr sz="900"/>
            </a:lvl2pPr>
            <a:lvl3pPr marL="685983" indent="0">
              <a:buNone/>
              <a:defRPr sz="750"/>
            </a:lvl3pPr>
            <a:lvl4pPr marL="1028974" indent="0">
              <a:buNone/>
              <a:defRPr sz="675"/>
            </a:lvl4pPr>
            <a:lvl5pPr marL="1371966" indent="0">
              <a:buNone/>
              <a:defRPr sz="675"/>
            </a:lvl5pPr>
            <a:lvl6pPr marL="1714957" indent="0">
              <a:buNone/>
              <a:defRPr sz="675"/>
            </a:lvl6pPr>
            <a:lvl7pPr marL="2057949" indent="0">
              <a:buNone/>
              <a:defRPr sz="675"/>
            </a:lvl7pPr>
            <a:lvl8pPr marL="2400940" indent="0">
              <a:buNone/>
              <a:defRPr sz="675"/>
            </a:lvl8pPr>
            <a:lvl9pPr marL="2743932" indent="0">
              <a:buNone/>
              <a:defRPr sz="675"/>
            </a:lvl9pPr>
          </a:lstStyle>
          <a:p>
            <a:pPr lvl="0"/>
            <a:r>
              <a:rPr lang="en-US"/>
              <a:t>Click to edit Master text styles</a:t>
            </a:r>
          </a:p>
        </p:txBody>
      </p:sp>
      <p:pic>
        <p:nvPicPr>
          <p:cNvPr id="21" name="Picture 20"/>
          <p:cNvPicPr>
            <a:picLocks noChangeAspect="1"/>
          </p:cNvPicPr>
          <p:nvPr/>
        </p:nvPicPr>
        <p:blipFill>
          <a:blip r:embed="rId3" cstate="print">
            <a:clrChange>
              <a:clrFrom>
                <a:srgbClr val="000000"/>
              </a:clrFrom>
              <a:clrTo>
                <a:srgbClr val="000000">
                  <a:alpha val="0"/>
                </a:srgbClr>
              </a:clrTo>
            </a:clrChange>
            <a:extLst>
              <a:ext uri="{28A0092B-C50C-407E-A947-70E740481C1C}">
                <a14:useLocalDpi xmlns:a14="http://schemas.microsoft.com/office/drawing/2010/main" val="0"/>
              </a:ext>
            </a:extLst>
          </a:blip>
          <a:stretch>
            <a:fillRect/>
          </a:stretch>
        </p:blipFill>
        <p:spPr>
          <a:xfrm>
            <a:off x="228600" y="201689"/>
            <a:ext cx="1371600" cy="636511"/>
          </a:xfrm>
          <a:prstGeom prst="rect">
            <a:avLst/>
          </a:prstGeom>
        </p:spPr>
      </p:pic>
    </p:spTree>
    <p:extLst>
      <p:ext uri="{BB962C8B-B14F-4D97-AF65-F5344CB8AC3E}">
        <p14:creationId xmlns:p14="http://schemas.microsoft.com/office/powerpoint/2010/main" val="15369690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Picture with Caption">
    <p:spTree>
      <p:nvGrpSpPr>
        <p:cNvPr id="1" name=""/>
        <p:cNvGrpSpPr/>
        <p:nvPr/>
      </p:nvGrpSpPr>
      <p:grpSpPr>
        <a:xfrm>
          <a:off x="0" y="0"/>
          <a:ext cx="0" cy="0"/>
          <a:chOff x="0" y="0"/>
          <a:chExt cx="0" cy="0"/>
        </a:xfrm>
      </p:grpSpPr>
      <p:pic>
        <p:nvPicPr>
          <p:cNvPr id="12" name="Picture 11"/>
          <p:cNvPicPr>
            <a:picLocks/>
          </p:cNvPicPr>
          <p:nvPr/>
        </p:nvPicPr>
        <p:blipFill>
          <a:blip r:embed="rId2" cstate="print">
            <a:extLst>
              <a:ext uri="{28A0092B-C50C-407E-A947-70E740481C1C}">
                <a14:useLocalDpi xmlns:a14="http://schemas.microsoft.com/office/drawing/2010/main" val="0"/>
              </a:ext>
            </a:extLst>
          </a:blip>
          <a:stretch>
            <a:fillRect/>
          </a:stretch>
        </p:blipFill>
        <p:spPr>
          <a:xfrm>
            <a:off x="0" y="0"/>
            <a:ext cx="3886200" cy="6858000"/>
          </a:xfrm>
          <a:prstGeom prst="rect">
            <a:avLst/>
          </a:prstGeom>
        </p:spPr>
      </p:pic>
      <p:sp>
        <p:nvSpPr>
          <p:cNvPr id="13" name="Picture Placeholder 2"/>
          <p:cNvSpPr>
            <a:spLocks noGrp="1"/>
          </p:cNvSpPr>
          <p:nvPr>
            <p:ph type="pic" idx="1"/>
          </p:nvPr>
        </p:nvSpPr>
        <p:spPr>
          <a:xfrm>
            <a:off x="4400508" y="685800"/>
            <a:ext cx="4230202" cy="5486400"/>
          </a:xfrm>
          <a:solidFill>
            <a:schemeClr val="bg1">
              <a:lumMod val="95000"/>
            </a:schemeClr>
          </a:solidFill>
          <a:ln w="3175">
            <a:solidFill>
              <a:schemeClr val="bg1">
                <a:lumMod val="75000"/>
              </a:schemeClr>
            </a:solidFill>
            <a:miter lim="800000"/>
          </a:ln>
        </p:spPr>
        <p:txBody>
          <a:bodyPr tIns="914400">
            <a:normAutofit/>
          </a:bodyPr>
          <a:lstStyle>
            <a:lvl1pPr marL="0" indent="0" algn="ctr">
              <a:buNone/>
              <a:defRPr sz="1800">
                <a:latin typeface="Avenir Next LT Pro" panose="020B0504020202020204" pitchFamily="34" charset="0"/>
              </a:defRPr>
            </a:lvl1pPr>
            <a:lvl2pPr marL="342991" indent="0">
              <a:buNone/>
              <a:defRPr sz="2101"/>
            </a:lvl2pPr>
            <a:lvl3pPr marL="685983" indent="0">
              <a:buNone/>
              <a:defRPr sz="1800"/>
            </a:lvl3pPr>
            <a:lvl4pPr marL="1028974" indent="0">
              <a:buNone/>
              <a:defRPr sz="1500"/>
            </a:lvl4pPr>
            <a:lvl5pPr marL="1371966" indent="0">
              <a:buNone/>
              <a:defRPr sz="1500"/>
            </a:lvl5pPr>
            <a:lvl6pPr marL="1714957" indent="0">
              <a:buNone/>
              <a:defRPr sz="1500"/>
            </a:lvl6pPr>
            <a:lvl7pPr marL="2057949" indent="0">
              <a:buNone/>
              <a:defRPr sz="1500"/>
            </a:lvl7pPr>
            <a:lvl8pPr marL="2400940" indent="0">
              <a:buNone/>
              <a:defRPr sz="1500"/>
            </a:lvl8pPr>
            <a:lvl9pPr marL="2743932" indent="0">
              <a:buNone/>
              <a:defRPr sz="1500"/>
            </a:lvl9pPr>
          </a:lstStyle>
          <a:p>
            <a:r>
              <a:rPr lang="en-US"/>
              <a:t>Click icon to add picture</a:t>
            </a:r>
            <a:endParaRPr/>
          </a:p>
        </p:txBody>
      </p:sp>
      <p:sp>
        <p:nvSpPr>
          <p:cNvPr id="14" name="Slide Number Placeholder 9"/>
          <p:cNvSpPr txBox="1">
            <a:spLocks/>
          </p:cNvSpPr>
          <p:nvPr/>
        </p:nvSpPr>
        <p:spPr>
          <a:xfrm>
            <a:off x="228600" y="6477000"/>
            <a:ext cx="3017520" cy="180974"/>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cap="none" spc="0" baseline="0">
                <a:solidFill>
                  <a:schemeClr val="bg1"/>
                </a:solidFill>
                <a:latin typeface="Avenir Next LT Pro" panose="020B0504020202020204" pitchFamily="34" charset="0"/>
              </a:rPr>
              <a:t>Kildare Partners</a:t>
            </a:r>
          </a:p>
        </p:txBody>
      </p:sp>
      <p:sp>
        <p:nvSpPr>
          <p:cNvPr id="16" name="Slide Number Placeholder 9"/>
          <p:cNvSpPr txBox="1">
            <a:spLocks/>
          </p:cNvSpPr>
          <p:nvPr/>
        </p:nvSpPr>
        <p:spPr>
          <a:xfrm>
            <a:off x="7278496" y="6490519"/>
            <a:ext cx="1636904" cy="153936"/>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pc="0" baseline="0">
                <a:solidFill>
                  <a:schemeClr val="tx1"/>
                </a:solidFill>
                <a:latin typeface="Avenir Next LT Pro" panose="020B0504020202020204" pitchFamily="34" charset="0"/>
              </a:rPr>
              <a:t>CONFIDENTIAL | PAGE </a:t>
            </a:r>
            <a:fld id="{F36C87F6-986D-49E6-AF40-1B3A1EE8064D}" type="slidenum">
              <a:rPr lang="en-US" spc="0" baseline="0" smtClean="0">
                <a:solidFill>
                  <a:schemeClr val="tx1"/>
                </a:solidFill>
                <a:latin typeface="Avenir Next LT Pro" panose="020B0504020202020204" pitchFamily="34" charset="0"/>
              </a:rPr>
              <a:pPr/>
              <a:t>‹#›</a:t>
            </a:fld>
            <a:endParaRPr lang="en-US" spc="0" baseline="0">
              <a:solidFill>
                <a:schemeClr val="tx1"/>
              </a:solidFill>
              <a:latin typeface="Avenir Next LT Pro" panose="020B0504020202020204" pitchFamily="34" charset="0"/>
            </a:endParaRPr>
          </a:p>
        </p:txBody>
      </p:sp>
      <p:cxnSp>
        <p:nvCxnSpPr>
          <p:cNvPr id="18" name="Straight Connector 17"/>
          <p:cNvCxnSpPr/>
          <p:nvPr/>
        </p:nvCxnSpPr>
        <p:spPr>
          <a:xfrm>
            <a:off x="233172" y="6462132"/>
            <a:ext cx="8677656" cy="0"/>
          </a:xfrm>
          <a:prstGeom prst="line">
            <a:avLst/>
          </a:prstGeom>
          <a:ln w="1905">
            <a:solidFill>
              <a:schemeClr val="tx1"/>
            </a:solidFill>
            <a:prstDash val="solid"/>
          </a:ln>
          <a:effectLst/>
        </p:spPr>
        <p:style>
          <a:lnRef idx="3">
            <a:schemeClr val="accent6"/>
          </a:lnRef>
          <a:fillRef idx="0">
            <a:schemeClr val="accent6"/>
          </a:fillRef>
          <a:effectRef idx="2">
            <a:schemeClr val="accent6"/>
          </a:effectRef>
          <a:fontRef idx="minor">
            <a:schemeClr val="tx1"/>
          </a:fontRef>
        </p:style>
      </p:cxnSp>
      <p:sp>
        <p:nvSpPr>
          <p:cNvPr id="19" name="Title 1"/>
          <p:cNvSpPr>
            <a:spLocks noGrp="1"/>
          </p:cNvSpPr>
          <p:nvPr>
            <p:ph type="title"/>
          </p:nvPr>
        </p:nvSpPr>
        <p:spPr>
          <a:xfrm>
            <a:off x="513296" y="685800"/>
            <a:ext cx="2915409" cy="4038600"/>
          </a:xfrm>
        </p:spPr>
        <p:txBody>
          <a:bodyPr anchor="b">
            <a:noAutofit/>
          </a:bodyPr>
          <a:lstStyle>
            <a:lvl1pPr algn="l">
              <a:defRPr sz="2800" b="0">
                <a:solidFill>
                  <a:srgbClr val="AF8C49"/>
                </a:solidFill>
                <a:latin typeface="Avenir Next LT Pro Demi" panose="020B0704020202020204" pitchFamily="34" charset="0"/>
              </a:defRPr>
            </a:lvl1pPr>
          </a:lstStyle>
          <a:p>
            <a:r>
              <a:rPr lang="en-US"/>
              <a:t>Click to edit Master title style</a:t>
            </a:r>
            <a:endParaRPr/>
          </a:p>
        </p:txBody>
      </p:sp>
      <p:sp>
        <p:nvSpPr>
          <p:cNvPr id="20" name="Text Placeholder 3"/>
          <p:cNvSpPr>
            <a:spLocks noGrp="1"/>
          </p:cNvSpPr>
          <p:nvPr>
            <p:ph type="body" sz="half" idx="2"/>
          </p:nvPr>
        </p:nvSpPr>
        <p:spPr>
          <a:xfrm>
            <a:off x="513296" y="4876800"/>
            <a:ext cx="2915409" cy="1295400"/>
          </a:xfrm>
        </p:spPr>
        <p:txBody>
          <a:bodyPr>
            <a:normAutofit/>
          </a:bodyPr>
          <a:lstStyle>
            <a:lvl1pPr marL="0" indent="0">
              <a:spcBef>
                <a:spcPts val="0"/>
              </a:spcBef>
              <a:buNone/>
              <a:defRPr sz="1400">
                <a:solidFill>
                  <a:schemeClr val="bg1"/>
                </a:solidFill>
                <a:latin typeface="Avenir Next LT Pro" panose="020B0504020202020204" pitchFamily="34" charset="0"/>
              </a:defRPr>
            </a:lvl1pPr>
            <a:lvl2pPr marL="342991" indent="0">
              <a:buNone/>
              <a:defRPr sz="900"/>
            </a:lvl2pPr>
            <a:lvl3pPr marL="685983" indent="0">
              <a:buNone/>
              <a:defRPr sz="750"/>
            </a:lvl3pPr>
            <a:lvl4pPr marL="1028974" indent="0">
              <a:buNone/>
              <a:defRPr sz="675"/>
            </a:lvl4pPr>
            <a:lvl5pPr marL="1371966" indent="0">
              <a:buNone/>
              <a:defRPr sz="675"/>
            </a:lvl5pPr>
            <a:lvl6pPr marL="1714957" indent="0">
              <a:buNone/>
              <a:defRPr sz="675"/>
            </a:lvl6pPr>
            <a:lvl7pPr marL="2057949" indent="0">
              <a:buNone/>
              <a:defRPr sz="675"/>
            </a:lvl7pPr>
            <a:lvl8pPr marL="2400940" indent="0">
              <a:buNone/>
              <a:defRPr sz="675"/>
            </a:lvl8pPr>
            <a:lvl9pPr marL="2743932" indent="0">
              <a:buNone/>
              <a:defRPr sz="675"/>
            </a:lvl9pPr>
          </a:lstStyle>
          <a:p>
            <a:pPr lvl="0"/>
            <a:r>
              <a:rPr lang="en-US"/>
              <a:t>Click to edit Master text styles</a:t>
            </a:r>
          </a:p>
        </p:txBody>
      </p:sp>
      <p:pic>
        <p:nvPicPr>
          <p:cNvPr id="21" name="Picture 20"/>
          <p:cNvPicPr>
            <a:picLocks noChangeAspect="1"/>
          </p:cNvPicPr>
          <p:nvPr/>
        </p:nvPicPr>
        <p:blipFill>
          <a:blip r:embed="rId3" cstate="print">
            <a:clrChange>
              <a:clrFrom>
                <a:srgbClr val="000000"/>
              </a:clrFrom>
              <a:clrTo>
                <a:srgbClr val="000000">
                  <a:alpha val="0"/>
                </a:srgbClr>
              </a:clrTo>
            </a:clrChange>
            <a:extLst>
              <a:ext uri="{28A0092B-C50C-407E-A947-70E740481C1C}">
                <a14:useLocalDpi xmlns:a14="http://schemas.microsoft.com/office/drawing/2010/main" val="0"/>
              </a:ext>
            </a:extLst>
          </a:blip>
          <a:stretch>
            <a:fillRect/>
          </a:stretch>
        </p:blipFill>
        <p:spPr>
          <a:xfrm>
            <a:off x="228600" y="201689"/>
            <a:ext cx="1371600" cy="636511"/>
          </a:xfrm>
          <a:prstGeom prst="rect">
            <a:avLst/>
          </a:prstGeom>
        </p:spPr>
      </p:pic>
    </p:spTree>
    <p:extLst>
      <p:ext uri="{BB962C8B-B14F-4D97-AF65-F5344CB8AC3E}">
        <p14:creationId xmlns:p14="http://schemas.microsoft.com/office/powerpoint/2010/main" val="34070007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100000">
              <a:schemeClr val="bg1">
                <a:lumMod val="100000"/>
              </a:schemeClr>
            </a:gs>
            <a:gs pos="100000">
              <a:schemeClr val="bg1">
                <a:lumMod val="85000"/>
              </a:schemeClr>
            </a:gs>
          </a:gsLst>
          <a:path path="circle">
            <a:fillToRect l="100000" b="100000"/>
          </a:path>
          <a:tileRect/>
        </a:gra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13451" y="274638"/>
            <a:ext cx="7317105" cy="1325562"/>
          </a:xfrm>
          <a:prstGeom prst="rect">
            <a:avLst/>
          </a:prstGeom>
        </p:spPr>
        <p:txBody>
          <a:bodyPr vert="horz" lIns="91440" tIns="45720" rIns="91440" bIns="45720" rtlCol="0" anchor="b">
            <a:normAutofit/>
          </a:bodyPr>
          <a:lstStyle/>
          <a:p>
            <a:r>
              <a:rPr lang="en-US"/>
              <a:t>Click to edit Master title style</a:t>
            </a:r>
            <a:endParaRPr/>
          </a:p>
        </p:txBody>
      </p:sp>
      <p:sp>
        <p:nvSpPr>
          <p:cNvPr id="3" name="Text Placeholder 2"/>
          <p:cNvSpPr>
            <a:spLocks noGrp="1"/>
          </p:cNvSpPr>
          <p:nvPr>
            <p:ph type="body" idx="1"/>
          </p:nvPr>
        </p:nvSpPr>
        <p:spPr>
          <a:xfrm>
            <a:off x="913451" y="1828800"/>
            <a:ext cx="7317105" cy="43434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4" name="Date Placeholder 3"/>
          <p:cNvSpPr>
            <a:spLocks noGrp="1"/>
          </p:cNvSpPr>
          <p:nvPr>
            <p:ph type="dt" sz="half" idx="2"/>
          </p:nvPr>
        </p:nvSpPr>
        <p:spPr>
          <a:xfrm>
            <a:off x="6115455" y="6448427"/>
            <a:ext cx="894946" cy="180974"/>
          </a:xfrm>
          <a:prstGeom prst="rect">
            <a:avLst/>
          </a:prstGeom>
        </p:spPr>
        <p:txBody>
          <a:bodyPr vert="horz" lIns="91440" tIns="45720" rIns="91440" bIns="45720" rtlCol="0" anchor="ctr"/>
          <a:lstStyle>
            <a:lvl1pPr algn="r">
              <a:defRPr sz="750">
                <a:solidFill>
                  <a:schemeClr val="tx1"/>
                </a:solidFill>
                <a:latin typeface="Avenir Next LT Pro" panose="020B0504020202020204" pitchFamily="34" charset="0"/>
              </a:defRPr>
            </a:lvl1pPr>
          </a:lstStyle>
          <a:p>
            <a:endParaRPr lang="en-US"/>
          </a:p>
        </p:txBody>
      </p:sp>
      <p:sp>
        <p:nvSpPr>
          <p:cNvPr id="5" name="Footer Placeholder 4"/>
          <p:cNvSpPr>
            <a:spLocks noGrp="1"/>
          </p:cNvSpPr>
          <p:nvPr>
            <p:ph type="ftr" sz="quarter" idx="3"/>
          </p:nvPr>
        </p:nvSpPr>
        <p:spPr>
          <a:xfrm>
            <a:off x="906865" y="6448427"/>
            <a:ext cx="4979929" cy="180974"/>
          </a:xfrm>
          <a:prstGeom prst="rect">
            <a:avLst/>
          </a:prstGeom>
        </p:spPr>
        <p:txBody>
          <a:bodyPr vert="horz" lIns="91440" tIns="45720" rIns="91440" bIns="45720" rtlCol="0" anchor="ctr"/>
          <a:lstStyle>
            <a:lvl1pPr algn="l">
              <a:defRPr sz="750" cap="all" baseline="0">
                <a:solidFill>
                  <a:schemeClr val="tx1"/>
                </a:solidFill>
                <a:latin typeface="Avenir Next LT Pro" panose="020B0504020202020204" pitchFamily="34" charset="0"/>
              </a:defRPr>
            </a:lvl1pPr>
          </a:lstStyle>
          <a:p>
            <a:r>
              <a:rPr lang="en-US"/>
              <a:t>KILDARE PARTNERS</a:t>
            </a:r>
          </a:p>
        </p:txBody>
      </p:sp>
      <p:sp>
        <p:nvSpPr>
          <p:cNvPr id="6" name="Slide Number Placeholder 5"/>
          <p:cNvSpPr>
            <a:spLocks noGrp="1"/>
          </p:cNvSpPr>
          <p:nvPr>
            <p:ph type="sldNum" sz="quarter" idx="4"/>
          </p:nvPr>
        </p:nvSpPr>
        <p:spPr>
          <a:xfrm>
            <a:off x="7239000" y="6448427"/>
            <a:ext cx="991554" cy="180974"/>
          </a:xfrm>
          <a:prstGeom prst="rect">
            <a:avLst/>
          </a:prstGeom>
        </p:spPr>
        <p:txBody>
          <a:bodyPr vert="horz" lIns="91440" tIns="45720" rIns="91440" bIns="45720" rtlCol="0" anchor="ctr"/>
          <a:lstStyle>
            <a:lvl1pPr algn="r">
              <a:defRPr sz="750">
                <a:solidFill>
                  <a:schemeClr val="tx1"/>
                </a:solidFill>
                <a:latin typeface="Avenir Next LT Pro" panose="020B0504020202020204" pitchFamily="34" charset="0"/>
              </a:defRPr>
            </a:lvl1pPr>
          </a:lstStyle>
          <a:p>
            <a:r>
              <a:rPr lang="en-US"/>
              <a:t>Confidential | </a:t>
            </a:r>
            <a:fld id="{F36C87F6-986D-49E6-AF40-1B3A1EE8064D}" type="slidenum">
              <a:rPr lang="en-US" smtClean="0"/>
              <a:pPr/>
              <a:t>‹#›</a:t>
            </a:fld>
            <a:endParaRPr lang="en-US"/>
          </a:p>
        </p:txBody>
      </p:sp>
      <p:sp>
        <p:nvSpPr>
          <p:cNvPr id="7" name="TextBox 6"/>
          <p:cNvSpPr txBox="1"/>
          <p:nvPr userDrawn="1"/>
        </p:nvSpPr>
        <p:spPr>
          <a:xfrm>
            <a:off x="-888521" y="0"/>
            <a:ext cx="838200" cy="203133"/>
          </a:xfrm>
          <a:prstGeom prst="rect">
            <a:avLst/>
          </a:prstGeom>
          <a:solidFill>
            <a:srgbClr val="AF8C49"/>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AF8C49</a:t>
            </a:r>
          </a:p>
        </p:txBody>
      </p:sp>
      <p:sp>
        <p:nvSpPr>
          <p:cNvPr id="10" name="TextBox 9">
            <a:extLst>
              <a:ext uri="{FF2B5EF4-FFF2-40B4-BE49-F238E27FC236}">
                <a16:creationId xmlns:a16="http://schemas.microsoft.com/office/drawing/2014/main" id="{215E4D0A-4535-9DCC-30EC-115F63F87340}"/>
              </a:ext>
            </a:extLst>
          </p:cNvPr>
          <p:cNvSpPr txBox="1"/>
          <p:nvPr userDrawn="1"/>
        </p:nvSpPr>
        <p:spPr>
          <a:xfrm>
            <a:off x="-888521" y="253072"/>
            <a:ext cx="838200" cy="203133"/>
          </a:xfrm>
          <a:prstGeom prst="rect">
            <a:avLst/>
          </a:prstGeom>
          <a:solidFill>
            <a:srgbClr val="14425D"/>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14425D</a:t>
            </a:r>
          </a:p>
        </p:txBody>
      </p:sp>
      <p:sp>
        <p:nvSpPr>
          <p:cNvPr id="11" name="TextBox 10">
            <a:extLst>
              <a:ext uri="{FF2B5EF4-FFF2-40B4-BE49-F238E27FC236}">
                <a16:creationId xmlns:a16="http://schemas.microsoft.com/office/drawing/2014/main" id="{A0ADA7A3-4A4C-2191-5488-71A26B234E8D}"/>
              </a:ext>
            </a:extLst>
          </p:cNvPr>
          <p:cNvSpPr txBox="1"/>
          <p:nvPr userDrawn="1"/>
        </p:nvSpPr>
        <p:spPr>
          <a:xfrm>
            <a:off x="-888521" y="506144"/>
            <a:ext cx="838200" cy="203133"/>
          </a:xfrm>
          <a:prstGeom prst="rect">
            <a:avLst/>
          </a:prstGeom>
          <a:solidFill>
            <a:srgbClr val="280003"/>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280003</a:t>
            </a:r>
          </a:p>
        </p:txBody>
      </p:sp>
      <p:sp>
        <p:nvSpPr>
          <p:cNvPr id="12" name="TextBox 11">
            <a:extLst>
              <a:ext uri="{FF2B5EF4-FFF2-40B4-BE49-F238E27FC236}">
                <a16:creationId xmlns:a16="http://schemas.microsoft.com/office/drawing/2014/main" id="{F704D1EF-97DC-7BC5-3A14-30C0D04058D6}"/>
              </a:ext>
            </a:extLst>
          </p:cNvPr>
          <p:cNvSpPr txBox="1"/>
          <p:nvPr userDrawn="1"/>
        </p:nvSpPr>
        <p:spPr>
          <a:xfrm>
            <a:off x="-888521" y="757886"/>
            <a:ext cx="838200" cy="203133"/>
          </a:xfrm>
          <a:prstGeom prst="rect">
            <a:avLst/>
          </a:prstGeom>
          <a:solidFill>
            <a:srgbClr val="4F505D"/>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4F505D</a:t>
            </a:r>
          </a:p>
        </p:txBody>
      </p:sp>
      <p:sp>
        <p:nvSpPr>
          <p:cNvPr id="13" name="TextBox 12">
            <a:extLst>
              <a:ext uri="{FF2B5EF4-FFF2-40B4-BE49-F238E27FC236}">
                <a16:creationId xmlns:a16="http://schemas.microsoft.com/office/drawing/2014/main" id="{3405E372-FAEB-E166-F39E-B06223EE3FFD}"/>
              </a:ext>
            </a:extLst>
          </p:cNvPr>
          <p:cNvSpPr txBox="1"/>
          <p:nvPr userDrawn="1"/>
        </p:nvSpPr>
        <p:spPr>
          <a:xfrm>
            <a:off x="-888521" y="1009628"/>
            <a:ext cx="838200" cy="203133"/>
          </a:xfrm>
          <a:prstGeom prst="rect">
            <a:avLst/>
          </a:prstGeom>
          <a:solidFill>
            <a:srgbClr val="769FB6"/>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769FB6</a:t>
            </a:r>
          </a:p>
        </p:txBody>
      </p:sp>
      <p:sp>
        <p:nvSpPr>
          <p:cNvPr id="14" name="TextBox 13">
            <a:extLst>
              <a:ext uri="{FF2B5EF4-FFF2-40B4-BE49-F238E27FC236}">
                <a16:creationId xmlns:a16="http://schemas.microsoft.com/office/drawing/2014/main" id="{1E4BBA53-6D09-8782-B5B9-E9A5BECF8AD0}"/>
              </a:ext>
            </a:extLst>
          </p:cNvPr>
          <p:cNvSpPr txBox="1"/>
          <p:nvPr userDrawn="1"/>
        </p:nvSpPr>
        <p:spPr>
          <a:xfrm>
            <a:off x="-888521" y="1261370"/>
            <a:ext cx="838200" cy="203133"/>
          </a:xfrm>
          <a:prstGeom prst="rect">
            <a:avLst/>
          </a:prstGeom>
          <a:solidFill>
            <a:srgbClr val="FFCFD2"/>
          </a:solidFill>
          <a:ln w="6350">
            <a:solidFill>
              <a:schemeClr val="tx1"/>
            </a:solidFill>
          </a:ln>
        </p:spPr>
        <p:txBody>
          <a:bodyPr wrap="square" rtlCol="0">
            <a:spAutoFit/>
          </a:bodyPr>
          <a:lstStyle/>
          <a:p>
            <a:pPr algn="ctr">
              <a:lnSpc>
                <a:spcPct val="90000"/>
              </a:lnSpc>
            </a:pPr>
            <a:r>
              <a:rPr lang="en-GB" sz="800">
                <a:solidFill>
                  <a:schemeClr val="tx1"/>
                </a:solidFill>
                <a:latin typeface="Avenir Next LT Pro" panose="020B0504020202020204" pitchFamily="34" charset="0"/>
              </a:rPr>
              <a:t>FFCFD2</a:t>
            </a:r>
          </a:p>
        </p:txBody>
      </p:sp>
      <p:sp>
        <p:nvSpPr>
          <p:cNvPr id="15" name="TextBox 14">
            <a:extLst>
              <a:ext uri="{FF2B5EF4-FFF2-40B4-BE49-F238E27FC236}">
                <a16:creationId xmlns:a16="http://schemas.microsoft.com/office/drawing/2014/main" id="{01F61B67-6E0E-07C7-E37E-D7FC9728B8B6}"/>
              </a:ext>
            </a:extLst>
          </p:cNvPr>
          <p:cNvSpPr txBox="1"/>
          <p:nvPr userDrawn="1"/>
        </p:nvSpPr>
        <p:spPr>
          <a:xfrm>
            <a:off x="-888521" y="1513112"/>
            <a:ext cx="838200" cy="203133"/>
          </a:xfrm>
          <a:prstGeom prst="rect">
            <a:avLst/>
          </a:prstGeom>
          <a:solidFill>
            <a:srgbClr val="EC9A07"/>
          </a:solidFill>
          <a:ln w="6350">
            <a:solidFill>
              <a:schemeClr val="tx1"/>
            </a:solidFill>
          </a:ln>
        </p:spPr>
        <p:txBody>
          <a:bodyPr wrap="square" rtlCol="0">
            <a:spAutoFit/>
          </a:bodyPr>
          <a:lstStyle/>
          <a:p>
            <a:pPr algn="ctr">
              <a:lnSpc>
                <a:spcPct val="90000"/>
              </a:lnSpc>
            </a:pPr>
            <a:r>
              <a:rPr lang="en-GB" sz="800">
                <a:solidFill>
                  <a:schemeClr val="tx1"/>
                </a:solidFill>
                <a:latin typeface="Avenir Next LT Pro" panose="020B0504020202020204" pitchFamily="34" charset="0"/>
              </a:rPr>
              <a:t>EC9A07</a:t>
            </a:r>
          </a:p>
        </p:txBody>
      </p:sp>
      <p:sp>
        <p:nvSpPr>
          <p:cNvPr id="16" name="TextBox 15">
            <a:extLst>
              <a:ext uri="{FF2B5EF4-FFF2-40B4-BE49-F238E27FC236}">
                <a16:creationId xmlns:a16="http://schemas.microsoft.com/office/drawing/2014/main" id="{EA51C9DA-77AA-6EB7-9BE0-9B4FF8AC0A98}"/>
              </a:ext>
            </a:extLst>
          </p:cNvPr>
          <p:cNvSpPr txBox="1"/>
          <p:nvPr userDrawn="1"/>
        </p:nvSpPr>
        <p:spPr>
          <a:xfrm>
            <a:off x="-888521" y="1764854"/>
            <a:ext cx="838200" cy="203133"/>
          </a:xfrm>
          <a:prstGeom prst="rect">
            <a:avLst/>
          </a:prstGeom>
          <a:solidFill>
            <a:srgbClr val="00B050"/>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00B050</a:t>
            </a:r>
          </a:p>
        </p:txBody>
      </p:sp>
    </p:spTree>
    <p:extLst>
      <p:ext uri="{BB962C8B-B14F-4D97-AF65-F5344CB8AC3E}">
        <p14:creationId xmlns:p14="http://schemas.microsoft.com/office/powerpoint/2010/main" val="1489234859"/>
      </p:ext>
    </p:extLst>
  </p:cSld>
  <p:clrMap bg1="lt1" tx1="dk1" bg2="lt2" tx2="dk2" accent1="accent1" accent2="accent2" accent3="accent3" accent4="accent4" accent5="accent5" accent6="accent6" hlink="hlink" folHlink="folHlink"/>
  <p:sldLayoutIdLst>
    <p:sldLayoutId id="2147483661" r:id="rId1"/>
    <p:sldLayoutId id="2147483663" r:id="rId2"/>
    <p:sldLayoutId id="2147483664" r:id="rId3"/>
    <p:sldLayoutId id="2147483669" r:id="rId4"/>
    <p:sldLayoutId id="2147483670" r:id="rId5"/>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dt="0"/>
  <p:txStyles>
    <p:titleStyle>
      <a:lvl1pPr algn="l" defTabSz="685983" rtl="0" eaLnBrk="1" latinLnBrk="0" hangingPunct="1">
        <a:lnSpc>
          <a:spcPct val="90000"/>
        </a:lnSpc>
        <a:spcBef>
          <a:spcPct val="0"/>
        </a:spcBef>
        <a:buNone/>
        <a:defRPr sz="3001" kern="1200" cap="all" baseline="0">
          <a:solidFill>
            <a:schemeClr val="tx1">
              <a:lumMod val="50000"/>
            </a:schemeClr>
          </a:solidFill>
          <a:latin typeface="Avenir Next LT Pro" panose="020B0504020202020204" pitchFamily="34" charset="0"/>
          <a:ea typeface="+mj-ea"/>
          <a:cs typeface="+mj-cs"/>
        </a:defRPr>
      </a:lvl1pPr>
    </p:titleStyle>
    <p:bodyStyle>
      <a:lvl1pPr marL="205795" indent="-171496" algn="l" defTabSz="685983" rtl="0" eaLnBrk="1" latinLnBrk="0" hangingPunct="1">
        <a:lnSpc>
          <a:spcPct val="90000"/>
        </a:lnSpc>
        <a:spcBef>
          <a:spcPts val="1350"/>
        </a:spcBef>
        <a:buClr>
          <a:schemeClr val="tx1"/>
        </a:buClr>
        <a:buSzPct val="80000"/>
        <a:buFont typeface="Arial" pitchFamily="34" charset="0"/>
        <a:buChar char="•"/>
        <a:defRPr sz="1800" kern="1200">
          <a:solidFill>
            <a:schemeClr val="tx1"/>
          </a:solidFill>
          <a:latin typeface="Avenir Next LT Pro" panose="020B0504020202020204" pitchFamily="34" charset="0"/>
          <a:ea typeface="+mn-ea"/>
          <a:cs typeface="+mn-cs"/>
        </a:defRPr>
      </a:lvl1pPr>
      <a:lvl2pPr marL="377291" indent="-171496" algn="l" defTabSz="685983" rtl="0" eaLnBrk="1" latinLnBrk="0" hangingPunct="1">
        <a:lnSpc>
          <a:spcPct val="90000"/>
        </a:lnSpc>
        <a:spcBef>
          <a:spcPts val="450"/>
        </a:spcBef>
        <a:buClr>
          <a:schemeClr val="tx1"/>
        </a:buClr>
        <a:buSzPct val="80000"/>
        <a:buFont typeface="Arial" pitchFamily="34" charset="0"/>
        <a:buChar char="•"/>
        <a:defRPr sz="1500" kern="1200">
          <a:solidFill>
            <a:schemeClr val="tx1"/>
          </a:solidFill>
          <a:latin typeface="Avenir Next LT Pro" panose="020B0504020202020204" pitchFamily="34" charset="0"/>
          <a:ea typeface="+mn-ea"/>
          <a:cs typeface="+mn-cs"/>
        </a:defRPr>
      </a:lvl2pPr>
      <a:lvl3pPr marL="548786" indent="-171496" algn="l" defTabSz="685983" rtl="0" eaLnBrk="1" latinLnBrk="0" hangingPunct="1">
        <a:lnSpc>
          <a:spcPct val="90000"/>
        </a:lnSpc>
        <a:spcBef>
          <a:spcPts val="450"/>
        </a:spcBef>
        <a:buClr>
          <a:schemeClr val="tx1"/>
        </a:buClr>
        <a:buSzPct val="80000"/>
        <a:buFont typeface="Arial" pitchFamily="34" charset="0"/>
        <a:buChar char="•"/>
        <a:defRPr sz="1350" kern="1200">
          <a:solidFill>
            <a:schemeClr val="tx1"/>
          </a:solidFill>
          <a:latin typeface="Avenir Next LT Pro" panose="020B0504020202020204" pitchFamily="34" charset="0"/>
          <a:ea typeface="+mn-ea"/>
          <a:cs typeface="+mn-cs"/>
        </a:defRPr>
      </a:lvl3pPr>
      <a:lvl4pPr marL="720282" indent="-171496" algn="l" defTabSz="685983" rtl="0" eaLnBrk="1" latinLnBrk="0" hangingPunct="1">
        <a:lnSpc>
          <a:spcPct val="90000"/>
        </a:lnSpc>
        <a:spcBef>
          <a:spcPts val="450"/>
        </a:spcBef>
        <a:buClr>
          <a:schemeClr val="tx1"/>
        </a:buClr>
        <a:buSzPct val="80000"/>
        <a:buFont typeface="Arial" pitchFamily="34" charset="0"/>
        <a:buChar char="•"/>
        <a:defRPr sz="1200" kern="1200">
          <a:solidFill>
            <a:schemeClr val="tx1"/>
          </a:solidFill>
          <a:latin typeface="Avenir Next LT Pro" panose="020B0504020202020204" pitchFamily="34" charset="0"/>
          <a:ea typeface="+mn-ea"/>
          <a:cs typeface="+mn-cs"/>
        </a:defRPr>
      </a:lvl4pPr>
      <a:lvl5pPr marL="891778" indent="-171496" algn="l" defTabSz="685983" rtl="0" eaLnBrk="1" latinLnBrk="0" hangingPunct="1">
        <a:lnSpc>
          <a:spcPct val="90000"/>
        </a:lnSpc>
        <a:spcBef>
          <a:spcPts val="450"/>
        </a:spcBef>
        <a:buClr>
          <a:schemeClr val="tx1"/>
        </a:buClr>
        <a:buSzPct val="80000"/>
        <a:buFont typeface="Arial" pitchFamily="34" charset="0"/>
        <a:buChar char="•"/>
        <a:defRPr sz="1200" kern="1200">
          <a:solidFill>
            <a:schemeClr val="tx1"/>
          </a:solidFill>
          <a:latin typeface="Avenir Next LT Pro" panose="020B0504020202020204" pitchFamily="34" charset="0"/>
          <a:ea typeface="+mn-ea"/>
          <a:cs typeface="+mn-cs"/>
        </a:defRPr>
      </a:lvl5pPr>
      <a:lvl6pPr marL="1063273" indent="-171496" algn="l" defTabSz="685983" rtl="0" eaLnBrk="1" latinLnBrk="0" hangingPunct="1">
        <a:spcBef>
          <a:spcPts val="450"/>
        </a:spcBef>
        <a:buSzPct val="80000"/>
        <a:buFont typeface="Arial" pitchFamily="34" charset="0"/>
        <a:buChar char="•"/>
        <a:defRPr sz="1200" kern="1200">
          <a:solidFill>
            <a:schemeClr val="tx1"/>
          </a:solidFill>
          <a:latin typeface="+mn-lt"/>
          <a:ea typeface="+mn-ea"/>
          <a:cs typeface="+mn-cs"/>
        </a:defRPr>
      </a:lvl6pPr>
      <a:lvl7pPr marL="1234769" indent="-171496" algn="l" defTabSz="685983" rtl="0" eaLnBrk="1" latinLnBrk="0" hangingPunct="1">
        <a:spcBef>
          <a:spcPts val="450"/>
        </a:spcBef>
        <a:buSzPct val="80000"/>
        <a:buFont typeface="Arial" pitchFamily="34" charset="0"/>
        <a:buChar char="•"/>
        <a:defRPr sz="1200" kern="1200">
          <a:solidFill>
            <a:schemeClr val="tx1"/>
          </a:solidFill>
          <a:latin typeface="+mn-lt"/>
          <a:ea typeface="+mn-ea"/>
          <a:cs typeface="+mn-cs"/>
        </a:defRPr>
      </a:lvl7pPr>
      <a:lvl8pPr marL="1406265" indent="-171496" algn="l" defTabSz="685983" rtl="0" eaLnBrk="1" latinLnBrk="0" hangingPunct="1">
        <a:spcBef>
          <a:spcPts val="450"/>
        </a:spcBef>
        <a:buSzPct val="80000"/>
        <a:buFont typeface="Arial" pitchFamily="34" charset="0"/>
        <a:buChar char="•"/>
        <a:defRPr sz="1200" kern="1200">
          <a:solidFill>
            <a:schemeClr val="tx1"/>
          </a:solidFill>
          <a:latin typeface="+mn-lt"/>
          <a:ea typeface="+mn-ea"/>
          <a:cs typeface="+mn-cs"/>
        </a:defRPr>
      </a:lvl8pPr>
      <a:lvl9pPr marL="1577761" indent="-171496" algn="l" defTabSz="685983" rtl="0" eaLnBrk="1" latinLnBrk="0" hangingPunct="1">
        <a:spcBef>
          <a:spcPts val="450"/>
        </a:spcBef>
        <a:buSzPct val="80000"/>
        <a:buFont typeface="Arial" pitchFamily="34" charset="0"/>
        <a:buChar char="•"/>
        <a:defRPr sz="1200" kern="1200" baseline="0">
          <a:solidFill>
            <a:schemeClr val="tx1"/>
          </a:solidFill>
          <a:latin typeface="+mn-lt"/>
          <a:ea typeface="+mn-ea"/>
          <a:cs typeface="+mn-cs"/>
        </a:defRPr>
      </a:lvl9pPr>
    </p:bodyStyle>
    <p:otherStyle>
      <a:defPPr>
        <a:defRPr/>
      </a:defPPr>
      <a:lvl1pPr marL="0" algn="l" defTabSz="685983" rtl="0" eaLnBrk="1" latinLnBrk="0" hangingPunct="1">
        <a:defRPr sz="1350" kern="1200">
          <a:solidFill>
            <a:schemeClr val="tx1"/>
          </a:solidFill>
          <a:latin typeface="+mn-lt"/>
          <a:ea typeface="+mn-ea"/>
          <a:cs typeface="+mn-cs"/>
        </a:defRPr>
      </a:lvl1pPr>
      <a:lvl2pPr marL="342991" algn="l" defTabSz="685983" rtl="0" eaLnBrk="1" latinLnBrk="0" hangingPunct="1">
        <a:defRPr sz="1350" kern="1200">
          <a:solidFill>
            <a:schemeClr val="tx1"/>
          </a:solidFill>
          <a:latin typeface="+mn-lt"/>
          <a:ea typeface="+mn-ea"/>
          <a:cs typeface="+mn-cs"/>
        </a:defRPr>
      </a:lvl2pPr>
      <a:lvl3pPr marL="685983" algn="l" defTabSz="685983" rtl="0" eaLnBrk="1" latinLnBrk="0" hangingPunct="1">
        <a:defRPr sz="1350" kern="1200">
          <a:solidFill>
            <a:schemeClr val="tx1"/>
          </a:solidFill>
          <a:latin typeface="+mn-lt"/>
          <a:ea typeface="+mn-ea"/>
          <a:cs typeface="+mn-cs"/>
        </a:defRPr>
      </a:lvl3pPr>
      <a:lvl4pPr marL="1028974" algn="l" defTabSz="685983" rtl="0" eaLnBrk="1" latinLnBrk="0" hangingPunct="1">
        <a:defRPr sz="1350" kern="1200">
          <a:solidFill>
            <a:schemeClr val="tx1"/>
          </a:solidFill>
          <a:latin typeface="+mn-lt"/>
          <a:ea typeface="+mn-ea"/>
          <a:cs typeface="+mn-cs"/>
        </a:defRPr>
      </a:lvl4pPr>
      <a:lvl5pPr marL="1371966" algn="l" defTabSz="685983" rtl="0" eaLnBrk="1" latinLnBrk="0" hangingPunct="1">
        <a:defRPr sz="1350" kern="1200">
          <a:solidFill>
            <a:schemeClr val="tx1"/>
          </a:solidFill>
          <a:latin typeface="+mn-lt"/>
          <a:ea typeface="+mn-ea"/>
          <a:cs typeface="+mn-cs"/>
        </a:defRPr>
      </a:lvl5pPr>
      <a:lvl6pPr marL="1714957" algn="l" defTabSz="685983" rtl="0" eaLnBrk="1" latinLnBrk="0" hangingPunct="1">
        <a:defRPr sz="1350" kern="1200">
          <a:solidFill>
            <a:schemeClr val="tx1"/>
          </a:solidFill>
          <a:latin typeface="+mn-lt"/>
          <a:ea typeface="+mn-ea"/>
          <a:cs typeface="+mn-cs"/>
        </a:defRPr>
      </a:lvl6pPr>
      <a:lvl7pPr marL="2057949" algn="l" defTabSz="685983" rtl="0" eaLnBrk="1" latinLnBrk="0" hangingPunct="1">
        <a:defRPr sz="1350" kern="1200">
          <a:solidFill>
            <a:schemeClr val="tx1"/>
          </a:solidFill>
          <a:latin typeface="+mn-lt"/>
          <a:ea typeface="+mn-ea"/>
          <a:cs typeface="+mn-cs"/>
        </a:defRPr>
      </a:lvl7pPr>
      <a:lvl8pPr marL="2400940" algn="l" defTabSz="685983" rtl="0" eaLnBrk="1" latinLnBrk="0" hangingPunct="1">
        <a:defRPr sz="1350" kern="1200">
          <a:solidFill>
            <a:schemeClr val="tx1"/>
          </a:solidFill>
          <a:latin typeface="+mn-lt"/>
          <a:ea typeface="+mn-ea"/>
          <a:cs typeface="+mn-cs"/>
        </a:defRPr>
      </a:lvl8pPr>
      <a:lvl9pPr marL="2743932" algn="l" defTabSz="685983"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0" orient="horz" pos="2160" userDrawn="1">
          <p15:clr>
            <a:srgbClr val="F26B43"/>
          </p15:clr>
        </p15:guide>
        <p15:guide id="1" pos="288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274A37A1-7D8A-6F00-8812-7226595E3D4B}"/>
              </a:ext>
            </a:extLst>
          </p:cNvPr>
          <p:cNvSpPr/>
          <p:nvPr/>
        </p:nvSpPr>
        <p:spPr>
          <a:xfrm>
            <a:off x="147856" y="5619750"/>
            <a:ext cx="8839200" cy="1043876"/>
          </a:xfrm>
          <a:prstGeom prst="rect">
            <a:avLst/>
          </a:prstGeom>
          <a:ln>
            <a:solidFill/>
          </a:ln>
        </p:spPr>
        <p:txBody>
          <a:bodyPr wrap="square">
            <a:spAutoFit/>
          </a:bodyPr>
          <a:lstStyle/>
          <a:p>
            <a:pPr algn="just" eaLnBrk="0" hangingPunct="0">
              <a:spcAft>
                <a:spcPts val="400"/>
              </a:spcAft>
            </a:pPr>
            <a:r>
              <a:rPr lang="en-US" sz="650" i="1">
                <a:solidFill/>
                <a:latin typeface="Avenir Next LT Pro" panose="020B0504020202020204" pitchFamily="34" charset="0"/>
              </a:rPr>
              <a:t>The contents of this presentation are confidential and for discussion purposes only. The delivery of this presentation and its contents do not constitute an offer of securities in any existing or to-be-formed issuer or a solicitation of an offer to purchase any such securities by any person.  Offers of securities will only be made by delivery of a Confidential Private Placement Memorandum.  </a:t>
            </a:r>
          </a:p>
          <a:p>
            <a:pPr algn="just" eaLnBrk="0" hangingPunct="0"/>
            <a:r>
              <a:rPr lang="en-US" sz="650" i="1">
                <a:solidFill/>
                <a:latin typeface="Avenir Next LT Pro" panose="020B0504020202020204" pitchFamily="34" charset="0"/>
              </a:rPr>
              <a:t>The materials herein are confidential and proprietary.  Accordingly, this presentation is to be treated as strictly confidential and not disclosed, directly or indirectly, to any party other than the person to whom it has been delivered and such person’s professional advisors.  Any distribution of this presentation, in whole or in part, or the divulgence of any of its contents, is unauthorized. Past performance is not an indication of future results, and no representation or warranty is made as to the returns which may be experienced by an investor.</a:t>
            </a:r>
          </a:p>
          <a:p>
            <a:pPr algn="just" eaLnBrk="0" hangingPunct="0"/>
            <a:endParaRPr lang="en-US" sz="650" i="1">
              <a:latin typeface="Avenir Next LT Pro" panose="020B0504020202020204" pitchFamily="34" charset="0"/>
            </a:endParaRPr>
          </a:p>
          <a:p>
            <a:pPr algn="just" eaLnBrk="0" hangingPunct="0"/>
            <a:r>
              <a:rPr lang="en-US" sz="650" i="1">
                <a:solidFill/>
                <a:latin typeface="Avenir Next LT Pro" panose="020B0504020202020204" pitchFamily="34" charset="0"/>
              </a:rPr>
              <a:t>The information in this presentation contains forward-looking statements regarding future events, targets or expectations. The commercial real estate market is volatile and unpredictable. There are no guarantees that the historical performance of an investment, Portfolio, or asset class will have a direct correlation with its future performance. The information in this presentation is based on current market conditions, which will fluctuate and may be superseded by subsequent market events or for other reasons.</a:t>
            </a:r>
          </a:p>
        </p:txBody>
      </p:sp>
      <p:sp>
        <p:nvSpPr>
          <p:cNvPr id="5" name="Subtitle 4"/>
          <p:cNvSpPr>
            <a:spLocks noGrp="1"/>
          </p:cNvSpPr>
          <p:nvPr>
            <p:ph type="subTitle" idx="1"/>
          </p:nvPr>
        </p:nvSpPr>
        <p:spPr>
          <a:xfrm>
            <a:off x="158338" y="4735007"/>
            <a:ext cx="8839200" cy="533400"/>
          </a:xfrm>
          <a:ln>
            <a:solidFill/>
          </a:ln>
        </p:spPr>
        <p:txBody>
          <a:bodyPr>
            <a:normAutofit/>
          </a:bodyPr>
          <a:lstStyle/>
          <a:p>
            <a:endParaRPr lang="en-US" sz="1600">
              <a:latin typeface="Avenir Next LT Pro" panose="020B0504020202020204" pitchFamily="34" charset="0"/>
            </a:endParaRPr>
          </a:p>
        </p:txBody>
      </p:sp>
      <p:sp>
        <p:nvSpPr>
          <p:cNvPr id="3" name="TextBox 2">
            <a:extLst>
              <a:ext uri="{FF2B5EF4-FFF2-40B4-BE49-F238E27FC236}">
                <a16:creationId xmlns:a16="http://schemas.microsoft.com/office/drawing/2014/main" id="{59638BFF-4FC7-3F12-DDB4-5547AEC40B4E}"/>
              </a:ext>
            </a:extLst>
          </p:cNvPr>
          <p:cNvSpPr txBox="1"/>
          <p:nvPr/>
        </p:nvSpPr>
        <p:spPr>
          <a:xfrm>
            <a:off x="153794" y="3949859"/>
            <a:ext cx="8848288" cy="609600"/>
          </a:xfrm>
          <a:prstGeom prst="rect">
            <a:avLst/>
          </a:prstGeom>
          <a:noFill/>
          <a:ln w="6350">
            <a:noFill/>
          </a:ln>
          <a:effectLst/>
        </p:spPr>
        <p:txBody>
          <a:bodyPr vert="horz" wrap="square" lIns="73152" tIns="42203" rIns="73152" bIns="42203" rtlCol="0" anchor="ctr" anchorCtr="0">
            <a:noAutofit/>
          </a:bodyPr>
          <a:lstStyle/>
          <a:p>
            <a:pPr algn="ctr"/>
            <a:r>
              <a:rPr lang="en-US" sz="2400" dirty="0">
                <a:solidFill/>
                <a:latin typeface="Avenir Next LT Pro Demi" panose="020B0704020202020204" pitchFamily="34" charset="0"/>
              </a:rPr>
              <a:t>Restoration Hardware </a:t>
            </a:r>
            <a:r>
              <a:rPr lang="en-US" sz="2400">
                <a:solidFill/>
                <a:latin typeface="Avenir Next LT Pro Demi" panose="020B0704020202020204" pitchFamily="34" charset="0"/>
              </a:rPr>
              <a:t>(RH) Stock </a:t>
            </a:r>
            <a:r>
              <a:rPr lang="en-US" sz="2400" dirty="0">
                <a:solidFill/>
                <a:latin typeface="Avenir Next LT Pro Demi" panose="020B0704020202020204" pitchFamily="34" charset="0"/>
              </a:rPr>
              <a:t>Pitch</a:t>
            </a:r>
          </a:p>
        </p:txBody>
      </p:sp>
      <p:pic>
        <p:nvPicPr>
          <p:cNvPr id="4" name="Picture 3">
            <a:extLst>
              <a:ext uri="{FF2B5EF4-FFF2-40B4-BE49-F238E27FC236}">
                <a16:creationId xmlns:a16="http://schemas.microsoft.com/office/drawing/2014/main" id="{18A7F065-9AC5-5E17-3645-8A09D7A7ABF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645920" y="911357"/>
            <a:ext cx="5852160" cy="1539915"/>
          </a:xfrm>
          <a:prstGeom prst="rect">
            <a:avLst/>
          </a:prstGeom>
          <a:ln>
            <a:solidFill/>
          </a:ln>
        </p:spPr>
      </p:pic>
    </p:spTree>
    <p:extLst>
      <p:ext uri="{BB962C8B-B14F-4D97-AF65-F5344CB8AC3E}">
        <p14:creationId xmlns:p14="http://schemas.microsoft.com/office/powerpoint/2010/main" val="26276087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54A3F6-56BE-9745-691F-5DDCD589A110}"/>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884B421E-9E49-3211-883A-EDF9D07FE1F5}"/>
              </a:ext>
            </a:extLst>
          </p:cNvPr>
          <p:cNvSpPr>
            <a:spLocks noGrp="1"/>
          </p:cNvSpPr>
          <p:nvPr>
            <p:ph type="title"/>
          </p:nvPr>
        </p:nvSpPr>
        <p:spPr>
          <a:ln>
            <a:solidFill/>
          </a:ln>
        </p:spPr>
        <p:txBody>
          <a:bodyPr/>
          <a:lstStyle/>
          <a:p>
            <a:r>
              <a:rPr lang="en-US">
                <a:solidFill/>
              </a:rPr>
              <a:t>Table of Contents</a:t>
            </a:r>
          </a:p>
        </p:txBody>
      </p:sp>
      <p:graphicFrame>
        <p:nvGraphicFramePr>
          <p:cNvPr id="2" name="Table 1">
            <a:extLst>
              <a:ext uri="{FF2B5EF4-FFF2-40B4-BE49-F238E27FC236}">
                <a16:creationId xmlns:a16="http://schemas.microsoft.com/office/drawing/2014/main" id="{B661FD0E-1B52-5132-0BF5-35BE33B1205E}"/>
              </a:ext>
            </a:extLst>
          </p:cNvPr>
          <p:cNvGraphicFramePr>
            <a:graphicFrameLocks noGrp="1"/>
          </p:cNvGraphicFramePr>
          <p:nvPr>
            <p:extLst>
              <p:ext uri="{D42A27DB-BD31-4B8C-83A1-F6EECF244321}">
                <p14:modId xmlns:p14="http://schemas.microsoft.com/office/powerpoint/2010/main" val="4186093786"/>
              </p:ext>
            </p:extLst>
          </p:nvPr>
        </p:nvGraphicFramePr>
        <p:xfrm>
          <a:off x="361461" y="1270173"/>
          <a:ext cx="5164015" cy="3942688"/>
        </p:xfrm>
        <a:graphic>
          <a:graphicData uri="http://schemas.openxmlformats.org/drawingml/2006/table">
            <a:tbl>
              <a:tblPr firstRow="1" bandRow="1">
                <a:tableStyleId>{5940675A-B579-460E-94D1-54222C63F5DA}</a:tableStyleId>
              </a:tblPr>
              <a:tblGrid>
                <a:gridCol w="4258048">
                  <a:extLst>
                    <a:ext uri="{9D8B030D-6E8A-4147-A177-3AD203B41FA5}">
                      <a16:colId xmlns:a16="http://schemas.microsoft.com/office/drawing/2014/main" val="3371369022"/>
                    </a:ext>
                  </a:extLst>
                </a:gridCol>
                <a:gridCol w="905967">
                  <a:extLst>
                    <a:ext uri="{9D8B030D-6E8A-4147-A177-3AD203B41FA5}">
                      <a16:colId xmlns:a16="http://schemas.microsoft.com/office/drawing/2014/main" val="3756833042"/>
                    </a:ext>
                  </a:extLst>
                </a:gridCol>
              </a:tblGrid>
              <a:tr h="829499">
                <a:tc>
                  <a:txBody>
                    <a:bodyPr/>
                    <a:lstStyle/>
                    <a:p>
                      <a:r>
                        <a:rPr lang="en-US" sz="1400" b="1">
                          <a:solidFill>
                            <a:srgbClr val="FFFFFF"/>
                          </a:solidFill>
                        </a:rPr>
                        <a:t>Section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9A7B44"/>
                    </a:solidFill>
                  </a:tcPr>
                </a:tc>
                <a:tc>
                  <a:txBody>
                    <a:bodyPr/>
                    <a:lstStyle/>
                    <a:p>
                      <a:pPr algn="ctr"/>
                      <a:r>
                        <a:rPr lang="en-US" sz="1400" b="1">
                          <a:solidFill>
                            <a:srgbClr val="FFFFFF"/>
                          </a:solidFill>
                        </a:rPr>
                        <a:t>Page</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9A7B44"/>
                    </a:solidFill>
                  </a:tcPr>
                </a:tc>
                <a:extLst>
                  <a:ext uri="{0D108BD9-81ED-4DB2-BD59-A6C34878D82A}">
                    <a16:rowId xmlns:a16="http://schemas.microsoft.com/office/drawing/2014/main" val="2623660340"/>
                  </a:ext>
                </a:extLst>
              </a:tr>
              <a:tr h="829499">
                <a:tc>
                  <a:txBody>
                    <a:bodyPr/>
                    <a:lstStyle/>
                    <a:p>
                      <a:r>
                        <a:rPr lang="en-US" sz="1400">
                          <a:solidFill>
                            <a:schemeClr val="bg1">
                              <a:lumMod val="50000"/>
                            </a:schemeClr>
                          </a:solidFill>
                        </a:rPr>
                        <a:t>1.  Investment Thesis</a:t>
                      </a:r>
                      <a:endParaRPr lang="en-US" sz="1400">
                        <a:solidFill>
                          <a:schemeClr val="tx1"/>
                        </a:solidFill>
                      </a:endParaRPr>
                    </a:p>
                  </a:txBody>
                  <a:tcPr marL="137160">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ctr" defTabSz="685983"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venir Next LT Pro"/>
                          <a:ea typeface="+mn-ea"/>
                          <a:cs typeface="+mn-cs"/>
                        </a:rPr>
                        <a:t>3</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958414655"/>
                  </a:ext>
                </a:extLst>
              </a:tr>
              <a:tr h="829499">
                <a:tc>
                  <a:txBody>
                    <a:bodyPr/>
                    <a:lstStyle/>
                    <a:p>
                      <a:r>
                        <a:rPr lang="en-US" sz="1400">
                          <a:solidFill>
                            <a:schemeClr val="bg1">
                              <a:lumMod val="50000"/>
                            </a:schemeClr>
                          </a:solidFill>
                        </a:rPr>
                        <a:t>2.  Stock Overview</a:t>
                      </a:r>
                      <a:endParaRPr lang="en-US" sz="1400">
                        <a:solidFill>
                          <a:schemeClr val="tx1"/>
                        </a:solidFill>
                      </a:endParaRPr>
                    </a:p>
                  </a:txBody>
                  <a:tcPr marL="137160">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ctr" defTabSz="685983"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venir Next LT Pro"/>
                          <a:ea typeface="+mn-ea"/>
                          <a:cs typeface="+mn-cs"/>
                        </a:rPr>
                        <a:t>7</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4220369599"/>
                  </a:ext>
                </a:extLst>
              </a:tr>
              <a:tr h="1454191">
                <a:tc>
                  <a:txBody>
                    <a:bodyPr/>
                    <a:lstStyle/>
                    <a:p>
                      <a:pPr marL="228600" indent="-228600">
                        <a:buAutoNum type="arabicPeriod" startAt="3"/>
                      </a:pPr>
                      <a:r>
                        <a:rPr lang="en-US" sz="1400">
                          <a:solidFill>
                            <a:schemeClr val="bg1">
                              <a:lumMod val="50000"/>
                            </a:schemeClr>
                          </a:solidFill>
                        </a:rPr>
                        <a:t>Valuation &amp; Returns</a:t>
                      </a:r>
                    </a:p>
                    <a:p>
                      <a:pPr marL="228600" indent="-228600">
                        <a:buAutoNum type="arabicPeriod" startAt="3"/>
                      </a:pPr>
                      <a:endParaRPr lang="en-US" sz="1400">
                        <a:solidFill>
                          <a:schemeClr val="bg1">
                            <a:lumMod val="50000"/>
                          </a:schemeClr>
                        </a:solidFill>
                      </a:endParaRPr>
                    </a:p>
                    <a:p>
                      <a:pPr marL="228600" indent="-228600">
                        <a:buAutoNum type="arabicPeriod" startAt="3"/>
                      </a:pPr>
                      <a:endParaRPr lang="en-US" sz="1400">
                        <a:solidFill>
                          <a:schemeClr val="bg1">
                            <a:lumMod val="50000"/>
                          </a:schemeClr>
                        </a:solidFill>
                      </a:endParaRPr>
                    </a:p>
                    <a:p>
                      <a:pPr marL="228600" indent="-228600">
                        <a:buAutoNum type="arabicPeriod" startAt="3"/>
                      </a:pPr>
                      <a:endParaRPr lang="en-US" sz="1400">
                        <a:solidFill>
                          <a:schemeClr val="bg1">
                            <a:lumMod val="50000"/>
                          </a:schemeClr>
                        </a:solidFill>
                      </a:endParaRPr>
                    </a:p>
                    <a:p>
                      <a:pPr marL="228600" indent="-228600">
                        <a:buAutoNum type="arabicPeriod" startAt="3"/>
                      </a:pPr>
                      <a:endParaRPr lang="en-US" sz="1400">
                        <a:solidFill>
                          <a:schemeClr val="bg1">
                            <a:lumMod val="50000"/>
                          </a:schemeClr>
                        </a:solidFill>
                      </a:endParaRPr>
                    </a:p>
                    <a:p>
                      <a:pPr marL="228600" indent="-228600">
                        <a:buAutoNum type="arabicPeriod" startAt="3"/>
                      </a:pPr>
                      <a:r>
                        <a:rPr lang="en-US" sz="1400">
                          <a:solidFill>
                            <a:schemeClr val="bg1">
                              <a:lumMod val="50000"/>
                            </a:schemeClr>
                          </a:solidFill>
                        </a:rPr>
                        <a:t>Competitors</a:t>
                      </a:r>
                      <a:endParaRPr lang="en-US" sz="1400">
                        <a:solidFill>
                          <a:schemeClr val="tx1"/>
                        </a:solidFill>
                      </a:endParaRPr>
                    </a:p>
                  </a:txBody>
                  <a:tcPr marL="137160">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ctr" defTabSz="685983"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venir Next LT Pro"/>
                          <a:ea typeface="+mn-ea"/>
                          <a:cs typeface="+mn-cs"/>
                        </a:rPr>
                        <a:t>13</a:t>
                      </a:r>
                    </a:p>
                    <a:p>
                      <a:pPr marL="0" marR="0" lvl="0" indent="0" algn="ctr" defTabSz="685983"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Avenir Next LT Pro"/>
                        <a:ea typeface="+mn-ea"/>
                        <a:cs typeface="+mn-cs"/>
                      </a:endParaRPr>
                    </a:p>
                    <a:p>
                      <a:pPr marL="0" marR="0" lvl="0" indent="0" algn="ctr" defTabSz="685983"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Avenir Next LT Pro"/>
                        <a:ea typeface="+mn-ea"/>
                        <a:cs typeface="+mn-cs"/>
                      </a:endParaRPr>
                    </a:p>
                    <a:p>
                      <a:pPr marL="0" marR="0" lvl="0" indent="0" algn="ctr" defTabSz="685983"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Avenir Next LT Pro"/>
                        <a:ea typeface="+mn-ea"/>
                        <a:cs typeface="+mn-cs"/>
                      </a:endParaRPr>
                    </a:p>
                    <a:p>
                      <a:pPr marL="0" marR="0" lvl="0" indent="0" algn="ctr" defTabSz="685983"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Avenir Next LT Pro"/>
                        <a:ea typeface="+mn-ea"/>
                        <a:cs typeface="+mn-cs"/>
                      </a:endParaRPr>
                    </a:p>
                    <a:p>
                      <a:pPr marL="0" marR="0" lvl="0" indent="0" algn="ctr" defTabSz="685983"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venir Next LT Pro"/>
                          <a:ea typeface="+mn-ea"/>
                          <a:cs typeface="+mn-cs"/>
                        </a:rPr>
                        <a:t>16</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375359035"/>
                  </a:ext>
                </a:extLst>
              </a:tr>
            </a:tbl>
          </a:graphicData>
        </a:graphic>
      </p:graphicFrame>
    </p:spTree>
    <p:extLst>
      <p:ext uri="{BB962C8B-B14F-4D97-AF65-F5344CB8AC3E}">
        <p14:creationId xmlns:p14="http://schemas.microsoft.com/office/powerpoint/2010/main" val="391471512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14F2F2-7CB4-C805-D8CF-2A95F47E6D33}"/>
              </a:ext>
            </a:extLst>
          </p:cNvPr>
          <p:cNvSpPr>
            <a:spLocks noGrp="1"/>
          </p:cNvSpPr>
          <p:nvPr>
            <p:ph type="title"/>
          </p:nvPr>
        </p:nvSpPr>
        <p:spPr>
          <a:ln>
            <a:solidFill/>
          </a:ln>
        </p:spPr>
        <p:txBody>
          <a:bodyPr/>
          <a:lstStyle/>
          <a:p>
            <a:r>
              <a:rPr lang="en-US">
                <a:solidFill/>
              </a:rPr>
              <a:t>Investment thesis</a:t>
            </a:r>
          </a:p>
        </p:txBody>
      </p:sp>
    </p:spTree>
    <p:extLst>
      <p:ext uri="{BB962C8B-B14F-4D97-AF65-F5344CB8AC3E}">
        <p14:creationId xmlns:p14="http://schemas.microsoft.com/office/powerpoint/2010/main" val="3456213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492443"/>
          </a:xfrm>
          <a:prstGeom prst="rect">
            <a:avLst/>
          </a:prstGeom>
          <a:noFill/>
          <a:ln>
            <a:noFill/>
          </a:ln>
        </p:spPr>
        <p:txBody>
          <a:bodyPr wrap="square">
            <a:spAutoFit/>
          </a:bodyPr>
          <a:lstStyle/>
          <a:p>
            <a:r>
              <a:rPr sz="2600" b="0" dirty="0">
                <a:solidFill/>
                <a:latin typeface="Avenir Next LT Pro Demi"/>
              </a:rPr>
              <a:t>Recommendation: Hold</a:t>
            </a:r>
          </a:p>
        </p:txBody>
      </p:sp>
      <p:sp>
        <p:nvSpPr>
          <p:cNvPr id="4" name="Rectangle 3"/>
          <p:cNvSpPr/>
          <p:nvPr/>
        </p:nvSpPr>
        <p:spPr>
          <a:xfrm>
            <a:off x="457200" y="995363"/>
            <a:ext cx="8229600" cy="868680"/>
          </a:xfrm>
          <a:prstGeom prst="rect">
            <a:avLst/>
          </a:prstGeom>
          <a:solidFill>
            <a:srgbClr val="AF8C49"/>
          </a:solidFill>
          <a:ln>
            <a:solidFill/>
          </a:ln>
        </p:spPr>
        <p:style>
          <a:lnRef idx="1">
            <a:schemeClr val="accent1"/>
          </a:lnRef>
          <a:fillRef idx="3">
            <a:schemeClr val="accent1"/>
          </a:fillRef>
          <a:effectRef idx="2">
            <a:schemeClr val="accent1"/>
          </a:effectRef>
          <a:fontRef idx="minor">
            <a:schemeClr val="lt1"/>
          </a:fontRef>
        </p:style>
        <p:txBody>
          <a:bodyPr wrap="square" lIns="228600" rtlCol="0" anchor="ctr"/>
          <a:lstStyle/>
          <a:p>
            <a:pPr algn="l"/>
            <a:r>
              <a:rPr sz="1500" b="0" dirty="0">
                <a:solidFill>
                  <a:srgbClr val="FFFFFF"/>
                </a:solidFill>
                <a:latin typeface="Avenir Next LT Pro"/>
              </a:rPr>
              <a:t>Current ~$</a:t>
            </a:r>
            <a:r>
              <a:rPr lang="en-US" sz="1500" dirty="0">
                <a:solidFill>
                  <a:srgbClr val="FFFFFF"/>
                </a:solidFill>
                <a:latin typeface="Avenir Next LT Pro"/>
              </a:rPr>
              <a:t>166</a:t>
            </a:r>
            <a:r>
              <a:rPr sz="1500" b="0" dirty="0">
                <a:solidFill>
                  <a:srgbClr val="9AB0C4"/>
                </a:solidFill>
                <a:latin typeface="Avenir Next LT Pro"/>
              </a:rPr>
              <a:t>     ·     </a:t>
            </a:r>
            <a:r>
              <a:rPr sz="1700" b="1" dirty="0">
                <a:solidFill>
                  <a:srgbClr val="FFFFFF"/>
                </a:solidFill>
                <a:latin typeface="Avenir Next LT Pro Demi"/>
              </a:rPr>
              <a:t>Fair value today ~$165 (proven fundamentals)</a:t>
            </a:r>
            <a:r>
              <a:rPr sz="1200" b="0" dirty="0">
                <a:solidFill>
                  <a:srgbClr val="9AB0C4"/>
                </a:solidFill>
                <a:latin typeface="Avenir Next LT Pro"/>
              </a:rPr>
              <a:t>  →  </a:t>
            </a:r>
            <a:r>
              <a:rPr sz="1200" b="0" dirty="0">
                <a:solidFill>
                  <a:schemeClr val="bg1"/>
                </a:solidFill>
                <a:latin typeface="Avenir Next LT Pro"/>
              </a:rPr>
              <a:t>fairly valued</a:t>
            </a:r>
          </a:p>
          <a:p>
            <a:pPr algn="l"/>
            <a:r>
              <a:rPr sz="1100" b="0" dirty="0">
                <a:solidFill>
                  <a:schemeClr val="bg1"/>
                </a:solidFill>
                <a:latin typeface="Avenir Next LT Pro"/>
              </a:rPr>
              <a:t/>
            </a:r>
            <a:r>
              <a:rPr lang="en-US" sz="1100" b="0" dirty="0">
                <a:solidFill>
                  <a:schemeClr val="bg1"/>
                </a:solidFill>
                <a:latin typeface="Avenir Next LT Pro"/>
              </a:rPr>
              <a:t/>
            </a:r>
            <a:r>
              <a:rPr sz="1100" b="0" dirty="0">
                <a:solidFill>
                  <a:schemeClr val="bg1"/>
                </a:solidFill>
                <a:latin typeface="Avenir Next LT Pro"/>
              </a:rPr>
              <a:t>Upside if the thesis de-risks: ~$240 FV / ~$310 target (~45–90%). Not yet actionable — Estates unproven, ~4× levered. Buy on proof.</a:t>
            </a:r>
            <a:r>
              <a:rPr lang="en-US" sz="1100" b="0" dirty="0">
                <a:solidFill>
                  <a:schemeClr val="bg1"/>
                </a:solidFill>
                <a:latin typeface="Avenir Next LT Pro"/>
              </a:rPr>
              <a:t/>
            </a:r>
            <a:endParaRPr sz="1100" b="0" dirty="0">
              <a:solidFill>
                <a:schemeClr val="bg1"/>
              </a:solidFill>
              <a:latin typeface="Avenir Next LT Pro"/>
            </a:endParaRPr>
          </a:p>
        </p:txBody>
      </p:sp>
      <p:sp>
        <p:nvSpPr>
          <p:cNvPr id="5" name="Rectangle 4"/>
          <p:cNvSpPr/>
          <p:nvPr/>
        </p:nvSpPr>
        <p:spPr>
          <a:xfrm>
            <a:off x="457200" y="2240280"/>
            <a:ext cx="2651760" cy="914400"/>
          </a:xfrm>
          <a:prstGeom prst="rect">
            <a:avLst/>
          </a:prstGeom>
          <a:solidFill>
            <a:srgbClr val="E8E8E8"/>
          </a:solidFill>
          <a:ln w="19050">
            <a:solidFill>
              <a:srgbClr val="E9713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dirty="0">
                <a:solidFill>
                  <a:srgbClr val="5A5A5A"/>
                </a:solidFill>
                <a:latin typeface="Avenir Next LT Pro Demi"/>
              </a:rPr>
              <a:t>BEAR</a:t>
            </a:r>
            <a:r>
              <a:rPr lang="en-US" sz="1000" b="1" dirty="0">
                <a:solidFill>
                  <a:srgbClr val="5A5A5A"/>
                </a:solidFill>
                <a:latin typeface="Avenir Next LT Pro Demi"/>
              </a:rPr>
              <a:t/>
            </a:r>
            <a:r>
              <a:rPr sz="1000" b="1" dirty="0">
                <a:solidFill>
                  <a:srgbClr val="5A5A5A"/>
                </a:solidFill>
                <a:latin typeface="Avenir Next LT Pro Demi"/>
              </a:rPr>
              <a:t/>
            </a:r>
          </a:p>
          <a:p>
            <a:pPr algn="ctr"/>
            <a:r>
              <a:rPr sz="2400" b="1" dirty="0">
                <a:solidFill>
                  <a:srgbClr val="E97132"/>
                </a:solidFill>
                <a:latin typeface="Avenir Next LT Pro Demi"/>
              </a:rPr>
              <a:t>~$100</a:t>
            </a:r>
          </a:p>
        </p:txBody>
      </p:sp>
      <p:sp>
        <p:nvSpPr>
          <p:cNvPr id="6" name="Rectangle 5"/>
          <p:cNvSpPr/>
          <p:nvPr/>
        </p:nvSpPr>
        <p:spPr>
          <a:xfrm>
            <a:off x="3246120" y="2240280"/>
            <a:ext cx="2651760" cy="914400"/>
          </a:xfrm>
          <a:prstGeom prst="rect">
            <a:avLst/>
          </a:prstGeom>
          <a:solidFill>
            <a:srgbClr val="E8E8E8"/>
          </a:solidFill>
          <a:ln w="19050">
            <a:solidFill>
              <a:srgbClr val="15608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dirty="0">
                <a:solidFill>
                  <a:srgbClr val="5A5A5A"/>
                </a:solidFill>
                <a:latin typeface="Avenir Next LT Pro Demi"/>
              </a:rPr>
              <a:t>BASE</a:t>
            </a:r>
            <a:r>
              <a:rPr lang="en-US" sz="1000" b="1" dirty="0">
                <a:solidFill>
                  <a:srgbClr val="5A5A5A"/>
                </a:solidFill>
                <a:latin typeface="Avenir Next LT Pro Demi"/>
              </a:rPr>
              <a:t/>
            </a:r>
            <a:r>
              <a:rPr sz="1000" b="1" dirty="0">
                <a:solidFill>
                  <a:srgbClr val="5A5A5A"/>
                </a:solidFill>
                <a:latin typeface="Avenir Next LT Pro Demi"/>
              </a:rPr>
              <a:t/>
            </a:r>
          </a:p>
          <a:p>
            <a:pPr algn="ctr"/>
            <a:r>
              <a:rPr sz="2400" b="1" dirty="0">
                <a:solidFill>
                  <a:srgbClr val="000000"/>
                </a:solidFill>
                <a:latin typeface="Avenir Next LT Pro Demi"/>
              </a:rPr>
              <a:t>~$310</a:t>
            </a:r>
            <a:r>
              <a:rPr lang="en-US" sz="2400" b="1" dirty="0">
                <a:solidFill>
                  <a:srgbClr val="000000"/>
                </a:solidFill>
                <a:latin typeface="Avenir Next LT Pro Demi"/>
              </a:rPr>
              <a:t/>
            </a:r>
            <a:endParaRPr sz="2400" b="1" dirty="0">
              <a:solidFill>
                <a:srgbClr val="156082"/>
              </a:solidFill>
              <a:latin typeface="Avenir Next LT Pro Demi"/>
            </a:endParaRPr>
          </a:p>
        </p:txBody>
      </p:sp>
      <p:sp>
        <p:nvSpPr>
          <p:cNvPr id="7" name="Rectangle 6"/>
          <p:cNvSpPr/>
          <p:nvPr/>
        </p:nvSpPr>
        <p:spPr>
          <a:xfrm>
            <a:off x="6035040" y="2240280"/>
            <a:ext cx="2651760" cy="914400"/>
          </a:xfrm>
          <a:prstGeom prst="rect">
            <a:avLst/>
          </a:prstGeom>
          <a:solidFill>
            <a:srgbClr val="E8E8E8"/>
          </a:solidFill>
          <a:ln w="19050">
            <a:solidFill>
              <a:srgbClr val="196B2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dirty="0">
                <a:solidFill>
                  <a:srgbClr val="5A5A5A"/>
                </a:solidFill>
                <a:latin typeface="Avenir Next LT Pro Demi"/>
              </a:rPr>
              <a:t>BULL</a:t>
            </a:r>
            <a:r>
              <a:rPr lang="en-US" sz="1000" b="1" dirty="0">
                <a:solidFill>
                  <a:srgbClr val="5A5A5A"/>
                </a:solidFill>
                <a:latin typeface="Avenir Next LT Pro Demi"/>
              </a:rPr>
              <a:t/>
            </a:r>
            <a:r>
              <a:rPr sz="1000" b="1" dirty="0">
                <a:solidFill>
                  <a:srgbClr val="5A5A5A"/>
                </a:solidFill>
                <a:latin typeface="Avenir Next LT Pro Demi"/>
              </a:rPr>
              <a:t/>
            </a:r>
          </a:p>
          <a:p>
            <a:pPr algn="ctr"/>
            <a:r>
              <a:rPr sz="2400" b="1">
                <a:solidFill>
                  <a:srgbClr val="196B24"/>
                </a:solidFill>
                <a:latin typeface="Avenir Next LT Pro Demi"/>
              </a:rPr>
              <a:t>~$562</a:t>
            </a:r>
            <a:r>
              <a:rPr lang="en-US" sz="2400" b="1">
                <a:solidFill>
                  <a:srgbClr val="196B24"/>
                </a:solidFill>
                <a:latin typeface="Avenir Next LT Pro Demi"/>
              </a:rPr>
              <a:t/>
            </a:r>
            <a:endParaRPr sz="2400" b="1" dirty="0">
              <a:solidFill>
                <a:srgbClr val="196B24"/>
              </a:solidFill>
              <a:latin typeface="Avenir Next LT Pro Demi"/>
            </a:endParaRPr>
          </a:p>
        </p:txBody>
      </p:sp>
      <p:sp>
        <p:nvSpPr>
          <p:cNvPr id="8" name="Rectangle 7"/>
          <p:cNvSpPr/>
          <p:nvPr/>
        </p:nvSpPr>
        <p:spPr>
          <a:xfrm>
            <a:off x="457200" y="3429000"/>
            <a:ext cx="82296" cy="2240280"/>
          </a:xfrm>
          <a:prstGeom prst="rect">
            <a:avLst/>
          </a:prstGeom>
          <a:solidFill>
            <a:srgbClr val="00000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3429000"/>
            <a:ext cx="3794760" cy="2240280"/>
          </a:xfrm>
          <a:prstGeom prst="rect">
            <a:avLst/>
          </a:prstGeom>
          <a:noFill/>
          <a:ln>
            <a:noFill/>
          </a:ln>
        </p:spPr>
        <p:txBody>
          <a:bodyPr wrap="square">
            <a:spAutoFit/>
          </a:bodyPr>
          <a:lstStyle/>
          <a:p>
            <a:r>
              <a:rPr sz="1300" b="1">
                <a:solidFill>
                  <a:srgbClr val="000000"/>
                </a:solidFill>
                <a:latin typeface="Avenir Next LT Pro Demi"/>
              </a:rPr>
              <a:t>Why it's interesting</a:t>
            </a:r>
          </a:p>
          <a:p>
            <a:pPr>
              <a:spcBef>
                <a:spcPts val="600"/>
              </a:spcBef>
            </a:pPr>
            <a:r>
              <a:rPr sz="1100">
                <a:solidFill>
                  <a:srgbClr val="000000"/>
                </a:solidFill>
                <a:latin typeface="Avenir Next LT Pro"/>
              </a:rPr>
              <a:t>•  </a:t>
            </a:r>
            <a:r>
              <a:rPr sz="1100">
                <a:solidFill>
                  <a:srgbClr val="000000"/>
                </a:solidFill>
                <a:latin typeface="Avenir Next LT Pro"/>
              </a:rPr>
              <a:t>Proven operator — Friedman (~18–25% owner) rebuilt RH from near-bankruptcy</a:t>
            </a:r>
          </a:p>
          <a:p>
            <a:pPr>
              <a:spcBef>
                <a:spcPts val="600"/>
              </a:spcBef>
            </a:pPr>
            <a:r>
              <a:rPr sz="1100">
                <a:solidFill>
                  <a:srgbClr val="000000"/>
                </a:solidFill>
                <a:latin typeface="Avenir Next LT Pro"/>
              </a:rPr>
              <a:t>•  </a:t>
            </a:r>
            <a:r>
              <a:rPr sz="1100">
                <a:solidFill>
                  <a:srgbClr val="000000"/>
                </a:solidFill>
                <a:latin typeface="Avenir Next LT Pro"/>
              </a:rPr>
              <a:t>Differentiated, fully-DTC luxury brand with real pricing power</a:t>
            </a:r>
          </a:p>
          <a:p>
            <a:pPr>
              <a:spcBef>
                <a:spcPts val="600"/>
              </a:spcBef>
            </a:pPr>
            <a:r>
              <a:rPr sz="1100">
                <a:solidFill>
                  <a:srgbClr val="000000"/>
                </a:solidFill>
                <a:latin typeface="Avenir Next LT Pro"/>
              </a:rPr>
              <a:t>•  </a:t>
            </a:r>
            <a:r>
              <a:rPr sz="1100">
                <a:solidFill>
                  <a:srgbClr val="000000"/>
                </a:solidFill>
                <a:latin typeface="Avenir Next LT Pro"/>
              </a:rPr>
              <a:t>Large optionality — ~45–90% upside if Estates + margins prove out</a:t>
            </a:r>
          </a:p>
        </p:txBody>
      </p:sp>
      <p:sp>
        <p:nvSpPr>
          <p:cNvPr id="10" name="Rectangle 9"/>
          <p:cNvSpPr/>
          <p:nvPr/>
        </p:nvSpPr>
        <p:spPr>
          <a:xfrm>
            <a:off x="4709160" y="3429000"/>
            <a:ext cx="82296" cy="2240280"/>
          </a:xfrm>
          <a:prstGeom prst="rect">
            <a:avLst/>
          </a:prstGeom>
          <a:solidFill>
            <a:srgbClr val="B0303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92040" y="3429000"/>
            <a:ext cx="3794760" cy="2240280"/>
          </a:xfrm>
          <a:prstGeom prst="rect">
            <a:avLst/>
          </a:prstGeom>
          <a:noFill/>
          <a:ln>
            <a:noFill/>
          </a:ln>
        </p:spPr>
        <p:txBody>
          <a:bodyPr wrap="square">
            <a:spAutoFit/>
          </a:bodyPr>
          <a:lstStyle/>
          <a:p>
            <a:r>
              <a:rPr sz="1300" b="1">
                <a:solidFill>
                  <a:srgbClr val="B03030"/>
                </a:solidFill>
                <a:latin typeface="Avenir Next LT Pro Demi"/>
              </a:rPr>
              <a:t>Why I'm holding — not yet</a:t>
            </a:r>
          </a:p>
          <a:p>
            <a:pPr>
              <a:spcBef>
                <a:spcPts val="600"/>
              </a:spcBef>
            </a:pPr>
            <a:r>
              <a:rPr sz="1100">
                <a:solidFill>
                  <a:srgbClr val="B03030"/>
                </a:solidFill>
                <a:latin typeface="Avenir Next LT Pro"/>
              </a:rPr>
              <a:t>•  </a:t>
            </a:r>
            <a:r>
              <a:rPr sz="1100">
                <a:solidFill>
                  <a:srgbClr val="000000"/>
                </a:solidFill>
                <a:latin typeface="Avenir Next LT Pro"/>
              </a:rPr>
              <a:t>Estates unproven — zero results data (launched Jun 2026)</a:t>
            </a:r>
          </a:p>
          <a:p>
            <a:pPr>
              <a:spcBef>
                <a:spcPts val="600"/>
              </a:spcBef>
            </a:pPr>
            <a:r>
              <a:rPr sz="1100">
                <a:solidFill>
                  <a:srgbClr val="B03030"/>
                </a:solidFill>
                <a:latin typeface="Avenir Next LT Pro"/>
              </a:rPr>
              <a:t>•  </a:t>
            </a:r>
            <a:r>
              <a:rPr sz="1100">
                <a:solidFill>
                  <a:srgbClr val="000000"/>
                </a:solidFill>
                <a:latin typeface="Avenir Next LT Pro"/>
              </a:rPr>
              <a:t>Core still soft — Q1 net loss; Q2 guides just +0.5–2.5%</a:t>
            </a:r>
          </a:p>
          <a:p>
            <a:pPr>
              <a:spcBef>
                <a:spcPts val="600"/>
              </a:spcBef>
            </a:pPr>
            <a:r>
              <a:rPr sz="1100">
                <a:solidFill>
                  <a:srgbClr val="B03030"/>
                </a:solidFill>
                <a:latin typeface="Avenir Next LT Pro"/>
              </a:rPr>
              <a:t>•  </a:t>
            </a:r>
            <a:r>
              <a:rPr sz="1100">
                <a:solidFill>
                  <a:srgbClr val="000000"/>
                </a:solidFill>
                <a:latin typeface="Avenir Next LT Pro"/>
              </a:rPr>
              <a:t>~4× levered; debt reduction one-time (inventory) and stalling</a:t>
            </a:r>
          </a:p>
        </p:txBody>
      </p:sp>
      <p:sp>
        <p:nvSpPr>
          <p:cNvPr id="12" name="TextBox 11"/>
          <p:cNvSpPr txBox="1"/>
          <p:nvPr/>
        </p:nvSpPr>
        <p:spPr>
          <a:xfrm>
            <a:off x="457200" y="1965960"/>
            <a:ext cx="8229600" cy="256032"/>
          </a:xfrm>
          <a:prstGeom prst="rect">
            <a:avLst/>
          </a:prstGeom>
          <a:noFill/>
          <a:ln>
            <a:noFill/>
          </a:ln>
        </p:spPr>
        <p:txBody>
          <a:bodyPr wrap="square">
            <a:spAutoFit/>
          </a:bodyPr>
          <a:lstStyle/>
          <a:p>
            <a:r>
              <a:rPr sz="900" b="0" i="1">
                <a:solidFill>
                  <a:srgbClr val="707070"/>
                </a:solidFill>
                <a:latin typeface="Avenir Next LT Pro"/>
              </a:rPr>
              <a:t>2–3 yr outcome range if the thesis plays out (not probability-weighted):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a:ln>
            <a:noFill/>
          </a:ln>
        </p:spPr>
        <p:txBody>
          <a:bodyPr wrap="square">
            <a:spAutoFit/>
          </a:bodyPr>
          <a:lstStyle/>
          <a:p>
            <a:r>
              <a:rPr sz="2200">
                <a:solidFill>
                  <a:srgbClr val="000000"/>
                </a:solidFill>
                <a:latin typeface="Avenir Next LT Pro Demi"/>
              </a:rPr>
              <a:t>Where the Street Values RH — vs. My Verdict</a:t>
            </a:r>
          </a:p>
        </p:txBody>
      </p:sp>
      <p:sp>
        <p:nvSpPr>
          <p:cNvPr id="3" name="Rectangle 2"/>
          <p:cNvSpPr/>
          <p:nvPr/>
        </p:nvSpPr>
        <p:spPr>
          <a:xfrm>
            <a:off x="457200" y="960120"/>
            <a:ext cx="8229600" cy="25603"/>
          </a:xfrm>
          <a:prstGeom prst="rect">
            <a:avLst/>
          </a:prstGeom>
          <a:solidFill>
            <a:srgbClr val="00000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57200" y="1371600"/>
          <a:ext cx="8229600" cy="2743200"/>
        </p:xfrm>
        <a:graphic>
          <a:graphicData uri="http://schemas.openxmlformats.org/drawingml/2006/table">
            <a:tbl>
              <a:tblPr>
                <a:tableStyleId>{5C22544A-7EE6-4342-B048-85BDC9FD1C3A}</a:tableStyleId>
              </a:tblPr>
              <a:tblGrid>
                <a:gridCol w="3291840"/>
                <a:gridCol w="2011680"/>
                <a:gridCol w="2926080"/>
              </a:tblGrid>
              <a:tr h="457200">
                <a:tc>
                  <a:txBody>
                    <a:bodyPr/>
                    <a:lstStyle/>
                    <a:p>
                      <a:pPr algn="l"/>
                      <a:r>
                        <a:rPr sz="1100" b="1">
                          <a:solidFill>
                            <a:srgbClr val="FFFFFF"/>
                          </a:solidFill>
                          <a:latin typeface="Avenir Next LT Pro Demi"/>
                        </a:rPr>
                        <a:t>Benchmark</a:t>
                      </a:r>
                    </a:p>
                  </a:txBody>
                  <a:tcPr marL="91440" marT="27432" marB="27432" anchor="ctr">
                    <a:solidFill>
                      <a:srgbClr val="9A7B44"/>
                    </a:solidFill>
                  </a:tcPr>
                </a:tc>
                <a:tc>
                  <a:txBody>
                    <a:bodyPr/>
                    <a:lstStyle/>
                    <a:p>
                      <a:pPr algn="ctr"/>
                      <a:r>
                        <a:rPr sz="1100" b="1">
                          <a:solidFill>
                            <a:srgbClr val="FFFFFF"/>
                          </a:solidFill>
                          <a:latin typeface="Avenir Next LT Pro Demi"/>
                        </a:rPr>
                        <a:t>Value</a:t>
                      </a:r>
                    </a:p>
                  </a:txBody>
                  <a:tcPr marL="91440" marT="27432" marB="27432" anchor="ctr">
                    <a:solidFill>
                      <a:srgbClr val="9A7B44"/>
                    </a:solidFill>
                  </a:tcPr>
                </a:tc>
                <a:tc>
                  <a:txBody>
                    <a:bodyPr/>
                    <a:lstStyle/>
                    <a:p>
                      <a:pPr algn="l"/>
                      <a:r>
                        <a:rPr sz="1100" b="1">
                          <a:solidFill>
                            <a:srgbClr val="FFFFFF"/>
                          </a:solidFill>
                          <a:latin typeface="Avenir Next LT Pro Demi"/>
                        </a:rPr>
                        <a:t>Implied read</a:t>
                      </a:r>
                    </a:p>
                  </a:txBody>
                  <a:tcPr marL="91440" marT="27432" marB="27432" anchor="ctr">
                    <a:solidFill>
                      <a:srgbClr val="9A7B44"/>
                    </a:solidFill>
                  </a:tcPr>
                </a:tc>
              </a:tr>
              <a:tr h="457200">
                <a:tc>
                  <a:txBody>
                    <a:bodyPr/>
                    <a:lstStyle/>
                    <a:p>
                      <a:pPr algn="l"/>
                      <a:r>
                        <a:rPr sz="1100" b="1">
                          <a:solidFill>
                            <a:srgbClr val="000000"/>
                          </a:solidFill>
                          <a:latin typeface="Avenir Next LT Pro"/>
                        </a:rPr>
                        <a:t>Current price</a:t>
                      </a:r>
                    </a:p>
                  </a:txBody>
                  <a:tcPr marL="91440" marT="27432" marB="27432" anchor="ctr">
                    <a:solidFill>
                      <a:srgbClr val="FFFFFF"/>
                    </a:solidFill>
                  </a:tcPr>
                </a:tc>
                <a:tc>
                  <a:txBody>
                    <a:bodyPr/>
                    <a:lstStyle/>
                    <a:p>
                      <a:pPr algn="ctr"/>
                      <a:r>
                        <a:rPr sz="1100" b="0">
                          <a:solidFill>
                            <a:srgbClr val="000000"/>
                          </a:solidFill>
                          <a:latin typeface="Avenir Next LT Pro"/>
                        </a:rPr>
                        <a:t>~$166</a:t>
                      </a:r>
                    </a:p>
                  </a:txBody>
                  <a:tcPr marL="91440" marT="27432" marB="27432" anchor="ctr">
                    <a:solidFill>
                      <a:srgbClr val="FFFFFF"/>
                    </a:solidFill>
                  </a:tcPr>
                </a:tc>
                <a:tc>
                  <a:txBody>
                    <a:bodyPr/>
                    <a:lstStyle/>
                    <a:p>
                      <a:pPr algn="l"/>
                      <a:r>
                        <a:rPr sz="1100" b="0">
                          <a:solidFill>
                            <a:srgbClr val="000000"/>
                          </a:solidFill>
                          <a:latin typeface="Avenir Next LT Pro"/>
                        </a:rPr>
                        <a:t>—</a:t>
                      </a:r>
                    </a:p>
                  </a:txBody>
                  <a:tcPr marL="91440" marT="27432" marB="27432" anchor="ctr">
                    <a:solidFill>
                      <a:srgbClr val="FFFFFF"/>
                    </a:solidFill>
                  </a:tcPr>
                </a:tc>
              </a:tr>
              <a:tr h="457200">
                <a:tc>
                  <a:txBody>
                    <a:bodyPr/>
                    <a:lstStyle/>
                    <a:p>
                      <a:pPr algn="l"/>
                      <a:r>
                        <a:rPr sz="1100" b="1">
                          <a:solidFill>
                            <a:srgbClr val="000000"/>
                          </a:solidFill>
                          <a:latin typeface="Avenir Next LT Pro"/>
                        </a:rPr>
                        <a:t>Sell-side price targets</a:t>
                      </a:r>
                    </a:p>
                  </a:txBody>
                  <a:tcPr marL="91440" marT="27432" marB="27432" anchor="ctr">
                    <a:solidFill>
                      <a:srgbClr val="F4F6F8"/>
                    </a:solidFill>
                  </a:tcPr>
                </a:tc>
                <a:tc>
                  <a:txBody>
                    <a:bodyPr/>
                    <a:lstStyle/>
                    <a:p>
                      <a:pPr algn="ctr"/>
                      <a:r>
                        <a:rPr sz="1100" b="0">
                          <a:solidFill>
                            <a:srgbClr val="000000"/>
                          </a:solidFill>
                          <a:latin typeface="Avenir Next LT Pro"/>
                        </a:rPr>
                        <a:t>$130–175</a:t>
                      </a:r>
                    </a:p>
                  </a:txBody>
                  <a:tcPr marL="91440" marT="27432" marB="27432" anchor="ctr">
                    <a:solidFill>
                      <a:srgbClr val="F4F6F8"/>
                    </a:solidFill>
                  </a:tcPr>
                </a:tc>
                <a:tc>
                  <a:txBody>
                    <a:bodyPr/>
                    <a:lstStyle/>
                    <a:p>
                      <a:pPr algn="l"/>
                      <a:r>
                        <a:rPr sz="1100" b="0">
                          <a:solidFill>
                            <a:srgbClr val="000000"/>
                          </a:solidFill>
                          <a:latin typeface="Avenir Next LT Pro"/>
                        </a:rPr>
                        <a:t>Limited upside; ~fairly valued</a:t>
                      </a:r>
                    </a:p>
                  </a:txBody>
                  <a:tcPr marL="91440" marT="27432" marB="27432" anchor="ctr">
                    <a:solidFill>
                      <a:srgbClr val="F4F6F8"/>
                    </a:solidFill>
                  </a:tcPr>
                </a:tc>
              </a:tr>
              <a:tr h="457200">
                <a:tc>
                  <a:txBody>
                    <a:bodyPr/>
                    <a:lstStyle/>
                    <a:p>
                      <a:pPr algn="l"/>
                      <a:r>
                        <a:rPr sz="1100" b="1">
                          <a:solidFill>
                            <a:srgbClr val="000000"/>
                          </a:solidFill>
                          <a:latin typeface="Avenir Next LT Pro"/>
                        </a:rPr>
                        <a:t>Simply Wall St models</a:t>
                      </a:r>
                    </a:p>
                  </a:txBody>
                  <a:tcPr marL="91440" marT="27432" marB="27432" anchor="ctr">
                    <a:solidFill>
                      <a:srgbClr val="FFFFFF"/>
                    </a:solidFill>
                  </a:tcPr>
                </a:tc>
                <a:tc>
                  <a:txBody>
                    <a:bodyPr/>
                    <a:lstStyle/>
                    <a:p>
                      <a:pPr algn="ctr"/>
                      <a:r>
                        <a:rPr sz="1100" b="0">
                          <a:solidFill>
                            <a:srgbClr val="000000"/>
                          </a:solidFill>
                          <a:latin typeface="Avenir Next LT Pro"/>
                        </a:rPr>
                        <a:t>~$165–264</a:t>
                      </a:r>
                    </a:p>
                  </a:txBody>
                  <a:tcPr marL="91440" marT="27432" marB="27432" anchor="ctr">
                    <a:solidFill>
                      <a:srgbClr val="FFFFFF"/>
                    </a:solidFill>
                  </a:tcPr>
                </a:tc>
                <a:tc>
                  <a:txBody>
                    <a:bodyPr/>
                    <a:lstStyle/>
                    <a:p>
                      <a:pPr algn="l"/>
                      <a:r>
                        <a:rPr sz="1100" b="0">
                          <a:solidFill>
                            <a:srgbClr val="000000"/>
                          </a:solidFill>
                          <a:latin typeface="Avenir Next LT Pro"/>
                        </a:rPr>
                        <a:t>Fairly valued to bullish</a:t>
                      </a:r>
                    </a:p>
                  </a:txBody>
                  <a:tcPr marL="91440" marT="27432" marB="27432" anchor="ctr">
                    <a:solidFill>
                      <a:srgbClr val="FFFFFF"/>
                    </a:solidFill>
                  </a:tcPr>
                </a:tc>
              </a:tr>
              <a:tr h="457200">
                <a:tc>
                  <a:txBody>
                    <a:bodyPr/>
                    <a:lstStyle/>
                    <a:p>
                      <a:pPr algn="l"/>
                      <a:r>
                        <a:rPr sz="1100" b="1">
                          <a:solidFill>
                            <a:srgbClr val="000000"/>
                          </a:solidFill>
                          <a:latin typeface="Avenir Next LT Pro Demi"/>
                        </a:rPr>
                        <a:t>My fair value — proven today</a:t>
                      </a:r>
                    </a:p>
                  </a:txBody>
                  <a:tcPr marL="91440" marT="27432" marB="27432" anchor="ctr">
                    <a:solidFill>
                      <a:srgbClr val="F4F6F8"/>
                    </a:solidFill>
                  </a:tcPr>
                </a:tc>
                <a:tc>
                  <a:txBody>
                    <a:bodyPr/>
                    <a:lstStyle/>
                    <a:p>
                      <a:pPr algn="ctr"/>
                      <a:r>
                        <a:rPr sz="1100" b="1">
                          <a:solidFill>
                            <a:srgbClr val="000000"/>
                          </a:solidFill>
                          <a:latin typeface="Avenir Next LT Pro"/>
                        </a:rPr>
                        <a:t>~$165</a:t>
                      </a:r>
                    </a:p>
                  </a:txBody>
                  <a:tcPr marL="91440" marT="27432" marB="27432" anchor="ctr">
                    <a:solidFill>
                      <a:srgbClr val="F4F6F8"/>
                    </a:solidFill>
                  </a:tcPr>
                </a:tc>
                <a:tc>
                  <a:txBody>
                    <a:bodyPr/>
                    <a:lstStyle/>
                    <a:p>
                      <a:pPr algn="l"/>
                      <a:r>
                        <a:rPr sz="1100" b="1">
                          <a:solidFill>
                            <a:srgbClr val="000000"/>
                          </a:solidFill>
                          <a:latin typeface="Avenir Next LT Pro"/>
                        </a:rPr>
                        <a:t>In line with Street → Hold</a:t>
                      </a:r>
                    </a:p>
                  </a:txBody>
                  <a:tcPr marL="91440" marT="27432" marB="27432" anchor="ctr">
                    <a:solidFill>
                      <a:srgbClr val="F4F6F8"/>
                    </a:solidFill>
                  </a:tcPr>
                </a:tc>
              </a:tr>
              <a:tr h="457200">
                <a:tc>
                  <a:txBody>
                    <a:bodyPr/>
                    <a:lstStyle/>
                    <a:p>
                      <a:pPr algn="l"/>
                      <a:r>
                        <a:rPr sz="1100" b="1">
                          <a:solidFill>
                            <a:srgbClr val="000000"/>
                          </a:solidFill>
                          <a:latin typeface="Avenir Next LT Pro Demi"/>
                        </a:rPr>
                        <a:t>My upside case — if de-risked</a:t>
                      </a:r>
                    </a:p>
                  </a:txBody>
                  <a:tcPr marL="91440" marT="27432" marB="27432" anchor="ctr">
                    <a:solidFill>
                      <a:srgbClr val="FFFFFF"/>
                    </a:solidFill>
                  </a:tcPr>
                </a:tc>
                <a:tc>
                  <a:txBody>
                    <a:bodyPr/>
                    <a:lstStyle/>
                    <a:p>
                      <a:pPr algn="ctr"/>
                      <a:r>
                        <a:rPr sz="1100" b="1">
                          <a:solidFill>
                            <a:srgbClr val="000000"/>
                          </a:solidFill>
                          <a:latin typeface="Avenir Next LT Pro"/>
                        </a:rPr>
                        <a:t>~$240 FV / ~$310 tgt</a:t>
                      </a:r>
                    </a:p>
                  </a:txBody>
                  <a:tcPr marL="91440" marT="27432" marB="27432" anchor="ctr">
                    <a:solidFill>
                      <a:srgbClr val="FFFFFF"/>
                    </a:solidFill>
                  </a:tcPr>
                </a:tc>
                <a:tc>
                  <a:txBody>
                    <a:bodyPr/>
                    <a:lstStyle/>
                    <a:p>
                      <a:pPr algn="l"/>
                      <a:r>
                        <a:rPr sz="1100" b="1">
                          <a:solidFill>
                            <a:srgbClr val="000000"/>
                          </a:solidFill>
                          <a:latin typeface="Avenir Next LT Pro"/>
                        </a:rPr>
                        <a:t>The prize (~45–90%) if triggers hit</a:t>
                      </a:r>
                    </a:p>
                  </a:txBody>
                  <a:tcPr marL="91440" marT="27432" marB="27432" anchor="ctr">
                    <a:solidFill>
                      <a:srgbClr val="FFFFFF"/>
                    </a:solidFill>
                  </a:tcPr>
                </a:tc>
              </a:tr>
            </a:tbl>
          </a:graphicData>
        </a:graphic>
      </p:graphicFrame>
      <p:sp>
        <p:nvSpPr>
          <p:cNvPr id="5" name="TextBox 4"/>
          <p:cNvSpPr txBox="1"/>
          <p:nvPr/>
        </p:nvSpPr>
        <p:spPr>
          <a:xfrm>
            <a:off x="457200" y="4572000"/>
            <a:ext cx="8229600" cy="1005840"/>
          </a:xfrm>
          <a:prstGeom prst="rect">
            <a:avLst/>
          </a:prstGeom>
          <a:noFill/>
          <a:ln>
            <a:noFill/>
          </a:ln>
        </p:spPr>
        <p:txBody>
          <a:bodyPr wrap="square">
            <a:spAutoFit/>
          </a:bodyPr>
          <a:lstStyle/>
          <a:p>
            <a:r>
              <a:rPr sz="1200">
                <a:solidFill>
                  <a:srgbClr val="000000"/>
                </a:solidFill>
                <a:latin typeface="Avenir Next LT Pro"/>
              </a:rPr>
              <a:t>Takeaway: I match the Street on proven value (~$165 ≈ price).</a:t>
            </a:r>
          </a:p>
          <a:p>
            <a:pPr>
              <a:spcBef>
                <a:spcPts val="800"/>
              </a:spcBef>
            </a:pPr>
            <a:r>
              <a:rPr sz="1200" b="1">
                <a:solidFill>
                  <a:srgbClr val="000000"/>
                </a:solidFill>
                <a:latin typeface="Avenir Next LT Pro Demi"/>
              </a:rPr>
              <a:t>My edge is the conditional upside (~$240–310) — and the discipline to wait for proof before paying for it.</a:t>
            </a:r>
          </a:p>
        </p:txBody>
      </p:sp>
      <p:sp>
        <p:nvSpPr>
          <p:cNvPr id="6" name="TextBox 5"/>
          <p:cNvSpPr txBox="1"/>
          <p:nvPr/>
        </p:nvSpPr>
        <p:spPr>
          <a:xfrm>
            <a:off x="457200" y="6172200"/>
            <a:ext cx="8229600" cy="274320"/>
          </a:xfrm>
          <a:prstGeom prst="rect">
            <a:avLst/>
          </a:prstGeom>
          <a:noFill/>
          <a:ln>
            <a:noFill/>
          </a:ln>
        </p:spPr>
        <p:txBody>
          <a:bodyPr wrap="none">
            <a:spAutoFit/>
          </a:bodyPr>
          <a:lstStyle/>
          <a:p>
            <a:r>
              <a:rPr sz="750" i="1">
                <a:solidFill>
                  <a:srgbClr val="707070"/>
                </a:solidFill>
                <a:latin typeface="Avenir Next LT Pro"/>
              </a:rPr>
              <a:t>Sources: sell-side price-target range &amp; Simply Wall St narrative fair values (per recent research); author's estimates.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a:ln>
            <a:noFill/>
          </a:ln>
        </p:spPr>
        <p:txBody>
          <a:bodyPr wrap="square">
            <a:spAutoFit/>
          </a:bodyPr>
          <a:lstStyle/>
          <a:p>
            <a:r>
              <a:rPr sz="2200">
                <a:solidFill>
                  <a:srgbClr val="000000"/>
                </a:solidFill>
                <a:latin typeface="Avenir Next LT Pro Demi"/>
              </a:rPr>
              <a:t>What Would Make Me a Buyer</a:t>
            </a:r>
          </a:p>
        </p:txBody>
      </p:sp>
      <p:sp>
        <p:nvSpPr>
          <p:cNvPr id="3" name="Rectangle 2"/>
          <p:cNvSpPr/>
          <p:nvPr/>
        </p:nvSpPr>
        <p:spPr>
          <a:xfrm>
            <a:off x="457200" y="960120"/>
            <a:ext cx="8229600" cy="25603"/>
          </a:xfrm>
          <a:prstGeom prst="rect">
            <a:avLst/>
          </a:prstGeom>
          <a:solidFill>
            <a:srgbClr val="00000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0"/>
            <a:ext cx="8229600" cy="457200"/>
          </a:xfrm>
          <a:prstGeom prst="rect">
            <a:avLst/>
          </a:prstGeom>
          <a:noFill/>
          <a:ln>
            <a:noFill/>
          </a:ln>
        </p:spPr>
        <p:txBody>
          <a:bodyPr wrap="square">
            <a:spAutoFit/>
          </a:bodyPr>
          <a:lstStyle/>
          <a:p>
            <a:r>
              <a:rPr sz="1200" i="1">
                <a:solidFill>
                  <a:srgbClr val="707070"/>
                </a:solidFill>
                <a:latin typeface="Avenir Next LT Pro"/>
              </a:rPr>
              <a:t>Hold today. Three proofs would flip it to Buy — even at a higher price, because the risk would be lower.</a:t>
            </a:r>
          </a:p>
        </p:txBody>
      </p:sp>
      <p:sp>
        <p:nvSpPr>
          <p:cNvPr id="5" name="Rectangle 4"/>
          <p:cNvSpPr/>
          <p:nvPr/>
        </p:nvSpPr>
        <p:spPr>
          <a:xfrm>
            <a:off x="457200" y="1691640"/>
            <a:ext cx="82296" cy="1143000"/>
          </a:xfrm>
          <a:prstGeom prst="rect">
            <a:avLst/>
          </a:prstGeom>
          <a:solidFill>
            <a:srgbClr val="00000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1691640"/>
            <a:ext cx="2331720" cy="1143000"/>
          </a:xfrm>
          <a:prstGeom prst="rect">
            <a:avLst/>
          </a:prstGeom>
          <a:noFill/>
          <a:ln>
            <a:noFill/>
          </a:ln>
        </p:spPr>
        <p:txBody>
          <a:bodyPr wrap="square" anchor="ctr">
            <a:spAutoFit/>
          </a:bodyPr>
          <a:lstStyle/>
          <a:p>
            <a:r>
              <a:rPr sz="1300" b="1">
                <a:solidFill>
                  <a:srgbClr val="000000"/>
                </a:solidFill>
                <a:latin typeface="Avenir Next LT Pro Demi"/>
              </a:rPr>
              <a:t>1 — Core recovery</a:t>
            </a:r>
          </a:p>
        </p:txBody>
      </p:sp>
      <p:sp>
        <p:nvSpPr>
          <p:cNvPr id="7" name="TextBox 6"/>
          <p:cNvSpPr txBox="1"/>
          <p:nvPr/>
        </p:nvSpPr>
        <p:spPr>
          <a:xfrm>
            <a:off x="3063240" y="1691640"/>
            <a:ext cx="5623560" cy="1143000"/>
          </a:xfrm>
          <a:prstGeom prst="rect">
            <a:avLst/>
          </a:prstGeom>
          <a:noFill/>
          <a:ln>
            <a:noFill/>
          </a:ln>
        </p:spPr>
        <p:txBody>
          <a:bodyPr wrap="square" anchor="ctr">
            <a:spAutoFit/>
          </a:bodyPr>
          <a:lstStyle/>
          <a:p>
            <a:r>
              <a:rPr sz="1150">
                <a:solidFill>
                  <a:srgbClr val="000000"/>
                </a:solidFill>
                <a:latin typeface="Avenir Next LT Pro"/>
              </a:rPr>
              <a:t>Revenue back in/above the 4.5–8% guide and a return to profit — a trend, not one quarter.</a:t>
            </a:r>
          </a:p>
        </p:txBody>
      </p:sp>
      <p:sp>
        <p:nvSpPr>
          <p:cNvPr id="8" name="Rectangle 7"/>
          <p:cNvSpPr/>
          <p:nvPr/>
        </p:nvSpPr>
        <p:spPr>
          <a:xfrm>
            <a:off x="457200" y="2999232"/>
            <a:ext cx="82296" cy="1143000"/>
          </a:xfrm>
          <a:prstGeom prst="rect">
            <a:avLst/>
          </a:prstGeom>
          <a:solidFill>
            <a:srgbClr val="E97132"/>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2999232"/>
            <a:ext cx="2331720" cy="1143000"/>
          </a:xfrm>
          <a:prstGeom prst="rect">
            <a:avLst/>
          </a:prstGeom>
          <a:noFill/>
          <a:ln>
            <a:noFill/>
          </a:ln>
        </p:spPr>
        <p:txBody>
          <a:bodyPr wrap="square" anchor="ctr">
            <a:spAutoFit/>
          </a:bodyPr>
          <a:lstStyle/>
          <a:p>
            <a:r>
              <a:rPr sz="1300" b="1">
                <a:solidFill>
                  <a:srgbClr val="000000"/>
                </a:solidFill>
                <a:latin typeface="Avenir Next LT Pro Demi"/>
              </a:rPr>
              <a:t>2 — Evidence Estates is working</a:t>
            </a:r>
          </a:p>
        </p:txBody>
      </p:sp>
      <p:sp>
        <p:nvSpPr>
          <p:cNvPr id="10" name="TextBox 9"/>
          <p:cNvSpPr txBox="1"/>
          <p:nvPr/>
        </p:nvSpPr>
        <p:spPr>
          <a:xfrm>
            <a:off x="3063240" y="2999232"/>
            <a:ext cx="5623560" cy="1143000"/>
          </a:xfrm>
          <a:prstGeom prst="rect">
            <a:avLst/>
          </a:prstGeom>
          <a:noFill/>
          <a:ln>
            <a:noFill/>
          </a:ln>
        </p:spPr>
        <p:txBody>
          <a:bodyPr wrap="square" anchor="ctr">
            <a:spAutoFit/>
          </a:bodyPr>
          <a:lstStyle/>
          <a:p>
            <a:r>
              <a:rPr sz="1150">
                <a:solidFill>
                  <a:srgbClr val="000000"/>
                </a:solidFill>
                <a:latin typeface="Avenir Next LT Pro"/>
              </a:rPr>
              <a:t>Real revenue and gallery traction. Launched Jun 2026 — no data yet; first read Q2 FY2026.</a:t>
            </a:r>
          </a:p>
        </p:txBody>
      </p:sp>
      <p:sp>
        <p:nvSpPr>
          <p:cNvPr id="11" name="Rectangle 10"/>
          <p:cNvSpPr/>
          <p:nvPr/>
        </p:nvSpPr>
        <p:spPr>
          <a:xfrm>
            <a:off x="457200" y="4306824"/>
            <a:ext cx="82296" cy="1143000"/>
          </a:xfrm>
          <a:prstGeom prst="rect">
            <a:avLst/>
          </a:prstGeom>
          <a:solidFill>
            <a:srgbClr val="196B24"/>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4306824"/>
            <a:ext cx="2331720" cy="1143000"/>
          </a:xfrm>
          <a:prstGeom prst="rect">
            <a:avLst/>
          </a:prstGeom>
          <a:noFill/>
          <a:ln>
            <a:noFill/>
          </a:ln>
        </p:spPr>
        <p:txBody>
          <a:bodyPr wrap="square" anchor="ctr">
            <a:spAutoFit/>
          </a:bodyPr>
          <a:lstStyle/>
          <a:p>
            <a:r>
              <a:rPr sz="1300" b="1">
                <a:solidFill>
                  <a:srgbClr val="000000"/>
                </a:solidFill>
                <a:latin typeface="Avenir Next LT Pro Demi"/>
              </a:rPr>
              <a:t>3 — Durable debt reduction</a:t>
            </a:r>
          </a:p>
        </p:txBody>
      </p:sp>
      <p:sp>
        <p:nvSpPr>
          <p:cNvPr id="13" name="TextBox 12"/>
          <p:cNvSpPr txBox="1"/>
          <p:nvPr/>
        </p:nvSpPr>
        <p:spPr>
          <a:xfrm>
            <a:off x="3063240" y="4306824"/>
            <a:ext cx="5623560" cy="1143000"/>
          </a:xfrm>
          <a:prstGeom prst="rect">
            <a:avLst/>
          </a:prstGeom>
          <a:noFill/>
          <a:ln>
            <a:noFill/>
          </a:ln>
        </p:spPr>
        <p:txBody>
          <a:bodyPr wrap="square" anchor="ctr">
            <a:spAutoFit/>
          </a:bodyPr>
          <a:lstStyle/>
          <a:p>
            <a:r>
              <a:rPr sz="1150">
                <a:solidFill>
                  <a:srgbClr val="000000"/>
                </a:solidFill>
                <a:latin typeface="Avenir Next LT Pro"/>
              </a:rPr>
              <a:t>Net debt falling on real FCF — not the one-time inventory unwind. Leverage toward ~3×.</a:t>
            </a:r>
          </a:p>
        </p:txBody>
      </p:sp>
      <p:sp>
        <p:nvSpPr>
          <p:cNvPr id="14" name="TextBox 13"/>
          <p:cNvSpPr txBox="1"/>
          <p:nvPr/>
        </p:nvSpPr>
        <p:spPr>
          <a:xfrm>
            <a:off x="457200" y="5532120"/>
            <a:ext cx="8229600" cy="457200"/>
          </a:xfrm>
          <a:prstGeom prst="rect">
            <a:avLst/>
          </a:prstGeom>
          <a:noFill/>
          <a:ln>
            <a:noFill/>
          </a:ln>
        </p:spPr>
        <p:txBody>
          <a:bodyPr wrap="square">
            <a:spAutoFit/>
          </a:bodyPr>
          <a:lstStyle/>
          <a:p>
            <a:r>
              <a:rPr sz="1200" b="1">
                <a:solidFill>
                  <a:srgbClr val="000000"/>
                </a:solidFill>
                <a:latin typeface="Avenir Next LT Pro Demi"/>
              </a:rPr>
              <a:t>First real read: Q2 FY2026 results (Estates' debut quarter). Until then — watch, don't own.</a:t>
            </a:r>
          </a:p>
        </p:txBody>
      </p:sp>
      <p:sp>
        <p:nvSpPr>
          <p:cNvPr id="15" name="TextBox 14"/>
          <p:cNvSpPr txBox="1"/>
          <p:nvPr/>
        </p:nvSpPr>
        <p:spPr>
          <a:xfrm>
            <a:off x="457200" y="6172200"/>
            <a:ext cx="8229600" cy="274320"/>
          </a:xfrm>
          <a:prstGeom prst="rect">
            <a:avLst/>
          </a:prstGeom>
          <a:noFill/>
          <a:ln>
            <a:noFill/>
          </a:ln>
        </p:spPr>
        <p:txBody>
          <a:bodyPr wrap="none">
            <a:spAutoFit/>
          </a:bodyPr>
          <a:lstStyle/>
          <a:p>
            <a:r>
              <a:rPr sz="750" i="1">
                <a:solidFill>
                  <a:srgbClr val="707070"/>
                </a:solidFill>
                <a:latin typeface="Avenir Next LT Pro"/>
              </a:rPr>
              <a:t>Source: RH FY2025 10-K, Q1 FY2026 10-Q, company guidance.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5F9AC4-5F7C-A2D7-D6B4-5016F0DAC4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135ACC6-6C7A-527D-E401-ADAD448F3BB9}"/>
              </a:ext>
            </a:extLst>
          </p:cNvPr>
          <p:cNvSpPr>
            <a:spLocks noGrp="1"/>
          </p:cNvSpPr>
          <p:nvPr>
            <p:ph type="title"/>
          </p:nvPr>
        </p:nvSpPr>
        <p:spPr>
          <a:ln>
            <a:solidFill/>
          </a:ln>
        </p:spPr>
        <p:txBody>
          <a:bodyPr/>
          <a:lstStyle/>
          <a:p>
            <a:r>
              <a:rPr lang="en-US">
                <a:solidFill/>
              </a:rPr>
              <a:t>Stock</a:t>
            </a:r>
            <a:br>
              <a:rPr lang="en-US"/>
            </a:br>
            <a:r>
              <a:rPr lang="en-US" sz="1800">
                <a:solidFill/>
              </a:rPr>
              <a:t>Overview</a:t>
            </a:r>
          </a:p>
        </p:txBody>
      </p:sp>
    </p:spTree>
    <p:extLst>
      <p:ext uri="{BB962C8B-B14F-4D97-AF65-F5344CB8AC3E}">
        <p14:creationId xmlns:p14="http://schemas.microsoft.com/office/powerpoint/2010/main" val="38623851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a:ln>
            <a:noFill/>
          </a:ln>
        </p:spPr>
        <p:txBody>
          <a:bodyPr wrap="square">
            <a:spAutoFit/>
          </a:bodyPr>
          <a:lstStyle/>
          <a:p>
            <a:r>
              <a:rPr sz="2100">
                <a:solidFill>
                  <a:srgbClr val="000000"/>
                </a:solidFill>
                <a:latin typeface="Avenir Next LT Pro Demi"/>
              </a:rPr>
              <a:t>Company Background — RH at a Glance</a:t>
            </a:r>
          </a:p>
        </p:txBody>
      </p:sp>
      <p:sp>
        <p:nvSpPr>
          <p:cNvPr id="3" name="Rectangle 2"/>
          <p:cNvSpPr/>
          <p:nvPr/>
        </p:nvSpPr>
        <p:spPr>
          <a:xfrm>
            <a:off x="457200" y="960120"/>
            <a:ext cx="8229600" cy="25603"/>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0"/>
            <a:ext cx="8229600" cy="640080"/>
          </a:xfrm>
          <a:prstGeom prst="rect">
            <a:avLst/>
          </a:prstGeom>
          <a:noFill/>
          <a:ln>
            <a:noFill/>
          </a:ln>
        </p:spPr>
        <p:txBody>
          <a:bodyPr wrap="square">
            <a:spAutoFit/>
          </a:bodyPr>
          <a:lstStyle/>
          <a:p>
            <a:r>
              <a:rPr sz="1100">
                <a:solidFill>
                  <a:srgbClr val="000000"/>
                </a:solidFill>
                <a:latin typeface="Avenir Next LT Pro"/>
              </a:rPr>
              <a:t>Fully direct-to-consumer luxury home-furnishings brand — design galleries, paid membership, integrated hospitality. Founder-led by Gary Friedman, who rebuilt RH from near-bankruptcy (2001) into a luxury platform across the US, Canada, UK &amp; Europe.</a:t>
            </a:r>
          </a:p>
        </p:txBody>
      </p:sp>
      <p:graphicFrame>
        <p:nvGraphicFramePr>
          <p:cNvPr id="5" name="Table 4"/>
          <p:cNvGraphicFramePr>
            <a:graphicFrameLocks noGrp="1"/>
          </p:cNvGraphicFramePr>
          <p:nvPr/>
        </p:nvGraphicFramePr>
        <p:xfrm>
          <a:off x="457200" y="1874519"/>
          <a:ext cx="3977640" cy="3127248"/>
        </p:xfrm>
        <a:graphic>
          <a:graphicData uri="http://schemas.openxmlformats.org/drawingml/2006/table">
            <a:tbl>
              <a:tblPr>
                <a:tableStyleId>{5C22544A-7EE6-4342-B048-85BDC9FD1C3A}</a:tableStyleId>
              </a:tblPr>
              <a:tblGrid>
                <a:gridCol w="1965960"/>
                <a:gridCol w="2011680"/>
              </a:tblGrid>
              <a:tr h="384048">
                <a:tc gridSpan="2">
                  <a:txBody>
                    <a:bodyPr/>
                    <a:lstStyle/>
                    <a:p>
                      <a:r>
                        <a:rPr sz="1100" b="1">
                          <a:solidFill>
                            <a:srgbClr val="FFFFFF"/>
                          </a:solidFill>
                          <a:latin typeface="Avenir Next LT Pro Demi"/>
                        </a:rPr>
                        <a:t>Market &amp; Valuation (Jul 2026)</a:t>
                      </a:r>
                    </a:p>
                  </a:txBody>
                  <a:tcPr anchor="ctr" marL="91440">
                    <a:solidFill>
                      <a:srgbClr val="9A7B44"/>
                    </a:solidFill>
                  </a:tcPr>
                </a:tc>
                <a:tc hMerge="1">
                  <a:txBody>
                    <a:bodyPr/>
                    <a:lstStyle/>
                    <a:p/>
                  </a:txBody>
                  <a:tcPr/>
                </a:tc>
              </a:tr>
              <a:tr h="457200">
                <a:tc>
                  <a:txBody>
                    <a:bodyPr/>
                    <a:lstStyle/>
                    <a:p>
                      <a:r>
                        <a:rPr sz="1050" b="1">
                          <a:solidFill>
                            <a:srgbClr val="000000"/>
                          </a:solidFill>
                          <a:latin typeface="Avenir Next LT Pro Demi"/>
                        </a:rPr>
                        <a:t>Ticker</a:t>
                      </a:r>
                    </a:p>
                  </a:txBody>
                  <a:tcPr marL="91440" anchor="ctr">
                    <a:solidFill>
                      <a:srgbClr val="FFFFFF"/>
                    </a:solidFill>
                  </a:tcPr>
                </a:tc>
                <a:tc>
                  <a:txBody>
                    <a:bodyPr/>
                    <a:lstStyle/>
                    <a:p>
                      <a:r>
                        <a:rPr sz="1050" b="0">
                          <a:solidFill>
                            <a:srgbClr val="000000"/>
                          </a:solidFill>
                          <a:latin typeface="Avenir Next LT Pro"/>
                        </a:rPr>
                        <a:t>NYSE: RH</a:t>
                      </a:r>
                    </a:p>
                  </a:txBody>
                  <a:tcPr marL="91440" anchor="ctr">
                    <a:solidFill>
                      <a:srgbClr val="FFFFFF"/>
                    </a:solidFill>
                  </a:tcPr>
                </a:tc>
              </a:tr>
              <a:tr h="457200">
                <a:tc>
                  <a:txBody>
                    <a:bodyPr/>
                    <a:lstStyle/>
                    <a:p>
                      <a:r>
                        <a:rPr sz="1050" b="1">
                          <a:solidFill>
                            <a:srgbClr val="000000"/>
                          </a:solidFill>
                          <a:latin typeface="Avenir Next LT Pro Demi"/>
                        </a:rPr>
                        <a:t>Share price</a:t>
                      </a:r>
                    </a:p>
                  </a:txBody>
                  <a:tcPr marL="91440" anchor="ctr">
                    <a:solidFill>
                      <a:srgbClr val="F4F6F8"/>
                    </a:solidFill>
                  </a:tcPr>
                </a:tc>
                <a:tc>
                  <a:txBody>
                    <a:bodyPr/>
                    <a:lstStyle/>
                    <a:p>
                      <a:r>
                        <a:rPr sz="1050" b="0">
                          <a:solidFill>
                            <a:srgbClr val="000000"/>
                          </a:solidFill>
                          <a:latin typeface="Avenir Next LT Pro"/>
                        </a:rPr>
                        <a:t>~$166</a:t>
                      </a:r>
                    </a:p>
                  </a:txBody>
                  <a:tcPr marL="91440" anchor="ctr">
                    <a:solidFill>
                      <a:srgbClr val="F4F6F8"/>
                    </a:solidFill>
                  </a:tcPr>
                </a:tc>
              </a:tr>
              <a:tr h="457200">
                <a:tc>
                  <a:txBody>
                    <a:bodyPr/>
                    <a:lstStyle/>
                    <a:p>
                      <a:r>
                        <a:rPr sz="1050" b="1">
                          <a:solidFill>
                            <a:srgbClr val="000000"/>
                          </a:solidFill>
                          <a:latin typeface="Avenir Next LT Pro Demi"/>
                        </a:rPr>
                        <a:t>Market cap</a:t>
                      </a:r>
                    </a:p>
                  </a:txBody>
                  <a:tcPr marL="91440" anchor="ctr">
                    <a:solidFill>
                      <a:srgbClr val="FFFFFF"/>
                    </a:solidFill>
                  </a:tcPr>
                </a:tc>
                <a:tc>
                  <a:txBody>
                    <a:bodyPr/>
                    <a:lstStyle/>
                    <a:p>
                      <a:r>
                        <a:rPr sz="1050" b="0">
                          <a:solidFill>
                            <a:srgbClr val="000000"/>
                          </a:solidFill>
                          <a:latin typeface="Avenir Next LT Pro"/>
                        </a:rPr>
                        <a:t>~$3.1B</a:t>
                      </a:r>
                    </a:p>
                  </a:txBody>
                  <a:tcPr marL="91440" anchor="ctr">
                    <a:solidFill>
                      <a:srgbClr val="FFFFFF"/>
                    </a:solidFill>
                  </a:tcPr>
                </a:tc>
              </a:tr>
              <a:tr h="457200">
                <a:tc>
                  <a:txBody>
                    <a:bodyPr/>
                    <a:lstStyle/>
                    <a:p>
                      <a:r>
                        <a:rPr sz="1050" b="1">
                          <a:solidFill>
                            <a:srgbClr val="000000"/>
                          </a:solidFill>
                          <a:latin typeface="Avenir Next LT Pro Demi"/>
                        </a:rPr>
                        <a:t>Net debt</a:t>
                      </a:r>
                    </a:p>
                  </a:txBody>
                  <a:tcPr marL="91440" anchor="ctr">
                    <a:solidFill>
                      <a:srgbClr val="F4F6F8"/>
                    </a:solidFill>
                  </a:tcPr>
                </a:tc>
                <a:tc>
                  <a:txBody>
                    <a:bodyPr/>
                    <a:lstStyle/>
                    <a:p>
                      <a:r>
                        <a:rPr sz="1050" b="0">
                          <a:solidFill>
                            <a:srgbClr val="000000"/>
                          </a:solidFill>
                          <a:latin typeface="Avenir Next LT Pro"/>
                        </a:rPr>
                        <a:t>~$2.4B</a:t>
                      </a:r>
                    </a:p>
                  </a:txBody>
                  <a:tcPr marL="91440" anchor="ctr">
                    <a:solidFill>
                      <a:srgbClr val="F4F6F8"/>
                    </a:solidFill>
                  </a:tcPr>
                </a:tc>
              </a:tr>
              <a:tr h="457200">
                <a:tc>
                  <a:txBody>
                    <a:bodyPr/>
                    <a:lstStyle/>
                    <a:p>
                      <a:r>
                        <a:rPr sz="1050" b="1">
                          <a:solidFill>
                            <a:srgbClr val="000000"/>
                          </a:solidFill>
                          <a:latin typeface="Avenir Next LT Pro Demi"/>
                        </a:rPr>
                        <a:t>Enterprise value</a:t>
                      </a:r>
                    </a:p>
                  </a:txBody>
                  <a:tcPr marL="91440" anchor="ctr">
                    <a:solidFill>
                      <a:srgbClr val="FFFFFF"/>
                    </a:solidFill>
                  </a:tcPr>
                </a:tc>
                <a:tc>
                  <a:txBody>
                    <a:bodyPr/>
                    <a:lstStyle/>
                    <a:p>
                      <a:r>
                        <a:rPr sz="1050" b="0">
                          <a:solidFill>
                            <a:srgbClr val="000000"/>
                          </a:solidFill>
                          <a:latin typeface="Avenir Next LT Pro"/>
                        </a:rPr>
                        <a:t>~$5.5B</a:t>
                      </a:r>
                    </a:p>
                  </a:txBody>
                  <a:tcPr marL="91440" anchor="ctr">
                    <a:solidFill>
                      <a:srgbClr val="FFFFFF"/>
                    </a:solidFill>
                  </a:tcPr>
                </a:tc>
              </a:tr>
              <a:tr h="457200">
                <a:tc>
                  <a:txBody>
                    <a:bodyPr/>
                    <a:lstStyle/>
                    <a:p>
                      <a:r>
                        <a:rPr sz="1050" b="1">
                          <a:solidFill>
                            <a:srgbClr val="000000"/>
                          </a:solidFill>
                          <a:latin typeface="Avenir Next LT Pro Demi"/>
                        </a:rPr>
                        <a:t>EV / EBITDA</a:t>
                      </a:r>
                    </a:p>
                  </a:txBody>
                  <a:tcPr marL="91440" anchor="ctr">
                    <a:solidFill>
                      <a:srgbClr val="F4F6F8"/>
                    </a:solidFill>
                  </a:tcPr>
                </a:tc>
                <a:tc>
                  <a:txBody>
                    <a:bodyPr/>
                    <a:lstStyle/>
                    <a:p>
                      <a:r>
                        <a:rPr sz="1050" b="0">
                          <a:solidFill>
                            <a:srgbClr val="000000"/>
                          </a:solidFill>
                          <a:latin typeface="Avenir Next LT Pro"/>
                        </a:rPr>
                        <a:t>~9.3×</a:t>
                      </a:r>
                    </a:p>
                  </a:txBody>
                  <a:tcPr marL="91440" anchor="ctr">
                    <a:solidFill>
                      <a:srgbClr val="F4F6F8"/>
                    </a:solidFill>
                  </a:tcPr>
                </a:tc>
              </a:tr>
            </a:tbl>
          </a:graphicData>
        </a:graphic>
      </p:graphicFrame>
      <p:graphicFrame>
        <p:nvGraphicFramePr>
          <p:cNvPr id="6" name="Table 5"/>
          <p:cNvGraphicFramePr>
            <a:graphicFrameLocks noGrp="1"/>
          </p:cNvGraphicFramePr>
          <p:nvPr/>
        </p:nvGraphicFramePr>
        <p:xfrm>
          <a:off x="4709160" y="1874519"/>
          <a:ext cx="3977640" cy="3127248"/>
        </p:xfrm>
        <a:graphic>
          <a:graphicData uri="http://schemas.openxmlformats.org/drawingml/2006/table">
            <a:tbl>
              <a:tblPr>
                <a:tableStyleId>{5C22544A-7EE6-4342-B048-85BDC9FD1C3A}</a:tableStyleId>
              </a:tblPr>
              <a:tblGrid>
                <a:gridCol w="1965960"/>
                <a:gridCol w="2011680"/>
              </a:tblGrid>
              <a:tr h="384048">
                <a:tc gridSpan="2">
                  <a:txBody>
                    <a:bodyPr/>
                    <a:lstStyle/>
                    <a:p>
                      <a:r>
                        <a:rPr sz="1100" b="1">
                          <a:solidFill>
                            <a:srgbClr val="FFFFFF"/>
                          </a:solidFill>
                          <a:latin typeface="Avenir Next LT Pro Demi"/>
                        </a:rPr>
                        <a:t>Business — FY2025 (ended Jan '26)</a:t>
                      </a:r>
                    </a:p>
                  </a:txBody>
                  <a:tcPr anchor="ctr" marL="91440">
                    <a:solidFill>
                      <a:srgbClr val="9A7B44"/>
                    </a:solidFill>
                  </a:tcPr>
                </a:tc>
                <a:tc hMerge="1">
                  <a:txBody>
                    <a:bodyPr/>
                    <a:lstStyle/>
                    <a:p/>
                  </a:txBody>
                  <a:tcPr/>
                </a:tc>
              </a:tr>
              <a:tr h="457200">
                <a:tc>
                  <a:txBody>
                    <a:bodyPr/>
                    <a:lstStyle/>
                    <a:p>
                      <a:r>
                        <a:rPr sz="1050" b="1">
                          <a:solidFill>
                            <a:srgbClr val="000000"/>
                          </a:solidFill>
                          <a:latin typeface="Avenir Next LT Pro Demi"/>
                        </a:rPr>
                        <a:t>Revenue</a:t>
                      </a:r>
                    </a:p>
                  </a:txBody>
                  <a:tcPr marL="91440" anchor="ctr">
                    <a:solidFill>
                      <a:srgbClr val="FFFFFF"/>
                    </a:solidFill>
                  </a:tcPr>
                </a:tc>
                <a:tc>
                  <a:txBody>
                    <a:bodyPr/>
                    <a:lstStyle/>
                    <a:p>
                      <a:r>
                        <a:rPr sz="1050" b="0">
                          <a:solidFill>
                            <a:srgbClr val="000000"/>
                          </a:solidFill>
                          <a:latin typeface="Avenir Next LT Pro"/>
                        </a:rPr>
                        <a:t>$3.44B</a:t>
                      </a:r>
                    </a:p>
                  </a:txBody>
                  <a:tcPr marL="91440" anchor="ctr">
                    <a:solidFill>
                      <a:srgbClr val="FFFFFF"/>
                    </a:solidFill>
                  </a:tcPr>
                </a:tc>
              </a:tr>
              <a:tr h="457200">
                <a:tc>
                  <a:txBody>
                    <a:bodyPr/>
                    <a:lstStyle/>
                    <a:p>
                      <a:r>
                        <a:rPr sz="1050" b="1">
                          <a:solidFill>
                            <a:srgbClr val="000000"/>
                          </a:solidFill>
                          <a:latin typeface="Avenir Next LT Pro Demi"/>
                        </a:rPr>
                        <a:t>Adj. EBITDA</a:t>
                      </a:r>
                    </a:p>
                  </a:txBody>
                  <a:tcPr marL="91440" anchor="ctr">
                    <a:solidFill>
                      <a:srgbClr val="F4F6F8"/>
                    </a:solidFill>
                  </a:tcPr>
                </a:tc>
                <a:tc>
                  <a:txBody>
                    <a:bodyPr/>
                    <a:lstStyle/>
                    <a:p>
                      <a:r>
                        <a:rPr sz="1050" b="0">
                          <a:solidFill>
                            <a:srgbClr val="000000"/>
                          </a:solidFill>
                          <a:latin typeface="Avenir Next LT Pro"/>
                        </a:rPr>
                        <a:t>$597M (17.3%)</a:t>
                      </a:r>
                    </a:p>
                  </a:txBody>
                  <a:tcPr marL="91440" anchor="ctr">
                    <a:solidFill>
                      <a:srgbClr val="F4F6F8"/>
                    </a:solidFill>
                  </a:tcPr>
                </a:tc>
              </a:tr>
              <a:tr h="457200">
                <a:tc>
                  <a:txBody>
                    <a:bodyPr/>
                    <a:lstStyle/>
                    <a:p>
                      <a:r>
                        <a:rPr sz="1050" b="1">
                          <a:solidFill>
                            <a:srgbClr val="000000"/>
                          </a:solidFill>
                          <a:latin typeface="Avenir Next LT Pro Demi"/>
                        </a:rPr>
                        <a:t>Gross margin</a:t>
                      </a:r>
                    </a:p>
                  </a:txBody>
                  <a:tcPr marL="91440" anchor="ctr">
                    <a:solidFill>
                      <a:srgbClr val="FFFFFF"/>
                    </a:solidFill>
                  </a:tcPr>
                </a:tc>
                <a:tc>
                  <a:txBody>
                    <a:bodyPr/>
                    <a:lstStyle/>
                    <a:p>
                      <a:r>
                        <a:rPr sz="1050" b="0">
                          <a:solidFill>
                            <a:srgbClr val="000000"/>
                          </a:solidFill>
                          <a:latin typeface="Avenir Next LT Pro"/>
                        </a:rPr>
                        <a:t>~44%</a:t>
                      </a:r>
                    </a:p>
                  </a:txBody>
                  <a:tcPr marL="91440" anchor="ctr">
                    <a:solidFill>
                      <a:srgbClr val="FFFFFF"/>
                    </a:solidFill>
                  </a:tcPr>
                </a:tc>
              </a:tr>
              <a:tr h="457200">
                <a:tc>
                  <a:txBody>
                    <a:bodyPr/>
                    <a:lstStyle/>
                    <a:p>
                      <a:r>
                        <a:rPr sz="1050" b="1">
                          <a:solidFill>
                            <a:srgbClr val="000000"/>
                          </a:solidFill>
                          <a:latin typeface="Avenir Next LT Pro Demi"/>
                        </a:rPr>
                        <a:t>Diluted EPS</a:t>
                      </a:r>
                    </a:p>
                  </a:txBody>
                  <a:tcPr marL="91440" anchor="ctr">
                    <a:solidFill>
                      <a:srgbClr val="F4F6F8"/>
                    </a:solidFill>
                  </a:tcPr>
                </a:tc>
                <a:tc>
                  <a:txBody>
                    <a:bodyPr/>
                    <a:lstStyle/>
                    <a:p>
                      <a:r>
                        <a:rPr sz="1050" b="0">
                          <a:solidFill>
                            <a:srgbClr val="000000"/>
                          </a:solidFill>
                          <a:latin typeface="Avenir Next LT Pro"/>
                        </a:rPr>
                        <a:t>$6.31</a:t>
                      </a:r>
                    </a:p>
                  </a:txBody>
                  <a:tcPr marL="91440" anchor="ctr">
                    <a:solidFill>
                      <a:srgbClr val="F4F6F8"/>
                    </a:solidFill>
                  </a:tcPr>
                </a:tc>
              </a:tr>
              <a:tr h="457200">
                <a:tc>
                  <a:txBody>
                    <a:bodyPr/>
                    <a:lstStyle/>
                    <a:p>
                      <a:r>
                        <a:rPr sz="1050" b="1">
                          <a:solidFill>
                            <a:srgbClr val="000000"/>
                          </a:solidFill>
                          <a:latin typeface="Avenir Next LT Pro Demi"/>
                        </a:rPr>
                        <a:t>Footprint</a:t>
                      </a:r>
                    </a:p>
                  </a:txBody>
                  <a:tcPr marL="91440" anchor="ctr">
                    <a:solidFill>
                      <a:srgbClr val="FFFFFF"/>
                    </a:solidFill>
                  </a:tcPr>
                </a:tc>
                <a:tc>
                  <a:txBody>
                    <a:bodyPr/>
                    <a:lstStyle/>
                    <a:p>
                      <a:r>
                        <a:rPr sz="1050" b="0">
                          <a:solidFill>
                            <a:srgbClr val="000000"/>
                          </a:solidFill>
                          <a:latin typeface="Avenir Next LT Pro"/>
                        </a:rPr>
                        <a:t>~68 galleries + 44 outlets</a:t>
                      </a:r>
                    </a:p>
                  </a:txBody>
                  <a:tcPr marL="91440" anchor="ctr">
                    <a:solidFill>
                      <a:srgbClr val="FFFFFF"/>
                    </a:solidFill>
                  </a:tcPr>
                </a:tc>
              </a:tr>
              <a:tr h="457200">
                <a:tc>
                  <a:txBody>
                    <a:bodyPr/>
                    <a:lstStyle/>
                    <a:p>
                      <a:r>
                        <a:rPr sz="1050" b="1">
                          <a:solidFill>
                            <a:srgbClr val="000000"/>
                          </a:solidFill>
                          <a:latin typeface="Avenir Next LT Pro Demi"/>
                        </a:rPr>
                        <a:t>Ownership</a:t>
                      </a:r>
                    </a:p>
                  </a:txBody>
                  <a:tcPr marL="91440" anchor="ctr">
                    <a:solidFill>
                      <a:srgbClr val="F4F6F8"/>
                    </a:solidFill>
                  </a:tcPr>
                </a:tc>
                <a:tc>
                  <a:txBody>
                    <a:bodyPr/>
                    <a:lstStyle/>
                    <a:p>
                      <a:r>
                        <a:rPr sz="1050" b="0">
                          <a:solidFill>
                            <a:srgbClr val="000000"/>
                          </a:solidFill>
                          <a:latin typeface="Avenir Next LT Pro"/>
                        </a:rPr>
                        <a:t>Founder-led; Friedman ~25%</a:t>
                      </a:r>
                    </a:p>
                  </a:txBody>
                  <a:tcPr marL="91440" anchor="ctr">
                    <a:solidFill>
                      <a:srgbClr val="F4F6F8"/>
                    </a:solidFill>
                  </a:tcPr>
                </a:tc>
              </a:tr>
            </a:tbl>
          </a:graphicData>
        </a:graphic>
      </p:graphicFrame>
      <p:sp>
        <p:nvSpPr>
          <p:cNvPr id="7" name="TextBox 6"/>
          <p:cNvSpPr txBox="1"/>
          <p:nvPr/>
        </p:nvSpPr>
        <p:spPr>
          <a:xfrm>
            <a:off x="457200" y="6309360"/>
            <a:ext cx="8229600" cy="274320"/>
          </a:xfrm>
          <a:prstGeom prst="rect">
            <a:avLst/>
          </a:prstGeom>
          <a:noFill/>
          <a:ln>
            <a:noFill/>
          </a:ln>
        </p:spPr>
        <p:txBody>
          <a:bodyPr wrap="none">
            <a:spAutoFit/>
          </a:bodyPr>
          <a:lstStyle/>
          <a:p>
            <a:r>
              <a:rPr sz="750" i="1">
                <a:solidFill>
                  <a:srgbClr val="707070"/>
                </a:solidFill>
                <a:latin typeface="Avenir Next LT Pro"/>
              </a:rPr>
              <a:t>Sources: RH FY2025 10-K &amp; Q1 FY2026 10-Q; market data as of Jul 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a:ln>
            <a:noFill/>
          </a:ln>
        </p:spPr>
        <p:txBody>
          <a:bodyPr wrap="square">
            <a:spAutoFit/>
          </a:bodyPr>
          <a:lstStyle/>
          <a:p>
            <a:r>
              <a:rPr sz="2100">
                <a:solidFill>
                  <a:srgbClr val="000000"/>
                </a:solidFill>
                <a:latin typeface="Avenir Next LT Pro Demi"/>
              </a:rPr>
              <a:t>Trough → Recovery: Where RH Stands</a:t>
            </a:r>
          </a:p>
        </p:txBody>
      </p:sp>
      <p:sp>
        <p:nvSpPr>
          <p:cNvPr id="3" name="Rectangle 2"/>
          <p:cNvSpPr/>
          <p:nvPr/>
        </p:nvSpPr>
        <p:spPr>
          <a:xfrm>
            <a:off x="457200" y="960120"/>
            <a:ext cx="8229600" cy="25603"/>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43000"/>
            <a:ext cx="8229600" cy="548640"/>
          </a:xfrm>
          <a:prstGeom prst="rect">
            <a:avLst/>
          </a:prstGeom>
          <a:noFill/>
          <a:ln>
            <a:noFill/>
          </a:ln>
        </p:spPr>
        <p:txBody>
          <a:bodyPr wrap="square">
            <a:spAutoFit/>
          </a:bodyPr>
          <a:lstStyle/>
          <a:p>
            <a:r>
              <a:rPr sz="1100" b="0" i="0">
                <a:solidFill>
                  <a:srgbClr val="000000"/>
                </a:solidFill>
                <a:latin typeface="Avenir Next LT Pro"/>
              </a:rPr>
              <a:t>Peaked ~$3.6B (FY22) on a housing boom + debt-funded buybacks; housing then froze — revenue fell to a ~$3.0B trough with ~$2.4B net debt.</a:t>
            </a:r>
          </a:p>
        </p:txBody>
      </p:sp>
      <p:sp>
        <p:nvSpPr>
          <p:cNvPr id="5" name="Rectangle 4"/>
          <p:cNvSpPr/>
          <p:nvPr/>
        </p:nvSpPr>
        <p:spPr>
          <a:xfrm>
            <a:off x="457200" y="1874519"/>
            <a:ext cx="3977639" cy="384048"/>
          </a:xfrm>
          <a:prstGeom prst="rect">
            <a:avLst/>
          </a:prstGeom>
          <a:solidFill>
            <a:srgbClr val="196B24"/>
          </a:solidFill>
          <a:ln>
            <a:noFill/>
          </a:ln>
        </p:spPr>
        <p:style>
          <a:lnRef idx="1">
            <a:schemeClr val="accent1"/>
          </a:lnRef>
          <a:fillRef idx="3">
            <a:schemeClr val="accent1"/>
          </a:fillRef>
          <a:effectRef idx="2">
            <a:schemeClr val="accent1"/>
          </a:effectRef>
          <a:fontRef idx="minor">
            <a:schemeClr val="lt1"/>
          </a:fontRef>
        </p:style>
        <p:txBody>
          <a:bodyPr rtlCol="0" anchor="ctr" lIns="137160"/>
          <a:lstStyle/>
          <a:p>
            <a:pPr algn="ctr"/>
            <a:r>
              <a:rPr sz="1250" b="1" i="0">
                <a:solidFill>
                  <a:srgbClr val="FFFFFF"/>
                </a:solidFill>
                <a:latin typeface="Avenir Next LT Pro Demi"/>
              </a:rPr>
              <a:t>WORKING</a:t>
            </a:r>
          </a:p>
        </p:txBody>
      </p:sp>
      <p:sp>
        <p:nvSpPr>
          <p:cNvPr id="6" name="Rectangle 5"/>
          <p:cNvSpPr/>
          <p:nvPr/>
        </p:nvSpPr>
        <p:spPr>
          <a:xfrm>
            <a:off x="4709160" y="1874519"/>
            <a:ext cx="3977639" cy="384048"/>
          </a:xfrm>
          <a:prstGeom prst="rect">
            <a:avLst/>
          </a:prstGeom>
          <a:solidFill>
            <a:srgbClr val="B03030"/>
          </a:solidFill>
          <a:ln>
            <a:noFill/>
          </a:ln>
        </p:spPr>
        <p:style>
          <a:lnRef idx="1">
            <a:schemeClr val="accent1"/>
          </a:lnRef>
          <a:fillRef idx="3">
            <a:schemeClr val="accent1"/>
          </a:fillRef>
          <a:effectRef idx="2">
            <a:schemeClr val="accent1"/>
          </a:effectRef>
          <a:fontRef idx="minor">
            <a:schemeClr val="lt1"/>
          </a:fontRef>
        </p:style>
        <p:txBody>
          <a:bodyPr rtlCol="0" anchor="ctr" lIns="137160"/>
          <a:lstStyle/>
          <a:p>
            <a:pPr algn="ctr"/>
            <a:r>
              <a:rPr sz="1250" b="1" i="0">
                <a:solidFill>
                  <a:srgbClr val="FFFFFF"/>
                </a:solidFill>
                <a:latin typeface="Avenir Next LT Pro Demi"/>
              </a:rPr>
              <a:t>WATCH</a:t>
            </a:r>
          </a:p>
        </p:txBody>
      </p:sp>
      <p:sp>
        <p:nvSpPr>
          <p:cNvPr id="7" name="TextBox 6"/>
          <p:cNvSpPr txBox="1"/>
          <p:nvPr/>
        </p:nvSpPr>
        <p:spPr>
          <a:xfrm>
            <a:off x="457200" y="2423160"/>
            <a:ext cx="3977639" cy="640080"/>
          </a:xfrm>
          <a:prstGeom prst="rect">
            <a:avLst/>
          </a:prstGeom>
          <a:noFill/>
          <a:ln>
            <a:noFill/>
          </a:ln>
        </p:spPr>
        <p:txBody>
          <a:bodyPr wrap="square">
            <a:spAutoFit/>
          </a:bodyPr>
          <a:lstStyle/>
          <a:p>
            <a:r>
              <a:rPr sz="1200" b="1" i="0">
                <a:solidFill>
                  <a:srgbClr val="196B24"/>
                </a:solidFill>
                <a:latin typeface="Avenir Next LT Pro Demi"/>
              </a:rPr>
              <a:t>✓  </a:t>
            </a:r>
            <a:r>
              <a:rPr sz="1100" b="0" i="0">
                <a:solidFill>
                  <a:srgbClr val="000000"/>
                </a:solidFill>
                <a:latin typeface="Avenir Next LT Pro"/>
              </a:rPr>
              <a:t>FCF inflected to +$252M in FY25 (from −$214M)</a:t>
            </a:r>
          </a:p>
        </p:txBody>
      </p:sp>
      <p:sp>
        <p:nvSpPr>
          <p:cNvPr id="8" name="TextBox 7"/>
          <p:cNvSpPr txBox="1"/>
          <p:nvPr/>
        </p:nvSpPr>
        <p:spPr>
          <a:xfrm>
            <a:off x="457200" y="3081528"/>
            <a:ext cx="3977639" cy="640080"/>
          </a:xfrm>
          <a:prstGeom prst="rect">
            <a:avLst/>
          </a:prstGeom>
          <a:noFill/>
          <a:ln>
            <a:noFill/>
          </a:ln>
        </p:spPr>
        <p:txBody>
          <a:bodyPr wrap="square">
            <a:spAutoFit/>
          </a:bodyPr>
          <a:lstStyle/>
          <a:p>
            <a:r>
              <a:rPr sz="1200" b="1" i="0">
                <a:solidFill>
                  <a:srgbClr val="196B24"/>
                </a:solidFill>
                <a:latin typeface="Avenir Next LT Pro Demi"/>
              </a:rPr>
              <a:t>✓  </a:t>
            </a:r>
            <a:r>
              <a:rPr sz="1100" b="0" i="0">
                <a:solidFill>
                  <a:srgbClr val="000000"/>
                </a:solidFill>
                <a:latin typeface="Avenir Next LT Pro"/>
              </a:rPr>
              <a:t>Inventory normalized $1.02B → $819M</a:t>
            </a:r>
          </a:p>
        </p:txBody>
      </p:sp>
      <p:sp>
        <p:nvSpPr>
          <p:cNvPr id="9" name="TextBox 8"/>
          <p:cNvSpPr txBox="1"/>
          <p:nvPr/>
        </p:nvSpPr>
        <p:spPr>
          <a:xfrm>
            <a:off x="457200" y="3739896"/>
            <a:ext cx="3977639" cy="640080"/>
          </a:xfrm>
          <a:prstGeom prst="rect">
            <a:avLst/>
          </a:prstGeom>
          <a:noFill/>
          <a:ln>
            <a:noFill/>
          </a:ln>
        </p:spPr>
        <p:txBody>
          <a:bodyPr wrap="square">
            <a:spAutoFit/>
          </a:bodyPr>
          <a:lstStyle/>
          <a:p>
            <a:r>
              <a:rPr sz="1200" b="1" i="0">
                <a:solidFill>
                  <a:srgbClr val="196B24"/>
                </a:solidFill>
                <a:latin typeface="Avenir Next LT Pro Demi"/>
              </a:rPr>
              <a:t>✓  </a:t>
            </a:r>
            <a:r>
              <a:rPr sz="1100" b="0" i="0">
                <a:solidFill>
                  <a:srgbClr val="000000"/>
                </a:solidFill>
                <a:latin typeface="Avenir Next LT Pro"/>
              </a:rPr>
              <a:t>Revenue re-accelerated +8.1% in FY25</a:t>
            </a:r>
          </a:p>
        </p:txBody>
      </p:sp>
      <p:sp>
        <p:nvSpPr>
          <p:cNvPr id="10" name="TextBox 9"/>
          <p:cNvSpPr txBox="1"/>
          <p:nvPr/>
        </p:nvSpPr>
        <p:spPr>
          <a:xfrm>
            <a:off x="4709160" y="2423160"/>
            <a:ext cx="3977639" cy="640080"/>
          </a:xfrm>
          <a:prstGeom prst="rect">
            <a:avLst/>
          </a:prstGeom>
          <a:noFill/>
          <a:ln>
            <a:noFill/>
          </a:ln>
        </p:spPr>
        <p:txBody>
          <a:bodyPr wrap="square">
            <a:spAutoFit/>
          </a:bodyPr>
          <a:lstStyle/>
          <a:p>
            <a:r>
              <a:rPr sz="1200" b="1" i="0">
                <a:solidFill>
                  <a:srgbClr val="B03030"/>
                </a:solidFill>
                <a:latin typeface="Avenir Next LT Pro Demi"/>
              </a:rPr>
              <a:t>!  </a:t>
            </a:r>
            <a:r>
              <a:rPr sz="1100" b="0" i="0">
                <a:solidFill>
                  <a:srgbClr val="000000"/>
                </a:solidFill>
                <a:latin typeface="Avenir Next LT Pro"/>
              </a:rPr>
              <a:t>Q1 FY26: revenue −1.7%, net loss</a:t>
            </a:r>
          </a:p>
        </p:txBody>
      </p:sp>
      <p:sp>
        <p:nvSpPr>
          <p:cNvPr id="11" name="TextBox 10"/>
          <p:cNvSpPr txBox="1"/>
          <p:nvPr/>
        </p:nvSpPr>
        <p:spPr>
          <a:xfrm>
            <a:off x="4709160" y="3081528"/>
            <a:ext cx="3977639" cy="640080"/>
          </a:xfrm>
          <a:prstGeom prst="rect">
            <a:avLst/>
          </a:prstGeom>
          <a:noFill/>
          <a:ln>
            <a:noFill/>
          </a:ln>
        </p:spPr>
        <p:txBody>
          <a:bodyPr wrap="square">
            <a:spAutoFit/>
          </a:bodyPr>
          <a:lstStyle/>
          <a:p>
            <a:r>
              <a:rPr sz="1200" b="1" i="0">
                <a:solidFill>
                  <a:srgbClr val="B03030"/>
                </a:solidFill>
                <a:latin typeface="Avenir Next LT Pro Demi"/>
              </a:rPr>
              <a:t>!  </a:t>
            </a:r>
            <a:r>
              <a:rPr sz="1100" b="0" i="0">
                <a:solidFill>
                  <a:srgbClr val="000000"/>
                </a:solidFill>
                <a:latin typeface="Avenir Next LT Pro"/>
              </a:rPr>
              <a:t>~$225M/yr interest keeps coverage thin</a:t>
            </a:r>
          </a:p>
        </p:txBody>
      </p:sp>
      <p:sp>
        <p:nvSpPr>
          <p:cNvPr id="12" name="TextBox 11"/>
          <p:cNvSpPr txBox="1"/>
          <p:nvPr/>
        </p:nvSpPr>
        <p:spPr>
          <a:xfrm>
            <a:off x="4709160" y="3739896"/>
            <a:ext cx="3977639" cy="640080"/>
          </a:xfrm>
          <a:prstGeom prst="rect">
            <a:avLst/>
          </a:prstGeom>
          <a:noFill/>
          <a:ln>
            <a:noFill/>
          </a:ln>
        </p:spPr>
        <p:txBody>
          <a:bodyPr wrap="square">
            <a:spAutoFit/>
          </a:bodyPr>
          <a:lstStyle/>
          <a:p>
            <a:r>
              <a:rPr sz="1200" b="1" i="0">
                <a:solidFill>
                  <a:srgbClr val="B03030"/>
                </a:solidFill>
                <a:latin typeface="Avenir Next LT Pro Demi"/>
              </a:rPr>
              <a:t>!  </a:t>
            </a:r>
            <a:r>
              <a:rPr sz="1100" b="0" i="0">
                <a:solidFill>
                  <a:srgbClr val="000000"/>
                </a:solidFill>
                <a:latin typeface="Avenir Next LT Pro"/>
              </a:rPr>
              <a:t>Guidance is back-half loaded</a:t>
            </a:r>
          </a:p>
        </p:txBody>
      </p:sp>
      <p:sp>
        <p:nvSpPr>
          <p:cNvPr id="13" name="TextBox 12"/>
          <p:cNvSpPr txBox="1"/>
          <p:nvPr/>
        </p:nvSpPr>
        <p:spPr>
          <a:xfrm>
            <a:off x="457200" y="4663440"/>
            <a:ext cx="8229600" cy="365760"/>
          </a:xfrm>
          <a:prstGeom prst="rect">
            <a:avLst/>
          </a:prstGeom>
          <a:noFill/>
          <a:ln>
            <a:noFill/>
          </a:ln>
        </p:spPr>
        <p:txBody>
          <a:bodyPr wrap="square">
            <a:spAutoFit/>
          </a:bodyPr>
          <a:lstStyle/>
          <a:p>
            <a:r>
              <a:rPr sz="1150" b="1" i="0">
                <a:solidFill>
                  <a:srgbClr val="000000"/>
                </a:solidFill>
                <a:latin typeface="Avenir Next LT Pro Demi"/>
              </a:rPr>
              <a:t>Recovery is real but early — the next two quarters are the tell.</a:t>
            </a:r>
          </a:p>
        </p:txBody>
      </p:sp>
      <p:sp>
        <p:nvSpPr>
          <p:cNvPr id="14" name="TextBox 13"/>
          <p:cNvSpPr txBox="1"/>
          <p:nvPr/>
        </p:nvSpPr>
        <p:spPr>
          <a:xfrm>
            <a:off x="457200" y="6309360"/>
            <a:ext cx="8229600" cy="274320"/>
          </a:xfrm>
          <a:prstGeom prst="rect">
            <a:avLst/>
          </a:prstGeom>
          <a:noFill/>
          <a:ln>
            <a:noFill/>
          </a:ln>
        </p:spPr>
        <p:txBody>
          <a:bodyPr wrap="square">
            <a:spAutoFit/>
          </a:bodyPr>
          <a:lstStyle/>
          <a:p>
            <a:r>
              <a:rPr sz="750" b="0" i="1">
                <a:solidFill>
                  <a:srgbClr val="707070"/>
                </a:solidFill>
                <a:latin typeface="Avenir Next LT Pro"/>
              </a:rPr>
              <a:t>Sources: RH FY2025 10-K; Q1 FY2026 10-Q.</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a:ln>
            <a:noFill/>
          </a:ln>
        </p:spPr>
        <p:txBody>
          <a:bodyPr wrap="square">
            <a:spAutoFit/>
          </a:bodyPr>
          <a:lstStyle/>
          <a:p>
            <a:r>
              <a:rPr sz="2100">
                <a:solidFill>
                  <a:srgbClr val="000000"/>
                </a:solidFill>
                <a:latin typeface="Avenir Next LT Pro Demi"/>
              </a:rPr>
              <a:t>Strategy &amp; Recent Execution</a:t>
            </a:r>
          </a:p>
        </p:txBody>
      </p:sp>
      <p:sp>
        <p:nvSpPr>
          <p:cNvPr id="3" name="Rectangle 2"/>
          <p:cNvSpPr/>
          <p:nvPr/>
        </p:nvSpPr>
        <p:spPr>
          <a:xfrm>
            <a:off x="457200" y="960120"/>
            <a:ext cx="8229600" cy="25603"/>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43000"/>
            <a:ext cx="3977639" cy="365760"/>
          </a:xfrm>
          <a:prstGeom prst="rect">
            <a:avLst/>
          </a:prstGeom>
          <a:noFill/>
          <a:ln>
            <a:noFill/>
          </a:ln>
        </p:spPr>
        <p:txBody>
          <a:bodyPr wrap="square">
            <a:spAutoFit/>
          </a:bodyPr>
          <a:lstStyle/>
          <a:p>
            <a:r>
              <a:rPr sz="1100" b="1" i="0">
                <a:solidFill>
                  <a:srgbClr val="000000"/>
                </a:solidFill>
                <a:latin typeface="Avenir Next LT Pro Demi"/>
              </a:rPr>
              <a:t>THE PLAN</a:t>
            </a:r>
          </a:p>
        </p:txBody>
      </p:sp>
      <p:sp>
        <p:nvSpPr>
          <p:cNvPr id="5" name="TextBox 4"/>
          <p:cNvSpPr txBox="1"/>
          <p:nvPr/>
        </p:nvSpPr>
        <p:spPr>
          <a:xfrm>
            <a:off x="457200" y="1554480"/>
            <a:ext cx="3977639" cy="640080"/>
          </a:xfrm>
          <a:prstGeom prst="rect">
            <a:avLst/>
          </a:prstGeom>
          <a:noFill/>
          <a:ln>
            <a:noFill/>
          </a:ln>
        </p:spPr>
        <p:txBody>
          <a:bodyPr wrap="square">
            <a:spAutoFit/>
          </a:bodyPr>
          <a:lstStyle/>
          <a:p>
            <a:r>
              <a:rPr sz="1100" b="1" i="0">
                <a:solidFill>
                  <a:srgbClr val="000000"/>
                </a:solidFill>
                <a:latin typeface="Avenir Next LT Pro"/>
              </a:rPr>
              <a:t>•  </a:t>
            </a:r>
            <a:r>
              <a:rPr sz="1100" b="0" i="0">
                <a:solidFill>
                  <a:srgbClr val="000000"/>
                </a:solidFill>
                <a:latin typeface="Avenir Next LT Pro"/>
              </a:rPr>
              <a:t>Product transformation — new collections</a:t>
            </a:r>
          </a:p>
        </p:txBody>
      </p:sp>
      <p:sp>
        <p:nvSpPr>
          <p:cNvPr id="6" name="TextBox 5"/>
          <p:cNvSpPr txBox="1"/>
          <p:nvPr/>
        </p:nvSpPr>
        <p:spPr>
          <a:xfrm>
            <a:off x="457200" y="2212848"/>
            <a:ext cx="3977639" cy="640080"/>
          </a:xfrm>
          <a:prstGeom prst="rect">
            <a:avLst/>
          </a:prstGeom>
          <a:noFill/>
          <a:ln>
            <a:noFill/>
          </a:ln>
        </p:spPr>
        <p:txBody>
          <a:bodyPr wrap="square">
            <a:spAutoFit/>
          </a:bodyPr>
          <a:lstStyle/>
          <a:p>
            <a:r>
              <a:rPr sz="1100" b="1" i="0">
                <a:solidFill>
                  <a:srgbClr val="000000"/>
                </a:solidFill>
                <a:latin typeface="Avenir Next LT Pro"/>
              </a:rPr>
              <a:t>•  </a:t>
            </a:r>
            <a:r>
              <a:rPr sz="1100" b="0" i="0">
                <a:solidFill>
                  <a:srgbClr val="000000"/>
                </a:solidFill>
                <a:latin typeface="Avenir Next LT Pro"/>
              </a:rPr>
              <a:t>Gallery expansion → RH's ~$5–6B opportunity</a:t>
            </a:r>
          </a:p>
        </p:txBody>
      </p:sp>
      <p:sp>
        <p:nvSpPr>
          <p:cNvPr id="7" name="TextBox 6"/>
          <p:cNvSpPr txBox="1"/>
          <p:nvPr/>
        </p:nvSpPr>
        <p:spPr>
          <a:xfrm>
            <a:off x="457200" y="2871215"/>
            <a:ext cx="3977639" cy="640080"/>
          </a:xfrm>
          <a:prstGeom prst="rect">
            <a:avLst/>
          </a:prstGeom>
          <a:noFill/>
          <a:ln>
            <a:noFill/>
          </a:ln>
        </p:spPr>
        <p:txBody>
          <a:bodyPr wrap="square">
            <a:spAutoFit/>
          </a:bodyPr>
          <a:lstStyle/>
          <a:p>
            <a:r>
              <a:rPr sz="1100" b="1" i="0">
                <a:solidFill>
                  <a:srgbClr val="000000"/>
                </a:solidFill>
                <a:latin typeface="Avenir Next LT Pro"/>
              </a:rPr>
              <a:t>•  </a:t>
            </a:r>
            <a:r>
              <a:rPr sz="1100" b="0" i="0">
                <a:solidFill>
                  <a:srgbClr val="000000"/>
                </a:solidFill>
                <a:latin typeface="Avenir Next LT Pro"/>
              </a:rPr>
              <a:t>Move upmarket — Estates targets the rate-immune buyer</a:t>
            </a:r>
          </a:p>
        </p:txBody>
      </p:sp>
      <p:sp>
        <p:nvSpPr>
          <p:cNvPr id="8" name="TextBox 7"/>
          <p:cNvSpPr txBox="1"/>
          <p:nvPr/>
        </p:nvSpPr>
        <p:spPr>
          <a:xfrm>
            <a:off x="457200" y="3529584"/>
            <a:ext cx="3977639" cy="640080"/>
          </a:xfrm>
          <a:prstGeom prst="rect">
            <a:avLst/>
          </a:prstGeom>
          <a:noFill/>
          <a:ln>
            <a:noFill/>
          </a:ln>
        </p:spPr>
        <p:txBody>
          <a:bodyPr wrap="square">
            <a:spAutoFit/>
          </a:bodyPr>
          <a:lstStyle/>
          <a:p>
            <a:r>
              <a:rPr sz="1100" b="1" i="0">
                <a:solidFill>
                  <a:srgbClr val="000000"/>
                </a:solidFill>
                <a:latin typeface="Avenir Next LT Pro"/>
              </a:rPr>
              <a:t>•  </a:t>
            </a:r>
            <a:r>
              <a:rPr sz="1100" b="0" i="0">
                <a:solidFill>
                  <a:srgbClr val="000000"/>
                </a:solidFill>
                <a:latin typeface="Avenir Next LT Pro"/>
              </a:rPr>
              <a:t>Global + platform — hospitality, F&amp;B</a:t>
            </a:r>
          </a:p>
        </p:txBody>
      </p:sp>
      <p:sp>
        <p:nvSpPr>
          <p:cNvPr id="9" name="TextBox 8"/>
          <p:cNvSpPr txBox="1"/>
          <p:nvPr/>
        </p:nvSpPr>
        <p:spPr>
          <a:xfrm>
            <a:off x="4709160" y="1143000"/>
            <a:ext cx="3977639" cy="365760"/>
          </a:xfrm>
          <a:prstGeom prst="rect">
            <a:avLst/>
          </a:prstGeom>
          <a:noFill/>
          <a:ln>
            <a:noFill/>
          </a:ln>
        </p:spPr>
        <p:txBody>
          <a:bodyPr wrap="square">
            <a:spAutoFit/>
          </a:bodyPr>
          <a:lstStyle/>
          <a:p>
            <a:r>
              <a:rPr sz="1100" b="1" i="0">
                <a:solidFill>
                  <a:srgbClr val="000000"/>
                </a:solidFill>
                <a:latin typeface="Avenir Next LT Pro Demi"/>
              </a:rPr>
              <a:t>RECENT MOVES  (watch, not yet catalysts)</a:t>
            </a:r>
          </a:p>
        </p:txBody>
      </p:sp>
      <p:sp>
        <p:nvSpPr>
          <p:cNvPr id="10" name="TextBox 9"/>
          <p:cNvSpPr txBox="1"/>
          <p:nvPr/>
        </p:nvSpPr>
        <p:spPr>
          <a:xfrm>
            <a:off x="4709160" y="1554480"/>
            <a:ext cx="3977639" cy="822960"/>
          </a:xfrm>
          <a:prstGeom prst="rect">
            <a:avLst/>
          </a:prstGeom>
          <a:noFill/>
          <a:ln>
            <a:noFill/>
          </a:ln>
        </p:spPr>
        <p:txBody>
          <a:bodyPr wrap="square">
            <a:spAutoFit/>
          </a:bodyPr>
          <a:lstStyle/>
          <a:p>
            <a:r>
              <a:rPr sz="1100" b="1" i="0">
                <a:solidFill>
                  <a:srgbClr val="000000"/>
                </a:solidFill>
                <a:latin typeface="Avenir Next LT Pro"/>
              </a:rPr>
              <a:t>•  </a:t>
            </a:r>
            <a:r>
              <a:rPr sz="1100" b="0" i="0">
                <a:solidFill>
                  <a:srgbClr val="000000"/>
                </a:solidFill>
                <a:latin typeface="Avenir Next LT Pro"/>
              </a:rPr>
              <a:t>Estates unveiled — acquired legendary ateliers (owned exclusivity); commercially unproven</a:t>
            </a:r>
          </a:p>
        </p:txBody>
      </p:sp>
      <p:sp>
        <p:nvSpPr>
          <p:cNvPr id="11" name="TextBox 10"/>
          <p:cNvSpPr txBox="1"/>
          <p:nvPr/>
        </p:nvSpPr>
        <p:spPr>
          <a:xfrm>
            <a:off x="4709160" y="2395728"/>
            <a:ext cx="3977639" cy="822960"/>
          </a:xfrm>
          <a:prstGeom prst="rect">
            <a:avLst/>
          </a:prstGeom>
          <a:noFill/>
          <a:ln>
            <a:noFill/>
          </a:ln>
        </p:spPr>
        <p:txBody>
          <a:bodyPr wrap="square">
            <a:spAutoFit/>
          </a:bodyPr>
          <a:lstStyle/>
          <a:p>
            <a:r>
              <a:rPr sz="1100" b="1" i="0">
                <a:solidFill>
                  <a:srgbClr val="000000"/>
                </a:solidFill>
                <a:latin typeface="Avenir Next LT Pro"/>
              </a:rPr>
              <a:t>•  </a:t>
            </a:r>
            <a:r>
              <a:rPr sz="1100" b="0" i="0">
                <a:solidFill>
                  <a:srgbClr val="000000"/>
                </a:solidFill>
                <a:latin typeface="Avenir Next LT Pro"/>
              </a:rPr>
              <a:t>Mercedes-AMG F1 hospitality partnership — brand halo</a:t>
            </a:r>
          </a:p>
        </p:txBody>
      </p:sp>
      <p:sp>
        <p:nvSpPr>
          <p:cNvPr id="12" name="TextBox 11"/>
          <p:cNvSpPr txBox="1"/>
          <p:nvPr/>
        </p:nvSpPr>
        <p:spPr>
          <a:xfrm>
            <a:off x="4709160" y="3236976"/>
            <a:ext cx="3977639" cy="822960"/>
          </a:xfrm>
          <a:prstGeom prst="rect">
            <a:avLst/>
          </a:prstGeom>
          <a:noFill/>
          <a:ln>
            <a:noFill/>
          </a:ln>
        </p:spPr>
        <p:txBody>
          <a:bodyPr wrap="square">
            <a:spAutoFit/>
          </a:bodyPr>
          <a:lstStyle/>
          <a:p>
            <a:r>
              <a:rPr sz="1100" b="1" i="0">
                <a:solidFill>
                  <a:srgbClr val="000000"/>
                </a:solidFill>
                <a:latin typeface="Avenir Next LT Pro"/>
              </a:rPr>
              <a:t>•  </a:t>
            </a:r>
            <a:r>
              <a:rPr sz="1100" b="0" i="0">
                <a:solidFill>
                  <a:srgbClr val="000000"/>
                </a:solidFill>
                <a:latin typeface="Avenir Next LT Pro"/>
              </a:rPr>
              <a:t>RH London Mayfair flagship — Europe doubling-down</a:t>
            </a:r>
          </a:p>
        </p:txBody>
      </p:sp>
      <p:sp>
        <p:nvSpPr>
          <p:cNvPr id="13" name="TextBox 12"/>
          <p:cNvSpPr txBox="1"/>
          <p:nvPr/>
        </p:nvSpPr>
        <p:spPr>
          <a:xfrm>
            <a:off x="457200" y="4663440"/>
            <a:ext cx="8229600" cy="457200"/>
          </a:xfrm>
          <a:prstGeom prst="rect">
            <a:avLst/>
          </a:prstGeom>
          <a:noFill/>
          <a:ln>
            <a:noFill/>
          </a:ln>
        </p:spPr>
        <p:txBody>
          <a:bodyPr wrap="square">
            <a:spAutoFit/>
          </a:bodyPr>
          <a:lstStyle/>
          <a:p>
            <a:r>
              <a:rPr sz="1150" b="1" i="0">
                <a:solidFill>
                  <a:srgbClr val="000000"/>
                </a:solidFill>
                <a:latin typeface="Avenir Next LT Pro Demi"/>
              </a:rPr>
              <a:t>Differentiated and expanding — but unproven and capital-intensive during a levered stretch.</a:t>
            </a:r>
          </a:p>
        </p:txBody>
      </p:sp>
      <p:sp>
        <p:nvSpPr>
          <p:cNvPr id="14" name="TextBox 13"/>
          <p:cNvSpPr txBox="1"/>
          <p:nvPr/>
        </p:nvSpPr>
        <p:spPr>
          <a:xfrm>
            <a:off x="457200" y="6309360"/>
            <a:ext cx="8229600" cy="274320"/>
          </a:xfrm>
          <a:prstGeom prst="rect">
            <a:avLst/>
          </a:prstGeom>
          <a:noFill/>
          <a:ln>
            <a:noFill/>
          </a:ln>
        </p:spPr>
        <p:txBody>
          <a:bodyPr wrap="square">
            <a:spAutoFit/>
          </a:bodyPr>
          <a:lstStyle/>
          <a:p>
            <a:r>
              <a:rPr sz="750" b="0" i="1">
                <a:solidFill>
                  <a:srgbClr val="707070"/>
                </a:solidFill>
                <a:latin typeface="Avenir Next LT Pro"/>
              </a:rPr>
              <a:t>Sources: RH FY2025 10-K; company announcements (2026).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a:ln>
            <a:noFill/>
          </a:ln>
        </p:spPr>
        <p:txBody>
          <a:bodyPr wrap="square">
            <a:spAutoFit/>
          </a:bodyPr>
          <a:lstStyle/>
          <a:p>
            <a:r>
              <a:rPr sz="2100" b="0" i="0">
                <a:solidFill>
                  <a:srgbClr val="000000"/>
                </a:solidFill>
                <a:latin typeface="Avenir Next LT Pro Demi"/>
              </a:rPr>
              <a:t>The Operator Bet — Gary Friedman</a:t>
            </a:r>
          </a:p>
        </p:txBody>
      </p:sp>
      <p:sp>
        <p:nvSpPr>
          <p:cNvPr id="3" name="Rectangle 2"/>
          <p:cNvSpPr/>
          <p:nvPr/>
        </p:nvSpPr>
        <p:spPr>
          <a:xfrm>
            <a:off x="457200" y="960120"/>
            <a:ext cx="8229600" cy="25603"/>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0"/>
            <a:ext cx="8229600" cy="365760"/>
          </a:xfrm>
          <a:prstGeom prst="rect">
            <a:avLst/>
          </a:prstGeom>
          <a:noFill/>
          <a:ln>
            <a:noFill/>
          </a:ln>
        </p:spPr>
        <p:txBody>
          <a:bodyPr wrap="square">
            <a:spAutoFit/>
          </a:bodyPr>
          <a:lstStyle/>
          <a:p>
            <a:r>
              <a:rPr sz="1100" b="0" i="1">
                <a:solidFill>
                  <a:srgbClr val="000000"/>
                </a:solidFill>
                <a:latin typeface="Avenir Next LT Pro"/>
              </a:rPr>
              <a:t>The thesis is fundamentally a bet on the operator — here's the case for and against relying on him.</a:t>
            </a:r>
          </a:p>
        </p:txBody>
      </p:sp>
      <p:sp>
        <p:nvSpPr>
          <p:cNvPr id="5" name="TextBox 4"/>
          <p:cNvSpPr txBox="1"/>
          <p:nvPr/>
        </p:nvSpPr>
        <p:spPr>
          <a:xfrm>
            <a:off x="457200" y="1600200"/>
            <a:ext cx="3977639" cy="365760"/>
          </a:xfrm>
          <a:prstGeom prst="rect">
            <a:avLst/>
          </a:prstGeom>
          <a:noFill/>
          <a:ln>
            <a:noFill/>
          </a:ln>
        </p:spPr>
        <p:txBody>
          <a:bodyPr wrap="square">
            <a:spAutoFit/>
          </a:bodyPr>
          <a:lstStyle/>
          <a:p>
            <a:r>
              <a:rPr sz="1250" b="1" i="0">
                <a:solidFill>
                  <a:srgbClr val="196B24"/>
                </a:solidFill>
                <a:latin typeface="Avenir Next LT Pro Demi"/>
              </a:rPr>
              <a:t>WHY BET ON HIM</a:t>
            </a:r>
          </a:p>
        </p:txBody>
      </p:sp>
      <p:sp>
        <p:nvSpPr>
          <p:cNvPr id="6" name="TextBox 5"/>
          <p:cNvSpPr txBox="1"/>
          <p:nvPr/>
        </p:nvSpPr>
        <p:spPr>
          <a:xfrm>
            <a:off x="457200" y="2057400"/>
            <a:ext cx="3977639" cy="777240"/>
          </a:xfrm>
          <a:prstGeom prst="rect">
            <a:avLst/>
          </a:prstGeom>
          <a:noFill/>
          <a:ln>
            <a:noFill/>
          </a:ln>
        </p:spPr>
        <p:txBody>
          <a:bodyPr wrap="square">
            <a:spAutoFit/>
          </a:bodyPr>
          <a:lstStyle/>
          <a:p>
            <a:r>
              <a:rPr sz="1100" b="1" i="0">
                <a:solidFill>
                  <a:srgbClr val="196B24"/>
                </a:solidFill>
                <a:latin typeface="Avenir Next LT Pro"/>
              </a:rPr>
              <a:t>•  </a:t>
            </a:r>
            <a:r>
              <a:rPr sz="1100" b="0" i="0">
                <a:solidFill>
                  <a:srgbClr val="000000"/>
                </a:solidFill>
                <a:latin typeface="Avenir Next LT Pro"/>
              </a:rPr>
              <a:t>Grew Pottery Barn $50M → $1B+; rebuilt RH from near-bankruptcy (2001)</a:t>
            </a:r>
          </a:p>
        </p:txBody>
      </p:sp>
      <p:sp>
        <p:nvSpPr>
          <p:cNvPr id="7" name="TextBox 6"/>
          <p:cNvSpPr txBox="1"/>
          <p:nvPr/>
        </p:nvSpPr>
        <p:spPr>
          <a:xfrm>
            <a:off x="457200" y="2880360"/>
            <a:ext cx="3977639" cy="777240"/>
          </a:xfrm>
          <a:prstGeom prst="rect">
            <a:avLst/>
          </a:prstGeom>
          <a:noFill/>
          <a:ln>
            <a:noFill/>
          </a:ln>
        </p:spPr>
        <p:txBody>
          <a:bodyPr wrap="square">
            <a:spAutoFit/>
          </a:bodyPr>
          <a:lstStyle/>
          <a:p>
            <a:r>
              <a:rPr sz="1100" b="1" i="0">
                <a:solidFill>
                  <a:srgbClr val="196B24"/>
                </a:solidFill>
                <a:latin typeface="Avenir Next LT Pro"/>
              </a:rPr>
              <a:t>•  </a:t>
            </a:r>
            <a:r>
              <a:rPr sz="1100" b="0" i="0">
                <a:solidFill>
                  <a:srgbClr val="000000"/>
                </a:solidFill>
                <a:latin typeface="Avenir Next LT Pro"/>
              </a:rPr>
              <a:t>Created the Gallery / luxury-platform model rivals now copy</a:t>
            </a:r>
          </a:p>
        </p:txBody>
      </p:sp>
      <p:sp>
        <p:nvSpPr>
          <p:cNvPr id="8" name="TextBox 7"/>
          <p:cNvSpPr txBox="1"/>
          <p:nvPr/>
        </p:nvSpPr>
        <p:spPr>
          <a:xfrm>
            <a:off x="457200" y="3703320"/>
            <a:ext cx="3977639" cy="777240"/>
          </a:xfrm>
          <a:prstGeom prst="rect">
            <a:avLst/>
          </a:prstGeom>
          <a:noFill/>
          <a:ln>
            <a:noFill/>
          </a:ln>
        </p:spPr>
        <p:txBody>
          <a:bodyPr wrap="square">
            <a:spAutoFit/>
          </a:bodyPr>
          <a:lstStyle/>
          <a:p>
            <a:r>
              <a:rPr sz="1100" b="1" i="0">
                <a:solidFill>
                  <a:srgbClr val="196B24"/>
                </a:solidFill>
                <a:latin typeface="Avenir Next LT Pro"/>
              </a:rPr>
              <a:t>•  </a:t>
            </a:r>
            <a:r>
              <a:rPr sz="1100" b="0" i="0">
                <a:solidFill>
                  <a:srgbClr val="000000"/>
                </a:solidFill>
                <a:latin typeface="Avenir Next LT Pro"/>
              </a:rPr>
              <a:t>~25% owner — his interests are shareholders' interests</a:t>
            </a:r>
          </a:p>
        </p:txBody>
      </p:sp>
      <p:sp>
        <p:nvSpPr>
          <p:cNvPr id="9" name="TextBox 8"/>
          <p:cNvSpPr txBox="1"/>
          <p:nvPr/>
        </p:nvSpPr>
        <p:spPr>
          <a:xfrm>
            <a:off x="4709160" y="1600200"/>
            <a:ext cx="3977639" cy="365760"/>
          </a:xfrm>
          <a:prstGeom prst="rect">
            <a:avLst/>
          </a:prstGeom>
          <a:noFill/>
          <a:ln>
            <a:noFill/>
          </a:ln>
        </p:spPr>
        <p:txBody>
          <a:bodyPr wrap="square">
            <a:spAutoFit/>
          </a:bodyPr>
          <a:lstStyle/>
          <a:p>
            <a:r>
              <a:rPr sz="1250" b="1" i="0">
                <a:solidFill>
                  <a:srgbClr val="B03030"/>
                </a:solidFill>
                <a:latin typeface="Avenir Next LT Pro Demi"/>
              </a:rPr>
              <a:t>WHY IT'S A RISK</a:t>
            </a:r>
          </a:p>
        </p:txBody>
      </p:sp>
      <p:sp>
        <p:nvSpPr>
          <p:cNvPr id="10" name="TextBox 9"/>
          <p:cNvSpPr txBox="1"/>
          <p:nvPr/>
        </p:nvSpPr>
        <p:spPr>
          <a:xfrm>
            <a:off x="4709160" y="2057400"/>
            <a:ext cx="3977639" cy="777240"/>
          </a:xfrm>
          <a:prstGeom prst="rect">
            <a:avLst/>
          </a:prstGeom>
          <a:noFill/>
          <a:ln>
            <a:noFill/>
          </a:ln>
        </p:spPr>
        <p:txBody>
          <a:bodyPr wrap="square">
            <a:spAutoFit/>
          </a:bodyPr>
          <a:lstStyle/>
          <a:p>
            <a:r>
              <a:rPr sz="1100" b="1" i="0">
                <a:solidFill>
                  <a:srgbClr val="B03030"/>
                </a:solidFill>
                <a:latin typeface="Avenir Next LT Pro"/>
              </a:rPr>
              <a:t>•  </a:t>
            </a:r>
            <a:r>
              <a:rPr sz="1100" b="0" i="0">
                <a:solidFill>
                  <a:srgbClr val="000000"/>
                </a:solidFill>
                <a:latin typeface="Avenir Next LT Pro"/>
              </a:rPr>
              <a:t>Key-man: no obvious successor — a departure = instant de-rating</a:t>
            </a:r>
          </a:p>
        </p:txBody>
      </p:sp>
      <p:sp>
        <p:nvSpPr>
          <p:cNvPr id="11" name="TextBox 10"/>
          <p:cNvSpPr txBox="1"/>
          <p:nvPr/>
        </p:nvSpPr>
        <p:spPr>
          <a:xfrm>
            <a:off x="4709160" y="2880360"/>
            <a:ext cx="3977639" cy="777240"/>
          </a:xfrm>
          <a:prstGeom prst="rect">
            <a:avLst/>
          </a:prstGeom>
          <a:noFill/>
          <a:ln>
            <a:noFill/>
          </a:ln>
        </p:spPr>
        <p:txBody>
          <a:bodyPr wrap="square">
            <a:spAutoFit/>
          </a:bodyPr>
          <a:lstStyle/>
          <a:p>
            <a:r>
              <a:rPr sz="1100" b="1" i="0">
                <a:solidFill>
                  <a:srgbClr val="B03030"/>
                </a:solidFill>
                <a:latin typeface="Avenir Next LT Pro"/>
              </a:rPr>
              <a:t>•  </a:t>
            </a:r>
            <a:r>
              <a:rPr sz="1100" b="0" i="0">
                <a:solidFill>
                  <a:srgbClr val="000000"/>
                </a:solidFill>
                <a:latin typeface="Avenir Next LT Pro"/>
              </a:rPr>
              <a:t>Expansive vision (Estates, F1, global) while ~4× levered — focus / capital-allocation question</a:t>
            </a:r>
          </a:p>
        </p:txBody>
      </p:sp>
      <p:sp>
        <p:nvSpPr>
          <p:cNvPr id="12" name="TextBox 11"/>
          <p:cNvSpPr txBox="1"/>
          <p:nvPr/>
        </p:nvSpPr>
        <p:spPr>
          <a:xfrm>
            <a:off x="4709160" y="3703320"/>
            <a:ext cx="3977639" cy="777240"/>
          </a:xfrm>
          <a:prstGeom prst="rect">
            <a:avLst/>
          </a:prstGeom>
          <a:noFill/>
          <a:ln>
            <a:noFill/>
          </a:ln>
        </p:spPr>
        <p:txBody>
          <a:bodyPr wrap="square">
            <a:spAutoFit/>
          </a:bodyPr>
          <a:lstStyle/>
          <a:p>
            <a:r>
              <a:rPr sz="1100" b="1" i="0">
                <a:solidFill>
                  <a:srgbClr val="B03030"/>
                </a:solidFill>
                <a:latin typeface="Avenir Next LT Pro"/>
              </a:rPr>
              <a:t>•  </a:t>
            </a:r>
            <a:r>
              <a:rPr sz="1100" b="0" i="0">
                <a:solidFill>
                  <a:srgbClr val="000000"/>
                </a:solidFill>
                <a:latin typeface="Avenir Next LT Pro"/>
              </a:rPr>
              <a:t>Recent insider activity net selling; no activist to force discipline</a:t>
            </a:r>
          </a:p>
        </p:txBody>
      </p:sp>
      <p:sp>
        <p:nvSpPr>
          <p:cNvPr id="13" name="TextBox 12"/>
          <p:cNvSpPr txBox="1"/>
          <p:nvPr/>
        </p:nvSpPr>
        <p:spPr>
          <a:xfrm>
            <a:off x="457200" y="4892040"/>
            <a:ext cx="8229600" cy="640080"/>
          </a:xfrm>
          <a:prstGeom prst="rect">
            <a:avLst/>
          </a:prstGeom>
          <a:noFill/>
          <a:ln>
            <a:noFill/>
          </a:ln>
        </p:spPr>
        <p:txBody>
          <a:bodyPr wrap="square">
            <a:spAutoFit/>
          </a:bodyPr>
          <a:lstStyle/>
          <a:p>
            <a:r>
              <a:rPr sz="1150" b="1" i="0">
                <a:solidFill>
                  <a:srgbClr val="000000"/>
                </a:solidFill>
                <a:latin typeface="Avenir Next LT Pro Demi"/>
              </a:rPr>
              <a:t>The thesis is Friedman: his track record makes the recovery credible — his leverage-era ambition is the risk. That duality is why I hold rather than commit.</a:t>
            </a:r>
          </a:p>
        </p:txBody>
      </p:sp>
      <p:sp>
        <p:nvSpPr>
          <p:cNvPr id="14" name="TextBox 13"/>
          <p:cNvSpPr txBox="1"/>
          <p:nvPr/>
        </p:nvSpPr>
        <p:spPr>
          <a:xfrm>
            <a:off x="457200" y="6309360"/>
            <a:ext cx="8229600" cy="274320"/>
          </a:xfrm>
          <a:prstGeom prst="rect">
            <a:avLst/>
          </a:prstGeom>
          <a:noFill/>
          <a:ln>
            <a:noFill/>
          </a:ln>
        </p:spPr>
        <p:txBody>
          <a:bodyPr wrap="square">
            <a:spAutoFit/>
          </a:bodyPr>
          <a:lstStyle/>
          <a:p>
            <a:r>
              <a:rPr sz="750" b="0" i="1">
                <a:solidFill>
                  <a:srgbClr val="707070"/>
                </a:solidFill>
                <a:latin typeface="Avenir Next LT Pro"/>
              </a:rPr>
              <a:t>Sources: RH FY2025 10-K &amp; DEF 14A proxy; SEC Form 4; company bios.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446276"/>
          </a:xfrm>
          <a:prstGeom prst="rect">
            <a:avLst/>
          </a:prstGeom>
          <a:noFill/>
          <a:ln>
            <a:noFill/>
          </a:ln>
        </p:spPr>
        <p:txBody>
          <a:bodyPr wrap="square">
            <a:spAutoFit/>
          </a:bodyPr>
          <a:lstStyle/>
          <a:p>
            <a:r>
              <a:rPr sz="2300" b="0" i="0" dirty="0">
                <a:solidFill/>
                <a:latin typeface="Avenir Next LT Pro Demi"/>
              </a:rPr>
              <a:t>Financial Performance — Trough to Recovery</a:t>
            </a:r>
          </a:p>
        </p:txBody>
      </p:sp>
      <p:sp>
        <p:nvSpPr>
          <p:cNvPr id="5" name="TextBox 4"/>
          <p:cNvSpPr txBox="1"/>
          <p:nvPr/>
        </p:nvSpPr>
        <p:spPr>
          <a:xfrm>
            <a:off x="457200" y="1051560"/>
            <a:ext cx="8229600" cy="274320"/>
          </a:xfrm>
          <a:prstGeom prst="rect">
            <a:avLst/>
          </a:prstGeom>
          <a:noFill/>
          <a:ln>
            <a:noFill/>
          </a:ln>
        </p:spPr>
        <p:txBody>
          <a:bodyPr wrap="none">
            <a:spAutoFit/>
          </a:bodyPr>
          <a:lstStyle/>
          <a:p>
            <a:r>
              <a:rPr sz="900" b="0" i="1">
                <a:solidFill>
                  <a:srgbClr val="B0B0B0"/>
                </a:solidFill>
                <a:latin typeface="Avenir Next LT Pro"/>
              </a:rPr>
              <a:t>[ narrative / commentary to be written ]</a:t>
            </a:r>
          </a:p>
        </p:txBody>
      </p:sp>
      <p:graphicFrame>
        <p:nvGraphicFramePr>
          <p:cNvPr id="6" name="Table 5"/>
          <p:cNvGraphicFramePr>
            <a:graphicFrameLocks noGrp="1"/>
          </p:cNvGraphicFramePr>
          <p:nvPr>
            <p:extLst>
              <p:ext uri="{D42A27DB-BD31-4B8C-83A1-F6EECF244321}">
                <p14:modId xmlns:p14="http://schemas.microsoft.com/office/powerpoint/2010/main" val="4094982956"/>
              </p:ext>
            </p:extLst>
          </p:nvPr>
        </p:nvGraphicFramePr>
        <p:xfrm>
          <a:off x="457200" y="1417320"/>
          <a:ext cx="8229600" cy="3456432"/>
        </p:xfrm>
        <a:graphic>
          <a:graphicData uri="http://schemas.openxmlformats.org/drawingml/2006/table">
            <a:tbl>
              <a:tblPr>
                <a:tableStyleId>{5C22544A-7EE6-4342-B048-85BDC9FD1C3A}</a:tableStyleId>
              </a:tblPr>
              <a:tblGrid>
                <a:gridCol w="2377440">
                  <a:extLst>
                    <a:ext uri="{9D8B030D-6E8A-4147-A177-3AD203B41FA5}">
                      <a16:colId xmlns:a16="http://schemas.microsoft.com/office/drawing/2014/main" val="20000"/>
                    </a:ext>
                  </a:extLst>
                </a:gridCol>
                <a:gridCol w="1170432">
                  <a:extLst>
                    <a:ext uri="{9D8B030D-6E8A-4147-A177-3AD203B41FA5}">
                      <a16:colId xmlns:a16="http://schemas.microsoft.com/office/drawing/2014/main" val="20001"/>
                    </a:ext>
                  </a:extLst>
                </a:gridCol>
                <a:gridCol w="1170432">
                  <a:extLst>
                    <a:ext uri="{9D8B030D-6E8A-4147-A177-3AD203B41FA5}">
                      <a16:colId xmlns:a16="http://schemas.microsoft.com/office/drawing/2014/main" val="20002"/>
                    </a:ext>
                  </a:extLst>
                </a:gridCol>
                <a:gridCol w="1170432">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gridCol w="1170432">
                  <a:extLst>
                    <a:ext uri="{9D8B030D-6E8A-4147-A177-3AD203B41FA5}">
                      <a16:colId xmlns:a16="http://schemas.microsoft.com/office/drawing/2014/main" val="20005"/>
                    </a:ext>
                  </a:extLst>
                </a:gridCol>
              </a:tblGrid>
              <a:tr h="384048">
                <a:tc>
                  <a:txBody>
                    <a:bodyPr/>
                    <a:lstStyle/>
                    <a:p>
                      <a:pPr algn="l"/>
                      <a:r>
                        <a:rPr sz="1050" b="1" i="0" dirty="0">
                          <a:solidFill>
                            <a:srgbClr val="FFFFFF"/>
                          </a:solidFill>
                          <a:latin typeface="Avenir Next LT Pro Demi"/>
                        </a:rPr>
                        <a:t>Metric ($M unless noted)</a:t>
                      </a:r>
                    </a:p>
                  </a:txBody>
                  <a:tcPr marL="73152" marR="73152" marT="18288" marB="18288" anchor="ctr">
                    <a:solidFill>
                      <a:srgbClr val="9A7B44"/>
                    </a:solidFill>
                  </a:tcPr>
                </a:tc>
                <a:tc>
                  <a:txBody>
                    <a:bodyPr/>
                    <a:lstStyle/>
                    <a:p>
                      <a:pPr algn="ctr"/>
                      <a:r>
                        <a:rPr sz="1050" b="1" i="0" dirty="0">
                          <a:solidFill>
                            <a:srgbClr val="FFFFFF"/>
                          </a:solidFill>
                          <a:latin typeface="Avenir Next LT Pro Demi"/>
                        </a:rPr>
                        <a:t>FY23</a:t>
                      </a:r>
                    </a:p>
                  </a:txBody>
                  <a:tcPr marL="73152" marR="73152" marT="18288" marB="18288" anchor="ctr">
                    <a:solidFill>
                      <a:srgbClr val="9A7B44"/>
                    </a:solidFill>
                  </a:tcPr>
                </a:tc>
                <a:tc>
                  <a:txBody>
                    <a:bodyPr/>
                    <a:lstStyle/>
                    <a:p>
                      <a:pPr algn="ctr"/>
                      <a:r>
                        <a:rPr sz="1050" b="1" i="0" dirty="0">
                          <a:solidFill>
                            <a:srgbClr val="FFFFFF"/>
                          </a:solidFill>
                          <a:latin typeface="Avenir Next LT Pro Demi"/>
                        </a:rPr>
                        <a:t>FY24</a:t>
                      </a:r>
                    </a:p>
                  </a:txBody>
                  <a:tcPr marL="73152" marR="73152" marT="18288" marB="18288" anchor="ctr">
                    <a:solidFill>
                      <a:srgbClr val="9A7B44"/>
                    </a:solidFill>
                  </a:tcPr>
                </a:tc>
                <a:tc>
                  <a:txBody>
                    <a:bodyPr/>
                    <a:lstStyle/>
                    <a:p>
                      <a:pPr algn="ctr"/>
                      <a:r>
                        <a:rPr sz="1050" b="1" i="0" dirty="0">
                          <a:solidFill>
                            <a:srgbClr val="FFFFFF"/>
                          </a:solidFill>
                          <a:latin typeface="Avenir Next LT Pro Demi"/>
                        </a:rPr>
                        <a:t>FY25</a:t>
                      </a:r>
                    </a:p>
                  </a:txBody>
                  <a:tcPr marL="73152" marR="73152" marT="18288" marB="18288" anchor="ctr">
                    <a:solidFill>
                      <a:srgbClr val="9A7B44"/>
                    </a:solidFill>
                  </a:tcPr>
                </a:tc>
                <a:tc>
                  <a:txBody>
                    <a:bodyPr/>
                    <a:lstStyle/>
                    <a:p>
                      <a:pPr algn="ctr"/>
                      <a:r>
                        <a:rPr sz="1050" b="1" i="0" dirty="0">
                          <a:solidFill>
                            <a:srgbClr val="FFFFFF"/>
                          </a:solidFill>
                          <a:latin typeface="Avenir Next LT Pro Demi"/>
                        </a:rPr>
                        <a:t>FY26E</a:t>
                      </a:r>
                    </a:p>
                  </a:txBody>
                  <a:tcPr marL="73152" marR="73152" marT="18288" marB="18288" anchor="ctr">
                    <a:solidFill>
                      <a:srgbClr val="9A7B44"/>
                    </a:solidFill>
                  </a:tcPr>
                </a:tc>
                <a:tc>
                  <a:txBody>
                    <a:bodyPr/>
                    <a:lstStyle/>
                    <a:p>
                      <a:pPr algn="ctr"/>
                      <a:r>
                        <a:rPr sz="1050" b="1" i="0" dirty="0">
                          <a:solidFill>
                            <a:srgbClr val="FFFFFF"/>
                          </a:solidFill>
                          <a:latin typeface="Avenir Next LT Pro Demi"/>
                        </a:rPr>
                        <a:t>FY27E</a:t>
                      </a:r>
                    </a:p>
                  </a:txBody>
                  <a:tcPr marL="73152" marR="73152" marT="18288" marB="18288" anchor="ctr">
                    <a:solidFill>
                      <a:srgbClr val="9A7B44"/>
                    </a:solidFill>
                  </a:tcPr>
                </a:tc>
                <a:extLst>
                  <a:ext uri="{0D108BD9-81ED-4DB2-BD59-A6C34878D82A}">
                    <a16:rowId xmlns:a16="http://schemas.microsoft.com/office/drawing/2014/main" val="10000"/>
                  </a:ext>
                </a:extLst>
              </a:tr>
              <a:tr h="384048">
                <a:tc>
                  <a:txBody>
                    <a:bodyPr/>
                    <a:lstStyle/>
                    <a:p>
                      <a:pPr algn="l"/>
                      <a:r>
                        <a:rPr sz="1100" b="1" i="0" dirty="0">
                          <a:solidFill>
                            <a:schemeClr val="tx1"/>
                          </a:solidFill>
                          <a:latin typeface="Avenir Next LT Pro Demi"/>
                        </a:rPr>
                        <a:t>Revenue</a:t>
                      </a:r>
                    </a:p>
                  </a:txBody>
                  <a:tcPr marL="73152" marR="73152" marT="18288" marB="18288" anchor="ctr">
                    <a:solidFill>
                      <a:srgbClr val="FFFFFF"/>
                    </a:solidFill>
                  </a:tcPr>
                </a:tc>
                <a:tc>
                  <a:txBody>
                    <a:bodyPr/>
                    <a:lstStyle/>
                    <a:p>
                      <a:pPr algn="ctr"/>
                      <a:r>
                        <a:rPr sz="1100" b="0" i="0">
                          <a:solidFill>
                            <a:schemeClr val="tx1"/>
                          </a:solidFill>
                          <a:latin typeface="Avenir Next LT Pro"/>
                        </a:rPr>
                        <a:t>3,029</a:t>
                      </a:r>
                    </a:p>
                  </a:txBody>
                  <a:tcPr marL="73152" marR="73152" marT="18288" marB="18288" anchor="ctr">
                    <a:solidFill>
                      <a:srgbClr val="FFFFFF"/>
                    </a:solidFill>
                  </a:tcPr>
                </a:tc>
                <a:tc>
                  <a:txBody>
                    <a:bodyPr/>
                    <a:lstStyle/>
                    <a:p>
                      <a:pPr algn="ctr"/>
                      <a:r>
                        <a:rPr sz="1100" b="0" i="0">
                          <a:solidFill>
                            <a:schemeClr val="tx1"/>
                          </a:solidFill>
                          <a:latin typeface="Avenir Next LT Pro"/>
                        </a:rPr>
                        <a:t>3,181</a:t>
                      </a:r>
                    </a:p>
                  </a:txBody>
                  <a:tcPr marL="73152" marR="73152" marT="18288" marB="18288" anchor="ctr">
                    <a:solidFill>
                      <a:srgbClr val="FFFFFF"/>
                    </a:solidFill>
                  </a:tcPr>
                </a:tc>
                <a:tc>
                  <a:txBody>
                    <a:bodyPr/>
                    <a:lstStyle/>
                    <a:p>
                      <a:pPr algn="ctr"/>
                      <a:r>
                        <a:rPr sz="1100" b="0" i="0">
                          <a:solidFill>
                            <a:schemeClr val="tx1"/>
                          </a:solidFill>
                          <a:latin typeface="Avenir Next LT Pro"/>
                        </a:rPr>
                        <a:t>3,440</a:t>
                      </a:r>
                    </a:p>
                  </a:txBody>
                  <a:tcPr marL="73152" marR="73152" marT="18288" marB="18288" anchor="ctr">
                    <a:solidFill>
                      <a:srgbClr val="FFFFFF"/>
                    </a:solidFill>
                  </a:tcPr>
                </a:tc>
                <a:tc>
                  <a:txBody>
                    <a:bodyPr/>
                    <a:lstStyle/>
                    <a:p>
                      <a:pPr algn="ctr"/>
                      <a:r>
                        <a:rPr sz="1100" b="0" i="0">
                          <a:solidFill>
                            <a:schemeClr val="tx1"/>
                          </a:solidFill>
                          <a:latin typeface="Avenir Next LT Pro"/>
                        </a:rPr>
                        <a:t>3,680</a:t>
                      </a:r>
                    </a:p>
                  </a:txBody>
                  <a:tcPr marL="73152" marR="73152" marT="18288" marB="18288" anchor="ctr">
                    <a:solidFill>
                      <a:srgbClr val="FFFFFF"/>
                    </a:solidFill>
                  </a:tcPr>
                </a:tc>
                <a:tc>
                  <a:txBody>
                    <a:bodyPr/>
                    <a:lstStyle/>
                    <a:p>
                      <a:pPr algn="ctr"/>
                      <a:r>
                        <a:rPr sz="1100" b="0" i="0">
                          <a:solidFill>
                            <a:schemeClr val="tx1"/>
                          </a:solidFill>
                          <a:latin typeface="Avenir Next LT Pro"/>
                        </a:rPr>
                        <a:t>4,165</a:t>
                      </a:r>
                    </a:p>
                  </a:txBody>
                  <a:tcPr marL="73152" marR="73152" marT="18288" marB="18288" anchor="ctr">
                    <a:solidFill>
                      <a:srgbClr val="FFFFFF"/>
                    </a:solidFill>
                  </a:tcPr>
                </a:tc>
                <a:extLst>
                  <a:ext uri="{0D108BD9-81ED-4DB2-BD59-A6C34878D82A}">
                    <a16:rowId xmlns:a16="http://schemas.microsoft.com/office/drawing/2014/main" val="10001"/>
                  </a:ext>
                </a:extLst>
              </a:tr>
              <a:tr h="384048">
                <a:tc>
                  <a:txBody>
                    <a:bodyPr/>
                    <a:lstStyle/>
                    <a:p>
                      <a:pPr algn="l"/>
                      <a:r>
                        <a:rPr sz="1100" b="1" i="0" dirty="0">
                          <a:solidFill>
                            <a:schemeClr val="tx1"/>
                          </a:solidFill>
                          <a:latin typeface="Avenir Next LT Pro Demi"/>
                        </a:rPr>
                        <a:t>YoY Growth</a:t>
                      </a:r>
                    </a:p>
                  </a:txBody>
                  <a:tcPr marL="73152" marR="73152" marT="18288" marB="18288" anchor="ctr">
                    <a:solidFill>
                      <a:srgbClr val="F4F6F8"/>
                    </a:solidFill>
                  </a:tcPr>
                </a:tc>
                <a:tc>
                  <a:txBody>
                    <a:bodyPr/>
                    <a:lstStyle/>
                    <a:p>
                      <a:pPr algn="ctr"/>
                      <a:r>
                        <a:rPr sz="1100" b="0" i="0" dirty="0">
                          <a:solidFill>
                            <a:schemeClr val="tx1"/>
                          </a:solidFill>
                          <a:latin typeface="Avenir Next LT Pro"/>
                        </a:rPr>
                        <a:t>-1</a:t>
                      </a:r>
                      <a:r>
                        <a:rPr lang="en-US" sz="1100" b="0" i="0" dirty="0">
                          <a:solidFill>
                            <a:schemeClr val="tx1"/>
                          </a:solidFill>
                          <a:latin typeface="Avenir Next LT Pro"/>
                        </a:rPr>
                        <a:t>5.6</a:t>
                      </a:r>
                      <a:r>
                        <a:rPr sz="1100" b="0" i="0" dirty="0">
                          <a:solidFill>
                            <a:schemeClr val="tx1"/>
                          </a:solidFill>
                          <a:latin typeface="Avenir Next LT Pro"/>
                        </a:rPr>
                        <a:t>%</a:t>
                      </a:r>
                    </a:p>
                  </a:txBody>
                  <a:tcPr marL="73152" marR="73152" marT="18288" marB="18288" anchor="ctr">
                    <a:solidFill>
                      <a:srgbClr val="F4F6F8"/>
                    </a:solidFill>
                  </a:tcPr>
                </a:tc>
                <a:tc>
                  <a:txBody>
                    <a:bodyPr/>
                    <a:lstStyle/>
                    <a:p>
                      <a:pPr algn="ctr"/>
                      <a:r>
                        <a:rPr sz="1100" b="0" i="0">
                          <a:solidFill>
                            <a:schemeClr val="tx1"/>
                          </a:solidFill>
                          <a:latin typeface="Avenir Next LT Pro"/>
                        </a:rPr>
                        <a:t>+5.0%</a:t>
                      </a:r>
                    </a:p>
                  </a:txBody>
                  <a:tcPr marL="73152" marR="73152" marT="18288" marB="18288" anchor="ctr">
                    <a:solidFill>
                      <a:srgbClr val="F4F6F8"/>
                    </a:solidFill>
                  </a:tcPr>
                </a:tc>
                <a:tc>
                  <a:txBody>
                    <a:bodyPr/>
                    <a:lstStyle/>
                    <a:p>
                      <a:pPr algn="ctr"/>
                      <a:r>
                        <a:rPr sz="1100" b="0" i="0">
                          <a:solidFill>
                            <a:schemeClr val="tx1"/>
                          </a:solidFill>
                          <a:latin typeface="Avenir Next LT Pro"/>
                        </a:rPr>
                        <a:t>+8.1%</a:t>
                      </a:r>
                    </a:p>
                  </a:txBody>
                  <a:tcPr marL="73152" marR="73152" marT="18288" marB="18288" anchor="ctr">
                    <a:solidFill>
                      <a:srgbClr val="F4F6F8"/>
                    </a:solidFill>
                  </a:tcPr>
                </a:tc>
                <a:tc>
                  <a:txBody>
                    <a:bodyPr/>
                    <a:lstStyle/>
                    <a:p>
                      <a:pPr algn="ctr"/>
                      <a:r>
                        <a:rPr sz="1100" b="0" i="0">
                          <a:solidFill>
                            <a:schemeClr val="tx1"/>
                          </a:solidFill>
                          <a:latin typeface="Avenir Next LT Pro"/>
                        </a:rPr>
                        <a:t>+7.0%</a:t>
                      </a:r>
                    </a:p>
                  </a:txBody>
                  <a:tcPr marL="73152" marR="73152" marT="18288" marB="18288" anchor="ctr">
                    <a:solidFill>
                      <a:srgbClr val="F4F6F8"/>
                    </a:solidFill>
                  </a:tcPr>
                </a:tc>
                <a:tc>
                  <a:txBody>
                    <a:bodyPr/>
                    <a:lstStyle/>
                    <a:p>
                      <a:pPr algn="ctr"/>
                      <a:r>
                        <a:rPr sz="1100" b="0" i="0">
                          <a:solidFill>
                            <a:schemeClr val="tx1"/>
                          </a:solidFill>
                          <a:latin typeface="Avenir Next LT Pro"/>
                        </a:rPr>
                        <a:t>+13.2%</a:t>
                      </a:r>
                    </a:p>
                  </a:txBody>
                  <a:tcPr marL="73152" marR="73152" marT="18288" marB="18288" anchor="ctr">
                    <a:solidFill>
                      <a:srgbClr val="F4F6F8"/>
                    </a:solidFill>
                  </a:tcPr>
                </a:tc>
                <a:extLst>
                  <a:ext uri="{0D108BD9-81ED-4DB2-BD59-A6C34878D82A}">
                    <a16:rowId xmlns:a16="http://schemas.microsoft.com/office/drawing/2014/main" val="10002"/>
                  </a:ext>
                </a:extLst>
              </a:tr>
              <a:tr h="384048">
                <a:tc>
                  <a:txBody>
                    <a:bodyPr/>
                    <a:lstStyle/>
                    <a:p>
                      <a:pPr algn="l"/>
                      <a:r>
                        <a:rPr sz="1100" b="1" i="0" dirty="0">
                          <a:solidFill>
                            <a:schemeClr val="tx1"/>
                          </a:solidFill>
                          <a:latin typeface="Avenir Next LT Pro Demi"/>
                        </a:rPr>
                        <a:t>Gross Margin</a:t>
                      </a:r>
                    </a:p>
                  </a:txBody>
                  <a:tcPr marL="73152" marR="73152" marT="18288" marB="18288" anchor="ctr">
                    <a:solidFill>
                      <a:srgbClr val="FFFFFF"/>
                    </a:solidFill>
                  </a:tcPr>
                </a:tc>
                <a:tc>
                  <a:txBody>
                    <a:bodyPr/>
                    <a:lstStyle/>
                    <a:p>
                      <a:pPr algn="ctr"/>
                      <a:r>
                        <a:rPr sz="1100" b="0" i="0">
                          <a:solidFill>
                            <a:schemeClr val="tx1"/>
                          </a:solidFill>
                          <a:latin typeface="Avenir Next LT Pro"/>
                        </a:rPr>
                        <a:t>45.9%</a:t>
                      </a:r>
                    </a:p>
                  </a:txBody>
                  <a:tcPr marL="73152" marR="73152" marT="18288" marB="18288" anchor="ctr">
                    <a:solidFill>
                      <a:srgbClr val="FFFFFF"/>
                    </a:solidFill>
                  </a:tcPr>
                </a:tc>
                <a:tc>
                  <a:txBody>
                    <a:bodyPr/>
                    <a:lstStyle/>
                    <a:p>
                      <a:pPr algn="ctr"/>
                      <a:r>
                        <a:rPr sz="1100" b="0" i="0">
                          <a:solidFill>
                            <a:schemeClr val="tx1"/>
                          </a:solidFill>
                          <a:latin typeface="Avenir Next LT Pro"/>
                        </a:rPr>
                        <a:t>44.5%</a:t>
                      </a:r>
                    </a:p>
                  </a:txBody>
                  <a:tcPr marL="73152" marR="73152" marT="18288" marB="18288" anchor="ctr">
                    <a:solidFill>
                      <a:srgbClr val="FFFFFF"/>
                    </a:solidFill>
                  </a:tcPr>
                </a:tc>
                <a:tc>
                  <a:txBody>
                    <a:bodyPr/>
                    <a:lstStyle/>
                    <a:p>
                      <a:pPr algn="ctr"/>
                      <a:r>
                        <a:rPr sz="1100" b="0" i="0">
                          <a:solidFill>
                            <a:schemeClr val="tx1"/>
                          </a:solidFill>
                          <a:latin typeface="Avenir Next LT Pro"/>
                        </a:rPr>
                        <a:t>44.1%</a:t>
                      </a:r>
                    </a:p>
                  </a:txBody>
                  <a:tcPr marL="73152" marR="73152" marT="18288" marB="18288" anchor="ctr">
                    <a:solidFill>
                      <a:srgbClr val="FFFFFF"/>
                    </a:solidFill>
                  </a:tcPr>
                </a:tc>
                <a:tc>
                  <a:txBody>
                    <a:bodyPr/>
                    <a:lstStyle/>
                    <a:p>
                      <a:pPr algn="ctr"/>
                      <a:r>
                        <a:rPr sz="1100" b="0" i="0">
                          <a:solidFill>
                            <a:schemeClr val="tx1"/>
                          </a:solidFill>
                          <a:latin typeface="Avenir Next LT Pro"/>
                        </a:rPr>
                        <a:t>~45%</a:t>
                      </a:r>
                    </a:p>
                  </a:txBody>
                  <a:tcPr marL="73152" marR="73152" marT="18288" marB="18288" anchor="ctr">
                    <a:solidFill>
                      <a:srgbClr val="FFFFFF"/>
                    </a:solidFill>
                  </a:tcPr>
                </a:tc>
                <a:tc>
                  <a:txBody>
                    <a:bodyPr/>
                    <a:lstStyle/>
                    <a:p>
                      <a:pPr algn="ctr"/>
                      <a:r>
                        <a:rPr sz="1100" b="0" i="0">
                          <a:solidFill>
                            <a:schemeClr val="tx1"/>
                          </a:solidFill>
                          <a:latin typeface="Avenir Next LT Pro"/>
                        </a:rPr>
                        <a:t>~46%</a:t>
                      </a:r>
                    </a:p>
                  </a:txBody>
                  <a:tcPr marL="73152" marR="73152" marT="18288" marB="18288" anchor="ctr">
                    <a:solidFill>
                      <a:srgbClr val="FFFFFF"/>
                    </a:solidFill>
                  </a:tcPr>
                </a:tc>
                <a:extLst>
                  <a:ext uri="{0D108BD9-81ED-4DB2-BD59-A6C34878D82A}">
                    <a16:rowId xmlns:a16="http://schemas.microsoft.com/office/drawing/2014/main" val="10003"/>
                  </a:ext>
                </a:extLst>
              </a:tr>
              <a:tr h="384048">
                <a:tc>
                  <a:txBody>
                    <a:bodyPr/>
                    <a:lstStyle/>
                    <a:p>
                      <a:pPr algn="l"/>
                      <a:r>
                        <a:rPr sz="1100" b="1" i="0" dirty="0">
                          <a:solidFill>
                            <a:schemeClr val="tx1"/>
                          </a:solidFill>
                          <a:latin typeface="Avenir Next LT Pro Demi"/>
                        </a:rPr>
                        <a:t>Adj. EBITDA</a:t>
                      </a:r>
                    </a:p>
                  </a:txBody>
                  <a:tcPr marL="73152" marR="73152" marT="18288" marB="18288" anchor="ctr">
                    <a:solidFill>
                      <a:srgbClr val="F4F6F8"/>
                    </a:solidFill>
                  </a:tcPr>
                </a:tc>
                <a:tc>
                  <a:txBody>
                    <a:bodyPr/>
                    <a:lstStyle/>
                    <a:p>
                      <a:pPr algn="ctr"/>
                      <a:r>
                        <a:rPr sz="1100" b="0" i="0" dirty="0">
                          <a:solidFill>
                            <a:schemeClr val="tx1"/>
                          </a:solidFill>
                          <a:latin typeface="Avenir Next LT Pro"/>
                        </a:rPr>
                        <a:t>551</a:t>
                      </a:r>
                    </a:p>
                  </a:txBody>
                  <a:tcPr marL="73152" marR="73152" marT="18288" marB="18288" anchor="ctr">
                    <a:solidFill>
                      <a:srgbClr val="F4F6F8"/>
                    </a:solidFill>
                  </a:tcPr>
                </a:tc>
                <a:tc>
                  <a:txBody>
                    <a:bodyPr/>
                    <a:lstStyle/>
                    <a:p>
                      <a:pPr algn="ctr"/>
                      <a:r>
                        <a:rPr sz="1100" b="0" i="0">
                          <a:solidFill>
                            <a:schemeClr val="tx1"/>
                          </a:solidFill>
                          <a:latin typeface="Avenir Next LT Pro"/>
                        </a:rPr>
                        <a:t>539</a:t>
                      </a:r>
                    </a:p>
                  </a:txBody>
                  <a:tcPr marL="73152" marR="73152" marT="18288" marB="18288" anchor="ctr">
                    <a:solidFill>
                      <a:srgbClr val="F4F6F8"/>
                    </a:solidFill>
                  </a:tcPr>
                </a:tc>
                <a:tc>
                  <a:txBody>
                    <a:bodyPr/>
                    <a:lstStyle/>
                    <a:p>
                      <a:pPr algn="ctr"/>
                      <a:r>
                        <a:rPr sz="1100" b="0" i="0">
                          <a:solidFill>
                            <a:schemeClr val="tx1"/>
                          </a:solidFill>
                          <a:latin typeface="Avenir Next LT Pro"/>
                        </a:rPr>
                        <a:t>597</a:t>
                      </a:r>
                    </a:p>
                  </a:txBody>
                  <a:tcPr marL="73152" marR="73152" marT="18288" marB="18288" anchor="ctr">
                    <a:solidFill>
                      <a:srgbClr val="F4F6F8"/>
                    </a:solidFill>
                  </a:tcPr>
                </a:tc>
                <a:tc>
                  <a:txBody>
                    <a:bodyPr/>
                    <a:lstStyle/>
                    <a:p>
                      <a:pPr algn="ctr"/>
                      <a:r>
                        <a:rPr sz="1100" b="0" i="0">
                          <a:solidFill>
                            <a:schemeClr val="tx1"/>
                          </a:solidFill>
                          <a:latin typeface="Avenir Next LT Pro"/>
                        </a:rPr>
                        <a:t>589</a:t>
                      </a:r>
                    </a:p>
                  </a:txBody>
                  <a:tcPr marL="73152" marR="73152" marT="18288" marB="18288" anchor="ctr">
                    <a:solidFill>
                      <a:srgbClr val="F4F6F8"/>
                    </a:solidFill>
                  </a:tcPr>
                </a:tc>
                <a:tc>
                  <a:txBody>
                    <a:bodyPr/>
                    <a:lstStyle/>
                    <a:p>
                      <a:pPr algn="ctr"/>
                      <a:r>
                        <a:rPr sz="1100" b="0" i="0">
                          <a:solidFill>
                            <a:schemeClr val="tx1"/>
                          </a:solidFill>
                          <a:latin typeface="Avenir Next LT Pro"/>
                        </a:rPr>
                        <a:t>708</a:t>
                      </a:r>
                    </a:p>
                  </a:txBody>
                  <a:tcPr marL="73152" marR="73152" marT="18288" marB="18288" anchor="ctr">
                    <a:solidFill>
                      <a:srgbClr val="F4F6F8"/>
                    </a:solidFill>
                  </a:tcPr>
                </a:tc>
                <a:extLst>
                  <a:ext uri="{0D108BD9-81ED-4DB2-BD59-A6C34878D82A}">
                    <a16:rowId xmlns:a16="http://schemas.microsoft.com/office/drawing/2014/main" val="10004"/>
                  </a:ext>
                </a:extLst>
              </a:tr>
              <a:tr h="384048">
                <a:tc>
                  <a:txBody>
                    <a:bodyPr/>
                    <a:lstStyle/>
                    <a:p>
                      <a:pPr algn="l"/>
                      <a:r>
                        <a:rPr sz="1100" b="1" i="0">
                          <a:solidFill>
                            <a:schemeClr val="tx1"/>
                          </a:solidFill>
                          <a:latin typeface="Avenir Next LT Pro Demi"/>
                        </a:rPr>
                        <a:t>EBITDA Margin</a:t>
                      </a:r>
                    </a:p>
                  </a:txBody>
                  <a:tcPr marL="73152" marR="73152" marT="18288" marB="18288" anchor="ctr">
                    <a:solidFill>
                      <a:srgbClr val="FFFFFF"/>
                    </a:solidFill>
                  </a:tcPr>
                </a:tc>
                <a:tc>
                  <a:txBody>
                    <a:bodyPr/>
                    <a:lstStyle/>
                    <a:p>
                      <a:pPr algn="ctr"/>
                      <a:r>
                        <a:rPr sz="1100" b="0" i="0" dirty="0">
                          <a:solidFill>
                            <a:schemeClr val="tx1"/>
                          </a:solidFill>
                          <a:latin typeface="Avenir Next LT Pro"/>
                        </a:rPr>
                        <a:t>18.2%</a:t>
                      </a:r>
                    </a:p>
                  </a:txBody>
                  <a:tcPr marL="73152" marR="73152" marT="18288" marB="18288" anchor="ctr">
                    <a:solidFill>
                      <a:srgbClr val="FFFFFF"/>
                    </a:solidFill>
                  </a:tcPr>
                </a:tc>
                <a:tc>
                  <a:txBody>
                    <a:bodyPr/>
                    <a:lstStyle/>
                    <a:p>
                      <a:pPr algn="ctr"/>
                      <a:r>
                        <a:rPr sz="1100" b="0" i="0">
                          <a:solidFill>
                            <a:schemeClr val="tx1"/>
                          </a:solidFill>
                          <a:latin typeface="Avenir Next LT Pro"/>
                        </a:rPr>
                        <a:t>16.9%</a:t>
                      </a:r>
                    </a:p>
                  </a:txBody>
                  <a:tcPr marL="73152" marR="73152" marT="18288" marB="18288" anchor="ctr">
                    <a:solidFill>
                      <a:srgbClr val="FFFFFF"/>
                    </a:solidFill>
                  </a:tcPr>
                </a:tc>
                <a:tc>
                  <a:txBody>
                    <a:bodyPr/>
                    <a:lstStyle/>
                    <a:p>
                      <a:pPr algn="ctr"/>
                      <a:r>
                        <a:rPr sz="1100" b="0" i="0">
                          <a:solidFill>
                            <a:schemeClr val="tx1"/>
                          </a:solidFill>
                          <a:latin typeface="Avenir Next LT Pro"/>
                        </a:rPr>
                        <a:t>17.3%</a:t>
                      </a:r>
                    </a:p>
                  </a:txBody>
                  <a:tcPr marL="73152" marR="73152" marT="18288" marB="18288" anchor="ctr">
                    <a:solidFill>
                      <a:srgbClr val="FFFFFF"/>
                    </a:solidFill>
                  </a:tcPr>
                </a:tc>
                <a:tc>
                  <a:txBody>
                    <a:bodyPr/>
                    <a:lstStyle/>
                    <a:p>
                      <a:pPr algn="ctr"/>
                      <a:r>
                        <a:rPr sz="1100" b="0" i="0">
                          <a:solidFill>
                            <a:schemeClr val="tx1"/>
                          </a:solidFill>
                          <a:latin typeface="Avenir Next LT Pro"/>
                        </a:rPr>
                        <a:t>16.0%</a:t>
                      </a:r>
                    </a:p>
                  </a:txBody>
                  <a:tcPr marL="73152" marR="73152" marT="18288" marB="18288" anchor="ctr">
                    <a:solidFill>
                      <a:srgbClr val="FFFFFF"/>
                    </a:solidFill>
                  </a:tcPr>
                </a:tc>
                <a:tc>
                  <a:txBody>
                    <a:bodyPr/>
                    <a:lstStyle/>
                    <a:p>
                      <a:pPr algn="ctr"/>
                      <a:r>
                        <a:rPr sz="1100" b="0" i="0">
                          <a:solidFill>
                            <a:schemeClr val="tx1"/>
                          </a:solidFill>
                          <a:latin typeface="Avenir Next LT Pro"/>
                        </a:rPr>
                        <a:t>17.0%</a:t>
                      </a:r>
                    </a:p>
                  </a:txBody>
                  <a:tcPr marL="73152" marR="73152" marT="18288" marB="18288" anchor="ctr">
                    <a:solidFill>
                      <a:srgbClr val="FFFFFF"/>
                    </a:solidFill>
                  </a:tcPr>
                </a:tc>
                <a:extLst>
                  <a:ext uri="{0D108BD9-81ED-4DB2-BD59-A6C34878D82A}">
                    <a16:rowId xmlns:a16="http://schemas.microsoft.com/office/drawing/2014/main" val="10005"/>
                  </a:ext>
                </a:extLst>
              </a:tr>
              <a:tr h="384048">
                <a:tc>
                  <a:txBody>
                    <a:bodyPr/>
                    <a:lstStyle/>
                    <a:p>
                      <a:pPr algn="l"/>
                      <a:r>
                        <a:rPr sz="1100" b="1" i="0">
                          <a:solidFill>
                            <a:schemeClr val="tx1"/>
                          </a:solidFill>
                          <a:latin typeface="Avenir Next LT Pro Demi"/>
                        </a:rPr>
                        <a:t>Diluted EPS (GAAP)</a:t>
                      </a:r>
                    </a:p>
                  </a:txBody>
                  <a:tcPr marL="73152" marR="73152" marT="18288" marB="18288" anchor="ctr">
                    <a:solidFill>
                      <a:srgbClr val="F4F6F8"/>
                    </a:solidFill>
                  </a:tcPr>
                </a:tc>
                <a:tc>
                  <a:txBody>
                    <a:bodyPr/>
                    <a:lstStyle/>
                    <a:p>
                      <a:pPr algn="ctr"/>
                      <a:r>
                        <a:rPr sz="1100" b="0" i="0">
                          <a:solidFill>
                            <a:schemeClr val="tx1"/>
                          </a:solidFill>
                          <a:latin typeface="Avenir Next LT Pro"/>
                        </a:rPr>
                        <a:t>$5.91</a:t>
                      </a:r>
                    </a:p>
                  </a:txBody>
                  <a:tcPr marL="73152" marR="73152" marT="18288" marB="18288" anchor="ctr">
                    <a:solidFill>
                      <a:srgbClr val="F4F6F8"/>
                    </a:solidFill>
                  </a:tcPr>
                </a:tc>
                <a:tc>
                  <a:txBody>
                    <a:bodyPr/>
                    <a:lstStyle/>
                    <a:p>
                      <a:pPr algn="ctr"/>
                      <a:r>
                        <a:rPr sz="1100" b="0" i="0" dirty="0">
                          <a:solidFill>
                            <a:schemeClr val="tx1"/>
                          </a:solidFill>
                          <a:latin typeface="Avenir Next LT Pro"/>
                        </a:rPr>
                        <a:t>$3.62</a:t>
                      </a:r>
                    </a:p>
                  </a:txBody>
                  <a:tcPr marL="73152" marR="73152" marT="18288" marB="18288" anchor="ctr">
                    <a:solidFill>
                      <a:srgbClr val="F4F6F8"/>
                    </a:solidFill>
                  </a:tcPr>
                </a:tc>
                <a:tc>
                  <a:txBody>
                    <a:bodyPr/>
                    <a:lstStyle/>
                    <a:p>
                      <a:pPr algn="ctr"/>
                      <a:r>
                        <a:rPr sz="1100" b="0" i="0">
                          <a:solidFill>
                            <a:schemeClr val="tx1"/>
                          </a:solidFill>
                          <a:latin typeface="Avenir Next LT Pro"/>
                        </a:rPr>
                        <a:t>$6.31</a:t>
                      </a:r>
                    </a:p>
                  </a:txBody>
                  <a:tcPr marL="73152" marR="73152" marT="18288" marB="18288" anchor="ctr">
                    <a:solidFill>
                      <a:srgbClr val="F4F6F8"/>
                    </a:solidFill>
                  </a:tcPr>
                </a:tc>
                <a:tc>
                  <a:txBody>
                    <a:bodyPr/>
                    <a:lstStyle/>
                    <a:p>
                      <a:pPr algn="ctr"/>
                      <a:r>
                        <a:rPr sz="1100" b="0" i="0">
                          <a:solidFill>
                            <a:schemeClr val="tx1"/>
                          </a:solidFill>
                          <a:latin typeface="Avenir Next LT Pro"/>
                        </a:rPr>
                        <a:t>~$9</a:t>
                      </a:r>
                    </a:p>
                  </a:txBody>
                  <a:tcPr marL="73152" marR="73152" marT="18288" marB="18288" anchor="ctr">
                    <a:solidFill>
                      <a:srgbClr val="F4F6F8"/>
                    </a:solidFill>
                  </a:tcPr>
                </a:tc>
                <a:tc>
                  <a:txBody>
                    <a:bodyPr/>
                    <a:lstStyle/>
                    <a:p>
                      <a:pPr algn="ctr"/>
                      <a:r>
                        <a:rPr sz="1100" b="0" i="0">
                          <a:solidFill>
                            <a:schemeClr val="tx1"/>
                          </a:solidFill>
                          <a:latin typeface="Avenir Next LT Pro"/>
                        </a:rPr>
                        <a:t>~$14</a:t>
                      </a:r>
                    </a:p>
                  </a:txBody>
                  <a:tcPr marL="73152" marR="73152" marT="18288" marB="18288" anchor="ctr">
                    <a:solidFill>
                      <a:srgbClr val="F4F6F8"/>
                    </a:solidFill>
                  </a:tcPr>
                </a:tc>
                <a:extLst>
                  <a:ext uri="{0D108BD9-81ED-4DB2-BD59-A6C34878D82A}">
                    <a16:rowId xmlns:a16="http://schemas.microsoft.com/office/drawing/2014/main" val="10006"/>
                  </a:ext>
                </a:extLst>
              </a:tr>
              <a:tr h="384048">
                <a:tc>
                  <a:txBody>
                    <a:bodyPr/>
                    <a:lstStyle/>
                    <a:p>
                      <a:pPr algn="l"/>
                      <a:r>
                        <a:rPr sz="1100" b="1" i="0">
                          <a:solidFill>
                            <a:schemeClr val="tx1"/>
                          </a:solidFill>
                          <a:latin typeface="Avenir Next LT Pro Demi"/>
                        </a:rPr>
                        <a:t>Free Cash Flow</a:t>
                      </a:r>
                    </a:p>
                  </a:txBody>
                  <a:tcPr marL="73152" marR="73152" marT="18288" marB="18288" anchor="ctr">
                    <a:solidFill>
                      <a:srgbClr val="FFFFFF"/>
                    </a:solidFill>
                  </a:tcPr>
                </a:tc>
                <a:tc>
                  <a:txBody>
                    <a:bodyPr/>
                    <a:lstStyle/>
                    <a:p>
                      <a:pPr algn="ctr"/>
                      <a:r>
                        <a:rPr sz="1100" b="0" i="0">
                          <a:solidFill>
                            <a:schemeClr val="tx1"/>
                          </a:solidFill>
                          <a:latin typeface="Avenir Next LT Pro"/>
                        </a:rPr>
                        <a:t>-67</a:t>
                      </a:r>
                    </a:p>
                  </a:txBody>
                  <a:tcPr marL="73152" marR="73152" marT="18288" marB="18288" anchor="ctr">
                    <a:solidFill>
                      <a:srgbClr val="FFFFFF"/>
                    </a:solidFill>
                  </a:tcPr>
                </a:tc>
                <a:tc>
                  <a:txBody>
                    <a:bodyPr/>
                    <a:lstStyle/>
                    <a:p>
                      <a:pPr algn="ctr"/>
                      <a:r>
                        <a:rPr sz="1100" b="0" i="0">
                          <a:solidFill>
                            <a:schemeClr val="tx1"/>
                          </a:solidFill>
                          <a:latin typeface="Avenir Next LT Pro"/>
                        </a:rPr>
                        <a:t>-214</a:t>
                      </a:r>
                    </a:p>
                  </a:txBody>
                  <a:tcPr marL="73152" marR="73152" marT="18288" marB="18288" anchor="ctr">
                    <a:solidFill>
                      <a:srgbClr val="FFFFFF"/>
                    </a:solidFill>
                  </a:tcPr>
                </a:tc>
                <a:tc>
                  <a:txBody>
                    <a:bodyPr/>
                    <a:lstStyle/>
                    <a:p>
                      <a:pPr algn="ctr"/>
                      <a:r>
                        <a:rPr sz="1100" b="0" i="0" dirty="0">
                          <a:solidFill>
                            <a:schemeClr val="tx1"/>
                          </a:solidFill>
                          <a:latin typeface="Avenir Next LT Pro"/>
                        </a:rPr>
                        <a:t>252</a:t>
                      </a:r>
                    </a:p>
                  </a:txBody>
                  <a:tcPr marL="73152" marR="73152" marT="18288" marB="18288" anchor="ctr">
                    <a:solidFill>
                      <a:srgbClr val="FFFFFF"/>
                    </a:solidFill>
                  </a:tcPr>
                </a:tc>
                <a:tc>
                  <a:txBody>
                    <a:bodyPr/>
                    <a:lstStyle/>
                    <a:p>
                      <a:pPr algn="ctr"/>
                      <a:r>
                        <a:rPr sz="1100" b="0" i="0">
                          <a:solidFill>
                            <a:schemeClr val="tx1"/>
                          </a:solidFill>
                          <a:latin typeface="Avenir Next LT Pro"/>
                        </a:rPr>
                        <a:t>~350</a:t>
                      </a:r>
                    </a:p>
                  </a:txBody>
                  <a:tcPr marL="73152" marR="73152" marT="18288" marB="18288" anchor="ctr">
                    <a:solidFill>
                      <a:srgbClr val="FFFFFF"/>
                    </a:solidFill>
                  </a:tcPr>
                </a:tc>
                <a:tc>
                  <a:txBody>
                    <a:bodyPr/>
                    <a:lstStyle/>
                    <a:p>
                      <a:pPr algn="ctr"/>
                      <a:r>
                        <a:rPr sz="1100" b="0" i="0">
                          <a:solidFill>
                            <a:schemeClr val="tx1"/>
                          </a:solidFill>
                          <a:latin typeface="Avenir Next LT Pro"/>
                        </a:rPr>
                        <a:t>~450</a:t>
                      </a:r>
                    </a:p>
                  </a:txBody>
                  <a:tcPr marL="73152" marR="73152" marT="18288" marB="18288" anchor="ctr">
                    <a:solidFill>
                      <a:srgbClr val="FFFFFF"/>
                    </a:solidFill>
                  </a:tcPr>
                </a:tc>
                <a:extLst>
                  <a:ext uri="{0D108BD9-81ED-4DB2-BD59-A6C34878D82A}">
                    <a16:rowId xmlns:a16="http://schemas.microsoft.com/office/drawing/2014/main" val="10007"/>
                  </a:ext>
                </a:extLst>
              </a:tr>
              <a:tr h="384048">
                <a:tc>
                  <a:txBody>
                    <a:bodyPr/>
                    <a:lstStyle/>
                    <a:p>
                      <a:pPr algn="l"/>
                      <a:r>
                        <a:rPr sz="1100" b="1" i="0">
                          <a:solidFill>
                            <a:schemeClr val="tx1"/>
                          </a:solidFill>
                          <a:latin typeface="Avenir Next LT Pro Demi"/>
                        </a:rPr>
                        <a:t>Net Debt</a:t>
                      </a:r>
                    </a:p>
                  </a:txBody>
                  <a:tcPr marL="73152" marR="73152" marT="18288" marB="18288" anchor="ctr">
                    <a:solidFill>
                      <a:srgbClr val="F4F6F8"/>
                    </a:solidFill>
                  </a:tcPr>
                </a:tc>
                <a:tc>
                  <a:txBody>
                    <a:bodyPr/>
                    <a:lstStyle/>
                    <a:p>
                      <a:pPr algn="ctr"/>
                      <a:r>
                        <a:rPr sz="1100" b="0" i="0">
                          <a:solidFill>
                            <a:schemeClr val="tx1"/>
                          </a:solidFill>
                          <a:latin typeface="Avenir Next LT Pro"/>
                        </a:rPr>
                        <a:t>~2,600</a:t>
                      </a:r>
                    </a:p>
                  </a:txBody>
                  <a:tcPr marL="73152" marR="73152" marT="18288" marB="18288" anchor="ctr">
                    <a:solidFill>
                      <a:srgbClr val="F4F6F8"/>
                    </a:solidFill>
                  </a:tcPr>
                </a:tc>
                <a:tc>
                  <a:txBody>
                    <a:bodyPr/>
                    <a:lstStyle/>
                    <a:p>
                      <a:pPr algn="ctr"/>
                      <a:r>
                        <a:rPr sz="1100" b="0" i="0">
                          <a:solidFill>
                            <a:schemeClr val="tx1"/>
                          </a:solidFill>
                          <a:latin typeface="Avenir Next LT Pro"/>
                        </a:rPr>
                        <a:t>2,594</a:t>
                      </a:r>
                    </a:p>
                  </a:txBody>
                  <a:tcPr marL="73152" marR="73152" marT="18288" marB="18288" anchor="ctr">
                    <a:solidFill>
                      <a:srgbClr val="F4F6F8"/>
                    </a:solidFill>
                  </a:tcPr>
                </a:tc>
                <a:tc>
                  <a:txBody>
                    <a:bodyPr/>
                    <a:lstStyle/>
                    <a:p>
                      <a:pPr algn="ctr"/>
                      <a:r>
                        <a:rPr sz="1100" b="0" i="0">
                          <a:solidFill>
                            <a:schemeClr val="tx1"/>
                          </a:solidFill>
                          <a:latin typeface="Avenir Next LT Pro"/>
                        </a:rPr>
                        <a:t>2,378</a:t>
                      </a:r>
                    </a:p>
                  </a:txBody>
                  <a:tcPr marL="73152" marR="73152" marT="18288" marB="18288" anchor="ctr">
                    <a:solidFill>
                      <a:srgbClr val="F4F6F8"/>
                    </a:solidFill>
                  </a:tcPr>
                </a:tc>
                <a:tc>
                  <a:txBody>
                    <a:bodyPr/>
                    <a:lstStyle/>
                    <a:p>
                      <a:pPr algn="ctr"/>
                      <a:r>
                        <a:rPr sz="1100" b="0" i="0" dirty="0">
                          <a:solidFill>
                            <a:schemeClr val="tx1"/>
                          </a:solidFill>
                          <a:latin typeface="Avenir Next LT Pro"/>
                        </a:rPr>
                        <a:t>~2,180</a:t>
                      </a:r>
                    </a:p>
                  </a:txBody>
                  <a:tcPr marL="73152" marR="73152" marT="18288" marB="18288" anchor="ctr">
                    <a:solidFill>
                      <a:srgbClr val="F4F6F8"/>
                    </a:solidFill>
                  </a:tcPr>
                </a:tc>
                <a:tc>
                  <a:txBody>
                    <a:bodyPr/>
                    <a:lstStyle/>
                    <a:p>
                      <a:pPr algn="ctr"/>
                      <a:r>
                        <a:rPr sz="1100" b="0" i="0" dirty="0">
                          <a:solidFill>
                            <a:schemeClr val="tx1"/>
                          </a:solidFill>
                          <a:latin typeface="Avenir Next LT Pro"/>
                        </a:rPr>
                        <a:t>~1,900</a:t>
                      </a:r>
                    </a:p>
                  </a:txBody>
                  <a:tcPr marL="73152" marR="73152" marT="18288" marB="18288" anchor="ctr">
                    <a:solidFill>
                      <a:srgbClr val="F4F6F8"/>
                    </a:solidFill>
                  </a:tcPr>
                </a:tc>
                <a:extLst>
                  <a:ext uri="{0D108BD9-81ED-4DB2-BD59-A6C34878D82A}">
                    <a16:rowId xmlns:a16="http://schemas.microsoft.com/office/drawing/2014/main" val="10008"/>
                  </a:ext>
                </a:extLst>
              </a:tr>
            </a:tbl>
          </a:graphicData>
        </a:graphic>
      </p:graphicFrame>
      <p:sp>
        <p:nvSpPr>
          <p:cNvPr id="7" name="TextBox 6"/>
          <p:cNvSpPr txBox="1"/>
          <p:nvPr/>
        </p:nvSpPr>
        <p:spPr>
          <a:xfrm>
            <a:off x="218660" y="5041127"/>
            <a:ext cx="8653669" cy="400110"/>
          </a:xfrm>
          <a:prstGeom prst="rect">
            <a:avLst/>
          </a:prstGeom>
          <a:noFill/>
          <a:ln>
            <a:noFill/>
          </a:ln>
        </p:spPr>
        <p:txBody>
          <a:bodyPr wrap="square">
            <a:spAutoFit/>
          </a:bodyPr>
          <a:lstStyle/>
          <a:p>
            <a:r>
              <a:rPr sz="1000" b="1" i="0" dirty="0">
                <a:solidFill>
                  <a:srgbClr val="000000"/>
                </a:solidFill>
                <a:latin typeface="Avenir Next LT Pro"/>
              </a:rPr>
              <a:t>Story: margins dip near-term (FY26 guide 14–16%) then recover toward ~17%; FCF inflected to +$252M in FY25 — but ~$2.4B net debt (~4× EBITDA) and ~$225M/yr interest make it a leveraged bet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6EAD30-CEA1-8508-C4C6-5800B2CA8846}"/>
              </a:ext>
            </a:extLst>
          </p:cNvPr>
          <p:cNvSpPr>
            <a:spLocks noGrp="1"/>
          </p:cNvSpPr>
          <p:nvPr>
            <p:ph type="title"/>
          </p:nvPr>
        </p:nvSpPr>
        <p:spPr>
          <a:ln>
            <a:solidFill/>
          </a:ln>
        </p:spPr>
        <p:txBody>
          <a:bodyPr/>
          <a:lstStyle/>
          <a:p>
            <a:r>
              <a:rPr lang="en-US">
                <a:solidFill/>
              </a:rPr>
              <a:t>Valuation &amp; returns</a:t>
            </a:r>
          </a:p>
        </p:txBody>
      </p:sp>
    </p:spTree>
    <p:extLst>
      <p:ext uri="{BB962C8B-B14F-4D97-AF65-F5344CB8AC3E}">
        <p14:creationId xmlns:p14="http://schemas.microsoft.com/office/powerpoint/2010/main" val="12029397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446276"/>
          </a:xfrm>
          <a:prstGeom prst="rect">
            <a:avLst/>
          </a:prstGeom>
          <a:noFill/>
          <a:ln>
            <a:noFill/>
          </a:ln>
        </p:spPr>
        <p:txBody>
          <a:bodyPr wrap="square">
            <a:spAutoFit/>
          </a:bodyPr>
          <a:lstStyle/>
          <a:p>
            <a:r>
              <a:rPr sz="2300" b="0" i="0" dirty="0">
                <a:solidFill/>
                <a:latin typeface="Avenir Next LT Pro Demi"/>
              </a:rPr>
              <a:t>Valuation — EV/EBITDA, FY2027E</a:t>
            </a:r>
          </a:p>
        </p:txBody>
      </p:sp>
      <p:sp>
        <p:nvSpPr>
          <p:cNvPr id="5" name="TextBox 4"/>
          <p:cNvSpPr txBox="1"/>
          <p:nvPr/>
        </p:nvSpPr>
        <p:spPr>
          <a:xfrm>
            <a:off x="457200" y="1051560"/>
            <a:ext cx="8229600" cy="274320"/>
          </a:xfrm>
          <a:prstGeom prst="rect">
            <a:avLst/>
          </a:prstGeom>
          <a:noFill/>
          <a:ln>
            <a:noFill/>
          </a:ln>
        </p:spPr>
        <p:txBody>
          <a:bodyPr wrap="none">
            <a:spAutoFit/>
          </a:bodyPr>
          <a:lstStyle/>
          <a:p>
            <a:r>
              <a:rPr sz="900" b="0" i="1">
                <a:solidFill>
                  <a:srgbClr val="B0B0B0"/>
                </a:solidFill>
                <a:latin typeface="Avenir Next LT Pro"/>
              </a:rPr>
              <a:t>[ narrative / commentary to be written ]</a:t>
            </a:r>
          </a:p>
        </p:txBody>
      </p:sp>
      <p:sp>
        <p:nvSpPr>
          <p:cNvPr id="6" name="Rectangle 5"/>
          <p:cNvSpPr/>
          <p:nvPr/>
        </p:nvSpPr>
        <p:spPr>
          <a:xfrm>
            <a:off x="457200" y="1508760"/>
            <a:ext cx="1572768" cy="914400"/>
          </a:xfrm>
          <a:prstGeom prst="rect">
            <a:avLst/>
          </a:prstGeom>
          <a:solidFill>
            <a:srgbClr val="E8E8E8"/>
          </a:solidFill>
          <a:ln w="15875">
            <a:solidFill>
              <a:srgbClr val="0E284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FY27E EBITDA</a:t>
            </a:r>
          </a:p>
          <a:p>
            <a:pPr algn="ctr"/>
            <a:r>
              <a:rPr sz="1700" b="1" i="0">
                <a:solidFill>
                  <a:srgbClr val="0E2841"/>
                </a:solidFill>
                <a:latin typeface="Avenir Next LT Pro Demi"/>
              </a:rPr>
              <a:t>$708M</a:t>
            </a:r>
          </a:p>
        </p:txBody>
      </p:sp>
      <p:sp>
        <p:nvSpPr>
          <p:cNvPr id="7" name="Rectangle 6"/>
          <p:cNvSpPr/>
          <p:nvPr/>
        </p:nvSpPr>
        <p:spPr>
          <a:xfrm>
            <a:off x="2084832" y="1508760"/>
            <a:ext cx="1572768" cy="914400"/>
          </a:xfrm>
          <a:prstGeom prst="rect">
            <a:avLst/>
          </a:prstGeom>
          <a:solidFill>
            <a:srgbClr val="E8E8E8"/>
          </a:solidFill>
          <a:ln w="15875">
            <a:solidFill>
              <a:srgbClr val="15608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 Exit Multiple</a:t>
            </a:r>
          </a:p>
          <a:p>
            <a:pPr algn="ctr"/>
            <a:r>
              <a:rPr sz="1700" b="1" i="0">
                <a:solidFill>
                  <a:srgbClr val="000000"/>
                </a:solidFill>
                <a:latin typeface="Avenir Next LT Pro Demi"/>
              </a:rPr>
              <a:t>11×</a:t>
            </a:r>
          </a:p>
        </p:txBody>
      </p:sp>
      <p:sp>
        <p:nvSpPr>
          <p:cNvPr id="8" name="Rectangle 7"/>
          <p:cNvSpPr/>
          <p:nvPr/>
        </p:nvSpPr>
        <p:spPr>
          <a:xfrm>
            <a:off x="3712464" y="1508760"/>
            <a:ext cx="1572768" cy="914400"/>
          </a:xfrm>
          <a:prstGeom prst="rect">
            <a:avLst/>
          </a:prstGeom>
          <a:solidFill>
            <a:srgbClr val="E8E8E8"/>
          </a:solidFill>
          <a:ln w="15875">
            <a:solidFill>
              <a:srgbClr val="0E284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 Enterprise Value</a:t>
            </a:r>
          </a:p>
          <a:p>
            <a:pPr algn="ctr"/>
            <a:r>
              <a:rPr sz="1700" b="1" i="0">
                <a:solidFill>
                  <a:srgbClr val="0E2841"/>
                </a:solidFill>
                <a:latin typeface="Avenir Next LT Pro Demi"/>
              </a:rPr>
              <a:t>~$7.8B</a:t>
            </a:r>
          </a:p>
        </p:txBody>
      </p:sp>
      <p:sp>
        <p:nvSpPr>
          <p:cNvPr id="9" name="Rectangle 8"/>
          <p:cNvSpPr/>
          <p:nvPr/>
        </p:nvSpPr>
        <p:spPr>
          <a:xfrm>
            <a:off x="5340096" y="1508760"/>
            <a:ext cx="1572768" cy="914400"/>
          </a:xfrm>
          <a:prstGeom prst="rect">
            <a:avLst/>
          </a:prstGeom>
          <a:solidFill>
            <a:srgbClr val="E8E8E8"/>
          </a:solidFill>
          <a:ln w="15875">
            <a:solidFill>
              <a:srgbClr val="E9713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 Net Debt</a:t>
            </a:r>
          </a:p>
          <a:p>
            <a:pPr algn="ctr"/>
            <a:r>
              <a:rPr sz="1700" b="1" i="0">
                <a:solidFill>
                  <a:srgbClr val="E97132"/>
                </a:solidFill>
                <a:latin typeface="Avenir Next LT Pro Demi"/>
              </a:rPr>
              <a:t>$1.9B</a:t>
            </a:r>
          </a:p>
        </p:txBody>
      </p:sp>
      <p:sp>
        <p:nvSpPr>
          <p:cNvPr id="10" name="Rectangle 9"/>
          <p:cNvSpPr/>
          <p:nvPr/>
        </p:nvSpPr>
        <p:spPr>
          <a:xfrm>
            <a:off x="6967728" y="1508760"/>
            <a:ext cx="1572768" cy="914400"/>
          </a:xfrm>
          <a:prstGeom prst="rect">
            <a:avLst/>
          </a:prstGeom>
          <a:solidFill>
            <a:srgbClr val="E8E8E8"/>
          </a:solidFill>
          <a:ln w="15875">
            <a:solidFill>
              <a:srgbClr val="196B2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 Shares (19M)</a:t>
            </a:r>
          </a:p>
          <a:p>
            <a:pPr algn="ctr"/>
            <a:r>
              <a:rPr sz="1700" b="1" i="0">
                <a:solidFill>
                  <a:srgbClr val="196B24"/>
                </a:solidFill>
                <a:latin typeface="Avenir Next LT Pro Demi"/>
              </a:rPr>
              <a:t>= ~$310</a:t>
            </a:r>
          </a:p>
        </p:txBody>
      </p:sp>
      <p:graphicFrame>
        <p:nvGraphicFramePr>
          <p:cNvPr id="11" name="Table 10"/>
          <p:cNvGraphicFramePr>
            <a:graphicFrameLocks noGrp="1"/>
          </p:cNvGraphicFramePr>
          <p:nvPr>
            <p:extLst>
              <p:ext uri="{D42A27DB-BD31-4B8C-83A1-F6EECF244321}">
                <p14:modId xmlns:p14="http://schemas.microsoft.com/office/powerpoint/2010/main" val="3973473890"/>
              </p:ext>
            </p:extLst>
          </p:nvPr>
        </p:nvGraphicFramePr>
        <p:xfrm>
          <a:off x="457200" y="2880360"/>
          <a:ext cx="8229600" cy="1536192"/>
        </p:xfrm>
        <a:graphic>
          <a:graphicData uri="http://schemas.openxmlformats.org/drawingml/2006/table">
            <a:tbl>
              <a:tblPr>
                <a:tableStyleId>{5C22544A-7EE6-4342-B048-85BDC9FD1C3A}</a:tableStyleId>
              </a:tblPr>
              <a:tblGrid>
                <a:gridCol w="1554480">
                  <a:extLst>
                    <a:ext uri="{9D8B030D-6E8A-4147-A177-3AD203B41FA5}">
                      <a16:colId xmlns:a16="http://schemas.microsoft.com/office/drawing/2014/main" val="20000"/>
                    </a:ext>
                  </a:extLst>
                </a:gridCol>
                <a:gridCol w="1335024">
                  <a:extLst>
                    <a:ext uri="{9D8B030D-6E8A-4147-A177-3AD203B41FA5}">
                      <a16:colId xmlns:a16="http://schemas.microsoft.com/office/drawing/2014/main" val="20001"/>
                    </a:ext>
                  </a:extLst>
                </a:gridCol>
                <a:gridCol w="1335024">
                  <a:extLst>
                    <a:ext uri="{9D8B030D-6E8A-4147-A177-3AD203B41FA5}">
                      <a16:colId xmlns:a16="http://schemas.microsoft.com/office/drawing/2014/main" val="20002"/>
                    </a:ext>
                  </a:extLst>
                </a:gridCol>
                <a:gridCol w="1335024">
                  <a:extLst>
                    <a:ext uri="{9D8B030D-6E8A-4147-A177-3AD203B41FA5}">
                      <a16:colId xmlns:a16="http://schemas.microsoft.com/office/drawing/2014/main" val="20003"/>
                    </a:ext>
                  </a:extLst>
                </a:gridCol>
                <a:gridCol w="1335024">
                  <a:extLst>
                    <a:ext uri="{9D8B030D-6E8A-4147-A177-3AD203B41FA5}">
                      <a16:colId xmlns:a16="http://schemas.microsoft.com/office/drawing/2014/main" val="20004"/>
                    </a:ext>
                  </a:extLst>
                </a:gridCol>
                <a:gridCol w="1335024">
                  <a:extLst>
                    <a:ext uri="{9D8B030D-6E8A-4147-A177-3AD203B41FA5}">
                      <a16:colId xmlns:a16="http://schemas.microsoft.com/office/drawing/2014/main" val="20005"/>
                    </a:ext>
                  </a:extLst>
                </a:gridCol>
              </a:tblGrid>
              <a:tr h="384048">
                <a:tc>
                  <a:txBody>
                    <a:bodyPr/>
                    <a:lstStyle/>
                    <a:p>
                      <a:pPr algn="l"/>
                      <a:r>
                        <a:rPr sz="1000" b="1" i="0" dirty="0">
                          <a:solidFill>
                            <a:srgbClr val="FFFFFF"/>
                          </a:solidFill>
                          <a:latin typeface="Avenir Next LT Pro Demi"/>
                        </a:rPr>
                        <a:t>Scenario</a:t>
                      </a:r>
                    </a:p>
                  </a:txBody>
                  <a:tcPr marL="73152" marR="73152" marT="18288" marB="18288" anchor="ctr">
                    <a:solidFill>
                      <a:srgbClr val="9A7B44"/>
                    </a:solidFill>
                  </a:tcPr>
                </a:tc>
                <a:tc>
                  <a:txBody>
                    <a:bodyPr/>
                    <a:lstStyle/>
                    <a:p>
                      <a:pPr algn="ctr"/>
                      <a:r>
                        <a:rPr sz="1000" b="1" i="0" dirty="0">
                          <a:solidFill>
                            <a:srgbClr val="FFFFFF"/>
                          </a:solidFill>
                          <a:latin typeface="Avenir Next LT Pro Demi"/>
                        </a:rPr>
                        <a:t>Rev CAGR</a:t>
                      </a:r>
                    </a:p>
                  </a:txBody>
                  <a:tcPr marL="73152" marR="73152" marT="18288" marB="18288" anchor="ctr">
                    <a:solidFill>
                      <a:srgbClr val="9A7B44"/>
                    </a:solidFill>
                  </a:tcPr>
                </a:tc>
                <a:tc>
                  <a:txBody>
                    <a:bodyPr/>
                    <a:lstStyle/>
                    <a:p>
                      <a:pPr algn="ctr"/>
                      <a:r>
                        <a:rPr sz="1000" b="1" i="0" dirty="0">
                          <a:solidFill>
                            <a:srgbClr val="FFFFFF"/>
                          </a:solidFill>
                          <a:latin typeface="Avenir Next LT Pro Demi"/>
                        </a:rPr>
                        <a:t>EBITDA </a:t>
                      </a:r>
                      <a:r>
                        <a:rPr sz="1000" b="1" i="0" dirty="0" err="1">
                          <a:solidFill>
                            <a:srgbClr val="FFFFFF"/>
                          </a:solidFill>
                          <a:latin typeface="Avenir Next LT Pro Demi"/>
                        </a:rPr>
                        <a:t>Mgn</a:t>
                      </a:r>
                      <a:endParaRPr sz="1000" b="1" i="0" dirty="0">
                        <a:solidFill>
                          <a:srgbClr val="FFFFFF"/>
                        </a:solidFill>
                        <a:latin typeface="Avenir Next LT Pro Demi"/>
                      </a:endParaRPr>
                    </a:p>
                  </a:txBody>
                  <a:tcPr marL="73152" marR="73152" marT="18288" marB="18288" anchor="ctr">
                    <a:solidFill>
                      <a:srgbClr val="9A7B44"/>
                    </a:solidFill>
                  </a:tcPr>
                </a:tc>
                <a:tc>
                  <a:txBody>
                    <a:bodyPr/>
                    <a:lstStyle/>
                    <a:p>
                      <a:pPr algn="ctr"/>
                      <a:r>
                        <a:rPr sz="1000" b="1" i="0" dirty="0">
                          <a:solidFill>
                            <a:srgbClr val="FFFFFF"/>
                          </a:solidFill>
                          <a:latin typeface="Avenir Next LT Pro Demi"/>
                        </a:rPr>
                        <a:t>Exit Mult</a:t>
                      </a:r>
                    </a:p>
                  </a:txBody>
                  <a:tcPr marL="73152" marR="73152" marT="18288" marB="18288" anchor="ctr">
                    <a:solidFill>
                      <a:srgbClr val="9A7B44"/>
                    </a:solidFill>
                  </a:tcPr>
                </a:tc>
                <a:tc>
                  <a:txBody>
                    <a:bodyPr/>
                    <a:lstStyle/>
                    <a:p>
                      <a:pPr algn="ctr"/>
                      <a:r>
                        <a:rPr sz="1000" b="1" i="0" dirty="0">
                          <a:solidFill>
                            <a:srgbClr val="FFFFFF"/>
                          </a:solidFill>
                          <a:latin typeface="Avenir Next LT Pro Demi"/>
                        </a:rPr>
                        <a:t>Implied Price</a:t>
                      </a:r>
                    </a:p>
                  </a:txBody>
                  <a:tcPr marL="73152" marR="73152" marT="18288" marB="18288" anchor="ctr">
                    <a:solidFill>
                      <a:srgbClr val="9A7B44"/>
                    </a:solidFill>
                  </a:tcPr>
                </a:tc>
                <a:tc>
                  <a:txBody>
                    <a:bodyPr/>
                    <a:lstStyle/>
                    <a:p>
                      <a:pPr algn="ctr"/>
                      <a:r>
                        <a:rPr sz="1000" b="1" i="0" dirty="0">
                          <a:solidFill>
                            <a:srgbClr val="FFFFFF"/>
                          </a:solidFill>
                          <a:latin typeface="Avenir Next LT Pro Demi"/>
                        </a:rPr>
                        <a:t>Prob.</a:t>
                      </a:r>
                    </a:p>
                  </a:txBody>
                  <a:tcPr marL="73152" marR="73152" marT="18288" marB="18288" anchor="ctr">
                    <a:solidFill>
                      <a:srgbClr val="9A7B44"/>
                    </a:solidFill>
                  </a:tcPr>
                </a:tc>
                <a:extLst>
                  <a:ext uri="{0D108BD9-81ED-4DB2-BD59-A6C34878D82A}">
                    <a16:rowId xmlns:a16="http://schemas.microsoft.com/office/drawing/2014/main" val="10000"/>
                  </a:ext>
                </a:extLst>
              </a:tr>
              <a:tr h="384048">
                <a:tc>
                  <a:txBody>
                    <a:bodyPr/>
                    <a:lstStyle/>
                    <a:p>
                      <a:pPr algn="l"/>
                      <a:r>
                        <a:rPr sz="1100" b="1" i="0" dirty="0">
                          <a:solidFill>
                            <a:schemeClr val="tx1"/>
                          </a:solidFill>
                          <a:latin typeface="Avenir Next LT Pro Demi"/>
                        </a:rPr>
                        <a:t>Bull</a:t>
                      </a:r>
                    </a:p>
                  </a:txBody>
                  <a:tcPr marL="73152" marR="73152" marT="18288" marB="18288" anchor="ctr">
                    <a:solidFill>
                      <a:srgbClr val="FFFFFF"/>
                    </a:solidFill>
                  </a:tcPr>
                </a:tc>
                <a:tc>
                  <a:txBody>
                    <a:bodyPr/>
                    <a:lstStyle/>
                    <a:p>
                      <a:pPr algn="ctr"/>
                      <a:r>
                        <a:rPr sz="1100" b="0" i="0" dirty="0">
                          <a:solidFill>
                            <a:schemeClr val="tx1"/>
                          </a:solidFill>
                          <a:latin typeface="Avenir Next LT Pro"/>
                        </a:rPr>
                        <a:t>10%</a:t>
                      </a:r>
                    </a:p>
                  </a:txBody>
                  <a:tcPr marL="73152" marR="73152" marT="18288" marB="18288" anchor="ctr">
                    <a:solidFill>
                      <a:srgbClr val="FFFFFF"/>
                    </a:solidFill>
                  </a:tcPr>
                </a:tc>
                <a:tc>
                  <a:txBody>
                    <a:bodyPr/>
                    <a:lstStyle/>
                    <a:p>
                      <a:pPr algn="ctr"/>
                      <a:r>
                        <a:rPr sz="1100" b="0" i="0">
                          <a:solidFill>
                            <a:schemeClr val="tx1"/>
                          </a:solidFill>
                          <a:latin typeface="Avenir Next LT Pro"/>
                        </a:rPr>
                        <a:t>20%</a:t>
                      </a:r>
                    </a:p>
                  </a:txBody>
                  <a:tcPr marL="73152" marR="73152" marT="18288" marB="18288" anchor="ctr">
                    <a:solidFill>
                      <a:srgbClr val="FFFFFF"/>
                    </a:solidFill>
                  </a:tcPr>
                </a:tc>
                <a:tc>
                  <a:txBody>
                    <a:bodyPr/>
                    <a:lstStyle/>
                    <a:p>
                      <a:pPr algn="ctr"/>
                      <a:r>
                        <a:rPr sz="1100" b="0" i="0">
                          <a:solidFill>
                            <a:schemeClr val="tx1"/>
                          </a:solidFill>
                          <a:latin typeface="Avenir Next LT Pro"/>
                        </a:rPr>
                        <a:t>13×</a:t>
                      </a:r>
                    </a:p>
                  </a:txBody>
                  <a:tcPr marL="73152" marR="73152" marT="18288" marB="18288" anchor="ctr">
                    <a:solidFill>
                      <a:srgbClr val="FFFFFF"/>
                    </a:solidFill>
                  </a:tcPr>
                </a:tc>
                <a:tc>
                  <a:txBody>
                    <a:bodyPr/>
                    <a:lstStyle/>
                    <a:p>
                      <a:pPr algn="ctr"/>
                      <a:r>
                        <a:rPr sz="1100" b="0" i="0">
                          <a:solidFill>
                            <a:schemeClr val="tx1"/>
                          </a:solidFill>
                          <a:latin typeface="Avenir Next LT Pro"/>
                        </a:rPr>
                        <a:t>~$562</a:t>
                      </a:r>
                    </a:p>
                  </a:txBody>
                  <a:tcPr marL="73152" marR="73152" marT="18288" marB="18288" anchor="ctr">
                    <a:solidFill>
                      <a:srgbClr val="FFFFFF"/>
                    </a:solidFill>
                  </a:tcPr>
                </a:tc>
                <a:tc>
                  <a:txBody>
                    <a:bodyPr/>
                    <a:lstStyle/>
                    <a:p>
                      <a:pPr algn="ctr"/>
                      <a:r>
                        <a:rPr sz="1100" b="0" i="0">
                          <a:solidFill>
                            <a:schemeClr val="tx1"/>
                          </a:solidFill>
                          <a:latin typeface="Avenir Next LT Pro"/>
                        </a:rPr>
                        <a:t>15%</a:t>
                      </a:r>
                    </a:p>
                  </a:txBody>
                  <a:tcPr marL="73152" marR="73152" marT="18288" marB="18288" anchor="ctr">
                    <a:solidFill>
                      <a:srgbClr val="FFFFFF"/>
                    </a:solidFill>
                  </a:tcPr>
                </a:tc>
                <a:extLst>
                  <a:ext uri="{0D108BD9-81ED-4DB2-BD59-A6C34878D82A}">
                    <a16:rowId xmlns:a16="http://schemas.microsoft.com/office/drawing/2014/main" val="10001"/>
                  </a:ext>
                </a:extLst>
              </a:tr>
              <a:tr h="384048">
                <a:tc>
                  <a:txBody>
                    <a:bodyPr/>
                    <a:lstStyle/>
                    <a:p>
                      <a:pPr algn="l"/>
                      <a:r>
                        <a:rPr sz="1100" b="1" i="0">
                          <a:solidFill>
                            <a:schemeClr val="tx1"/>
                          </a:solidFill>
                          <a:latin typeface="Avenir Next LT Pro Demi"/>
                        </a:rPr>
                        <a:t>Base</a:t>
                      </a:r>
                    </a:p>
                  </a:txBody>
                  <a:tcPr marL="73152" marR="73152" marT="18288" marB="18288" anchor="ctr">
                    <a:solidFill>
                      <a:srgbClr val="F4F6F8"/>
                    </a:solidFill>
                  </a:tcPr>
                </a:tc>
                <a:tc>
                  <a:txBody>
                    <a:bodyPr/>
                    <a:lstStyle/>
                    <a:p>
                      <a:pPr algn="ctr"/>
                      <a:r>
                        <a:rPr sz="1100" b="0" i="0" dirty="0">
                          <a:solidFill>
                            <a:schemeClr val="tx1"/>
                          </a:solidFill>
                          <a:latin typeface="Avenir Next LT Pro"/>
                        </a:rPr>
                        <a:t>6%</a:t>
                      </a:r>
                    </a:p>
                  </a:txBody>
                  <a:tcPr marL="73152" marR="73152" marT="18288" marB="18288" anchor="ctr">
                    <a:solidFill>
                      <a:srgbClr val="F4F6F8"/>
                    </a:solidFill>
                  </a:tcPr>
                </a:tc>
                <a:tc>
                  <a:txBody>
                    <a:bodyPr/>
                    <a:lstStyle/>
                    <a:p>
                      <a:pPr algn="ctr"/>
                      <a:r>
                        <a:rPr sz="1100" b="0" i="0" dirty="0">
                          <a:solidFill>
                            <a:schemeClr val="tx1"/>
                          </a:solidFill>
                          <a:latin typeface="Avenir Next LT Pro"/>
                        </a:rPr>
                        <a:t>17%</a:t>
                      </a:r>
                    </a:p>
                  </a:txBody>
                  <a:tcPr marL="73152" marR="73152" marT="18288" marB="18288" anchor="ctr">
                    <a:solidFill>
                      <a:srgbClr val="F4F6F8"/>
                    </a:solidFill>
                  </a:tcPr>
                </a:tc>
                <a:tc>
                  <a:txBody>
                    <a:bodyPr/>
                    <a:lstStyle/>
                    <a:p>
                      <a:pPr algn="ctr"/>
                      <a:r>
                        <a:rPr sz="1100" b="0" i="0" dirty="0">
                          <a:solidFill>
                            <a:schemeClr val="tx1"/>
                          </a:solidFill>
                          <a:latin typeface="Avenir Next LT Pro"/>
                        </a:rPr>
                        <a:t>11×</a:t>
                      </a:r>
                    </a:p>
                  </a:txBody>
                  <a:tcPr marL="73152" marR="73152" marT="18288" marB="18288" anchor="ctr">
                    <a:solidFill>
                      <a:srgbClr val="F4F6F8"/>
                    </a:solidFill>
                  </a:tcPr>
                </a:tc>
                <a:tc>
                  <a:txBody>
                    <a:bodyPr/>
                    <a:lstStyle/>
                    <a:p>
                      <a:pPr algn="ctr"/>
                      <a:r>
                        <a:rPr sz="1100" b="0" i="0" dirty="0">
                          <a:solidFill>
                            <a:schemeClr val="tx1"/>
                          </a:solidFill>
                          <a:latin typeface="Avenir Next LT Pro"/>
                        </a:rPr>
                        <a:t>~$310</a:t>
                      </a:r>
                    </a:p>
                  </a:txBody>
                  <a:tcPr marL="73152" marR="73152" marT="18288" marB="18288" anchor="ctr">
                    <a:solidFill>
                      <a:srgbClr val="F4F6F8"/>
                    </a:solidFill>
                  </a:tcPr>
                </a:tc>
                <a:tc>
                  <a:txBody>
                    <a:bodyPr/>
                    <a:lstStyle/>
                    <a:p>
                      <a:pPr algn="ctr"/>
                      <a:r>
                        <a:rPr sz="1100" b="0" i="0">
                          <a:solidFill>
                            <a:schemeClr val="tx1"/>
                          </a:solidFill>
                          <a:latin typeface="Avenir Next LT Pro"/>
                        </a:rPr>
                        <a:t>55%</a:t>
                      </a:r>
                    </a:p>
                  </a:txBody>
                  <a:tcPr marL="73152" marR="73152" marT="18288" marB="18288" anchor="ctr">
                    <a:solidFill>
                      <a:srgbClr val="F4F6F8"/>
                    </a:solidFill>
                  </a:tcPr>
                </a:tc>
                <a:extLst>
                  <a:ext uri="{0D108BD9-81ED-4DB2-BD59-A6C34878D82A}">
                    <a16:rowId xmlns:a16="http://schemas.microsoft.com/office/drawing/2014/main" val="10002"/>
                  </a:ext>
                </a:extLst>
              </a:tr>
              <a:tr h="384048">
                <a:tc>
                  <a:txBody>
                    <a:bodyPr/>
                    <a:lstStyle/>
                    <a:p>
                      <a:pPr algn="l"/>
                      <a:r>
                        <a:rPr sz="1100" b="1" i="0">
                          <a:solidFill>
                            <a:schemeClr val="tx1"/>
                          </a:solidFill>
                          <a:latin typeface="Avenir Next LT Pro Demi"/>
                        </a:rPr>
                        <a:t>Bear</a:t>
                      </a:r>
                    </a:p>
                  </a:txBody>
                  <a:tcPr marL="73152" marR="73152" marT="18288" marB="18288" anchor="ctr">
                    <a:solidFill>
                      <a:srgbClr val="FFFFFF"/>
                    </a:solidFill>
                  </a:tcPr>
                </a:tc>
                <a:tc>
                  <a:txBody>
                    <a:bodyPr/>
                    <a:lstStyle/>
                    <a:p>
                      <a:pPr algn="ctr"/>
                      <a:r>
                        <a:rPr sz="1100" b="0" i="0">
                          <a:solidFill>
                            <a:schemeClr val="tx1"/>
                          </a:solidFill>
                          <a:latin typeface="Avenir Next LT Pro"/>
                        </a:rPr>
                        <a:t>2%</a:t>
                      </a:r>
                    </a:p>
                  </a:txBody>
                  <a:tcPr marL="73152" marR="73152" marT="18288" marB="18288" anchor="ctr">
                    <a:solidFill>
                      <a:srgbClr val="FFFFFF"/>
                    </a:solidFill>
                  </a:tcPr>
                </a:tc>
                <a:tc>
                  <a:txBody>
                    <a:bodyPr/>
                    <a:lstStyle/>
                    <a:p>
                      <a:pPr algn="ctr"/>
                      <a:r>
                        <a:rPr sz="1100" b="0" i="0">
                          <a:solidFill>
                            <a:schemeClr val="tx1"/>
                          </a:solidFill>
                          <a:latin typeface="Avenir Next LT Pro"/>
                        </a:rPr>
                        <a:t>14%</a:t>
                      </a:r>
                    </a:p>
                  </a:txBody>
                  <a:tcPr marL="73152" marR="73152" marT="18288" marB="18288" anchor="ctr">
                    <a:solidFill>
                      <a:srgbClr val="FFFFFF"/>
                    </a:solidFill>
                  </a:tcPr>
                </a:tc>
                <a:tc>
                  <a:txBody>
                    <a:bodyPr/>
                    <a:lstStyle/>
                    <a:p>
                      <a:pPr algn="ctr"/>
                      <a:r>
                        <a:rPr sz="1100" b="0" i="0">
                          <a:solidFill>
                            <a:schemeClr val="tx1"/>
                          </a:solidFill>
                          <a:latin typeface="Avenir Next LT Pro"/>
                        </a:rPr>
                        <a:t>8×</a:t>
                      </a:r>
                    </a:p>
                  </a:txBody>
                  <a:tcPr marL="73152" marR="73152" marT="18288" marB="18288" anchor="ctr">
                    <a:solidFill>
                      <a:srgbClr val="FFFFFF"/>
                    </a:solidFill>
                  </a:tcPr>
                </a:tc>
                <a:tc>
                  <a:txBody>
                    <a:bodyPr/>
                    <a:lstStyle/>
                    <a:p>
                      <a:pPr algn="ctr"/>
                      <a:r>
                        <a:rPr sz="1100" b="0" i="0">
                          <a:solidFill>
                            <a:schemeClr val="tx1"/>
                          </a:solidFill>
                          <a:latin typeface="Avenir Next LT Pro"/>
                        </a:rPr>
                        <a:t>~$100</a:t>
                      </a:r>
                    </a:p>
                  </a:txBody>
                  <a:tcPr marL="73152" marR="73152" marT="18288" marB="18288" anchor="ctr">
                    <a:solidFill>
                      <a:srgbClr val="FFFFFF"/>
                    </a:solidFill>
                  </a:tcPr>
                </a:tc>
                <a:tc>
                  <a:txBody>
                    <a:bodyPr/>
                    <a:lstStyle/>
                    <a:p>
                      <a:pPr algn="ctr"/>
                      <a:r>
                        <a:rPr sz="1100" b="0" i="0" dirty="0">
                          <a:solidFill>
                            <a:schemeClr val="tx1"/>
                          </a:solidFill>
                          <a:latin typeface="Avenir Next LT Pro"/>
                        </a:rPr>
                        <a:t>30%</a:t>
                      </a:r>
                    </a:p>
                  </a:txBody>
                  <a:tcPr marL="73152" marR="73152" marT="18288" marB="18288" anchor="ctr">
                    <a:solidFill>
                      <a:srgbClr val="FFFFFF"/>
                    </a:solidFill>
                  </a:tcPr>
                </a:tc>
                <a:extLst>
                  <a:ext uri="{0D108BD9-81ED-4DB2-BD59-A6C34878D82A}">
                    <a16:rowId xmlns:a16="http://schemas.microsoft.com/office/drawing/2014/main" val="10003"/>
                  </a:ext>
                </a:extLst>
              </a:tr>
            </a:tbl>
          </a:graphicData>
        </a:graphic>
      </p:graphicFrame>
      <p:sp>
        <p:nvSpPr>
          <p:cNvPr id="12" name="TextBox 11"/>
          <p:cNvSpPr txBox="1"/>
          <p:nvPr/>
        </p:nvSpPr>
        <p:spPr>
          <a:xfrm>
            <a:off x="457200" y="4572000"/>
            <a:ext cx="8229600" cy="365760"/>
          </a:xfrm>
          <a:prstGeom prst="rect">
            <a:avLst/>
          </a:prstGeom>
          <a:noFill/>
          <a:ln>
            <a:noFill/>
          </a:ln>
        </p:spPr>
        <p:txBody>
          <a:bodyPr wrap="none">
            <a:spAutoFit/>
          </a:bodyPr>
          <a:lstStyle/>
          <a:p>
            <a:r>
              <a:rPr sz="1300" b="1" i="0">
                <a:solidFill>
                  <a:srgbClr val="000000"/>
                </a:solidFill>
                <a:latin typeface="Avenir Next LT Pro Demi"/>
              </a:rPr>
              <a:t>Probability-weighted target: ~$285   (~72% upside from ~$166)</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40880E-3485-E4DD-E794-98A7729742E7}"/>
              </a:ext>
            </a:extLst>
          </p:cNvPr>
          <p:cNvSpPr>
            <a:spLocks noGrp="1"/>
          </p:cNvSpPr>
          <p:nvPr>
            <p:ph type="title"/>
          </p:nvPr>
        </p:nvSpPr>
        <p:spPr>
          <a:ln>
            <a:solidFill/>
          </a:ln>
        </p:spPr>
        <p:txBody>
          <a:bodyPr/>
          <a:lstStyle/>
          <a:p>
            <a:r>
              <a:rPr lang="en-US">
                <a:solidFill/>
              </a:rPr>
              <a:t>Competitive landscape</a:t>
            </a:r>
          </a:p>
        </p:txBody>
      </p:sp>
    </p:spTree>
    <p:extLst>
      <p:ext uri="{BB962C8B-B14F-4D97-AF65-F5344CB8AC3E}">
        <p14:creationId xmlns:p14="http://schemas.microsoft.com/office/powerpoint/2010/main" val="18295291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84048"/>
            <a:ext cx="8229600" cy="446276"/>
          </a:xfrm>
          <a:prstGeom prst="rect">
            <a:avLst/>
          </a:prstGeom>
          <a:noFill/>
          <a:ln>
            <a:noFill/>
          </a:ln>
        </p:spPr>
        <p:txBody>
          <a:bodyPr wrap="square">
            <a:spAutoFit/>
          </a:bodyPr>
          <a:lstStyle/>
          <a:p>
            <a:r>
              <a:rPr sz="2300" b="0" i="0" dirty="0">
                <a:solidFill/>
                <a:latin typeface="Avenir Next LT Pro Demi"/>
              </a:rPr>
              <a:t>Competitive Landscape</a:t>
            </a:r>
          </a:p>
        </p:txBody>
      </p:sp>
      <p:sp>
        <p:nvSpPr>
          <p:cNvPr id="5" name="TextBox 4"/>
          <p:cNvSpPr txBox="1"/>
          <p:nvPr/>
        </p:nvSpPr>
        <p:spPr>
          <a:xfrm>
            <a:off x="457200" y="1051560"/>
            <a:ext cx="8229600" cy="274320"/>
          </a:xfrm>
          <a:prstGeom prst="rect">
            <a:avLst/>
          </a:prstGeom>
          <a:noFill/>
          <a:ln>
            <a:noFill/>
          </a:ln>
        </p:spPr>
        <p:txBody>
          <a:bodyPr wrap="none">
            <a:spAutoFit/>
          </a:bodyPr>
          <a:lstStyle/>
          <a:p>
            <a:r>
              <a:rPr sz="900" b="0" i="1">
                <a:solidFill>
                  <a:srgbClr val="B0B0B0"/>
                </a:solidFill>
                <a:latin typeface="Avenir Next LT Pro"/>
              </a:rPr>
              <a:t>[ narrative / commentary to be written ]</a:t>
            </a:r>
          </a:p>
        </p:txBody>
      </p:sp>
      <p:graphicFrame>
        <p:nvGraphicFramePr>
          <p:cNvPr id="6" name="Table 5"/>
          <p:cNvGraphicFramePr>
            <a:graphicFrameLocks noGrp="1"/>
          </p:cNvGraphicFramePr>
          <p:nvPr>
            <p:extLst>
              <p:ext uri="{D42A27DB-BD31-4B8C-83A1-F6EECF244321}">
                <p14:modId xmlns:p14="http://schemas.microsoft.com/office/powerpoint/2010/main" val="3484064200"/>
              </p:ext>
            </p:extLst>
          </p:nvPr>
        </p:nvGraphicFramePr>
        <p:xfrm>
          <a:off x="457200" y="1547854"/>
          <a:ext cx="8229599" cy="2103120"/>
        </p:xfrm>
        <a:graphic>
          <a:graphicData uri="http://schemas.openxmlformats.org/drawingml/2006/table">
            <a:tbl>
              <a:tblPr>
                <a:tableStyleId>{5C22544A-7EE6-4342-B048-85BDC9FD1C3A}</a:tableStyleId>
              </a:tblPr>
              <a:tblGrid>
                <a:gridCol w="952901">
                  <a:extLst>
                    <a:ext uri="{9D8B030D-6E8A-4147-A177-3AD203B41FA5}">
                      <a16:colId xmlns:a16="http://schemas.microsoft.com/office/drawing/2014/main" val="20000"/>
                    </a:ext>
                  </a:extLst>
                </a:gridCol>
                <a:gridCol w="2165684">
                  <a:extLst>
                    <a:ext uri="{9D8B030D-6E8A-4147-A177-3AD203B41FA5}">
                      <a16:colId xmlns:a16="http://schemas.microsoft.com/office/drawing/2014/main" val="20001"/>
                    </a:ext>
                  </a:extLst>
                </a:gridCol>
                <a:gridCol w="1386038">
                  <a:extLst>
                    <a:ext uri="{9D8B030D-6E8A-4147-A177-3AD203B41FA5}">
                      <a16:colId xmlns:a16="http://schemas.microsoft.com/office/drawing/2014/main" val="20002"/>
                    </a:ext>
                  </a:extLst>
                </a:gridCol>
                <a:gridCol w="1169469">
                  <a:extLst>
                    <a:ext uri="{9D8B030D-6E8A-4147-A177-3AD203B41FA5}">
                      <a16:colId xmlns:a16="http://schemas.microsoft.com/office/drawing/2014/main" val="20003"/>
                    </a:ext>
                  </a:extLst>
                </a:gridCol>
                <a:gridCol w="1169469">
                  <a:extLst>
                    <a:ext uri="{9D8B030D-6E8A-4147-A177-3AD203B41FA5}">
                      <a16:colId xmlns:a16="http://schemas.microsoft.com/office/drawing/2014/main" val="20004"/>
                    </a:ext>
                  </a:extLst>
                </a:gridCol>
                <a:gridCol w="1386038">
                  <a:extLst>
                    <a:ext uri="{9D8B030D-6E8A-4147-A177-3AD203B41FA5}">
                      <a16:colId xmlns:a16="http://schemas.microsoft.com/office/drawing/2014/main" val="20005"/>
                    </a:ext>
                  </a:extLst>
                </a:gridCol>
              </a:tblGrid>
              <a:tr h="420624">
                <a:tc>
                  <a:txBody>
                    <a:bodyPr/>
                    <a:lstStyle/>
                    <a:p>
                      <a:pPr algn="l"/>
                      <a:r>
                        <a:rPr sz="950" b="1" i="0" dirty="0">
                          <a:solidFill>
                            <a:srgbClr val="FFFFFF"/>
                          </a:solidFill>
                          <a:latin typeface="Avenir Next LT Pro Demi"/>
                        </a:rPr>
                        <a:t>Ticker</a:t>
                      </a:r>
                    </a:p>
                  </a:txBody>
                  <a:tcPr marL="73152" marR="73152" marT="18288" marB="18288" anchor="ctr">
                    <a:solidFill>
                      <a:srgbClr val="9A7B44"/>
                    </a:solidFill>
                  </a:tcPr>
                </a:tc>
                <a:tc>
                  <a:txBody>
                    <a:bodyPr/>
                    <a:lstStyle/>
                    <a:p>
                      <a:pPr algn="ctr"/>
                      <a:r>
                        <a:rPr sz="950" b="1" i="0" dirty="0">
                          <a:solidFill>
                            <a:srgbClr val="FFFFFF"/>
                          </a:solidFill>
                          <a:latin typeface="Avenir Next LT Pro Demi"/>
                        </a:rPr>
                        <a:t>Company</a:t>
                      </a:r>
                    </a:p>
                  </a:txBody>
                  <a:tcPr marL="73152" marR="73152" marT="18288" marB="18288" anchor="ctr">
                    <a:solidFill>
                      <a:srgbClr val="9A7B44"/>
                    </a:solidFill>
                  </a:tcPr>
                </a:tc>
                <a:tc>
                  <a:txBody>
                    <a:bodyPr/>
                    <a:lstStyle/>
                    <a:p>
                      <a:pPr algn="ctr"/>
                      <a:r>
                        <a:rPr sz="950" b="1" i="0" dirty="0">
                          <a:solidFill>
                            <a:srgbClr val="FFFFFF"/>
                          </a:solidFill>
                          <a:latin typeface="Avenir Next LT Pro Demi"/>
                        </a:rPr>
                        <a:t>Rev CAGR (3y)</a:t>
                      </a:r>
                    </a:p>
                  </a:txBody>
                  <a:tcPr marL="73152" marR="73152" marT="18288" marB="18288" anchor="ctr">
                    <a:solidFill>
                      <a:srgbClr val="9A7B44"/>
                    </a:solidFill>
                  </a:tcPr>
                </a:tc>
                <a:tc>
                  <a:txBody>
                    <a:bodyPr/>
                    <a:lstStyle/>
                    <a:p>
                      <a:pPr algn="ctr"/>
                      <a:r>
                        <a:rPr sz="950" b="1" i="0" dirty="0">
                          <a:solidFill>
                            <a:srgbClr val="FFFFFF"/>
                          </a:solidFill>
                          <a:latin typeface="Avenir Next LT Pro Demi"/>
                        </a:rPr>
                        <a:t>EBITDA </a:t>
                      </a:r>
                      <a:r>
                        <a:rPr sz="950" b="1" i="0" dirty="0" err="1">
                          <a:solidFill>
                            <a:srgbClr val="FFFFFF"/>
                          </a:solidFill>
                          <a:latin typeface="Avenir Next LT Pro Demi"/>
                        </a:rPr>
                        <a:t>Mgn</a:t>
                      </a:r>
                      <a:endParaRPr sz="950" b="1" i="0" dirty="0">
                        <a:solidFill>
                          <a:srgbClr val="FFFFFF"/>
                        </a:solidFill>
                        <a:latin typeface="Avenir Next LT Pro Demi"/>
                      </a:endParaRPr>
                    </a:p>
                  </a:txBody>
                  <a:tcPr marL="73152" marR="73152" marT="18288" marB="18288" anchor="ctr">
                    <a:solidFill>
                      <a:srgbClr val="9A7B44"/>
                    </a:solidFill>
                  </a:tcPr>
                </a:tc>
                <a:tc>
                  <a:txBody>
                    <a:bodyPr/>
                    <a:lstStyle/>
                    <a:p>
                      <a:pPr algn="ctr"/>
                      <a:r>
                        <a:rPr sz="950" b="1" i="0" dirty="0">
                          <a:solidFill>
                            <a:srgbClr val="FFFFFF"/>
                          </a:solidFill>
                          <a:latin typeface="Avenir Next LT Pro Demi"/>
                        </a:rPr>
                        <a:t>EV/EBITDA</a:t>
                      </a:r>
                    </a:p>
                  </a:txBody>
                  <a:tcPr marL="73152" marR="73152" marT="18288" marB="18288" anchor="ctr">
                    <a:solidFill>
                      <a:srgbClr val="9A7B44"/>
                    </a:solidFill>
                  </a:tcPr>
                </a:tc>
                <a:tc>
                  <a:txBody>
                    <a:bodyPr/>
                    <a:lstStyle/>
                    <a:p>
                      <a:pPr algn="ctr"/>
                      <a:r>
                        <a:rPr sz="950" b="1" i="0" dirty="0">
                          <a:solidFill>
                            <a:srgbClr val="FFFFFF"/>
                          </a:solidFill>
                          <a:latin typeface="Avenir Next LT Pro Demi"/>
                        </a:rPr>
                        <a:t>Status</a:t>
                      </a:r>
                    </a:p>
                  </a:txBody>
                  <a:tcPr marL="73152" marR="73152" marT="18288" marB="18288" anchor="ctr">
                    <a:solidFill>
                      <a:srgbClr val="9A7B44"/>
                    </a:solidFill>
                  </a:tcPr>
                </a:tc>
                <a:extLst>
                  <a:ext uri="{0D108BD9-81ED-4DB2-BD59-A6C34878D82A}">
                    <a16:rowId xmlns:a16="http://schemas.microsoft.com/office/drawing/2014/main" val="10000"/>
                  </a:ext>
                </a:extLst>
              </a:tr>
              <a:tr h="420624">
                <a:tc>
                  <a:txBody>
                    <a:bodyPr/>
                    <a:lstStyle/>
                    <a:p>
                      <a:pPr algn="l"/>
                      <a:r>
                        <a:rPr sz="1050" b="1" i="0" dirty="0">
                          <a:solidFill>
                            <a:schemeClr val="tx1"/>
                          </a:solidFill>
                          <a:latin typeface="Avenir Next LT Pro Demi"/>
                        </a:rPr>
                        <a:t>ARHS</a:t>
                      </a:r>
                    </a:p>
                  </a:txBody>
                  <a:tcPr marL="73152" marR="73152" marT="18288" marB="18288" anchor="ctr">
                    <a:solidFill>
                      <a:srgbClr val="FFFFFF"/>
                    </a:solidFill>
                  </a:tcPr>
                </a:tc>
                <a:tc>
                  <a:txBody>
                    <a:bodyPr/>
                    <a:lstStyle/>
                    <a:p>
                      <a:pPr algn="ctr"/>
                      <a:r>
                        <a:rPr sz="1050" b="0" i="0" dirty="0">
                          <a:solidFill>
                            <a:schemeClr val="tx1"/>
                          </a:solidFill>
                          <a:latin typeface="Avenir Next LT Pro"/>
                        </a:rPr>
                        <a:t>Arhaus</a:t>
                      </a:r>
                    </a:p>
                  </a:txBody>
                  <a:tcPr marL="73152" marR="73152" marT="18288" marB="18288" anchor="ctr">
                    <a:solidFill>
                      <a:srgbClr val="FFFFFF"/>
                    </a:solidFill>
                  </a:tcPr>
                </a:tc>
                <a:tc>
                  <a:txBody>
                    <a:bodyPr/>
                    <a:lstStyle/>
                    <a:p>
                      <a:pPr algn="ctr"/>
                      <a:r>
                        <a:rPr sz="1050" b="0" i="0">
                          <a:solidFill>
                            <a:schemeClr val="tx1"/>
                          </a:solidFill>
                          <a:latin typeface="Avenir Next LT Pro"/>
                        </a:rPr>
                        <a:t>+11.4%</a:t>
                      </a:r>
                    </a:p>
                  </a:txBody>
                  <a:tcPr marL="73152" marR="73152" marT="18288" marB="18288" anchor="ctr">
                    <a:solidFill>
                      <a:srgbClr val="FFFFFF"/>
                    </a:solidFill>
                  </a:tcPr>
                </a:tc>
                <a:tc>
                  <a:txBody>
                    <a:bodyPr/>
                    <a:lstStyle/>
                    <a:p>
                      <a:pPr algn="ctr"/>
                      <a:r>
                        <a:rPr sz="1050" b="0" i="0">
                          <a:solidFill>
                            <a:schemeClr val="tx1"/>
                          </a:solidFill>
                          <a:latin typeface="Avenir Next LT Pro"/>
                        </a:rPr>
                        <a:t>~14%</a:t>
                      </a:r>
                    </a:p>
                  </a:txBody>
                  <a:tcPr marL="73152" marR="73152" marT="18288" marB="18288" anchor="ctr">
                    <a:solidFill>
                      <a:srgbClr val="FFFFFF"/>
                    </a:solidFill>
                  </a:tcPr>
                </a:tc>
                <a:tc>
                  <a:txBody>
                    <a:bodyPr/>
                    <a:lstStyle/>
                    <a:p>
                      <a:pPr algn="ctr"/>
                      <a:r>
                        <a:rPr sz="1050" b="0" i="0">
                          <a:solidFill>
                            <a:schemeClr val="tx1"/>
                          </a:solidFill>
                          <a:latin typeface="Avenir Next LT Pro"/>
                        </a:rPr>
                        <a:t>~11×</a:t>
                      </a:r>
                    </a:p>
                  </a:txBody>
                  <a:tcPr marL="73152" marR="73152" marT="18288" marB="18288" anchor="ctr">
                    <a:solidFill>
                      <a:srgbClr val="FFFFFF"/>
                    </a:solidFill>
                  </a:tcPr>
                </a:tc>
                <a:tc>
                  <a:txBody>
                    <a:bodyPr/>
                    <a:lstStyle/>
                    <a:p>
                      <a:pPr algn="ctr"/>
                      <a:r>
                        <a:rPr sz="1050" b="0" i="0">
                          <a:solidFill>
                            <a:schemeClr val="tx1"/>
                          </a:solidFill>
                          <a:latin typeface="Avenir Next LT Pro"/>
                        </a:rPr>
                        <a:t>Outperforming</a:t>
                      </a:r>
                    </a:p>
                  </a:txBody>
                  <a:tcPr marL="73152" marR="73152" marT="18288" marB="18288" anchor="ctr">
                    <a:solidFill>
                      <a:srgbClr val="FFFFFF"/>
                    </a:solidFill>
                  </a:tcPr>
                </a:tc>
                <a:extLst>
                  <a:ext uri="{0D108BD9-81ED-4DB2-BD59-A6C34878D82A}">
                    <a16:rowId xmlns:a16="http://schemas.microsoft.com/office/drawing/2014/main" val="10001"/>
                  </a:ext>
                </a:extLst>
              </a:tr>
              <a:tr h="420624">
                <a:tc>
                  <a:txBody>
                    <a:bodyPr/>
                    <a:lstStyle/>
                    <a:p>
                      <a:pPr algn="l"/>
                      <a:r>
                        <a:rPr sz="1050" b="1" i="0">
                          <a:solidFill>
                            <a:schemeClr val="tx1"/>
                          </a:solidFill>
                          <a:latin typeface="Avenir Next LT Pro Demi"/>
                        </a:rPr>
                        <a:t>WSM</a:t>
                      </a:r>
                    </a:p>
                  </a:txBody>
                  <a:tcPr marL="73152" marR="73152" marT="18288" marB="18288" anchor="ctr">
                    <a:solidFill>
                      <a:srgbClr val="F4F6F8"/>
                    </a:solidFill>
                  </a:tcPr>
                </a:tc>
                <a:tc>
                  <a:txBody>
                    <a:bodyPr/>
                    <a:lstStyle/>
                    <a:p>
                      <a:pPr algn="ctr"/>
                      <a:r>
                        <a:rPr sz="1050" b="0" i="0" dirty="0">
                          <a:solidFill>
                            <a:schemeClr val="tx1"/>
                          </a:solidFill>
                          <a:latin typeface="Avenir Next LT Pro"/>
                        </a:rPr>
                        <a:t>Williams-Sonoma</a:t>
                      </a:r>
                    </a:p>
                  </a:txBody>
                  <a:tcPr marL="73152" marR="73152" marT="18288" marB="18288" anchor="ctr">
                    <a:solidFill>
                      <a:srgbClr val="F4F6F8"/>
                    </a:solidFill>
                  </a:tcPr>
                </a:tc>
                <a:tc>
                  <a:txBody>
                    <a:bodyPr/>
                    <a:lstStyle/>
                    <a:p>
                      <a:pPr algn="ctr"/>
                      <a:r>
                        <a:rPr sz="1050" b="0" i="0" dirty="0">
                          <a:solidFill>
                            <a:schemeClr val="tx1"/>
                          </a:solidFill>
                          <a:latin typeface="Avenir Next LT Pro"/>
                        </a:rPr>
                        <a:t>+7.2%</a:t>
                      </a:r>
                    </a:p>
                  </a:txBody>
                  <a:tcPr marL="73152" marR="73152" marT="18288" marB="18288" anchor="ctr">
                    <a:solidFill>
                      <a:srgbClr val="F4F6F8"/>
                    </a:solidFill>
                  </a:tcPr>
                </a:tc>
                <a:tc>
                  <a:txBody>
                    <a:bodyPr/>
                    <a:lstStyle/>
                    <a:p>
                      <a:pPr algn="ctr"/>
                      <a:r>
                        <a:rPr sz="1050" b="0" i="0">
                          <a:solidFill>
                            <a:schemeClr val="tx1"/>
                          </a:solidFill>
                          <a:latin typeface="Avenir Next LT Pro"/>
                        </a:rPr>
                        <a:t>~18%</a:t>
                      </a:r>
                    </a:p>
                  </a:txBody>
                  <a:tcPr marL="73152" marR="73152" marT="18288" marB="18288" anchor="ctr">
                    <a:solidFill>
                      <a:srgbClr val="F4F6F8"/>
                    </a:solidFill>
                  </a:tcPr>
                </a:tc>
                <a:tc>
                  <a:txBody>
                    <a:bodyPr/>
                    <a:lstStyle/>
                    <a:p>
                      <a:pPr algn="ctr"/>
                      <a:r>
                        <a:rPr sz="1050" b="0" i="0">
                          <a:solidFill>
                            <a:schemeClr val="tx1"/>
                          </a:solidFill>
                          <a:latin typeface="Avenir Next LT Pro"/>
                        </a:rPr>
                        <a:t>~15×</a:t>
                      </a:r>
                    </a:p>
                  </a:txBody>
                  <a:tcPr marL="73152" marR="73152" marT="18288" marB="18288" anchor="ctr">
                    <a:solidFill>
                      <a:srgbClr val="F4F6F8"/>
                    </a:solidFill>
                  </a:tcPr>
                </a:tc>
                <a:tc>
                  <a:txBody>
                    <a:bodyPr/>
                    <a:lstStyle/>
                    <a:p>
                      <a:pPr algn="ctr"/>
                      <a:r>
                        <a:rPr sz="1050" b="0" i="0">
                          <a:solidFill>
                            <a:schemeClr val="tx1"/>
                          </a:solidFill>
                          <a:latin typeface="Avenir Next LT Pro"/>
                        </a:rPr>
                        <a:t>Outperforming</a:t>
                      </a:r>
                    </a:p>
                  </a:txBody>
                  <a:tcPr marL="73152" marR="73152" marT="18288" marB="18288" anchor="ctr">
                    <a:solidFill>
                      <a:srgbClr val="F4F6F8"/>
                    </a:solidFill>
                  </a:tcPr>
                </a:tc>
                <a:extLst>
                  <a:ext uri="{0D108BD9-81ED-4DB2-BD59-A6C34878D82A}">
                    <a16:rowId xmlns:a16="http://schemas.microsoft.com/office/drawing/2014/main" val="10002"/>
                  </a:ext>
                </a:extLst>
              </a:tr>
              <a:tr h="420624">
                <a:tc>
                  <a:txBody>
                    <a:bodyPr/>
                    <a:lstStyle/>
                    <a:p>
                      <a:pPr algn="l"/>
                      <a:r>
                        <a:rPr sz="1050" b="1" i="0">
                          <a:solidFill>
                            <a:schemeClr val="tx1"/>
                          </a:solidFill>
                          <a:latin typeface="Avenir Next LT Pro Demi"/>
                        </a:rPr>
                        <a:t>RH</a:t>
                      </a:r>
                    </a:p>
                  </a:txBody>
                  <a:tcPr marL="73152" marR="73152" marT="18288" marB="18288" anchor="ctr">
                    <a:solidFill>
                      <a:srgbClr val="FFFFFF"/>
                    </a:solidFill>
                  </a:tcPr>
                </a:tc>
                <a:tc>
                  <a:txBody>
                    <a:bodyPr/>
                    <a:lstStyle/>
                    <a:p>
                      <a:pPr algn="ctr"/>
                      <a:r>
                        <a:rPr sz="1050" b="0" i="0">
                          <a:solidFill>
                            <a:schemeClr val="tx1"/>
                          </a:solidFill>
                          <a:latin typeface="Avenir Next LT Pro"/>
                        </a:rPr>
                        <a:t>Restoration Hardware</a:t>
                      </a:r>
                    </a:p>
                  </a:txBody>
                  <a:tcPr marL="73152" marR="73152" marT="18288" marB="18288" anchor="ctr">
                    <a:solidFill>
                      <a:srgbClr val="FFFFFF"/>
                    </a:solidFill>
                  </a:tcPr>
                </a:tc>
                <a:tc>
                  <a:txBody>
                    <a:bodyPr/>
                    <a:lstStyle/>
                    <a:p>
                      <a:pPr algn="ctr"/>
                      <a:r>
                        <a:rPr sz="1050" b="0" i="0" dirty="0">
                          <a:solidFill>
                            <a:schemeClr val="tx1"/>
                          </a:solidFill>
                          <a:latin typeface="Avenir Next LT Pro"/>
                        </a:rPr>
                        <a:t>-1.4%</a:t>
                      </a:r>
                    </a:p>
                  </a:txBody>
                  <a:tcPr marL="73152" marR="73152" marT="18288" marB="18288" anchor="ctr">
                    <a:solidFill>
                      <a:srgbClr val="FFFFFF"/>
                    </a:solidFill>
                  </a:tcPr>
                </a:tc>
                <a:tc>
                  <a:txBody>
                    <a:bodyPr/>
                    <a:lstStyle/>
                    <a:p>
                      <a:pPr algn="ctr"/>
                      <a:r>
                        <a:rPr sz="1050" b="0" i="0" dirty="0">
                          <a:solidFill>
                            <a:schemeClr val="tx1"/>
                          </a:solidFill>
                          <a:latin typeface="Avenir Next LT Pro"/>
                        </a:rPr>
                        <a:t>~17%</a:t>
                      </a:r>
                    </a:p>
                  </a:txBody>
                  <a:tcPr marL="73152" marR="73152" marT="18288" marB="18288" anchor="ctr">
                    <a:solidFill>
                      <a:srgbClr val="FFFFFF"/>
                    </a:solidFill>
                  </a:tcPr>
                </a:tc>
                <a:tc>
                  <a:txBody>
                    <a:bodyPr/>
                    <a:lstStyle/>
                    <a:p>
                      <a:pPr algn="ctr"/>
                      <a:r>
                        <a:rPr sz="1050" b="0" i="0">
                          <a:solidFill>
                            <a:schemeClr val="tx1"/>
                          </a:solidFill>
                          <a:latin typeface="Avenir Next LT Pro"/>
                        </a:rPr>
                        <a:t>~9.3×</a:t>
                      </a:r>
                    </a:p>
                  </a:txBody>
                  <a:tcPr marL="73152" marR="73152" marT="18288" marB="18288" anchor="ctr">
                    <a:solidFill>
                      <a:srgbClr val="FFFFFF"/>
                    </a:solidFill>
                  </a:tcPr>
                </a:tc>
                <a:tc>
                  <a:txBody>
                    <a:bodyPr/>
                    <a:lstStyle/>
                    <a:p>
                      <a:pPr algn="ctr"/>
                      <a:r>
                        <a:rPr sz="1050" b="0" i="0">
                          <a:solidFill>
                            <a:schemeClr val="tx1"/>
                          </a:solidFill>
                          <a:latin typeface="Avenir Next LT Pro"/>
                        </a:rPr>
                        <a:t>At Trough</a:t>
                      </a:r>
                    </a:p>
                  </a:txBody>
                  <a:tcPr marL="73152" marR="73152" marT="18288" marB="18288" anchor="ctr">
                    <a:solidFill>
                      <a:srgbClr val="FFFFFF"/>
                    </a:solidFill>
                  </a:tcPr>
                </a:tc>
                <a:extLst>
                  <a:ext uri="{0D108BD9-81ED-4DB2-BD59-A6C34878D82A}">
                    <a16:rowId xmlns:a16="http://schemas.microsoft.com/office/drawing/2014/main" val="10003"/>
                  </a:ext>
                </a:extLst>
              </a:tr>
              <a:tr h="420624">
                <a:tc>
                  <a:txBody>
                    <a:bodyPr/>
                    <a:lstStyle/>
                    <a:p>
                      <a:pPr algn="l"/>
                      <a:r>
                        <a:rPr sz="1050" b="1" i="0">
                          <a:solidFill>
                            <a:schemeClr val="tx1"/>
                          </a:solidFill>
                          <a:latin typeface="Avenir Next LT Pro Demi"/>
                        </a:rPr>
                        <a:t>W</a:t>
                      </a:r>
                    </a:p>
                  </a:txBody>
                  <a:tcPr marL="73152" marR="73152" marT="18288" marB="18288" anchor="ctr">
                    <a:solidFill>
                      <a:srgbClr val="F4F6F8"/>
                    </a:solidFill>
                  </a:tcPr>
                </a:tc>
                <a:tc>
                  <a:txBody>
                    <a:bodyPr/>
                    <a:lstStyle/>
                    <a:p>
                      <a:pPr algn="ctr"/>
                      <a:r>
                        <a:rPr sz="1050" b="0" i="0">
                          <a:solidFill>
                            <a:schemeClr val="tx1"/>
                          </a:solidFill>
                          <a:latin typeface="Avenir Next LT Pro"/>
                        </a:rPr>
                        <a:t>Wayfair</a:t>
                      </a:r>
                    </a:p>
                  </a:txBody>
                  <a:tcPr marL="73152" marR="73152" marT="18288" marB="18288" anchor="ctr">
                    <a:solidFill>
                      <a:srgbClr val="F4F6F8"/>
                    </a:solidFill>
                  </a:tcPr>
                </a:tc>
                <a:tc>
                  <a:txBody>
                    <a:bodyPr/>
                    <a:lstStyle/>
                    <a:p>
                      <a:pPr algn="ctr"/>
                      <a:r>
                        <a:rPr sz="1050" b="0" i="0">
                          <a:solidFill>
                            <a:schemeClr val="tx1"/>
                          </a:solidFill>
                          <a:latin typeface="Avenir Next LT Pro"/>
                        </a:rPr>
                        <a:t>-8.3%</a:t>
                      </a:r>
                    </a:p>
                  </a:txBody>
                  <a:tcPr marL="73152" marR="73152" marT="18288" marB="18288" anchor="ctr">
                    <a:solidFill>
                      <a:srgbClr val="F4F6F8"/>
                    </a:solidFill>
                  </a:tcPr>
                </a:tc>
                <a:tc>
                  <a:txBody>
                    <a:bodyPr/>
                    <a:lstStyle/>
                    <a:p>
                      <a:pPr algn="ctr"/>
                      <a:r>
                        <a:rPr sz="1050" b="0" i="0">
                          <a:solidFill>
                            <a:schemeClr val="tx1"/>
                          </a:solidFill>
                          <a:latin typeface="Avenir Next LT Pro"/>
                        </a:rPr>
                        <a:t>~1%</a:t>
                      </a:r>
                    </a:p>
                  </a:txBody>
                  <a:tcPr marL="73152" marR="73152" marT="18288" marB="18288" anchor="ctr">
                    <a:solidFill>
                      <a:srgbClr val="F4F6F8"/>
                    </a:solidFill>
                  </a:tcPr>
                </a:tc>
                <a:tc>
                  <a:txBody>
                    <a:bodyPr/>
                    <a:lstStyle/>
                    <a:p>
                      <a:pPr algn="ctr"/>
                      <a:r>
                        <a:rPr sz="1050" b="0" i="0" dirty="0">
                          <a:solidFill>
                            <a:schemeClr val="tx1"/>
                          </a:solidFill>
                          <a:latin typeface="Avenir Next LT Pro"/>
                        </a:rPr>
                        <a:t>NM</a:t>
                      </a:r>
                    </a:p>
                  </a:txBody>
                  <a:tcPr marL="73152" marR="73152" marT="18288" marB="18288" anchor="ctr">
                    <a:solidFill>
                      <a:srgbClr val="F4F6F8"/>
                    </a:solidFill>
                  </a:tcPr>
                </a:tc>
                <a:tc>
                  <a:txBody>
                    <a:bodyPr/>
                    <a:lstStyle/>
                    <a:p>
                      <a:pPr algn="ctr"/>
                      <a:r>
                        <a:rPr sz="1050" b="0" i="0" dirty="0">
                          <a:solidFill>
                            <a:schemeClr val="tx1"/>
                          </a:solidFill>
                          <a:latin typeface="Avenir Next LT Pro"/>
                        </a:rPr>
                        <a:t>Underperforming</a:t>
                      </a:r>
                    </a:p>
                  </a:txBody>
                  <a:tcPr marL="73152" marR="73152" marT="18288" marB="18288" anchor="ctr">
                    <a:solidFill>
                      <a:srgbClr val="F4F6F8"/>
                    </a:solidFill>
                  </a:tcPr>
                </a:tc>
                <a:extLst>
                  <a:ext uri="{0D108BD9-81ED-4DB2-BD59-A6C34878D82A}">
                    <a16:rowId xmlns:a16="http://schemas.microsoft.com/office/drawing/2014/main" val="10004"/>
                  </a:ext>
                </a:extLst>
              </a:tr>
            </a:tbl>
          </a:graphicData>
        </a:graphic>
      </p:graphicFrame>
      <p:sp>
        <p:nvSpPr>
          <p:cNvPr id="7" name="TextBox 6"/>
          <p:cNvSpPr txBox="1"/>
          <p:nvPr/>
        </p:nvSpPr>
        <p:spPr>
          <a:xfrm>
            <a:off x="457200" y="3749039"/>
            <a:ext cx="8229600" cy="415498"/>
          </a:xfrm>
          <a:prstGeom prst="rect">
            <a:avLst/>
          </a:prstGeom>
          <a:noFill/>
          <a:ln>
            <a:noFill/>
          </a:ln>
        </p:spPr>
        <p:txBody>
          <a:bodyPr wrap="square">
            <a:spAutoFit/>
          </a:bodyPr>
          <a:lstStyle/>
          <a:p>
            <a:r>
              <a:rPr sz="1100" b="1" i="0" dirty="0">
                <a:solidFill/>
                <a:latin typeface="Avenir Next LT Pro Demi"/>
              </a:rPr>
              <a:t>The real competitor is Arhaus, not European luxury.</a:t>
            </a:r>
          </a:p>
          <a:p>
            <a:r>
              <a:rPr sz="1000" b="0" i="0" dirty="0">
                <a:solidFill/>
                <a:latin typeface="Avenir Next LT Pro"/>
              </a:rPr>
              <a:t>RH's negative CAGR is self-inflicted + housing — not lost share. Estates moves RH up, out of Arhaus's tier</a:t>
            </a:r>
            <a:endParaRPr sz="1000" b="0" i="0" dirty="0">
              <a:solidFill>
                <a:srgbClr val="5A5A5A"/>
              </a:solidFill>
              <a:latin typeface="Avenir Next LT Pro"/>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198" y="274320"/>
            <a:ext cx="8229600" cy="446276"/>
          </a:xfrm>
          <a:prstGeom prst="rect">
            <a:avLst/>
          </a:prstGeom>
          <a:noFill/>
          <a:ln>
            <a:noFill/>
          </a:ln>
        </p:spPr>
        <p:txBody>
          <a:bodyPr wrap="square">
            <a:spAutoFit/>
          </a:bodyPr>
          <a:lstStyle/>
          <a:p>
            <a:r>
              <a:rPr sz="2300" b="0" i="0" dirty="0">
                <a:solidFill/>
                <a:latin typeface="Avenir Next LT Pro Demi"/>
              </a:rPr>
              <a:t>Key Risks — What Has to Go Wrong</a:t>
            </a:r>
          </a:p>
        </p:txBody>
      </p:sp>
      <p:sp>
        <p:nvSpPr>
          <p:cNvPr id="5" name="TextBox 4"/>
          <p:cNvSpPr txBox="1"/>
          <p:nvPr/>
        </p:nvSpPr>
        <p:spPr>
          <a:xfrm>
            <a:off x="457200" y="1051560"/>
            <a:ext cx="8229600" cy="274320"/>
          </a:xfrm>
          <a:prstGeom prst="rect">
            <a:avLst/>
          </a:prstGeom>
          <a:noFill/>
          <a:ln>
            <a:noFill/>
          </a:ln>
        </p:spPr>
        <p:txBody>
          <a:bodyPr wrap="none">
            <a:spAutoFit/>
          </a:bodyPr>
          <a:lstStyle/>
          <a:p>
            <a:r>
              <a:rPr sz="900" b="0" i="1">
                <a:solidFill>
                  <a:srgbClr val="B0B0B0"/>
                </a:solidFill>
                <a:latin typeface="Avenir Next LT Pro"/>
              </a:rPr>
              <a:t>[ narrative / commentary to be written ]</a:t>
            </a:r>
          </a:p>
        </p:txBody>
      </p:sp>
      <p:sp>
        <p:nvSpPr>
          <p:cNvPr id="6" name="Rectangle 5"/>
          <p:cNvSpPr/>
          <p:nvPr/>
        </p:nvSpPr>
        <p:spPr>
          <a:xfrm>
            <a:off x="457200" y="1554480"/>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Housing stays depressed through 2027</a:t>
            </a:r>
          </a:p>
          <a:p>
            <a:r>
              <a:rPr sz="950" b="1" i="0" dirty="0">
                <a:solidFill>
                  <a:srgbClr val="B03030"/>
                </a:solidFill>
                <a:latin typeface="Avenir Next LT Pro"/>
              </a:rPr>
              <a:t>Severity: HIGH   ·   Probability:</a:t>
            </a:r>
          </a:p>
        </p:txBody>
      </p:sp>
      <p:sp>
        <p:nvSpPr>
          <p:cNvPr id="7" name="Rectangle 6"/>
          <p:cNvSpPr/>
          <p:nvPr/>
        </p:nvSpPr>
        <p:spPr>
          <a:xfrm>
            <a:off x="457200" y="1554480"/>
            <a:ext cx="73152" cy="960120"/>
          </a:xfrm>
          <a:prstGeom prst="rect">
            <a:avLst/>
          </a:prstGeom>
          <a:solidFill>
            <a:srgbClr val="B0303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4709159" y="1554480"/>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Balance-sheet stress — ~4.0× levered, ~$225M/yr interest</a:t>
            </a:r>
          </a:p>
          <a:p>
            <a:r>
              <a:rPr sz="950" b="1" i="0" dirty="0">
                <a:solidFill>
                  <a:srgbClr val="B03030"/>
                </a:solidFill>
                <a:latin typeface="Avenir Next LT Pro"/>
              </a:rPr>
              <a:t>Severity: HIGH   ·   Probability:</a:t>
            </a:r>
          </a:p>
        </p:txBody>
      </p:sp>
      <p:sp>
        <p:nvSpPr>
          <p:cNvPr id="9" name="Rectangle 8"/>
          <p:cNvSpPr/>
          <p:nvPr/>
        </p:nvSpPr>
        <p:spPr>
          <a:xfrm>
            <a:off x="4709159" y="1554480"/>
            <a:ext cx="73152" cy="960120"/>
          </a:xfrm>
          <a:prstGeom prst="rect">
            <a:avLst/>
          </a:prstGeom>
          <a:solidFill>
            <a:srgbClr val="B0303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2679191"/>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International execution failure</a:t>
            </a:r>
          </a:p>
          <a:p>
            <a:r>
              <a:rPr sz="950" b="1" i="0" dirty="0">
                <a:solidFill>
                  <a:srgbClr val="C88A12"/>
                </a:solidFill>
                <a:latin typeface="Avenir Next LT Pro"/>
              </a:rPr>
              <a:t>Severity: MED   ·   Probability:</a:t>
            </a:r>
          </a:p>
        </p:txBody>
      </p:sp>
      <p:sp>
        <p:nvSpPr>
          <p:cNvPr id="11" name="Rectangle 10"/>
          <p:cNvSpPr/>
          <p:nvPr/>
        </p:nvSpPr>
        <p:spPr>
          <a:xfrm>
            <a:off x="457200" y="2679191"/>
            <a:ext cx="73152" cy="960120"/>
          </a:xfrm>
          <a:prstGeom prst="rect">
            <a:avLst/>
          </a:prstGeom>
          <a:solidFill>
            <a:srgbClr val="C88A12"/>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709159" y="2679191"/>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Tariff / supply-chain disruption</a:t>
            </a:r>
          </a:p>
          <a:p>
            <a:r>
              <a:rPr sz="950" b="1" i="0" dirty="0">
                <a:solidFill>
                  <a:srgbClr val="C88A12"/>
                </a:solidFill>
                <a:latin typeface="Avenir Next LT Pro"/>
              </a:rPr>
              <a:t>Severity: MED   ·   Probability:</a:t>
            </a:r>
          </a:p>
        </p:txBody>
      </p:sp>
      <p:sp>
        <p:nvSpPr>
          <p:cNvPr id="13" name="Rectangle 12"/>
          <p:cNvSpPr/>
          <p:nvPr/>
        </p:nvSpPr>
        <p:spPr>
          <a:xfrm>
            <a:off x="4709159" y="2679191"/>
            <a:ext cx="73152" cy="960120"/>
          </a:xfrm>
          <a:prstGeom prst="rect">
            <a:avLst/>
          </a:prstGeom>
          <a:solidFill>
            <a:srgbClr val="C88A12"/>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457200" y="3803904"/>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Friedman key-man dependency</a:t>
            </a:r>
          </a:p>
          <a:p>
            <a:r>
              <a:rPr sz="950" b="1" i="0" dirty="0">
                <a:solidFill>
                  <a:srgbClr val="B03030"/>
                </a:solidFill>
                <a:latin typeface="Avenir Next LT Pro"/>
              </a:rPr>
              <a:t>Severity: HIGH   ·   Probability:</a:t>
            </a:r>
          </a:p>
        </p:txBody>
      </p:sp>
      <p:sp>
        <p:nvSpPr>
          <p:cNvPr id="15" name="Rectangle 14"/>
          <p:cNvSpPr/>
          <p:nvPr/>
        </p:nvSpPr>
        <p:spPr>
          <a:xfrm>
            <a:off x="457200" y="3803904"/>
            <a:ext cx="73152" cy="960120"/>
          </a:xfrm>
          <a:prstGeom prst="rect">
            <a:avLst/>
          </a:prstGeom>
          <a:solidFill>
            <a:srgbClr val="B0303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4709159" y="3803904"/>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Broad consumer / discretionary recession</a:t>
            </a:r>
          </a:p>
          <a:p>
            <a:r>
              <a:rPr sz="950" b="1" i="0" dirty="0">
                <a:solidFill>
                  <a:srgbClr val="C88A12"/>
                </a:solidFill>
                <a:latin typeface="Avenir Next LT Pro"/>
              </a:rPr>
              <a:t>Severity: MED   ·   Probability:</a:t>
            </a:r>
          </a:p>
        </p:txBody>
      </p:sp>
      <p:sp>
        <p:nvSpPr>
          <p:cNvPr id="17" name="Rectangle 16"/>
          <p:cNvSpPr/>
          <p:nvPr/>
        </p:nvSpPr>
        <p:spPr>
          <a:xfrm>
            <a:off x="4709159" y="3803904"/>
            <a:ext cx="73152" cy="960120"/>
          </a:xfrm>
          <a:prstGeom prst="rect">
            <a:avLst/>
          </a:prstGeom>
          <a:solidFill>
            <a:srgbClr val="C88A12"/>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457200" y="4928616"/>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a:solidFill>
                  <a:srgbClr val="0E2841"/>
                </a:solidFill>
                <a:latin typeface="Avenir Next LT Pro Demi"/>
              </a:rPr>
              <a:t>Fulfillment / delivery execution (moat risk at Estates tier)</a:t>
            </a:r>
          </a:p>
          <a:p>
            <a:r>
              <a:rPr sz="950" b="1">
                <a:solidFill>
                  <a:srgbClr val="C88A12"/>
                </a:solidFill>
                <a:latin typeface="Avenir Next LT Pro"/>
              </a:rPr>
              <a:t>Severity: MED   ·   Probability: 30%</a:t>
            </a:r>
          </a:p>
        </p:txBody>
      </p:sp>
      <p:sp>
        <p:nvSpPr>
          <p:cNvPr id="19" name="Rectangle 18"/>
          <p:cNvSpPr/>
          <p:nvPr/>
        </p:nvSpPr>
        <p:spPr>
          <a:xfrm>
            <a:off x="457200" y="4928616"/>
            <a:ext cx="73152" cy="960120"/>
          </a:xfrm>
          <a:prstGeom prst="rect">
            <a:avLst/>
          </a:prstGeom>
          <a:solidFill>
            <a:srgbClr val="C88A12"/>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446276"/>
          </a:xfrm>
          <a:prstGeom prst="rect">
            <a:avLst/>
          </a:prstGeom>
          <a:noFill/>
          <a:ln>
            <a:noFill/>
          </a:ln>
        </p:spPr>
        <p:txBody>
          <a:bodyPr wrap="square">
            <a:spAutoFit/>
          </a:bodyPr>
          <a:lstStyle/>
          <a:p>
            <a:r>
              <a:rPr sz="2300" b="0" i="0" dirty="0">
                <a:solidFill/>
                <a:latin typeface="Avenir Next LT Pro Demi"/>
              </a:rPr>
              <a:t>Macro Sensitivity — Housing Is Option Value</a:t>
            </a:r>
          </a:p>
        </p:txBody>
      </p:sp>
      <p:sp>
        <p:nvSpPr>
          <p:cNvPr id="5" name="TextBox 4"/>
          <p:cNvSpPr txBox="1"/>
          <p:nvPr/>
        </p:nvSpPr>
        <p:spPr>
          <a:xfrm>
            <a:off x="457200" y="1051560"/>
            <a:ext cx="8229600" cy="274320"/>
          </a:xfrm>
          <a:prstGeom prst="rect">
            <a:avLst/>
          </a:prstGeom>
          <a:noFill/>
          <a:ln>
            <a:noFill/>
          </a:ln>
        </p:spPr>
        <p:txBody>
          <a:bodyPr wrap="none">
            <a:spAutoFit/>
          </a:bodyPr>
          <a:lstStyle/>
          <a:p>
            <a:r>
              <a:rPr sz="900" b="0" i="1">
                <a:solidFill>
                  <a:srgbClr val="B0B0B0"/>
                </a:solidFill>
                <a:latin typeface="Avenir Next LT Pro"/>
              </a:rPr>
              <a:t>[ narrative / commentary to be written ]</a:t>
            </a:r>
          </a:p>
        </p:txBody>
      </p:sp>
      <p:graphicFrame>
        <p:nvGraphicFramePr>
          <p:cNvPr id="6" name="Table 5"/>
          <p:cNvGraphicFramePr>
            <a:graphicFrameLocks noGrp="1"/>
          </p:cNvGraphicFramePr>
          <p:nvPr>
            <p:extLst>
              <p:ext uri="{D42A27DB-BD31-4B8C-83A1-F6EECF244321}">
                <p14:modId xmlns:p14="http://schemas.microsoft.com/office/powerpoint/2010/main" val="4054062618"/>
              </p:ext>
            </p:extLst>
          </p:nvPr>
        </p:nvGraphicFramePr>
        <p:xfrm>
          <a:off x="228600" y="1577340"/>
          <a:ext cx="8686800" cy="1828800"/>
        </p:xfrm>
        <a:graphic>
          <a:graphicData uri="http://schemas.openxmlformats.org/drawingml/2006/table">
            <a:tbl>
              <a:tblPr>
                <a:tableStyleId>{5C22544A-7EE6-4342-B048-85BDC9FD1C3A}</a:tableStyleId>
              </a:tblPr>
              <a:tblGrid>
                <a:gridCol w="169164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417320">
                  <a:extLst>
                    <a:ext uri="{9D8B030D-6E8A-4147-A177-3AD203B41FA5}">
                      <a16:colId xmlns:a16="http://schemas.microsoft.com/office/drawing/2014/main" val="20002"/>
                    </a:ext>
                  </a:extLst>
                </a:gridCol>
                <a:gridCol w="1234440">
                  <a:extLst>
                    <a:ext uri="{9D8B030D-6E8A-4147-A177-3AD203B41FA5}">
                      <a16:colId xmlns:a16="http://schemas.microsoft.com/office/drawing/2014/main" val="20003"/>
                    </a:ext>
                  </a:extLst>
                </a:gridCol>
                <a:gridCol w="960120">
                  <a:extLst>
                    <a:ext uri="{9D8B030D-6E8A-4147-A177-3AD203B41FA5}">
                      <a16:colId xmlns:a16="http://schemas.microsoft.com/office/drawing/2014/main" val="20004"/>
                    </a:ext>
                  </a:extLst>
                </a:gridCol>
                <a:gridCol w="960120">
                  <a:extLst>
                    <a:ext uri="{9D8B030D-6E8A-4147-A177-3AD203B41FA5}">
                      <a16:colId xmlns:a16="http://schemas.microsoft.com/office/drawing/2014/main" val="20005"/>
                    </a:ext>
                  </a:extLst>
                </a:gridCol>
                <a:gridCol w="1280160">
                  <a:extLst>
                    <a:ext uri="{9D8B030D-6E8A-4147-A177-3AD203B41FA5}">
                      <a16:colId xmlns:a16="http://schemas.microsoft.com/office/drawing/2014/main" val="20006"/>
                    </a:ext>
                  </a:extLst>
                </a:gridCol>
              </a:tblGrid>
              <a:tr h="457200">
                <a:tc>
                  <a:txBody>
                    <a:bodyPr/>
                    <a:lstStyle/>
                    <a:p>
                      <a:pPr algn="l"/>
                      <a:r>
                        <a:rPr sz="880" b="1" i="0" dirty="0">
                          <a:solidFill>
                            <a:srgbClr val="FFFFFF"/>
                          </a:solidFill>
                          <a:latin typeface="Avenir Next LT Pro Demi"/>
                        </a:rPr>
                        <a:t>Scenario</a:t>
                      </a:r>
                    </a:p>
                  </a:txBody>
                  <a:tcPr marL="73152" marR="73152" marT="18288" marB="18288" anchor="ctr">
                    <a:solidFill>
                      <a:srgbClr val="9A7B44"/>
                    </a:solidFill>
                  </a:tcPr>
                </a:tc>
                <a:tc>
                  <a:txBody>
                    <a:bodyPr/>
                    <a:lstStyle/>
                    <a:p>
                      <a:pPr algn="ctr"/>
                      <a:r>
                        <a:rPr sz="880" b="1" i="0" dirty="0">
                          <a:solidFill>
                            <a:srgbClr val="FFFFFF"/>
                          </a:solidFill>
                          <a:latin typeface="Avenir Next LT Pro Demi"/>
                        </a:rPr>
                        <a:t>30Y Mortgage</a:t>
                      </a:r>
                    </a:p>
                  </a:txBody>
                  <a:tcPr marL="73152" marR="73152" marT="18288" marB="18288" anchor="ctr">
                    <a:solidFill>
                      <a:srgbClr val="9A7B44"/>
                    </a:solidFill>
                  </a:tcPr>
                </a:tc>
                <a:tc>
                  <a:txBody>
                    <a:bodyPr/>
                    <a:lstStyle/>
                    <a:p>
                      <a:pPr algn="ctr"/>
                      <a:r>
                        <a:rPr sz="880" b="1" i="0" dirty="0">
                          <a:solidFill>
                            <a:srgbClr val="FFFFFF"/>
                          </a:solidFill>
                          <a:latin typeface="Avenir Next LT Pro Demi"/>
                        </a:rPr>
                        <a:t>Existing Home Sales</a:t>
                      </a:r>
                    </a:p>
                  </a:txBody>
                  <a:tcPr marL="73152" marR="73152" marT="18288" marB="18288" anchor="ctr">
                    <a:solidFill>
                      <a:srgbClr val="9A7B44"/>
                    </a:solidFill>
                  </a:tcPr>
                </a:tc>
                <a:tc>
                  <a:txBody>
                    <a:bodyPr/>
                    <a:lstStyle/>
                    <a:p>
                      <a:pPr algn="ctr"/>
                      <a:r>
                        <a:rPr sz="880" b="1" i="0" dirty="0">
                          <a:solidFill>
                            <a:srgbClr val="FFFFFF"/>
                          </a:solidFill>
                          <a:latin typeface="Avenir Next LT Pro Demi"/>
                        </a:rPr>
                        <a:t>RH Revenue</a:t>
                      </a:r>
                    </a:p>
                  </a:txBody>
                  <a:tcPr marL="73152" marR="73152" marT="18288" marB="18288" anchor="ctr">
                    <a:solidFill>
                      <a:srgbClr val="9A7B44"/>
                    </a:solidFill>
                  </a:tcPr>
                </a:tc>
                <a:tc>
                  <a:txBody>
                    <a:bodyPr/>
                    <a:lstStyle/>
                    <a:p>
                      <a:pPr algn="ctr"/>
                      <a:r>
                        <a:rPr sz="880" b="1" i="0">
                          <a:solidFill>
                            <a:srgbClr val="FFFFFF"/>
                          </a:solidFill>
                          <a:latin typeface="Avenir Next LT Pro Demi"/>
                        </a:rPr>
                        <a:t>EBITDA Mgn</a:t>
                      </a:r>
                    </a:p>
                  </a:txBody>
                  <a:tcPr marL="73152" marR="73152" marT="18288" marB="18288" anchor="ctr">
                    <a:solidFill>
                      <a:srgbClr val="9A7B44"/>
                    </a:solidFill>
                  </a:tcPr>
                </a:tc>
                <a:tc>
                  <a:txBody>
                    <a:bodyPr/>
                    <a:lstStyle/>
                    <a:p>
                      <a:pPr algn="ctr"/>
                      <a:r>
                        <a:rPr sz="880" b="1" i="0" dirty="0">
                          <a:solidFill>
                            <a:srgbClr val="FFFFFF"/>
                          </a:solidFill>
                          <a:latin typeface="Avenir Next LT Pro Demi"/>
                        </a:rPr>
                        <a:t>Est. EPS (fwd)</a:t>
                      </a:r>
                    </a:p>
                  </a:txBody>
                  <a:tcPr marL="73152" marR="73152" marT="18288" marB="18288" anchor="ctr">
                    <a:solidFill>
                      <a:srgbClr val="9A7B44"/>
                    </a:solidFill>
                  </a:tcPr>
                </a:tc>
                <a:tc>
                  <a:txBody>
                    <a:bodyPr/>
                    <a:lstStyle/>
                    <a:p>
                      <a:pPr algn="ctr"/>
                      <a:r>
                        <a:rPr sz="880" b="1" i="0" dirty="0">
                          <a:solidFill>
                            <a:srgbClr val="FFFFFF"/>
                          </a:solidFill>
                          <a:latin typeface="Avenir Next LT Pro Demi"/>
                        </a:rPr>
                        <a:t>Implied P/E @ $166</a:t>
                      </a:r>
                    </a:p>
                  </a:txBody>
                  <a:tcPr marL="73152" marR="73152" marT="18288" marB="18288" anchor="ctr">
                    <a:solidFill>
                      <a:srgbClr val="9A7B44"/>
                    </a:solidFill>
                  </a:tcPr>
                </a:tc>
                <a:extLst>
                  <a:ext uri="{0D108BD9-81ED-4DB2-BD59-A6C34878D82A}">
                    <a16:rowId xmlns:a16="http://schemas.microsoft.com/office/drawing/2014/main" val="10000"/>
                  </a:ext>
                </a:extLst>
              </a:tr>
              <a:tr h="457200">
                <a:tc>
                  <a:txBody>
                    <a:bodyPr/>
                    <a:lstStyle/>
                    <a:p>
                      <a:pPr algn="l"/>
                      <a:r>
                        <a:rPr sz="950" b="1" i="0" dirty="0">
                          <a:solidFill>
                            <a:schemeClr val="tx1"/>
                          </a:solidFill>
                          <a:latin typeface="Avenir Next LT Pro Demi"/>
                        </a:rPr>
                        <a:t>Bull — rate relief</a:t>
                      </a:r>
                    </a:p>
                  </a:txBody>
                  <a:tcPr marL="73152" marR="73152" marT="18288" marB="18288" anchor="ctr">
                    <a:solidFill>
                      <a:srgbClr val="FFFFFF"/>
                    </a:solidFill>
                  </a:tcPr>
                </a:tc>
                <a:tc>
                  <a:txBody>
                    <a:bodyPr/>
                    <a:lstStyle/>
                    <a:p>
                      <a:pPr algn="ctr"/>
                      <a:r>
                        <a:rPr sz="950" b="0" i="0">
                          <a:solidFill>
                            <a:schemeClr val="tx1"/>
                          </a:solidFill>
                          <a:latin typeface="Avenir Next LT Pro"/>
                        </a:rPr>
                        <a:t>&lt;5.5%</a:t>
                      </a:r>
                    </a:p>
                  </a:txBody>
                  <a:tcPr marL="73152" marR="73152" marT="18288" marB="18288" anchor="ctr">
                    <a:solidFill>
                      <a:srgbClr val="FFFFFF"/>
                    </a:solidFill>
                  </a:tcPr>
                </a:tc>
                <a:tc>
                  <a:txBody>
                    <a:bodyPr/>
                    <a:lstStyle/>
                    <a:p>
                      <a:pPr algn="ctr"/>
                      <a:r>
                        <a:rPr sz="950" b="0" i="0">
                          <a:solidFill>
                            <a:schemeClr val="tx1"/>
                          </a:solidFill>
                          <a:latin typeface="Avenir Next LT Pro"/>
                        </a:rPr>
                        <a:t>~5.2–5.8M</a:t>
                      </a:r>
                    </a:p>
                  </a:txBody>
                  <a:tcPr marL="73152" marR="73152" marT="18288" marB="18288" anchor="ctr">
                    <a:solidFill>
                      <a:srgbClr val="FFFFFF"/>
                    </a:solidFill>
                  </a:tcPr>
                </a:tc>
                <a:tc>
                  <a:txBody>
                    <a:bodyPr/>
                    <a:lstStyle/>
                    <a:p>
                      <a:pPr algn="ctr"/>
                      <a:r>
                        <a:rPr sz="950" b="0" i="0">
                          <a:solidFill>
                            <a:schemeClr val="tx1"/>
                          </a:solidFill>
                          <a:latin typeface="Avenir Next LT Pro"/>
                        </a:rPr>
                        <a:t>~$4.2–4.8B</a:t>
                      </a:r>
                    </a:p>
                  </a:txBody>
                  <a:tcPr marL="73152" marR="73152" marT="18288" marB="18288" anchor="ctr">
                    <a:solidFill>
                      <a:srgbClr val="FFFFFF"/>
                    </a:solidFill>
                  </a:tcPr>
                </a:tc>
                <a:tc>
                  <a:txBody>
                    <a:bodyPr/>
                    <a:lstStyle/>
                    <a:p>
                      <a:pPr algn="ctr"/>
                      <a:r>
                        <a:rPr sz="950" b="0" i="0" dirty="0">
                          <a:solidFill>
                            <a:schemeClr val="tx1"/>
                          </a:solidFill>
                          <a:latin typeface="Avenir Next LT Pro"/>
                        </a:rPr>
                        <a:t>22–26%</a:t>
                      </a:r>
                    </a:p>
                  </a:txBody>
                  <a:tcPr marL="73152" marR="73152" marT="18288" marB="18288" anchor="ctr">
                    <a:solidFill>
                      <a:srgbClr val="FFFFFF"/>
                    </a:solidFill>
                  </a:tcPr>
                </a:tc>
                <a:tc>
                  <a:txBody>
                    <a:bodyPr/>
                    <a:lstStyle/>
                    <a:p>
                      <a:pPr algn="ctr"/>
                      <a:r>
                        <a:rPr sz="950" b="0" i="0">
                          <a:solidFill>
                            <a:schemeClr val="tx1"/>
                          </a:solidFill>
                          <a:latin typeface="Avenir Next LT Pro"/>
                        </a:rPr>
                        <a:t>~$22–35</a:t>
                      </a:r>
                    </a:p>
                  </a:txBody>
                  <a:tcPr marL="73152" marR="73152" marT="18288" marB="18288" anchor="ctr">
                    <a:solidFill>
                      <a:srgbClr val="FFFFFF"/>
                    </a:solidFill>
                  </a:tcPr>
                </a:tc>
                <a:tc>
                  <a:txBody>
                    <a:bodyPr/>
                    <a:lstStyle/>
                    <a:p>
                      <a:pPr algn="ctr"/>
                      <a:r>
                        <a:rPr sz="950" b="0" i="0">
                          <a:solidFill>
                            <a:schemeClr val="tx1"/>
                          </a:solidFill>
                          <a:latin typeface="Avenir Next LT Pro"/>
                        </a:rPr>
                        <a:t>~5–7×</a:t>
                      </a:r>
                    </a:p>
                  </a:txBody>
                  <a:tcPr marL="73152" marR="73152" marT="18288" marB="18288" anchor="ctr">
                    <a:solidFill>
                      <a:srgbClr val="FFFFFF"/>
                    </a:solidFill>
                  </a:tcPr>
                </a:tc>
                <a:extLst>
                  <a:ext uri="{0D108BD9-81ED-4DB2-BD59-A6C34878D82A}">
                    <a16:rowId xmlns:a16="http://schemas.microsoft.com/office/drawing/2014/main" val="10001"/>
                  </a:ext>
                </a:extLst>
              </a:tr>
              <a:tr h="457200">
                <a:tc>
                  <a:txBody>
                    <a:bodyPr/>
                    <a:lstStyle/>
                    <a:p>
                      <a:pPr algn="l"/>
                      <a:r>
                        <a:rPr sz="950" b="1" i="0">
                          <a:solidFill>
                            <a:schemeClr val="tx1"/>
                          </a:solidFill>
                          <a:latin typeface="Avenir Next LT Pro Demi"/>
                        </a:rPr>
                        <a:t>Base — modest easing</a:t>
                      </a:r>
                    </a:p>
                  </a:txBody>
                  <a:tcPr marL="73152" marR="73152" marT="18288" marB="18288" anchor="ctr">
                    <a:solidFill>
                      <a:srgbClr val="F4F6F8"/>
                    </a:solidFill>
                  </a:tcPr>
                </a:tc>
                <a:tc>
                  <a:txBody>
                    <a:bodyPr/>
                    <a:lstStyle/>
                    <a:p>
                      <a:pPr algn="ctr"/>
                      <a:r>
                        <a:rPr sz="950" b="0" i="0" dirty="0">
                          <a:solidFill>
                            <a:schemeClr val="tx1"/>
                          </a:solidFill>
                          <a:latin typeface="Avenir Next LT Pro"/>
                        </a:rPr>
                        <a:t>5.75–6.25%</a:t>
                      </a:r>
                    </a:p>
                  </a:txBody>
                  <a:tcPr marL="73152" marR="73152" marT="18288" marB="18288" anchor="ctr">
                    <a:solidFill>
                      <a:srgbClr val="F4F6F8"/>
                    </a:solidFill>
                  </a:tcPr>
                </a:tc>
                <a:tc>
                  <a:txBody>
                    <a:bodyPr/>
                    <a:lstStyle/>
                    <a:p>
                      <a:pPr algn="ctr"/>
                      <a:r>
                        <a:rPr sz="950" b="0" i="0">
                          <a:solidFill>
                            <a:schemeClr val="tx1"/>
                          </a:solidFill>
                          <a:latin typeface="Avenir Next LT Pro"/>
                        </a:rPr>
                        <a:t>~4.5–5.0M</a:t>
                      </a:r>
                    </a:p>
                  </a:txBody>
                  <a:tcPr marL="73152" marR="73152" marT="18288" marB="18288" anchor="ctr">
                    <a:solidFill>
                      <a:srgbClr val="F4F6F8"/>
                    </a:solidFill>
                  </a:tcPr>
                </a:tc>
                <a:tc>
                  <a:txBody>
                    <a:bodyPr/>
                    <a:lstStyle/>
                    <a:p>
                      <a:pPr algn="ctr"/>
                      <a:r>
                        <a:rPr sz="950" b="0" i="0">
                          <a:solidFill>
                            <a:schemeClr val="tx1"/>
                          </a:solidFill>
                          <a:latin typeface="Avenir Next LT Pro"/>
                        </a:rPr>
                        <a:t>~$3.6–4.0B</a:t>
                      </a:r>
                    </a:p>
                  </a:txBody>
                  <a:tcPr marL="73152" marR="73152" marT="18288" marB="18288" anchor="ctr">
                    <a:solidFill>
                      <a:srgbClr val="F4F6F8"/>
                    </a:solidFill>
                  </a:tcPr>
                </a:tc>
                <a:tc>
                  <a:txBody>
                    <a:bodyPr/>
                    <a:lstStyle/>
                    <a:p>
                      <a:pPr algn="ctr"/>
                      <a:r>
                        <a:rPr sz="950" b="0" i="0" dirty="0">
                          <a:solidFill>
                            <a:schemeClr val="tx1"/>
                          </a:solidFill>
                          <a:latin typeface="Avenir Next LT Pro"/>
                        </a:rPr>
                        <a:t>18–21%</a:t>
                      </a:r>
                    </a:p>
                  </a:txBody>
                  <a:tcPr marL="73152" marR="73152" marT="18288" marB="18288" anchor="ctr">
                    <a:solidFill>
                      <a:srgbClr val="F4F6F8"/>
                    </a:solidFill>
                  </a:tcPr>
                </a:tc>
                <a:tc>
                  <a:txBody>
                    <a:bodyPr/>
                    <a:lstStyle/>
                    <a:p>
                      <a:pPr algn="ctr"/>
                      <a:r>
                        <a:rPr sz="950" b="0" i="0">
                          <a:solidFill>
                            <a:schemeClr val="tx1"/>
                          </a:solidFill>
                          <a:latin typeface="Avenir Next LT Pro"/>
                        </a:rPr>
                        <a:t>~$11–19</a:t>
                      </a:r>
                    </a:p>
                  </a:txBody>
                  <a:tcPr marL="73152" marR="73152" marT="18288" marB="18288" anchor="ctr">
                    <a:solidFill>
                      <a:srgbClr val="F4F6F8"/>
                    </a:solidFill>
                  </a:tcPr>
                </a:tc>
                <a:tc>
                  <a:txBody>
                    <a:bodyPr/>
                    <a:lstStyle/>
                    <a:p>
                      <a:pPr algn="ctr"/>
                      <a:r>
                        <a:rPr sz="950" b="0" i="0">
                          <a:solidFill>
                            <a:schemeClr val="tx1"/>
                          </a:solidFill>
                          <a:latin typeface="Avenir Next LT Pro"/>
                        </a:rPr>
                        <a:t>~9–15×</a:t>
                      </a:r>
                    </a:p>
                  </a:txBody>
                  <a:tcPr marL="73152" marR="73152" marT="18288" marB="18288" anchor="ctr">
                    <a:solidFill>
                      <a:srgbClr val="F4F6F8"/>
                    </a:solidFill>
                  </a:tcPr>
                </a:tc>
                <a:extLst>
                  <a:ext uri="{0D108BD9-81ED-4DB2-BD59-A6C34878D82A}">
                    <a16:rowId xmlns:a16="http://schemas.microsoft.com/office/drawing/2014/main" val="10002"/>
                  </a:ext>
                </a:extLst>
              </a:tr>
              <a:tr h="457200">
                <a:tc>
                  <a:txBody>
                    <a:bodyPr/>
                    <a:lstStyle/>
                    <a:p>
                      <a:pPr algn="l"/>
                      <a:r>
                        <a:rPr sz="950" b="1" i="0">
                          <a:solidFill>
                            <a:schemeClr val="tx1"/>
                          </a:solidFill>
                          <a:latin typeface="Avenir Next LT Pro Demi"/>
                        </a:rPr>
                        <a:t>Bear — rates stay high</a:t>
                      </a:r>
                    </a:p>
                  </a:txBody>
                  <a:tcPr marL="73152" marR="73152" marT="18288" marB="18288" anchor="ctr">
                    <a:solidFill>
                      <a:srgbClr val="FFFFFF"/>
                    </a:solidFill>
                  </a:tcPr>
                </a:tc>
                <a:tc>
                  <a:txBody>
                    <a:bodyPr/>
                    <a:lstStyle/>
                    <a:p>
                      <a:pPr algn="ctr"/>
                      <a:r>
                        <a:rPr sz="950" b="0" i="0" dirty="0">
                          <a:solidFill>
                            <a:schemeClr val="tx1"/>
                          </a:solidFill>
                          <a:latin typeface="Avenir Next LT Pro"/>
                        </a:rPr>
                        <a:t>6.75–7.25%</a:t>
                      </a:r>
                    </a:p>
                  </a:txBody>
                  <a:tcPr marL="73152" marR="73152" marT="18288" marB="18288" anchor="ctr">
                    <a:solidFill>
                      <a:srgbClr val="FFFFFF"/>
                    </a:solidFill>
                  </a:tcPr>
                </a:tc>
                <a:tc>
                  <a:txBody>
                    <a:bodyPr/>
                    <a:lstStyle/>
                    <a:p>
                      <a:pPr algn="ctr"/>
                      <a:r>
                        <a:rPr sz="950" b="0" i="0" dirty="0">
                          <a:solidFill>
                            <a:schemeClr val="tx1"/>
                          </a:solidFill>
                          <a:latin typeface="Avenir Next LT Pro"/>
                        </a:rPr>
                        <a:t>~3.8–4.0M</a:t>
                      </a:r>
                    </a:p>
                  </a:txBody>
                  <a:tcPr marL="73152" marR="73152" marT="18288" marB="18288" anchor="ctr">
                    <a:solidFill>
                      <a:srgbClr val="FFFFFF"/>
                    </a:solidFill>
                  </a:tcPr>
                </a:tc>
                <a:tc>
                  <a:txBody>
                    <a:bodyPr/>
                    <a:lstStyle/>
                    <a:p>
                      <a:pPr algn="ctr"/>
                      <a:r>
                        <a:rPr sz="950" b="0" i="0" dirty="0">
                          <a:solidFill>
                            <a:schemeClr val="tx1"/>
                          </a:solidFill>
                          <a:latin typeface="Avenir Next LT Pro"/>
                        </a:rPr>
                        <a:t>~$3.1–3.3B</a:t>
                      </a:r>
                    </a:p>
                  </a:txBody>
                  <a:tcPr marL="73152" marR="73152" marT="18288" marB="18288" anchor="ctr">
                    <a:solidFill>
                      <a:srgbClr val="FFFFFF"/>
                    </a:solidFill>
                  </a:tcPr>
                </a:tc>
                <a:tc>
                  <a:txBody>
                    <a:bodyPr/>
                    <a:lstStyle/>
                    <a:p>
                      <a:pPr algn="ctr"/>
                      <a:r>
                        <a:rPr sz="950" b="0" i="0" dirty="0">
                          <a:solidFill>
                            <a:schemeClr val="tx1"/>
                          </a:solidFill>
                          <a:latin typeface="Avenir Next LT Pro"/>
                        </a:rPr>
                        <a:t>14–16%</a:t>
                      </a:r>
                    </a:p>
                  </a:txBody>
                  <a:tcPr marL="73152" marR="73152" marT="18288" marB="18288" anchor="ctr">
                    <a:solidFill>
                      <a:srgbClr val="FFFFFF"/>
                    </a:solidFill>
                  </a:tcPr>
                </a:tc>
                <a:tc>
                  <a:txBody>
                    <a:bodyPr/>
                    <a:lstStyle/>
                    <a:p>
                      <a:pPr algn="ctr"/>
                      <a:r>
                        <a:rPr sz="950" b="0" i="0" dirty="0">
                          <a:solidFill>
                            <a:schemeClr val="tx1"/>
                          </a:solidFill>
                          <a:latin typeface="Avenir Next LT Pro"/>
                        </a:rPr>
                        <a:t>~$3–6</a:t>
                      </a:r>
                    </a:p>
                  </a:txBody>
                  <a:tcPr marL="73152" marR="73152" marT="18288" marB="18288" anchor="ctr">
                    <a:solidFill>
                      <a:srgbClr val="FFFFFF"/>
                    </a:solidFill>
                  </a:tcPr>
                </a:tc>
                <a:tc>
                  <a:txBody>
                    <a:bodyPr/>
                    <a:lstStyle/>
                    <a:p>
                      <a:pPr algn="ctr"/>
                      <a:r>
                        <a:rPr sz="950" b="0" i="0" dirty="0">
                          <a:solidFill>
                            <a:schemeClr val="tx1"/>
                          </a:solidFill>
                          <a:latin typeface="Avenir Next LT Pro"/>
                        </a:rPr>
                        <a:t>~25–55×</a:t>
                      </a:r>
                    </a:p>
                  </a:txBody>
                  <a:tcPr marL="73152" marR="73152" marT="18288" marB="18288" anchor="ctr">
                    <a:solidFill>
                      <a:srgbClr val="FFFFFF"/>
                    </a:solidFill>
                  </a:tcPr>
                </a:tc>
                <a:extLst>
                  <a:ext uri="{0D108BD9-81ED-4DB2-BD59-A6C34878D82A}">
                    <a16:rowId xmlns:a16="http://schemas.microsoft.com/office/drawing/2014/main" val="10003"/>
                  </a:ext>
                </a:extLst>
              </a:tr>
            </a:tbl>
          </a:graphicData>
        </a:graphic>
      </p:graphicFrame>
      <p:sp>
        <p:nvSpPr>
          <p:cNvPr id="7" name="TextBox 6"/>
          <p:cNvSpPr txBox="1"/>
          <p:nvPr/>
        </p:nvSpPr>
        <p:spPr>
          <a:xfrm>
            <a:off x="457200" y="3657600"/>
            <a:ext cx="8229600" cy="415498"/>
          </a:xfrm>
          <a:prstGeom prst="rect">
            <a:avLst/>
          </a:prstGeom>
          <a:noFill/>
          <a:ln>
            <a:noFill/>
          </a:ln>
        </p:spPr>
        <p:txBody>
          <a:bodyPr wrap="square">
            <a:spAutoFit/>
          </a:bodyPr>
          <a:lstStyle/>
          <a:p>
            <a:r>
              <a:rPr sz="1100" b="1" i="0" dirty="0">
                <a:solidFill/>
                <a:latin typeface="Avenir Next LT Pro Demi"/>
              </a:rPr>
              <a:t>Key distinction: RH tracks housing TRANSACTIONS (turnover), not prices</a:t>
            </a:r>
          </a:p>
          <a:p>
            <a:r>
              <a:rPr sz="1000" b="0" i="0" dirty="0">
                <a:solidFill>
                  <a:srgbClr val="5A5A5A"/>
                </a:solidFill>
                <a:latin typeface="Avenir Next LT Pro"/>
              </a:rPr>
              <a:t>Base case assumes NO recovery — a rate-driven turn is upside, not a requirement</a:t>
            </a:r>
          </a:p>
        </p:txBody>
      </p:sp>
      <p:sp>
        <p:nvSpPr>
          <p:cNvPr id="8" name="TextBox 7"/>
          <p:cNvSpPr txBox="1"/>
          <p:nvPr/>
        </p:nvSpPr>
        <p:spPr>
          <a:xfrm>
            <a:off x="457200" y="5989320"/>
            <a:ext cx="8229600" cy="365760"/>
          </a:xfrm>
          <a:prstGeom prst="rect">
            <a:avLst/>
          </a:prstGeom>
          <a:noFill/>
          <a:ln>
            <a:noFill/>
          </a:ln>
        </p:spPr>
        <p:txBody>
          <a:bodyPr wrap="square">
            <a:spAutoFit/>
          </a:bodyPr>
          <a:lstStyle/>
          <a:p>
            <a:r>
              <a:rPr sz="800" i="1">
                <a:solidFill>
                  <a:srgbClr val="707070"/>
                </a:solidFill>
                <a:latin typeface="Avenir Next LT Pro"/>
              </a:rPr>
              <a:t>EPS ≈ (EBITDA − ~$150M D&amp;A − ~$215M interest) × (1 − 25% tax) ÷ ~19M shares. Illustrative, not a forecast.</a:t>
            </a:r>
          </a:p>
        </p:txBody>
      </p:sp>
    </p:spTree>
  </p:cSld>
  <p:clrMapOvr>
    <a:masterClrMapping/>
  </p:clrMapOvr>
</p:sld>
</file>

<file path=ppt/theme/theme1.xml><?xml version="1.0" encoding="utf-8"?>
<a:theme xmlns:a="http://schemas.openxmlformats.org/drawingml/2006/main" name="Theme1">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Custom 1">
      <a:majorFont>
        <a:latin typeface="Avenir Next LT Pro"/>
        <a:ea typeface=""/>
        <a:cs typeface=""/>
      </a:majorFont>
      <a:minorFont>
        <a:latin typeface="Avenir Next L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spDef>
      <a:spPr/>
      <a:bodyPr rtlCol="0" anchor="ctr"/>
      <a:lstStyle>
        <a:defPPr algn="ctr">
          <a:defRPr sz="2400"/>
        </a:defPPr>
      </a:lstStyle>
      <a:style>
        <a:lnRef idx="2">
          <a:schemeClr val="dk1">
            <a:shade val="50000"/>
          </a:schemeClr>
        </a:lnRef>
        <a:fillRef idx="1">
          <a:schemeClr val="dk1"/>
        </a:fillRef>
        <a:effectRef idx="0">
          <a:schemeClr val="dk1"/>
        </a:effectRef>
        <a:fontRef idx="minor">
          <a:schemeClr val="lt1"/>
        </a:fontRef>
      </a:style>
    </a:spDef>
    <a:lnDef>
      <a:spPr>
        <a:ln w="12700">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none" rtlCol="0">
        <a:spAutoFit/>
      </a:bodyPr>
      <a:lstStyle>
        <a:defPPr>
          <a:lnSpc>
            <a:spcPct val="90000"/>
          </a:lnSpc>
          <a:defRPr sz="2400"/>
        </a:defPPr>
      </a:lstStyle>
    </a:txDef>
  </a:objectDefaults>
  <a:extraClrSchemeLst/>
  <a:extLst>
    <a:ext uri="{05A4C25C-085E-4340-85A3-A5531E510DB2}">
      <thm15:themeFamily xmlns:thm15="http://schemas.microsoft.com/office/thememl/2012/main" name="Theme1" id="{3BFAA7AE-A268-4826-9D8B-94FA75FEEF0F}" vid="{9E9B2CBF-1CCA-4D2A-AC69-DF77A87F1DC6}"/>
    </a:ext>
  </a:extLst>
</a:theme>
</file>

<file path=ppt/theme/theme2.xml><?xml version="1.0" encoding="utf-8"?>
<a:theme xmlns:a="http://schemas.openxmlformats.org/drawingml/2006/main" name="Office Theme">
  <a:themeElements>
    <a:clrScheme name="Continental_16x9">
      <a:dk1>
        <a:srgbClr val="545454"/>
      </a:dk1>
      <a:lt1>
        <a:sysClr val="window" lastClr="FFFFFF"/>
      </a:lt1>
      <a:dk2>
        <a:srgbClr val="000000"/>
      </a:dk2>
      <a:lt2>
        <a:srgbClr val="BFBFBF"/>
      </a:lt2>
      <a:accent1>
        <a:srgbClr val="40BAD2"/>
      </a:accent1>
      <a:accent2>
        <a:srgbClr val="FAB900"/>
      </a:accent2>
      <a:accent3>
        <a:srgbClr val="90BB23"/>
      </a:accent3>
      <a:accent4>
        <a:srgbClr val="EE7008"/>
      </a:accent4>
      <a:accent5>
        <a:srgbClr val="1AB39F"/>
      </a:accent5>
      <a:accent6>
        <a:srgbClr val="D5393D"/>
      </a:accent6>
      <a:hlink>
        <a:srgbClr val="90BB23"/>
      </a:hlink>
      <a:folHlink>
        <a:srgbClr val="EE7008"/>
      </a:folHlink>
    </a:clrScheme>
    <a:fontScheme name="Century Gothic">
      <a:maj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theme>
</file>

<file path=ppt/theme/theme3.xml><?xml version="1.0" encoding="utf-8"?>
<a:theme xmlns:a="http://schemas.openxmlformats.org/drawingml/2006/main" name="Office Theme">
  <a:themeElements>
    <a:clrScheme name="Continental_16x9">
      <a:dk1>
        <a:srgbClr val="545454"/>
      </a:dk1>
      <a:lt1>
        <a:sysClr val="window" lastClr="FFFFFF"/>
      </a:lt1>
      <a:dk2>
        <a:srgbClr val="000000"/>
      </a:dk2>
      <a:lt2>
        <a:srgbClr val="BFBFBF"/>
      </a:lt2>
      <a:accent1>
        <a:srgbClr val="40BAD2"/>
      </a:accent1>
      <a:accent2>
        <a:srgbClr val="FAB900"/>
      </a:accent2>
      <a:accent3>
        <a:srgbClr val="90BB23"/>
      </a:accent3>
      <a:accent4>
        <a:srgbClr val="EE7008"/>
      </a:accent4>
      <a:accent5>
        <a:srgbClr val="1AB39F"/>
      </a:accent5>
      <a:accent6>
        <a:srgbClr val="D5393D"/>
      </a:accent6>
      <a:hlink>
        <a:srgbClr val="90BB23"/>
      </a:hlink>
      <a:folHlink>
        <a:srgbClr val="EE7008"/>
      </a:folHlink>
    </a:clrScheme>
    <a:fontScheme name="Century Gothic">
      <a:maj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47" row="1">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B2EC8420-7163-49FF-8E4A-85261AD340AF}">
  <we:reference id="wa200010001" version="1.0.0.1" store="en-US" storeType="OMEX"/>
  <we:alternateReferences>
    <we:reference id="WA200010001" version="1.0.0.1" store="" storeType="OMEX"/>
  </we:alternateReferences>
  <we:properties>
    <we:property name="claude.fileId" value="&quot;66a6f049-fcc9-46c6-bfc3-b8f1fcac00f7&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CF3AA903C02CEB42B8ED53135F8CD172" ma:contentTypeVersion="19" ma:contentTypeDescription="Create a new document." ma:contentTypeScope="" ma:versionID="d26509f8eb1f4bd0cedb37206d7fe58d">
  <xsd:schema xmlns:xsd="http://www.w3.org/2001/XMLSchema" xmlns:xs="http://www.w3.org/2001/XMLSchema" xmlns:p="http://schemas.microsoft.com/office/2006/metadata/properties" xmlns:ns2="97990345-9152-4417-8f04-d1350c114d86" xmlns:ns3="60323a4b-ec8c-4870-a04a-4daeb2e428a0" xmlns:ns4="5684647e-1a6d-4b94-b02a-af0990aec00f" targetNamespace="http://schemas.microsoft.com/office/2006/metadata/properties" ma:root="true" ma:fieldsID="a00cabcfd3e433e5628bc08f43970357" ns2:_="" ns3:_="" ns4:_="">
    <xsd:import namespace="97990345-9152-4417-8f04-d1350c114d86"/>
    <xsd:import namespace="60323a4b-ec8c-4870-a04a-4daeb2e428a0"/>
    <xsd:import namespace="5684647e-1a6d-4b94-b02a-af0990aec00f"/>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GenerationTime" minOccurs="0"/>
                <xsd:element ref="ns2:MediaServiceEventHashCode" minOccurs="0"/>
                <xsd:element ref="ns2:MediaServiceAutoKeyPoints" minOccurs="0"/>
                <xsd:element ref="ns2:MediaServiceKeyPoints" minOccurs="0"/>
                <xsd:element ref="ns2:lcf76f155ced4ddcb4097134ff3c332f" minOccurs="0"/>
                <xsd:element ref="ns3:TaxCatchAll" minOccurs="0"/>
                <xsd:element ref="ns2:MediaServiceObjectDetectorVersions" minOccurs="0"/>
                <xsd:element ref="ns2:MediaServiceSearchProperties" minOccurs="0"/>
                <xsd:element ref="ns2:MediaServiceDateTaken" minOccurs="0"/>
                <xsd:element ref="ns4:SharedWithUsers" minOccurs="0"/>
                <xsd:element ref="ns4:SharedWithDetails" minOccurs="0"/>
                <xsd:element ref="ns2:MediaServiceLocation" minOccurs="0"/>
                <xsd:element ref="ns2:MediaServiceBillingMetadata"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97990345-9152-4417-8f04-d1350c114d8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AutoKeyPoints" ma:index="14" nillable="true" ma:displayName="MediaServiceAutoKeyPoints" ma:hidden="true" ma:internalName="MediaServiceAutoKeyPoints" ma:readOnly="true">
      <xsd:simpleType>
        <xsd:restriction base="dms:Note"/>
      </xsd:simpleType>
    </xsd:element>
    <xsd:element name="MediaServiceKeyPoints" ma:index="15" nillable="true" ma:displayName="KeyPoints" ma:internalName="MediaServiceKeyPoints" ma:readOnly="true">
      <xsd:simpleType>
        <xsd:restriction base="dms:Note">
          <xsd:maxLength value="255"/>
        </xsd:restriction>
      </xsd:simpleType>
    </xsd:element>
    <xsd:element name="lcf76f155ced4ddcb4097134ff3c332f" ma:index="17" nillable="true" ma:taxonomy="true" ma:internalName="lcf76f155ced4ddcb4097134ff3c332f" ma:taxonomyFieldName="MediaServiceImageTags" ma:displayName="Image Tags" ma:readOnly="false" ma:fieldId="{5cf76f15-5ced-4ddc-b409-7134ff3c332f}" ma:taxonomyMulti="true" ma:sspId="527491e8-f4ef-4635-9e85-3146e5dcd361"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19" nillable="true" ma:displayName="MediaServiceObjectDetectorVersions" ma:hidden="true" ma:indexed="true" ma:internalName="MediaServiceObjectDetectorVersions" ma:readOnly="true">
      <xsd:simpleType>
        <xsd:restriction base="dms:Text"/>
      </xsd:simpleType>
    </xsd:element>
    <xsd:element name="MediaServiceSearchProperties" ma:index="20" nillable="true" ma:displayName="MediaServiceSearchProperties" ma:hidden="true" ma:internalName="MediaServiceSearchProperties" ma:readOnly="true">
      <xsd:simpleType>
        <xsd:restriction base="dms:Note"/>
      </xsd:simpleType>
    </xsd:element>
    <xsd:element name="MediaServiceDateTaken" ma:index="21" nillable="true" ma:displayName="MediaServiceDateTaken" ma:hidden="true" ma:indexed="true" ma:internalName="MediaServiceDateTaken" ma:readOnly="true">
      <xsd:simpleType>
        <xsd:restriction base="dms:Text"/>
      </xsd:simpleType>
    </xsd:element>
    <xsd:element name="MediaServiceLocation" ma:index="24" nillable="true" ma:displayName="Location" ma:indexed="true" ma:internalName="MediaServiceLocation" ma:readOnly="true">
      <xsd:simpleType>
        <xsd:restriction base="dms:Text"/>
      </xsd:simpleType>
    </xsd:element>
    <xsd:element name="MediaServiceBillingMetadata" ma:index="25" nillable="true" ma:displayName="MediaServiceBillingMetadata" ma:hidden="true" ma:internalName="MediaServiceBillingMetadata" ma:readOnly="true">
      <xsd:simpleType>
        <xsd:restriction base="dms:Note"/>
      </xsd:simpleType>
    </xsd:element>
    <xsd:element name="MediaLengthInSeconds" ma:index="26"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60323a4b-ec8c-4870-a04a-4daeb2e428a0" elementFormDefault="qualified">
    <xsd:import namespace="http://schemas.microsoft.com/office/2006/documentManagement/types"/>
    <xsd:import namespace="http://schemas.microsoft.com/office/infopath/2007/PartnerControls"/>
    <xsd:element name="TaxCatchAll" ma:index="18" nillable="true" ma:displayName="Taxonomy Catch All Column" ma:hidden="true" ma:list="{fab32fd4-b725-4246-ae97-00f2796f2d8b}" ma:internalName="TaxCatchAll" ma:showField="CatchAllData" ma:web="60323a4b-ec8c-4870-a04a-4daeb2e428a0">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5684647e-1a6d-4b94-b02a-af0990aec00f" elementFormDefault="qualified">
    <xsd:import namespace="http://schemas.microsoft.com/office/2006/documentManagement/types"/>
    <xsd:import namespace="http://schemas.microsoft.com/office/infopath/2007/PartnerControls"/>
    <xsd:element name="SharedWithUsers" ma:index="2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3"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pc="http://schemas.microsoft.com/office/infopath/2007/PartnerControls" xmlns:xsi="http://www.w3.org/2001/XMLSchema-instance">
  <documentManagement>
    <lcf76f155ced4ddcb4097134ff3c332f xmlns="97990345-9152-4417-8f04-d1350c114d86">
      <Terms xmlns="http://schemas.microsoft.com/office/infopath/2007/PartnerControls"/>
    </lcf76f155ced4ddcb4097134ff3c332f>
    <TaxCatchAll xmlns="60323a4b-ec8c-4870-a04a-4daeb2e428a0" xsi:nil="true"/>
  </documentManagement>
</p:properties>
</file>

<file path=customXml/itemProps1.xml><?xml version="1.0" encoding="utf-8"?>
<ds:datastoreItem xmlns:ds="http://schemas.openxmlformats.org/officeDocument/2006/customXml" ds:itemID="{595B4667-E460-42B9-B123-AF1C3A04326C}">
  <ds:schemaRefs>
    <ds:schemaRef ds:uri="5684647e-1a6d-4b94-b02a-af0990aec00f"/>
    <ds:schemaRef ds:uri="60323a4b-ec8c-4870-a04a-4daeb2e428a0"/>
    <ds:schemaRef ds:uri="97990345-9152-4417-8f04-d1350c114d86"/>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1FB15A05-7974-443B-B2C6-66CA14E10BBE}">
  <ds:schemaRefs>
    <ds:schemaRef ds:uri="http://schemas.microsoft.com/sharepoint/v3/contenttype/forms"/>
  </ds:schemaRefs>
</ds:datastoreItem>
</file>

<file path=customXml/itemProps3.xml><?xml version="1.0" encoding="utf-8"?>
<ds:datastoreItem xmlns:ds="http://schemas.openxmlformats.org/officeDocument/2006/customXml" ds:itemID="{F45B40EE-95C0-4252-9204-87A3C9A26B20}">
  <ds:schemaRefs>
    <ds:schemaRef ds:uri="http://www.w3.org/XML/1998/namespace"/>
    <ds:schemaRef ds:uri="http://purl.org/dc/elements/1.1/"/>
    <ds:schemaRef ds:uri="http://purl.org/dc/terms/"/>
    <ds:schemaRef ds:uri="http://purl.org/dc/dcmitype/"/>
    <ds:schemaRef ds:uri="5684647e-1a6d-4b94-b02a-af0990aec00f"/>
    <ds:schemaRef ds:uri="http://schemas.microsoft.com/office/2006/documentManagement/types"/>
    <ds:schemaRef ds:uri="http://schemas.openxmlformats.org/package/2006/metadata/core-properties"/>
    <ds:schemaRef ds:uri="http://schemas.microsoft.com/office/infopath/2007/PartnerControls"/>
    <ds:schemaRef ds:uri="60323a4b-ec8c-4870-a04a-4daeb2e428a0"/>
    <ds:schemaRef ds:uri="97990345-9152-4417-8f04-d1350c114d86"/>
    <ds:schemaRef ds:uri="http://schemas.microsoft.com/office/2006/metadata/properties"/>
  </ds:schemaRefs>
</ds:datastoreItem>
</file>

<file path=docMetadata/LabelInfo.xml><?xml version="1.0" encoding="utf-8"?>
<clbl:labelList xmlns:clbl="http://schemas.microsoft.com/office/2020/mipLabelMetadata">
  <clbl:label id="{c327fc46-d125-460c-9dec-2276c3cb8bf4}" enabled="0" method="" siteId="{c327fc46-d125-460c-9dec-2276c3cb8bf4}" removed="1"/>
</clbl:labelList>
</file>

<file path=docProps/app.xml><?xml version="1.0" encoding="utf-8"?>
<Properties xmlns="http://schemas.openxmlformats.org/officeDocument/2006/extended-properties" xmlns:vt="http://schemas.openxmlformats.org/officeDocument/2006/docPropsVTypes">
  <Template>Nike Stock Pitch</Template>
  <TotalTime>399</TotalTime>
  <Words>1025</Words>
  <Application>Microsoft Office PowerPoint</Application>
  <PresentationFormat>On-screen Show (4:3)</PresentationFormat>
  <Paragraphs>229</Paragraphs>
  <Slides>12</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12</vt:i4>
      </vt:variant>
    </vt:vector>
  </HeadingPairs>
  <TitlesOfParts>
    <vt:vector size="19" baseType="lpstr">
      <vt:lpstr>Arial</vt:lpstr>
      <vt:lpstr>Avenir Next LT Pro</vt:lpstr>
      <vt:lpstr>Avenir Next LT Pro Demi</vt:lpstr>
      <vt:lpstr>Cambria</vt:lpstr>
      <vt:lpstr>Century Gothic</vt:lpstr>
      <vt:lpstr>Wingdings</vt:lpstr>
      <vt:lpstr>Theme1</vt:lpstr>
      <vt:lpstr>PowerPoint Presentation</vt:lpstr>
      <vt:lpstr>Table of Contents</vt:lpstr>
      <vt:lpstr>Investment thesis</vt:lpstr>
      <vt:lpstr>PowerPoint Presentation</vt:lpstr>
      <vt:lpstr>Stock Overview</vt:lpstr>
      <vt:lpstr>PowerPoint Presentation</vt:lpstr>
      <vt:lpstr>Valuation &amp; returns</vt:lpstr>
      <vt:lpstr>PowerPoint Presentation</vt:lpstr>
      <vt:lpstr>PowerPoint Presentation</vt:lpstr>
      <vt:lpstr>Competitive landscape</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Derrick Chen</dc:creator>
  <cp:lastModifiedBy>Derrick Chen</cp:lastModifiedBy>
  <cp:revision>3</cp:revision>
  <cp:lastPrinted>2026-06-10T00:07:23Z</cp:lastPrinted>
  <dcterms:created xsi:type="dcterms:W3CDTF">2026-06-26T21:07:49Z</dcterms:created>
  <dcterms:modified xsi:type="dcterms:W3CDTF">2026-07-02T20:59:50Z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TemplateID">
    <vt:lpwstr>TC028048779991</vt:lpwstr>
  </property>
  <property fmtid="{D5CDD505-2E9C-101B-9397-08002B2CF9AE}" pid="3" name="Modified By">
    <vt:lpwstr>i:0#.f|membership|tramirez@kildarepartners.com</vt:lpwstr>
  </property>
  <property fmtid="{D5CDD505-2E9C-101B-9397-08002B2CF9AE}" pid="4" name="Created By">
    <vt:lpwstr>i:0#.f|membership|tramirez@kildarepartners.com</vt:lpwstr>
  </property>
  <property fmtid="{D5CDD505-2E9C-101B-9397-08002B2CF9AE}" pid="5" name="ContentTypeId">
    <vt:lpwstr>0x010100CF3AA903C02CEB42B8ED53135F8CD172</vt:lpwstr>
  </property>
  <property fmtid="{D5CDD505-2E9C-101B-9397-08002B2CF9AE}" pid="6" name="MediaServiceImageTags">
    <vt:lpwstr/>
  </property>
</Properties>
</file>