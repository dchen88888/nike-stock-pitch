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~$245</a:t>
            </a:r>
            <a:r>
              <a:rPr sz="1200" b="0" dirty="0">
                <a:solidFill>
                  <a:srgbClr val="9AB0C4"/>
                </a:solidFill>
                <a:latin typeface="Avenir Next LT Pro"/>
              </a:rPr>
              <a:t>  </a:t>
            </a:r>
            <a:r>
              <a:rPr sz="1200" b="0" dirty="0">
                <a:solidFill>
                  <a:schemeClr val="bg1"/>
                </a:solidFill>
                <a:latin typeface="Avenir Next LT Pro"/>
              </a:rPr>
              <a:t>(today)</a:t>
            </a:r>
          </a:p>
          <a:p>
            <a:pPr algn="l"/>
            <a:r>
              <a:rPr sz="1100" b="0" dirty="0">
                <a:solidFill>
                  <a:schemeClr val="bg1"/>
                </a:solidFill>
                <a:latin typeface="Avenir Next LT Pro"/>
              </a:rPr>
              <a:t>~</a:t>
            </a:r>
            <a:r>
              <a:rPr lang="en-US" sz="1100" b="0" dirty="0">
                <a:solidFill>
                  <a:schemeClr val="bg1"/>
                </a:solidFill>
                <a:latin typeface="Avenir Next LT Pro"/>
              </a:rPr>
              <a:t>48</a:t>
            </a:r>
            <a:r>
              <a:rPr sz="1100" b="0" dirty="0">
                <a:solidFill>
                  <a:schemeClr val="bg1"/>
                </a:solidFill>
                <a:latin typeface="Avenir Next LT Pro"/>
              </a:rPr>
              <a:t>% upside to fair value   ·   FY2027E base target ~$315 (~29% IRR)   ·   Prob-weighted ~$</a:t>
            </a:r>
            <a:r>
              <a:rPr lang="en-US" sz="1100" b="0" dirty="0">
                <a:solidFill>
                  <a:schemeClr val="bg1"/>
                </a:solidFill>
                <a:latin typeface="Avenir Next LT Pro"/>
              </a:rPr>
              <a:t>288</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~$315</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Owns ~25%; </a:t>
            </a:r>
            <a:r>
              <a:rPr sz="1050" b="0" dirty="0">
                <a:latin typeface="Avenir Next LT Pro"/>
              </a:rPr>
              <a:t>bought ~$10M more at ~$216 (Jun 2024)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605</a:t>
                      </a:r>
                    </a:p>
                  </a:txBody>
                  <a:tcPr marL="73152" marR="73152" marT="18288" marB="18288" anchor="ctr">
                    <a:solidFill>
                      <a:srgbClr val="F4F6F8"/>
                    </a:solidFill>
                  </a:tcPr>
                </a:tc>
                <a:tc>
                  <a:txBody>
                    <a:bodyPr/>
                    <a:lstStyle/>
                    <a:p>
                      <a:pPr algn="ctr"/>
                      <a:r>
                        <a:rPr sz="1100" b="0" i="0">
                          <a:solidFill>
                            <a:schemeClr val="tx1"/>
                          </a:solidFill>
                          <a:latin typeface="Avenir Next LT Pro"/>
                        </a:rPr>
                        <a:t>717</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$717M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~$7.9B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~$315</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~$315</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~$288   (~73%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~25%; bought ~$10M more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