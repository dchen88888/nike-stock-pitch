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14" r:id="rId27"/>
    <p:sldId id="515" r:id="rId28"/>
    <p:sldId id="520" r:id="rId33"/>
    <p:sldId id="517" r:id="rId30"/>
    <p:sldId id="516" r:id="rId29"/>
    <p:sldId id="508" r:id="rId10"/>
    <p:sldId id="482" r:id="rId11"/>
    <p:sldId id="509" r:id="rId12"/>
    <p:sldId id="510" r:id="rId13"/>
    <p:sldId id="506" r:id="rId14"/>
    <p:sldId id="511" r:id="rId15"/>
    <p:sldId id="513" r:id="rId16"/>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2.xml"/><Relationship Id="rId30" Type="http://schemas.openxmlformats.org/officeDocument/2006/relationships/slide" Target="slides/slide11.xml"/><Relationship Id="rId31" Type="http://schemas.openxmlformats.org/officeDocument/2006/relationships/slide" Target="slides/slide6.xml"/><Relationship Id="rId32" Type="http://schemas.openxmlformats.org/officeDocument/2006/relationships/slide" Target="slides/slide5.xml"/><Relationship Id="rId33"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a:ln>
            <a:solidFill/>
          </a:ln>
        </p:spPr>
        <p:txBody>
          <a:bodyPr wrap="square">
            <a:spAutoFit/>
          </a:bodyPr>
          <a:lstStyle/>
          <a:p>
            <a:pPr algn="just" eaLnBrk="0" hangingPunct="0">
              <a:spcAft>
                <a:spcPts val="400"/>
              </a:spcAft>
            </a:pPr>
            <a:r>
              <a:rPr lang="en-US" sz="650" i="1">
                <a:solidFill/>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solidFill/>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solidFill/>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a:ln>
            <a:solidFill/>
          </a:ln>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solidFill/>
          </a:ln>
          <a:effectLst/>
        </p:spPr>
        <p:txBody>
          <a:bodyPr vert="horz" wrap="square" lIns="73152" tIns="42203" rIns="73152" bIns="42203" rtlCol="0" anchor="ctr" anchorCtr="0">
            <a:noAutofit/>
          </a:bodyPr>
          <a:lstStyle/>
          <a:p>
            <a:pPr algn="ctr"/>
            <a:r>
              <a:rPr lang="en-US" sz="2400" dirty="0">
                <a:solidFill/>
                <a:latin typeface="Avenir Next LT Pro Demi" panose="020B0704020202020204" pitchFamily="34" charset="0"/>
              </a:rPr>
              <a:t>Restoration Hardware </a:t>
            </a:r>
            <a:r>
              <a:rPr lang="en-US" sz="2400">
                <a:solidFill/>
                <a:latin typeface="Avenir Next LT Pro Demi" panose="020B0704020202020204" pitchFamily="34" charset="0"/>
              </a:rPr>
              <a:t>(RH) Stock </a:t>
            </a:r>
            <a:r>
              <a:rPr lang="en-US" sz="2400" dirty="0">
                <a:solidFill/>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a:ln>
            <a:solidFill/>
          </a:ln>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a:ln>
            <a:solidFill/>
          </a:ln>
        </p:spPr>
        <p:txBody>
          <a:bodyPr/>
          <a:lstStyle/>
          <a:p>
            <a:r>
              <a:rPr lang="en-US">
                <a:solidFill/>
              </a:rPr>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rgbClr val="FFFFFF"/>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tc>
                  <a:txBody>
                    <a:bodyPr/>
                    <a:lstStyle/>
                    <a:p>
                      <a:pPr algn="ctr"/>
                      <a:r>
                        <a:rPr lang="en-US" sz="1400" b="1">
                          <a:solidFill>
                            <a:srgbClr val="FFFFFF"/>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a:ln>
            <a:solidFill/>
          </a:ln>
        </p:spPr>
        <p:txBody>
          <a:bodyPr/>
          <a:lstStyle/>
          <a:p>
            <a:r>
              <a:rPr lang="en-US">
                <a:solidFill/>
              </a:rPr>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a:ln>
            <a:solidFill/>
          </a:ln>
        </p:spPr>
        <p:txBody>
          <a:bodyPr wrap="square">
            <a:spAutoFit/>
          </a:bodyPr>
          <a:lstStyle/>
          <a:p>
            <a:r>
              <a:rPr sz="2600" b="0" dirty="0">
                <a:solidFill/>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solid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000000"/>
                </a:solidFill>
                <a:latin typeface="Avenir Next LT Pro Demi"/>
              </a:rPr>
              <a:t>~$310</a:t>
            </a:r>
            <a:r>
              <a:rPr lang="en-US" sz="2400" b="1" dirty="0">
                <a:solidFill>
                  <a:srgbClr val="000000"/>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a:ln>
            <a:solidFill/>
          </a:ln>
        </p:spPr>
        <p:txBody>
          <a:bodyPr wrap="square">
            <a:spAutoFit/>
          </a:bodyPr>
          <a:lstStyle/>
          <a:p>
            <a:r>
              <a:rPr sz="1300" b="1">
                <a:solidFill>
                  <a:srgbClr val="000000"/>
                </a:solidFill>
                <a:latin typeface="Avenir Next LT Pro Demi"/>
              </a:rPr>
              <a:t>Why it's interesting</a:t>
            </a:r>
          </a:p>
          <a:p>
            <a:pPr>
              <a:spcBef>
                <a:spcPts val="600"/>
              </a:spcBef>
            </a:pPr>
            <a:r>
              <a:rPr sz="1100">
                <a:solidFill>
                  <a:srgbClr val="000000"/>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000000"/>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000000"/>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a:ln>
            <a:solidFill/>
          </a:ln>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9A7B44"/>
                    </a:solidFill>
                  </a:tcPr>
                </a:tc>
                <a:tc>
                  <a:txBody>
                    <a:bodyPr/>
                    <a:lstStyle/>
                    <a:p>
                      <a:pPr algn="ctr"/>
                      <a:r>
                        <a:rPr sz="1100" b="1">
                          <a:solidFill>
                            <a:srgbClr val="FFFFFF"/>
                          </a:solidFill>
                          <a:latin typeface="Avenir Next LT Pro Demi"/>
                        </a:rPr>
                        <a:t>Value</a:t>
                      </a:r>
                    </a:p>
                  </a:txBody>
                  <a:tcPr marL="91440" marT="27432" marB="27432" anchor="ctr">
                    <a:solidFill>
                      <a:srgbClr val="9A7B44"/>
                    </a:solidFill>
                  </a:tcPr>
                </a:tc>
                <a:tc>
                  <a:txBody>
                    <a:bodyPr/>
                    <a:lstStyle/>
                    <a:p>
                      <a:pPr algn="l"/>
                      <a:r>
                        <a:rPr sz="1100" b="1">
                          <a:solidFill>
                            <a:srgbClr val="FFFFFF"/>
                          </a:solidFill>
                          <a:latin typeface="Avenir Next LT Pro Demi"/>
                        </a:rPr>
                        <a:t>Implied read</a:t>
                      </a:r>
                    </a:p>
                  </a:txBody>
                  <a:tcPr marL="91440" marT="27432" marB="27432" anchor="ctr">
                    <a:solidFill>
                      <a:srgbClr val="9A7B44"/>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000000"/>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000000"/>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000000"/>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000000"/>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a:ln>
            <a:solidFill/>
          </a:ln>
        </p:spPr>
        <p:txBody>
          <a:bodyPr wrap="square">
            <a:spAutoFit/>
          </a:bodyPr>
          <a:lstStyle/>
          <a:p>
            <a:r>
              <a:rPr sz="1200">
                <a:solidFill>
                  <a:srgbClr val="000000"/>
                </a:solidFill>
                <a:latin typeface="Avenir Next LT Pro"/>
              </a:rPr>
              <a:t>Takeaway: I match the Street on proven value (~$165 ≈ price).</a:t>
            </a:r>
          </a:p>
          <a:p>
            <a:pPr>
              <a:spcBef>
                <a:spcPts val="800"/>
              </a:spcBef>
            </a:pPr>
            <a:r>
              <a:rPr sz="1200" b="1">
                <a:solidFill>
                  <a:srgbClr val="000000"/>
                </a:solidFill>
                <a:latin typeface="Avenir Next LT Pro Demi"/>
              </a:rPr>
              <a:t>My edge is the conditional upside (~$240–310) — and the discipline to wait for proof before paying for it.</a:t>
            </a:r>
          </a:p>
        </p:txBody>
      </p:sp>
      <p:sp>
        <p:nvSpPr>
          <p:cNvPr id="6" name="TextBox 5"/>
          <p:cNvSpPr txBox="1"/>
          <p:nvPr/>
        </p:nvSpPr>
        <p:spPr>
          <a:xfrm>
            <a:off x="457200" y="6172200"/>
            <a:ext cx="8229600" cy="274320"/>
          </a:xfrm>
          <a:prstGeom prst="rect">
            <a:avLst/>
          </a:prstGeom>
          <a:noFill/>
          <a:ln>
            <a:solidFill/>
          </a:ln>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a:ln>
            <a:solidFill/>
          </a:ln>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a:ln>
            <a:solidFill/>
          </a:ln>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a:ln>
            <a:solidFill/>
          </a:ln>
        </p:spPr>
        <p:txBody>
          <a:bodyPr wrap="square" anchor="ctr">
            <a:spAutoFit/>
          </a:bodyPr>
          <a:lstStyle/>
          <a:p>
            <a:r>
              <a:rPr sz="1150">
                <a:solidFill>
                  <a:srgbClr val="000000"/>
                </a:solidFill>
                <a:latin typeface="Avenir Next LT Pro"/>
              </a:rPr>
              <a:t>Revenue back in/above the 4.5–8% guide and a return to profit — a trend, not one quarter.</a:t>
            </a:r>
          </a:p>
        </p:txBody>
      </p:sp>
      <p:sp>
        <p:nvSpPr>
          <p:cNvPr id="8" name="Rectangle 7"/>
          <p:cNvSpPr/>
          <p:nvPr/>
        </p:nvSpPr>
        <p:spPr>
          <a:xfrm>
            <a:off x="457200" y="2999232"/>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a:ln>
            <a:solidFill/>
          </a:ln>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a:ln>
            <a:solidFill/>
          </a:ln>
        </p:spPr>
        <p:txBody>
          <a:bodyPr wrap="square" anchor="ctr">
            <a:spAutoFit/>
          </a:bodyPr>
          <a:lstStyle/>
          <a:p>
            <a:r>
              <a:rPr sz="1150">
                <a:solidFill>
                  <a:srgbClr val="000000"/>
                </a:solidFill>
                <a:latin typeface="Avenir Next LT Pro"/>
              </a:rPr>
              <a:t>Real revenue and gallery traction. Launched Jun 2026 — no data yet; first read Q2 FY2026.</a:t>
            </a:r>
          </a:p>
        </p:txBody>
      </p:sp>
      <p:sp>
        <p:nvSpPr>
          <p:cNvPr id="11" name="Rectangle 10"/>
          <p:cNvSpPr/>
          <p:nvPr/>
        </p:nvSpPr>
        <p:spPr>
          <a:xfrm>
            <a:off x="457200" y="4306824"/>
            <a:ext cx="82296" cy="114300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a:ln>
            <a:solidFill/>
          </a:ln>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a:ln>
            <a:solidFill/>
          </a:ln>
        </p:spPr>
        <p:txBody>
          <a:bodyPr wrap="square" anchor="ctr">
            <a:spAutoFit/>
          </a:bodyPr>
          <a:lstStyle/>
          <a:p>
            <a:r>
              <a:rPr sz="1150">
                <a:solidFill>
                  <a:srgbClr val="000000"/>
                </a:solidFill>
                <a:latin typeface="Avenir Next LT Pro"/>
              </a:rPr>
              <a:t>Net debt falling on real FCF — not the one-time inventory unwind. Leverage toward ~3×.</a:t>
            </a:r>
          </a:p>
        </p:txBody>
      </p:sp>
      <p:sp>
        <p:nvSpPr>
          <p:cNvPr id="14" name="TextBox 13"/>
          <p:cNvSpPr txBox="1"/>
          <p:nvPr/>
        </p:nvSpPr>
        <p:spPr>
          <a:xfrm>
            <a:off x="457200" y="5532120"/>
            <a:ext cx="8229600" cy="457200"/>
          </a:xfrm>
          <a:prstGeom prst="rect">
            <a:avLst/>
          </a:prstGeom>
          <a:noFill/>
          <a:ln>
            <a:solidFill/>
          </a:ln>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172200"/>
            <a:ext cx="8229600" cy="274320"/>
          </a:xfrm>
          <a:prstGeom prst="rect">
            <a:avLst/>
          </a:prstGeom>
          <a:noFill/>
          <a:ln>
            <a:solidFill/>
          </a:ln>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a:ln>
            <a:solidFill/>
          </a:ln>
        </p:spPr>
        <p:txBody>
          <a:bodyPr/>
          <a:lstStyle/>
          <a:p>
            <a:r>
              <a:rPr lang="en-US">
                <a:solidFill/>
              </a:rPr>
              <a:t>Stock</a:t>
            </a:r>
            <a:br>
              <a:rPr lang="en-US"/>
            </a:br>
            <a:r>
              <a:rPr lang="en-US" sz="1800">
                <a:solidFill/>
              </a:rPr>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a:ln>
            <a:solidFill/>
          </a:ln>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a:ln>
            <a:solidFill/>
          </a:ln>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a:ln>
            <a:solidFill/>
          </a:ln>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a:ln>
            <a:solidFill/>
          </a:ln>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a:ln>
            <a:solidFill/>
          </a:ln>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a:ln>
            <a:solidFill/>
          </a:ln>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532120"/>
            <a:ext cx="8229600" cy="411480"/>
          </a:xfrm>
          <a:prstGeom prst="rect">
            <a:avLst/>
          </a:prstGeom>
          <a:noFill/>
          <a:ln>
            <a:solidFill/>
          </a:ln>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a:ln>
            <a:solidFill/>
          </a:ln>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a:ln>
            <a:solidFill/>
          </a:ln>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a:ln>
            <a:solidFill/>
          </a:ln>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a:ln>
            <a:solidFill/>
          </a:ln>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000">
                <a:solidFill>
                  <a:srgbClr val="000000"/>
                </a:solidFill>
                <a:latin typeface="Avenir Next LT Pro Demi"/>
              </a:rPr>
              <a:t>Recent Developments — Strategy in Action (and What to Watch)</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8001000" cy="1325880"/>
          </a:xfrm>
          <a:prstGeom prst="rect">
            <a:avLst/>
          </a:prstGeom>
          <a:noFill/>
          <a:ln>
            <a:solidFill/>
          </a:ln>
        </p:spPr>
        <p:txBody>
          <a:bodyPr wrap="square" anchor="ctr">
            <a:spAutoFit/>
          </a:bodyPr>
          <a:lstStyle/>
          <a:p>
            <a:r>
              <a:rPr sz="1350" b="1">
                <a:solidFill>
                  <a:srgbClr val="000000"/>
                </a:solidFill>
                <a:latin typeface="Avenir Next LT Pro Demi"/>
              </a:rPr>
              <a:t>RH Estates — unveiled</a:t>
            </a:r>
          </a:p>
          <a:p>
            <a:pPr>
              <a:spcBef>
                <a:spcPts val="300"/>
              </a:spcBef>
            </a:pPr>
            <a:r>
              <a:rPr sz="1100">
                <a:solidFill>
                  <a:srgbClr val="000000"/>
                </a:solidFill>
                <a:latin typeface="Avenir Next LT Pro"/>
              </a:rPr>
              <a:t>Acquired legendary ateliers — Michael Taylor, Dennis &amp; Leen, Dmitriy &amp; Co., Formations.</a:t>
            </a:r>
          </a:p>
          <a:p>
            <a:pPr>
              <a:spcBef>
                <a:spcPts val="200"/>
              </a:spcBef>
            </a:pPr>
            <a:r>
              <a:rPr sz="1050" i="1">
                <a:solidFill>
                  <a:srgbClr val="000000"/>
                </a:solidFill>
                <a:latin typeface="Avenir Next LT Pro"/>
              </a:rPr>
              <a:t>Watch: Owned exclusivity rivals can't copy — a real moat. Commercially unproven; first read Q2 FY2026.</a:t>
            </a:r>
          </a:p>
        </p:txBody>
      </p:sp>
      <p:sp>
        <p:nvSpPr>
          <p:cNvPr id="6" name="Rectangle 5"/>
          <p:cNvSpPr/>
          <p:nvPr/>
        </p:nvSpPr>
        <p:spPr>
          <a:xfrm>
            <a:off x="457200" y="274320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743200"/>
            <a:ext cx="8001000" cy="1325880"/>
          </a:xfrm>
          <a:prstGeom prst="rect">
            <a:avLst/>
          </a:prstGeom>
          <a:noFill/>
          <a:ln>
            <a:solidFill/>
          </a:ln>
        </p:spPr>
        <p:txBody>
          <a:bodyPr wrap="square" anchor="ctr">
            <a:spAutoFit/>
          </a:bodyPr>
          <a:lstStyle/>
          <a:p>
            <a:r>
              <a:rPr sz="1350" b="1">
                <a:solidFill>
                  <a:srgbClr val="000000"/>
                </a:solidFill>
                <a:latin typeface="Avenir Next LT Pro Demi"/>
              </a:rPr>
              <a:t>Mercedes-AMG F1 partnership</a:t>
            </a:r>
          </a:p>
          <a:p>
            <a:pPr>
              <a:spcBef>
                <a:spcPts val="300"/>
              </a:spcBef>
            </a:pPr>
            <a:r>
              <a:rPr sz="1100">
                <a:solidFill>
                  <a:srgbClr val="000000"/>
                </a:solidFill>
                <a:latin typeface="Avenir Next LT Pro"/>
              </a:rPr>
              <a:t>RH to design the team's global hospitality (Abu Dhabi, Miami, Monaco, Silverstone) from late 2026.</a:t>
            </a:r>
          </a:p>
          <a:p>
            <a:pPr>
              <a:spcBef>
                <a:spcPts val="200"/>
              </a:spcBef>
            </a:pPr>
            <a:r>
              <a:rPr sz="1050" i="1">
                <a:solidFill>
                  <a:srgbClr val="000000"/>
                </a:solidFill>
                <a:latin typeface="Avenir Next LT Pro"/>
              </a:rPr>
              <a:t>Watch: Elite brand halo, on-strategy — but immaterial to near-term financials.</a:t>
            </a:r>
          </a:p>
        </p:txBody>
      </p:sp>
      <p:sp>
        <p:nvSpPr>
          <p:cNvPr id="8" name="Rectangle 7"/>
          <p:cNvSpPr/>
          <p:nvPr/>
        </p:nvSpPr>
        <p:spPr>
          <a:xfrm>
            <a:off x="457200" y="420624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206240"/>
            <a:ext cx="8001000" cy="1325880"/>
          </a:xfrm>
          <a:prstGeom prst="rect">
            <a:avLst/>
          </a:prstGeom>
          <a:noFill/>
          <a:ln>
            <a:solidFill/>
          </a:ln>
        </p:spPr>
        <p:txBody>
          <a:bodyPr wrap="square" anchor="ctr">
            <a:spAutoFit/>
          </a:bodyPr>
          <a:lstStyle/>
          <a:p>
            <a:r>
              <a:rPr sz="1350" b="1">
                <a:solidFill>
                  <a:srgbClr val="000000"/>
                </a:solidFill>
                <a:latin typeface="Avenir Next LT Pro Demi"/>
              </a:rPr>
              <a:t>RH London — Mayfair flagship</a:t>
            </a:r>
          </a:p>
          <a:p>
            <a:pPr>
              <a:spcBef>
                <a:spcPts val="300"/>
              </a:spcBef>
            </a:pPr>
            <a:r>
              <a:rPr sz="1100">
                <a:solidFill>
                  <a:srgbClr val="000000"/>
                </a:solidFill>
                <a:latin typeface="Avenir Next LT Pro"/>
              </a:rPr>
              <a:t>Five-level gallery in London's luxury core (New Bond St / Savile Row).</a:t>
            </a:r>
          </a:p>
          <a:p>
            <a:pPr>
              <a:spcBef>
                <a:spcPts val="200"/>
              </a:spcBef>
            </a:pPr>
            <a:r>
              <a:rPr sz="1050" i="1">
                <a:solidFill>
                  <a:srgbClr val="000000"/>
                </a:solidFill>
                <a:latin typeface="Avenir Next LT Pro"/>
              </a:rPr>
              <a:t>Watch: Doubles down on Europe — capital-intensive and unproven. Watch productivity vs. margin drag.</a:t>
            </a:r>
          </a:p>
        </p:txBody>
      </p:sp>
      <p:sp>
        <p:nvSpPr>
          <p:cNvPr id="10" name="TextBox 9"/>
          <p:cNvSpPr txBox="1"/>
          <p:nvPr/>
        </p:nvSpPr>
        <p:spPr>
          <a:xfrm>
            <a:off x="457200" y="5532120"/>
            <a:ext cx="8229600" cy="457200"/>
          </a:xfrm>
          <a:prstGeom prst="rect">
            <a:avLst/>
          </a:prstGeom>
          <a:noFill/>
          <a:ln>
            <a:solidFill/>
          </a:ln>
        </p:spPr>
        <p:txBody>
          <a:bodyPr wrap="square">
            <a:spAutoFit/>
          </a:bodyPr>
          <a:lstStyle/>
          <a:p>
            <a:r>
              <a:rPr sz="1100" b="1">
                <a:solidFill>
                  <a:srgbClr val="000000"/>
                </a:solidFill>
                <a:latin typeface="Avenir Next LT Pro Demi"/>
              </a:rPr>
              <a:t>Expanding on all fronts — differentiated (Estates) and brand-elevating (F1, Mayfair) — but unproven and/or capital-intensive during a levered stretch. Watch items, not yet catalysts.</a:t>
            </a:r>
          </a:p>
        </p:txBody>
      </p:sp>
      <p:sp>
        <p:nvSpPr>
          <p:cNvPr id="11" name="TextBox 10"/>
          <p:cNvSpPr txBox="1"/>
          <p:nvPr/>
        </p:nvSpPr>
        <p:spPr>
          <a:xfrm>
            <a:off x="457200" y="6172200"/>
            <a:ext cx="8229600" cy="274320"/>
          </a:xfrm>
          <a:prstGeom prst="rect">
            <a:avLst/>
          </a:prstGeom>
          <a:noFill/>
          <a:ln>
            <a:solidFill/>
          </a:ln>
        </p:spPr>
        <p:txBody>
          <a:bodyPr wrap="none">
            <a:spAutoFit/>
          </a:bodyPr>
          <a:lstStyle/>
          <a:p>
            <a:r>
              <a:rPr sz="750" i="1">
                <a:solidFill>
                  <a:srgbClr val="707070"/>
                </a:solidFill>
                <a:latin typeface="Avenir Next LT Pro"/>
              </a:rPr>
              <a:t>Sources: RH company announcements (Business Wire),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a:ln>
            <a:solidFill/>
          </a:ln>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a:ln>
            <a:solidFill/>
          </a:ln>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a:ln>
            <a:solidFill/>
          </a:ln>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a:ln>
            <a:solidFill/>
          </a:ln>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a:ln>
            <a:solidFill/>
          </a:ln>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a:ln>
            <a:solidFill/>
          </a:ln>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a:ln>
            <a:solidFill/>
          </a:ln>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a:ln>
            <a:solidFill/>
          </a:ln>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a:ln>
            <a:solid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a:ln>
            <a:solid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a:ln>
            <a:solid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a:ln>
            <a:solid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a:ln>
            <a:solid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a:ln>
            <a:solid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a:ln>
            <a:solidFill/>
          </a:ln>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solidFill/>
          </a:ln>
        </p:spPr>
        <p:txBody>
          <a:bodyPr wrap="square">
            <a:spAutoFit/>
          </a:bodyPr>
          <a:lstStyle/>
          <a:p>
            <a:r>
              <a:rPr sz="2300" b="0" i="0" dirty="0">
                <a:solidFill/>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a:ln>
            <a:solidFill/>
          </a:ln>
        </p:spPr>
        <p:txBody>
          <a:bodyPr wrap="square">
            <a:spAutoFit/>
          </a:bodyPr>
          <a:lstStyle/>
          <a:p>
            <a:r>
              <a:rPr sz="1000" b="1" i="0" dirty="0">
                <a:solidFill>
                  <a:srgbClr val="000000"/>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a:ln>
            <a:solidFill/>
          </a:ln>
        </p:spPr>
        <p:txBody>
          <a:bodyPr/>
          <a:lstStyle/>
          <a:p>
            <a:r>
              <a:rPr lang="en-US">
                <a:solidFill/>
              </a:rPr>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solidFill/>
          </a:ln>
        </p:spPr>
        <p:txBody>
          <a:bodyPr wrap="square">
            <a:spAutoFit/>
          </a:bodyPr>
          <a:lstStyle/>
          <a:p>
            <a:r>
              <a:rPr sz="2300" b="0" i="0" dirty="0">
                <a:solidFill/>
                <a:latin typeface="Avenir Next LT Pro Demi"/>
              </a:rPr>
              <a:t>Valuation — EV/EBITDA, FY2027E</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000000"/>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a:ln>
            <a:solidFill/>
          </a:ln>
        </p:spPr>
        <p:txBody>
          <a:bodyPr wrap="none">
            <a:spAutoFit/>
          </a:bodyPr>
          <a:lstStyle/>
          <a:p>
            <a:r>
              <a:rPr sz="1300" b="1" i="0">
                <a:solidFill>
                  <a:srgbClr val="000000"/>
                </a:solidFill>
                <a:latin typeface="Avenir Next LT Pro Demi"/>
              </a:rPr>
              <a:t>Probability-weighted target: ~$285   (~72% upside from ~$166)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solidFill/>
          </a:ln>
        </p:spPr>
        <p:txBody>
          <a:bodyPr wrap="square">
            <a:spAutoFit/>
          </a:bodyPr>
          <a:lstStyle/>
          <a:p>
            <a:r>
              <a:rPr sz="2300" b="0" i="0" dirty="0">
                <a:solidFill/>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9A7B44"/>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9A7B44"/>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a:ln>
            <a:solidFill/>
          </a:ln>
        </p:spPr>
        <p:txBody>
          <a:bodyPr wrap="square">
            <a:spAutoFit/>
          </a:bodyPr>
          <a:lstStyle/>
          <a:p>
            <a:r>
              <a:rPr sz="1100" b="1" i="0" dirty="0">
                <a:solidFill/>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a:ln>
            <a:solidFill/>
          </a:ln>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a:ln>
            <a:solidFill/>
          </a:ln>
        </p:spPr>
        <p:txBody>
          <a:bodyPr/>
          <a:lstStyle/>
          <a:p>
            <a:r>
              <a:rPr lang="en-US">
                <a:solidFill/>
              </a:rPr>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a:ln>
            <a:solidFill/>
          </a:ln>
        </p:spPr>
        <p:txBody>
          <a:bodyPr wrap="square">
            <a:spAutoFit/>
          </a:bodyPr>
          <a:lstStyle/>
          <a:p>
            <a:r>
              <a:rPr sz="2300" b="0" i="0" dirty="0">
                <a:solidFill/>
                <a:latin typeface="Avenir Next LT Pro Demi"/>
              </a:rPr>
              <a:t>Competitive Landscape</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9A7B44"/>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a:ln>
            <a:solidFill/>
          </a:ln>
        </p:spPr>
        <p:txBody>
          <a:bodyPr wrap="square">
            <a:spAutoFit/>
          </a:bodyPr>
          <a:lstStyle/>
          <a:p>
            <a:r>
              <a:rPr sz="1100" b="1" i="0" dirty="0">
                <a:solidFill/>
                <a:latin typeface="Avenir Next LT Pro Demi"/>
              </a:rPr>
              <a:t>The real competitor is Arhaus, not European luxury.</a:t>
            </a:r>
          </a:p>
          <a:p>
            <a:r>
              <a:rPr sz="1000" b="0" i="0" dirty="0">
                <a:solidFill/>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a:ln>
            <a:solidFill/>
          </a:ln>
        </p:spPr>
        <p:txBody>
          <a:bodyPr wrap="square">
            <a:spAutoFit/>
          </a:bodyPr>
          <a:lstStyle/>
          <a:p>
            <a:r>
              <a:rPr sz="2300" b="0" i="0" dirty="0">
                <a:solidFill/>
                <a:latin typeface="Avenir Next LT Pro Demi"/>
              </a:rPr>
              <a:t>Key Risks — What Has to Go Wrong</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