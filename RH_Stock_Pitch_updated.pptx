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481" r:id="rId9"/>
    <p:sldId id="508" r:id="rId10"/>
    <p:sldId id="482" r:id="rId11"/>
    <p:sldId id="509" r:id="rId12"/>
    <p:sldId id="510" r:id="rId13"/>
    <p:sldId id="506" r:id="rId14"/>
    <p:sldId id="511" r:id="rId15"/>
    <p:sldId id="513" r:id="rId16"/>
    <p:sldId id="514" r:id="rId27"/>
    <p:sldId id="515" r:id="rId28"/>
    <p:sldId id="516" r:id="rId29"/>
    <p:sldId id="517" r:id="rId30"/>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p:spPr>
        <p:txBody>
          <a:bodyPr wrap="square">
            <a:spAutoFit/>
          </a:bodyPr>
          <a:lstStyle/>
          <a:p>
            <a:pPr algn="just" eaLnBrk="0" hangingPunct="0">
              <a:spcAft>
                <a:spcPts val="400"/>
              </a:spcAft>
            </a:pPr>
            <a:r>
              <a:rPr lang="en-US" sz="650" i="1">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latin typeface="Avenir Next LT Pro Demi" panose="020B0704020202020204" pitchFamily="34" charset="0"/>
              </a:rPr>
              <a:t>Restoration Hardware </a:t>
            </a:r>
            <a:r>
              <a:rPr lang="en-US" sz="2400">
                <a:latin typeface="Avenir Next LT Pro Demi" panose="020B0704020202020204" pitchFamily="34" charset="0"/>
              </a:rPr>
              <a:t>(RH) Stock </a:t>
            </a:r>
            <a:r>
              <a:rPr lang="en-US" sz="2400" dirty="0">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p:txBody>
          <a:bodyPr/>
          <a:lstStyle/>
          <a:p>
            <a:r>
              <a:rPr lang="en-US"/>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chemeClr val="tx1"/>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400" b="1">
                          <a:solidFill>
                            <a:schemeClr val="tx1"/>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p:txBody>
          <a:bodyPr/>
          <a:lstStyle/>
          <a:p>
            <a:r>
              <a:rPr lang="en-US"/>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p:spPr>
        <p:txBody>
          <a:bodyPr wrap="square">
            <a:spAutoFit/>
          </a:bodyPr>
          <a:lstStyle/>
          <a:p>
            <a:r>
              <a:rPr sz="2600" b="0" dirty="0">
                <a:latin typeface="Avenir Next LT Pro Demi"/>
              </a:rPr>
              <a:t>Recommendation: Buy</a:t>
            </a:r>
          </a:p>
        </p:txBody>
      </p:sp>
      <p:sp>
        <p:nvSpPr>
          <p:cNvPr id="4" name="Rectangle 3"/>
          <p:cNvSpPr/>
          <p:nvPr/>
        </p:nvSpPr>
        <p:spPr>
          <a:xfrm>
            <a:off x="457200" y="995363"/>
            <a:ext cx="8229600" cy="868680"/>
          </a:xfrm>
          <a:prstGeom prst="rect">
            <a:avLst/>
          </a:prstGeom>
          <a:solidFill>
            <a:srgbClr val="AF8C49"/>
          </a:solidFill>
          <a:ln>
            <a:no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Fair Value ~$240</a:t>
            </a:r>
            <a:r>
              <a:rPr sz="1200" b="0" dirty="0">
                <a:solidFill>
                  <a:srgbClr val="9AB0C4"/>
                </a:solidFill>
                <a:latin typeface="Avenir Next LT Pro"/>
              </a:rPr>
              <a:t>  </a:t>
            </a:r>
            <a:r>
              <a:rPr sz="1200" b="0" dirty="0">
                <a:solidFill>
                  <a:schemeClr val="bg1"/>
                </a:solidFill>
                <a:latin typeface="Avenir Next LT Pro"/>
              </a:rPr>
              <a:t>(today)</a:t>
            </a:r>
          </a:p>
          <a:p>
            <a:pPr algn="l"/>
            <a:r>
              <a:rPr sz="1100" b="0" dirty="0">
                <a:solidFill>
                  <a:schemeClr val="bg1"/>
                </a:solidFill>
                <a:latin typeface="Avenir Next LT Pro"/>
              </a:rPr>
              <a:t>~</a:t>
            </a:r>
            <a:r>
              <a:rPr lang="en-US" sz="1100" b="0" dirty="0">
                <a:solidFill>
                  <a:schemeClr val="bg1"/>
                </a:solidFill>
                <a:latin typeface="Avenir Next LT Pro"/>
              </a:rPr>
              <a:t>45</a:t>
            </a:r>
            <a:r>
              <a:rPr sz="1100" b="0" dirty="0">
                <a:solidFill>
                  <a:schemeClr val="bg1"/>
                </a:solidFill>
                <a:latin typeface="Avenir Next LT Pro"/>
              </a:rPr>
              <a:t>% upside to fair value   ·   FY2027E base target ~$310 (~28% IRR)   ·   Prob-weighted ~$</a:t>
            </a:r>
            <a:r>
              <a:rPr lang="en-US" sz="1100" b="0" dirty="0">
                <a:solidFill>
                  <a:schemeClr val="bg1"/>
                </a:solidFill>
                <a:latin typeface="Avenir Next LT Pro"/>
              </a:rPr>
              <a:t>285</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156082"/>
                </a:solidFill>
                <a:latin typeface="Avenir Next LT Pro Demi"/>
              </a:rPr>
              <a:t>~$310</a:t>
            </a:r>
            <a:r>
              <a:rPr lang="en-US" sz="2400" b="1" dirty="0">
                <a:solidFill>
                  <a:srgbClr val="156082"/>
                </a:solidFill>
                <a:latin typeface="Avenir Next LT Pro Demi"/>
              </a:rPr>
              <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~$562</a:t>
            </a:r>
            <a:r>
              <a:rPr lang="en-US" sz="2400" b="1">
                <a:solidFill>
                  <a:srgbClr val="196B24"/>
                </a:solidFill>
                <a:latin typeface="Avenir Next LT Pro Demi"/>
              </a:rPr>
              <a:t/>
            </a:r>
            <a:endParaRPr sz="2400" b="1" dirty="0">
              <a:solidFill>
                <a:srgbClr val="196B24"/>
              </a:solidFill>
              <a:latin typeface="Avenir Next LT Pro Demi"/>
            </a:endParaRPr>
          </a:p>
        </p:txBody>
      </p:sp>
      <p:sp>
        <p:nvSpPr>
          <p:cNvPr id="8" name="Rectangle 7"/>
          <p:cNvSpPr/>
          <p:nvPr/>
        </p:nvSpPr>
        <p:spPr>
          <a:xfrm>
            <a:off x="457200"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3410712"/>
            <a:ext cx="3776472" cy="1049005"/>
          </a:xfrm>
          <a:prstGeom prst="rect">
            <a:avLst/>
          </a:prstGeom>
          <a:noFill/>
        </p:spPr>
        <p:txBody>
          <a:bodyPr wrap="square">
            <a:spAutoFit/>
          </a:bodyPr>
          <a:lstStyle/>
          <a:p>
            <a:r>
              <a:rPr sz="1350" b="1" dirty="0">
                <a:latin typeface="Avenir Next LT Pro Demi"/>
              </a:rPr>
              <a:t>Bet on the operator</a:t>
            </a:r>
          </a:p>
          <a:p>
            <a:pPr marL="171450" indent="-171450">
              <a:spcBef>
                <a:spcPts val="200"/>
              </a:spcBef>
              <a:buFont typeface="Arial" panose="020B0604020202020204" pitchFamily="34" charset="0"/>
              <a:buChar char="•"/>
            </a:pPr>
            <a:r>
              <a:rPr sz="1050" b="0" dirty="0">
                <a:latin typeface="Avenir Next LT Pro"/>
              </a:rPr>
              <a:t>Friedman took Pottery Barn from $50M to $1B+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B</a:t>
            </a:r>
            <a:r>
              <a:rPr sz="1050" b="0" dirty="0">
                <a:latin typeface="Avenir Next LT Pro"/>
              </a:rPr>
              <a:t>uilt the Gallery model</a:t>
            </a:r>
            <a:endParaRPr lang="en-US" sz="1050" b="0" dirty="0">
              <a:latin typeface="Avenir Next LT Pro"/>
            </a:endParaRPr>
          </a:p>
          <a:p>
            <a:pPr marL="171450" indent="-171450">
              <a:spcBef>
                <a:spcPts val="200"/>
              </a:spcBef>
              <a:buFont typeface="Arial" panose="020B0604020202020204" pitchFamily="34" charset="0"/>
              <a:buChar char="•"/>
            </a:pPr>
            <a:r>
              <a:rPr lang="en-US" sz="1050" b="0" dirty="0">
                <a:latin typeface="Avenir Next LT Pro"/>
              </a:rPr>
              <a:t>~18% outright (~25% incl. options); </a:t>
            </a:r>
            <a:r>
              <a:rPr sz="1050" b="0" dirty="0">
                <a:latin typeface="Avenir Next LT Pro"/>
              </a:rPr>
              <a:t>bought ~$10M at ~$216 (Jun '24)</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O</a:t>
            </a:r>
            <a:r>
              <a:rPr sz="1050" b="0" dirty="0">
                <a:latin typeface="Avenir Next LT Pro"/>
              </a:rPr>
              <a:t>perator bet, not a macro bet</a:t>
            </a:r>
          </a:p>
        </p:txBody>
      </p:sp>
      <p:sp>
        <p:nvSpPr>
          <p:cNvPr id="10" name="Rectangle 9"/>
          <p:cNvSpPr/>
          <p:nvPr/>
        </p:nvSpPr>
        <p:spPr>
          <a:xfrm>
            <a:off x="4709159"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73751" y="3410712"/>
            <a:ext cx="3776472" cy="836126"/>
          </a:xfrm>
          <a:prstGeom prst="rect">
            <a:avLst/>
          </a:prstGeom>
          <a:noFill/>
        </p:spPr>
        <p:txBody>
          <a:bodyPr wrap="square">
            <a:spAutoFit/>
          </a:bodyPr>
          <a:lstStyle/>
          <a:p>
            <a:r>
              <a:rPr sz="1350" b="1" dirty="0">
                <a:latin typeface="Avenir Next LT Pro Demi"/>
              </a:rPr>
              <a:t>Estates </a:t>
            </a:r>
            <a:r>
              <a:rPr lang="en-US" sz="1350" b="1" dirty="0">
                <a:latin typeface="Avenir Next LT Pro Demi"/>
              </a:rPr>
              <a:t>targets the rate-immune buyer</a:t>
            </a:r>
            <a:endParaRPr sz="1350" b="1" dirty="0">
              <a:latin typeface="Avenir Next LT Pro Demi"/>
            </a:endParaRPr>
          </a:p>
          <a:p>
            <a:pPr marL="171450" indent="-171450">
              <a:spcBef>
                <a:spcPts val="200"/>
              </a:spcBef>
              <a:buFont typeface="Arial" panose="020B0604020202020204" pitchFamily="34" charset="0"/>
              <a:buChar char="•"/>
            </a:pPr>
            <a:r>
              <a:rPr sz="1050" b="0" dirty="0">
                <a:latin typeface="Avenir Next LT Pro"/>
              </a:rPr>
              <a:t>Targets rate-insensitive cash buyers at $20K+ pieces</a:t>
            </a:r>
            <a:endParaRPr lang="en-US" sz="1050" b="0" dirty="0">
              <a:latin typeface="Avenir Next LT Pro"/>
            </a:endParaRPr>
          </a:p>
          <a:p>
            <a:pPr marL="171450" indent="-171450">
              <a:spcBef>
                <a:spcPts val="200"/>
              </a:spcBef>
              <a:buFont typeface="Arial" panose="020B0604020202020204" pitchFamily="34" charset="0"/>
              <a:buChar char="•"/>
            </a:pPr>
            <a:r>
              <a:rPr sz="1050" b="0" dirty="0">
                <a:latin typeface="Avenir Next LT Pro"/>
              </a:rPr>
              <a:t>In galleries covering 60–65% of the business by Sept 2026</a:t>
            </a:r>
          </a:p>
        </p:txBody>
      </p:sp>
      <p:sp>
        <p:nvSpPr>
          <p:cNvPr id="12" name="Rectangle 11"/>
          <p:cNvSpPr/>
          <p:nvPr/>
        </p:nvSpPr>
        <p:spPr>
          <a:xfrm>
            <a:off x="457200"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 y="4709160"/>
            <a:ext cx="3776472" cy="836126"/>
          </a:xfrm>
          <a:prstGeom prst="rect">
            <a:avLst/>
          </a:prstGeom>
          <a:noFill/>
        </p:spPr>
        <p:txBody>
          <a:bodyPr wrap="square">
            <a:spAutoFit/>
          </a:bodyPr>
          <a:lstStyle/>
          <a:p>
            <a:r>
              <a:rPr sz="1350" b="1" dirty="0">
                <a:latin typeface="Avenir Next LT Pro Demi"/>
              </a:rPr>
              <a:t>Housing recovery = free upside</a:t>
            </a:r>
          </a:p>
          <a:p>
            <a:pPr marL="171450" indent="-171450">
              <a:spcBef>
                <a:spcPts val="200"/>
              </a:spcBef>
              <a:buFont typeface="Arial" panose="020B0604020202020204" pitchFamily="34" charset="0"/>
              <a:buChar char="•"/>
            </a:pPr>
            <a:r>
              <a:rPr sz="1050" b="0" dirty="0">
                <a:latin typeface="Avenir Next LT Pro"/>
              </a:rPr>
              <a:t>Base case assumes no recovery</a:t>
            </a:r>
            <a:endParaRPr lang="en-US" sz="1050" dirty="0">
              <a:latin typeface="Avenir Next LT Pro"/>
            </a:endParaRPr>
          </a:p>
          <a:p>
            <a:pPr marL="171450" indent="-171450">
              <a:spcBef>
                <a:spcPts val="200"/>
              </a:spcBef>
              <a:buFont typeface="Arial" panose="020B0604020202020204" pitchFamily="34" charset="0"/>
              <a:buChar char="•"/>
            </a:pPr>
            <a:r>
              <a:rPr sz="1050" b="0" dirty="0">
                <a:latin typeface="Avenir Next LT Pro"/>
              </a:rPr>
              <a:t>If rates ease, a fixed cost base drives an earnings inflection that isn't priced in</a:t>
            </a:r>
          </a:p>
        </p:txBody>
      </p:sp>
      <p:sp>
        <p:nvSpPr>
          <p:cNvPr id="14" name="Rectangle 13"/>
          <p:cNvSpPr/>
          <p:nvPr/>
        </p:nvSpPr>
        <p:spPr>
          <a:xfrm>
            <a:off x="4709159"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73751" y="4709160"/>
            <a:ext cx="3776472" cy="946413"/>
          </a:xfrm>
          <a:prstGeom prst="rect">
            <a:avLst/>
          </a:prstGeom>
          <a:noFill/>
        </p:spPr>
        <p:txBody>
          <a:bodyPr wrap="square">
            <a:spAutoFit/>
          </a:bodyPr>
          <a:lstStyle/>
          <a:p>
            <a:r>
              <a:rPr sz="1350" b="1" dirty="0">
                <a:latin typeface="Avenir Next LT Pro Demi"/>
              </a:rPr>
              <a:t>Debt is the risk</a:t>
            </a:r>
            <a:endParaRPr lang="en-US" sz="1350" b="1" dirty="0">
              <a:latin typeface="Avenir Next LT Pro Demi"/>
            </a:endParaRPr>
          </a:p>
          <a:p>
            <a:pPr marL="171450" indent="-171450">
              <a:buFont typeface="Arial" panose="020B0604020202020204" pitchFamily="34" charset="0"/>
              <a:buChar char="•"/>
            </a:pPr>
            <a:r>
              <a:rPr sz="1050" b="0" dirty="0">
                <a:latin typeface="Avenir Next LT Pro"/>
              </a:rPr>
              <a:t>~$2.4B net debt at ~4.0× EBITDA, ~$225M/yr interest</a:t>
            </a:r>
            <a:endParaRPr lang="en-US" sz="1050" dirty="0">
              <a:latin typeface="Avenir Next LT Pro"/>
            </a:endParaRPr>
          </a:p>
          <a:p>
            <a:pPr marL="171450" indent="-171450">
              <a:buFont typeface="Arial" panose="020B0604020202020204" pitchFamily="34" charset="0"/>
              <a:buChar char="•"/>
            </a:pPr>
            <a:r>
              <a:rPr sz="1050" b="0" dirty="0">
                <a:latin typeface="Avenir Next LT Pro"/>
              </a:rPr>
              <a:t>FCF inflected to +$252M in FY25</a:t>
            </a:r>
            <a:endParaRPr lang="en-US" sz="1050" b="0" dirty="0">
              <a:latin typeface="Avenir Next LT Pro"/>
            </a:endParaRPr>
          </a:p>
          <a:p>
            <a:pPr marL="171450" indent="-171450">
              <a:buFont typeface="Arial" panose="020B0604020202020204" pitchFamily="34" charset="0"/>
              <a:buChar char="•"/>
            </a:pPr>
            <a:r>
              <a:rPr lang="en-US" sz="1050" dirty="0">
                <a:latin typeface="Avenir Next LT Pro"/>
              </a:rPr>
              <a:t>P</a:t>
            </a:r>
            <a:r>
              <a:rPr sz="1050" b="0" dirty="0">
                <a:latin typeface="Avenir Next LT Pro"/>
              </a:rPr>
              <a:t>rolonged freeze tightens the balance sheet — size accordingly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p:txBody>
          <a:bodyPr/>
          <a:lstStyle/>
          <a:p>
            <a:r>
              <a:rPr lang="en-US"/>
              <a:t>Stock</a:t>
            </a:r>
            <a:br>
              <a:rPr lang="en-US"/>
            </a:br>
            <a:r>
              <a:rPr lang="en-US" sz="1800"/>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3,029</a:t>
                      </a:r>
                    </a:p>
                  </a:txBody>
                  <a:tcPr marL="73152" marR="73152" marT="18288" marB="18288" anchor="ctr">
                    <a:solidFill>
                      <a:srgbClr val="FFFFFF"/>
                    </a:solidFill>
                  </a:tcPr>
                </a:tc>
                <a:tc>
                  <a:txBody>
                    <a:bodyPr/>
                    <a:lstStyle/>
                    <a:p>
                      <a:pPr algn="ctr"/>
                      <a:r>
                        <a:rPr sz="1100" b="0" i="0">
                          <a:solidFill>
                            <a:schemeClr val="tx1"/>
                          </a:solidFill>
                          <a:latin typeface="Avenir Next LT Pro"/>
                        </a:rPr>
                        <a:t>3,181</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3,680</a:t>
                      </a:r>
                    </a:p>
                  </a:txBody>
                  <a:tcPr marL="73152" marR="73152" marT="18288" marB="18288" anchor="ctr">
                    <a:solidFill>
                      <a:srgbClr val="FFFFFF"/>
                    </a:solidFill>
                  </a:tcPr>
                </a:tc>
                <a:tc>
                  <a:txBody>
                    <a:bodyPr/>
                    <a:lstStyle/>
                    <a:p>
                      <a:pPr algn="ctr"/>
                      <a:r>
                        <a:rPr sz="1100" b="0" i="0">
                          <a:solidFill>
                            <a:schemeClr val="tx1"/>
                          </a:solidFill>
                          <a:latin typeface="Avenir Next LT Pro"/>
                        </a:rPr>
                        <a:t>4,165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+5.0%</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+7.0%</a:t>
                      </a:r>
                    </a:p>
                  </a:txBody>
                  <a:tcPr marL="73152" marR="73152" marT="18288" marB="18288" anchor="ctr">
                    <a:solidFill>
                      <a:srgbClr val="F4F6F8"/>
                    </a:solidFill>
                  </a:tcPr>
                </a:tc>
                <a:tc>
                  <a:txBody>
                    <a:bodyPr/>
                    <a:lstStyle/>
                    <a:p>
                      <a:pPr algn="ctr"/>
                      <a:r>
                        <a:rPr sz="1100" b="0" i="0">
                          <a:solidFill>
                            <a:schemeClr val="tx1"/>
                          </a:solidFill>
                          <a:latin typeface="Avenir Next LT Pro"/>
                        </a:rPr>
                        <a:t>+13.2%</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551</a:t>
                      </a:r>
                    </a:p>
                  </a:txBody>
                  <a:tcPr marL="73152" marR="73152" marT="18288" marB="18288" anchor="ctr">
                    <a:solidFill>
                      <a:srgbClr val="F4F6F8"/>
                    </a:solidFill>
                  </a:tcPr>
                </a:tc>
                <a:tc>
                  <a:txBody>
                    <a:bodyPr/>
                    <a:lstStyle/>
                    <a:p>
                      <a:pPr algn="ctr"/>
                      <a:r>
                        <a:rPr sz="1100" b="0" i="0">
                          <a:solidFill>
                            <a:schemeClr val="tx1"/>
                          </a:solidFill>
                          <a:latin typeface="Avenir Next LT Pro"/>
                        </a:rPr>
                        <a:t>539</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589</a:t>
                      </a:r>
                    </a:p>
                  </a:txBody>
                  <a:tcPr marL="73152" marR="73152" marT="18288" marB="18288" anchor="ctr">
                    <a:solidFill>
                      <a:srgbClr val="F4F6F8"/>
                    </a:solidFill>
                  </a:tcPr>
                </a:tc>
                <a:tc>
                  <a:txBody>
                    <a:bodyPr/>
                    <a:lstStyle/>
                    <a:p>
                      <a:pPr algn="ctr"/>
                      <a:r>
                        <a:rPr sz="1100" b="0" i="0">
                          <a:solidFill>
                            <a:schemeClr val="tx1"/>
                          </a:solidFill>
                          <a:latin typeface="Avenir Next LT Pro"/>
                        </a:rPr>
                        <a:t>708</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18.2%</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16.0%</a:t>
                      </a:r>
                    </a:p>
                  </a:txBody>
                  <a:tcPr marL="73152" marR="73152" marT="18288" marB="18288" anchor="ctr">
                    <a:solidFill>
                      <a:srgbClr val="FFFFFF"/>
                    </a:solidFill>
                  </a:tcPr>
                </a:tc>
                <a:tc>
                  <a:txBody>
                    <a:bodyPr/>
                    <a:lstStyle/>
                    <a:p>
                      <a:pPr algn="ctr"/>
                      <a:r>
                        <a:rPr sz="1100" b="0" i="0">
                          <a:solidFill>
                            <a:schemeClr val="tx1"/>
                          </a:solidFill>
                          <a:latin typeface="Avenir Next LT Pro"/>
                        </a:rPr>
                        <a:t>17.0%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~$9</a:t>
                      </a:r>
                    </a:p>
                  </a:txBody>
                  <a:tcPr marL="73152" marR="73152" marT="18288" marB="18288" anchor="ctr">
                    <a:solidFill>
                      <a:srgbClr val="F4F6F8"/>
                    </a:solidFill>
                  </a:tcPr>
                </a:tc>
                <a:tc>
                  <a:txBody>
                    <a:bodyPr/>
                    <a:lstStyle/>
                    <a:p>
                      <a:pPr algn="ctr"/>
                      <a:r>
                        <a:rPr sz="1100" b="0" i="0">
                          <a:solidFill>
                            <a:schemeClr val="tx1"/>
                          </a:solidFill>
                          <a:latin typeface="Avenir Next LT Pro"/>
                        </a:rPr>
                        <a:t>~$14</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p:spPr>
        <p:txBody>
          <a:bodyPr wrap="square">
            <a:spAutoFit/>
          </a:bodyPr>
          <a:lstStyle/>
          <a:p>
            <a:r>
              <a:rPr sz="1000" b="1" i="0" dirty="0">
                <a:solidFill>
                  <a:srgbClr val="156082"/>
                </a:solidFill>
                <a:latin typeface="Avenir Next LT Pro"/>
              </a:rPr>
              <a:t>Story: margins dip near-term (FY26 guide 14–16%) then recover toward ~17%; FCF inflected to +$252M in FY25 — but ~$2.4B net debt (~4× EBITDA) and ~$225M/yr interest make it a leveraged bet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p:txBody>
          <a:bodyPr/>
          <a:lstStyle/>
          <a:p>
            <a:r>
              <a:rPr lang="en-US"/>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Valuation — EV/EBITDA, FY2027E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$708M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156082"/>
                </a:solidFill>
                <a:latin typeface="Avenir Next LT Pro Demi"/>
              </a:rPr>
              <a:t>11×</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~$7.8B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~$310</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20%</a:t>
                      </a:r>
                    </a:p>
                  </a:txBody>
                  <a:tcPr marL="73152" marR="73152" marT="18288" marB="18288" anchor="ctr">
                    <a:solidFill>
                      <a:srgbClr val="FFFFFF"/>
                    </a:solidFill>
                  </a:tcPr>
                </a:tc>
                <a:tc>
                  <a:txBody>
                    <a:bodyPr/>
                    <a:lstStyle/>
                    <a:p>
                      <a:pPr algn="ctr"/>
                      <a:r>
                        <a:rPr sz="1100" b="0" i="0">
                          <a:solidFill>
                            <a:schemeClr val="tx1"/>
                          </a:solidFill>
                          <a:latin typeface="Avenir Next LT Pro"/>
                        </a:rPr>
                        <a:t>13×</a:t>
                      </a:r>
                    </a:p>
                  </a:txBody>
                  <a:tcPr marL="73152" marR="73152" marT="18288" marB="18288" anchor="ctr">
                    <a:solidFill>
                      <a:srgbClr val="FFFFFF"/>
                    </a:solidFill>
                  </a:tcPr>
                </a:tc>
                <a:tc>
                  <a:txBody>
                    <a:bodyPr/>
                    <a:lstStyle/>
                    <a:p>
                      <a:pPr algn="ctr"/>
                      <a:r>
                        <a:rPr sz="1100" b="0" i="0">
                          <a:solidFill>
                            <a:schemeClr val="tx1"/>
                          </a:solidFill>
                          <a:latin typeface="Avenir Next LT Pro"/>
                        </a:rPr>
                        <a:t>~$562</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17%</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~$310</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p:spPr>
        <p:txBody>
          <a:bodyPr wrap="none">
            <a:spAutoFit/>
          </a:bodyPr>
          <a:lstStyle/>
          <a:p>
            <a:r>
              <a:rPr sz="1300" b="1" i="0">
                <a:solidFill>
                  <a:srgbClr val="156082"/>
                </a:solidFill>
                <a:latin typeface="Avenir Next LT Pro Demi"/>
              </a:rPr>
              <a:t>Probability-weighted target: ~$285   (~72% upside from ~$166)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AF8C49"/>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AF8C49"/>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p:spPr>
        <p:txBody>
          <a:bodyPr wrap="square">
            <a:spAutoFit/>
          </a:bodyPr>
          <a:lstStyle/>
          <a:p>
            <a:r>
              <a:rPr sz="1100" b="1" i="0" dirty="0">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p:txBody>
          <a:bodyPr/>
          <a:lstStyle/>
          <a:p>
            <a:r>
              <a:rPr lang="en-US"/>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p:spPr>
        <p:txBody>
          <a:bodyPr wrap="square">
            <a:spAutoFit/>
          </a:bodyPr>
          <a:lstStyle/>
          <a:p>
            <a:r>
              <a:rPr sz="2300" b="0" i="0" dirty="0">
                <a:latin typeface="Avenir Next LT Pro Demi"/>
              </a:rPr>
              <a:t>Competitive Landscape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AF8C49"/>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p:spPr>
        <p:txBody>
          <a:bodyPr wrap="square">
            <a:spAutoFit/>
          </a:bodyPr>
          <a:lstStyle/>
          <a:p>
            <a:r>
              <a:rPr sz="1100" b="1" i="0" dirty="0">
                <a:latin typeface="Avenir Next LT Pro Demi"/>
              </a:rPr>
              <a:t>The real competitor is Arhaus, not European luxury.</a:t>
            </a:r>
          </a:p>
          <a:p>
            <a:r>
              <a:rPr sz="1000" b="0" i="0" dirty="0">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p:spPr>
        <p:txBody>
          <a:bodyPr wrap="square">
            <a:spAutoFit/>
          </a:bodyPr>
          <a:lstStyle/>
          <a:p>
            <a:r>
              <a:rPr sz="2300" b="0" i="0" dirty="0">
                <a:latin typeface="Avenir Next LT Pro Demi"/>
              </a:rPr>
              <a:t>Key Risks — What Has to Go Wrong</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How RH Got Here</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14300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20240" cy="1143000"/>
          </a:xfrm>
          <a:prstGeom prst="rect">
            <a:avLst/>
          </a:prstGeom>
          <a:noFill/>
        </p:spPr>
        <p:txBody>
          <a:bodyPr wrap="square" anchor="ctr">
            <a:spAutoFit/>
          </a:bodyPr>
          <a:lstStyle/>
          <a:p>
            <a:r>
              <a:rPr sz="1400" b="1">
                <a:solidFill>
                  <a:srgbClr val="000000"/>
                </a:solidFill>
                <a:latin typeface="Avenir Next LT Pro Demi"/>
              </a:rPr>
              <a:t>The Build</a:t>
            </a:r>
          </a:p>
          <a:p>
            <a:r>
              <a:rPr sz="1000" b="0">
                <a:solidFill>
                  <a:srgbClr val="707070"/>
                </a:solidFill>
                <a:latin typeface="Avenir Next LT Pro"/>
              </a:rPr>
              <a:t>Pre-2020</a:t>
            </a:r>
          </a:p>
        </p:txBody>
      </p:sp>
      <p:sp>
        <p:nvSpPr>
          <p:cNvPr id="6" name="TextBox 5"/>
          <p:cNvSpPr txBox="1"/>
          <p:nvPr/>
        </p:nvSpPr>
        <p:spPr>
          <a:xfrm>
            <a:off x="2743200" y="1371600"/>
            <a:ext cx="5943600" cy="1143000"/>
          </a:xfrm>
          <a:prstGeom prst="rect">
            <a:avLst/>
          </a:prstGeom>
          <a:noFill/>
        </p:spPr>
        <p:txBody>
          <a:bodyPr wrap="square" anchor="ctr">
            <a:spAutoFit/>
          </a:bodyPr>
          <a:lstStyle/>
          <a:p>
            <a:r>
              <a:rPr sz="1250" b="0">
                <a:solidFill>
                  <a:srgbClr val="000000"/>
                </a:solidFill>
                <a:latin typeface="Avenir Next LT Pro"/>
              </a:rPr>
              <a:t>Friedman turns RH into a luxury Gallery brand.</a:t>
            </a:r>
          </a:p>
        </p:txBody>
      </p:sp>
      <p:sp>
        <p:nvSpPr>
          <p:cNvPr id="7" name="Rectangle 6"/>
          <p:cNvSpPr/>
          <p:nvPr/>
        </p:nvSpPr>
        <p:spPr>
          <a:xfrm>
            <a:off x="457200" y="2679191"/>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9191"/>
            <a:ext cx="1920240" cy="1143000"/>
          </a:xfrm>
          <a:prstGeom prst="rect">
            <a:avLst/>
          </a:prstGeom>
          <a:noFill/>
        </p:spPr>
        <p:txBody>
          <a:bodyPr wrap="square" anchor="ctr">
            <a:spAutoFit/>
          </a:bodyPr>
          <a:lstStyle/>
          <a:p>
            <a:r>
              <a:rPr sz="1400" b="1">
                <a:solidFill>
                  <a:srgbClr val="000000"/>
                </a:solidFill>
                <a:latin typeface="Avenir Next LT Pro Demi"/>
              </a:rPr>
              <a:t>The Peak</a:t>
            </a:r>
          </a:p>
          <a:p>
            <a:r>
              <a:rPr sz="1000" b="0">
                <a:solidFill>
                  <a:srgbClr val="707070"/>
                </a:solidFill>
                <a:latin typeface="Avenir Next LT Pro"/>
              </a:rPr>
              <a:t>FY2022</a:t>
            </a:r>
          </a:p>
        </p:txBody>
      </p:sp>
      <p:sp>
        <p:nvSpPr>
          <p:cNvPr id="9" name="TextBox 8"/>
          <p:cNvSpPr txBox="1"/>
          <p:nvPr/>
        </p:nvSpPr>
        <p:spPr>
          <a:xfrm>
            <a:off x="2743200" y="2679191"/>
            <a:ext cx="5943600" cy="1143000"/>
          </a:xfrm>
          <a:prstGeom prst="rect">
            <a:avLst/>
          </a:prstGeom>
          <a:noFill/>
        </p:spPr>
        <p:txBody>
          <a:bodyPr wrap="square" anchor="ctr">
            <a:spAutoFit/>
          </a:bodyPr>
          <a:lstStyle/>
          <a:p>
            <a:r>
              <a:rPr sz="1250" b="0">
                <a:solidFill>
                  <a:srgbClr val="000000"/>
                </a:solidFill>
                <a:latin typeface="Avenir Next LT Pro"/>
              </a:rPr>
              <a:t>~$3.6B revenue — then buys back ~7.6M shares at ~$269–321, debt-funded.</a:t>
            </a:r>
          </a:p>
        </p:txBody>
      </p:sp>
      <p:sp>
        <p:nvSpPr>
          <p:cNvPr id="10" name="Rectangle 9"/>
          <p:cNvSpPr/>
          <p:nvPr/>
        </p:nvSpPr>
        <p:spPr>
          <a:xfrm>
            <a:off x="457200" y="3986783"/>
            <a:ext cx="82296" cy="114300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86783"/>
            <a:ext cx="1920240" cy="1143000"/>
          </a:xfrm>
          <a:prstGeom prst="rect">
            <a:avLst/>
          </a:prstGeom>
          <a:noFill/>
        </p:spPr>
        <p:txBody>
          <a:bodyPr wrap="square" anchor="ctr">
            <a:spAutoFit/>
          </a:bodyPr>
          <a:lstStyle/>
          <a:p>
            <a:r>
              <a:rPr sz="1400" b="1">
                <a:solidFill>
                  <a:srgbClr val="000000"/>
                </a:solidFill>
                <a:latin typeface="Avenir Next LT Pro Demi"/>
              </a:rPr>
              <a:t>The Fall</a:t>
            </a:r>
          </a:p>
          <a:p>
            <a:r>
              <a:rPr sz="1000" b="0">
                <a:solidFill>
                  <a:srgbClr val="707070"/>
                </a:solidFill>
                <a:latin typeface="Avenir Next LT Pro"/>
              </a:rPr>
              <a:t>FY23–24</a:t>
            </a:r>
          </a:p>
        </p:txBody>
      </p:sp>
      <p:sp>
        <p:nvSpPr>
          <p:cNvPr id="12" name="TextBox 11"/>
          <p:cNvSpPr txBox="1"/>
          <p:nvPr/>
        </p:nvSpPr>
        <p:spPr>
          <a:xfrm>
            <a:off x="2743200" y="3986783"/>
            <a:ext cx="5943600" cy="1143000"/>
          </a:xfrm>
          <a:prstGeom prst="rect">
            <a:avLst/>
          </a:prstGeom>
          <a:noFill/>
        </p:spPr>
        <p:txBody>
          <a:bodyPr wrap="square" anchor="ctr">
            <a:spAutoFit/>
          </a:bodyPr>
          <a:lstStyle/>
          <a:p>
            <a:r>
              <a:rPr sz="1250" b="0">
                <a:solidFill>
                  <a:srgbClr val="000000"/>
                </a:solidFill>
                <a:latin typeface="Avenir Next LT Pro"/>
              </a:rPr>
              <a:t>Housing freezes; revenue falls to ~$3.03B. Debt now ~$2.4B, ~4× levered.</a:t>
            </a:r>
          </a:p>
        </p:txBody>
      </p:sp>
      <p:sp>
        <p:nvSpPr>
          <p:cNvPr id="13" name="TextBox 12"/>
          <p:cNvSpPr txBox="1"/>
          <p:nvPr/>
        </p:nvSpPr>
        <p:spPr>
          <a:xfrm>
            <a:off x="457200" y="5806440"/>
            <a:ext cx="8229600" cy="365760"/>
          </a:xfrm>
          <a:prstGeom prst="rect">
            <a:avLst/>
          </a:prstGeom>
          <a:noFill/>
        </p:spPr>
        <p:txBody>
          <a:bodyPr wrap="square">
            <a:spAutoFit/>
          </a:bodyPr>
          <a:lstStyle/>
          <a:p>
            <a:r>
              <a:rPr sz="1100" b="1">
                <a:solidFill>
                  <a:srgbClr val="000000"/>
                </a:solidFill>
                <a:latin typeface="Avenir Next LT Pro Demi"/>
              </a:rPr>
              <a:t>Partly self-inflicted: leveraged buybacks at the top, then the cycle turned.</a:t>
            </a:r>
          </a:p>
        </p:txBody>
      </p:sp>
      <p:sp>
        <p:nvSpPr>
          <p:cNvPr id="14" name="TextBox 13"/>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Recovery Plan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7955279" cy="960120"/>
          </a:xfrm>
          <a:prstGeom prst="rect">
            <a:avLst/>
          </a:prstGeom>
          <a:noFill/>
        </p:spPr>
        <p:txBody>
          <a:bodyPr wrap="square" anchor="ctr">
            <a:spAutoFit/>
          </a:bodyPr>
          <a:lstStyle/>
          <a:p>
            <a:r>
              <a:rPr sz="1350" b="1">
                <a:solidFill>
                  <a:srgbClr val="000000"/>
                </a:solidFill>
                <a:latin typeface="Avenir Next LT Pro Demi"/>
              </a:rPr>
              <a:t>Product transformation  —  </a:t>
            </a:r>
            <a:r>
              <a:rPr sz="1250" b="0">
                <a:solidFill>
                  <a:srgbClr val="000000"/>
                </a:solidFill>
                <a:latin typeface="Avenir Next LT Pro"/>
              </a:rPr>
              <a:t>New collections and refreshed Sourcebooks.</a:t>
            </a:r>
          </a:p>
        </p:txBody>
      </p:sp>
      <p:sp>
        <p:nvSpPr>
          <p:cNvPr id="6" name="Rectangle 5"/>
          <p:cNvSpPr/>
          <p:nvPr/>
        </p:nvSpPr>
        <p:spPr>
          <a:xfrm>
            <a:off x="457200" y="2496312"/>
            <a:ext cx="82296" cy="96012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496312"/>
            <a:ext cx="7955279" cy="960120"/>
          </a:xfrm>
          <a:prstGeom prst="rect">
            <a:avLst/>
          </a:prstGeom>
          <a:noFill/>
        </p:spPr>
        <p:txBody>
          <a:bodyPr wrap="square" anchor="ctr">
            <a:spAutoFit/>
          </a:bodyPr>
          <a:lstStyle/>
          <a:p>
            <a:r>
              <a:rPr sz="1350" b="1">
                <a:solidFill>
                  <a:srgbClr val="000000"/>
                </a:solidFill>
                <a:latin typeface="Avenir Next LT Pro Demi"/>
              </a:rPr>
              <a:t>Gallery expansion  —  </a:t>
            </a:r>
            <a:r>
              <a:rPr sz="1250" b="0">
                <a:solidFill>
                  <a:srgbClr val="000000"/>
                </a:solidFill>
                <a:latin typeface="Avenir Next LT Pro"/>
              </a:rPr>
              <a:t>Every major U.S./Canada market — RH's ~$5–6B opportunity.</a:t>
            </a:r>
          </a:p>
        </p:txBody>
      </p:sp>
      <p:sp>
        <p:nvSpPr>
          <p:cNvPr id="8" name="Rectangle 7"/>
          <p:cNvSpPr/>
          <p:nvPr/>
        </p:nvSpPr>
        <p:spPr>
          <a:xfrm>
            <a:off x="457200" y="3621024"/>
            <a:ext cx="82296" cy="96012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621024"/>
            <a:ext cx="7955279" cy="960120"/>
          </a:xfrm>
          <a:prstGeom prst="rect">
            <a:avLst/>
          </a:prstGeom>
          <a:noFill/>
        </p:spPr>
        <p:txBody>
          <a:bodyPr wrap="square" anchor="ctr">
            <a:spAutoFit/>
          </a:bodyPr>
          <a:lstStyle/>
          <a:p>
            <a:r>
              <a:rPr sz="1350" b="1">
                <a:solidFill>
                  <a:srgbClr val="000000"/>
                </a:solidFill>
                <a:latin typeface="Avenir Next LT Pro Demi"/>
              </a:rPr>
              <a:t>Move upmarket  —  </a:t>
            </a:r>
            <a:r>
              <a:rPr sz="1250" b="0">
                <a:solidFill>
                  <a:srgbClr val="000000"/>
                </a:solidFill>
                <a:latin typeface="Avenir Next LT Pro"/>
              </a:rPr>
              <a:t>Estates targets the rate-immune cash buyer.</a:t>
            </a:r>
          </a:p>
        </p:txBody>
      </p:sp>
      <p:sp>
        <p:nvSpPr>
          <p:cNvPr id="10" name="Rectangle 9"/>
          <p:cNvSpPr/>
          <p:nvPr/>
        </p:nvSpPr>
        <p:spPr>
          <a:xfrm>
            <a:off x="457200" y="4745736"/>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745736"/>
            <a:ext cx="7955279" cy="960120"/>
          </a:xfrm>
          <a:prstGeom prst="rect">
            <a:avLst/>
          </a:prstGeom>
          <a:noFill/>
        </p:spPr>
        <p:txBody>
          <a:bodyPr wrap="square" anchor="ctr">
            <a:spAutoFit/>
          </a:bodyPr>
          <a:lstStyle/>
          <a:p>
            <a:r>
              <a:rPr sz="1350" b="1">
                <a:solidFill>
                  <a:srgbClr val="000000"/>
                </a:solidFill>
                <a:latin typeface="Avenir Next LT Pro Demi"/>
              </a:rPr>
              <a:t>Global + platform  —  </a:t>
            </a:r>
            <a:r>
              <a:rPr sz="1250" b="0">
                <a:solidFill>
                  <a:srgbClr val="000000"/>
                </a:solidFill>
                <a:latin typeface="Avenir Next LT Pro"/>
              </a:rPr>
              <a:t>RH England, Guesthouses, hospitality &amp; F&amp;B.</a:t>
            </a:r>
          </a:p>
        </p:txBody>
      </p:sp>
      <p:sp>
        <p:nvSpPr>
          <p:cNvPr id="12" name="TextBox 11"/>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Is It Working?</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WORKING</a:t>
            </a:r>
          </a:p>
        </p:txBody>
      </p:sp>
      <p:sp>
        <p:nvSpPr>
          <p:cNvPr id="5" name="Rectangle 4"/>
          <p:cNvSpPr/>
          <p:nvPr/>
        </p:nvSpPr>
        <p:spPr>
          <a:xfrm>
            <a:off x="4709160" y="1234440"/>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WATCH</a:t>
            </a:r>
          </a:p>
        </p:txBody>
      </p:sp>
      <p:sp>
        <p:nvSpPr>
          <p:cNvPr id="6" name="TextBox 5"/>
          <p:cNvSpPr txBox="1"/>
          <p:nvPr/>
        </p:nvSpPr>
        <p:spPr>
          <a:xfrm>
            <a:off x="457200" y="182880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FCF inflected to +$252M (from −$214M)</a:t>
            </a:r>
          </a:p>
        </p:txBody>
      </p:sp>
      <p:sp>
        <p:nvSpPr>
          <p:cNvPr id="7" name="TextBox 6"/>
          <p:cNvSpPr txBox="1"/>
          <p:nvPr/>
        </p:nvSpPr>
        <p:spPr>
          <a:xfrm>
            <a:off x="457200" y="265176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Inventory normalized $1.02B → $819M</a:t>
            </a:r>
          </a:p>
        </p:txBody>
      </p:sp>
      <p:sp>
        <p:nvSpPr>
          <p:cNvPr id="8" name="TextBox 7"/>
          <p:cNvSpPr txBox="1"/>
          <p:nvPr/>
        </p:nvSpPr>
        <p:spPr>
          <a:xfrm>
            <a:off x="457200" y="347472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Revenue re-accelerated +8.1% in FY25</a:t>
            </a:r>
          </a:p>
        </p:txBody>
      </p:sp>
      <p:sp>
        <p:nvSpPr>
          <p:cNvPr id="9" name="TextBox 8"/>
          <p:cNvSpPr txBox="1"/>
          <p:nvPr/>
        </p:nvSpPr>
        <p:spPr>
          <a:xfrm>
            <a:off x="4709160" y="182880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Q1 FY26: revenue −1.7%, net loss −$14M</a:t>
            </a:r>
          </a:p>
        </p:txBody>
      </p:sp>
      <p:sp>
        <p:nvSpPr>
          <p:cNvPr id="10" name="TextBox 9"/>
          <p:cNvSpPr txBox="1"/>
          <p:nvPr/>
        </p:nvSpPr>
        <p:spPr>
          <a:xfrm>
            <a:off x="4709160" y="265176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~$225M/yr interest keeps coverage thin</a:t>
            </a:r>
          </a:p>
        </p:txBody>
      </p:sp>
      <p:sp>
        <p:nvSpPr>
          <p:cNvPr id="11" name="TextBox 10"/>
          <p:cNvSpPr txBox="1"/>
          <p:nvPr/>
        </p:nvSpPr>
        <p:spPr>
          <a:xfrm>
            <a:off x="4709160" y="347472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Guidance is back-half loaded</a:t>
            </a:r>
          </a:p>
        </p:txBody>
      </p:sp>
      <p:sp>
        <p:nvSpPr>
          <p:cNvPr id="12" name="TextBox 11"/>
          <p:cNvSpPr txBox="1"/>
          <p:nvPr/>
        </p:nvSpPr>
        <p:spPr>
          <a:xfrm>
            <a:off x="457200" y="4663440"/>
            <a:ext cx="8229600" cy="365760"/>
          </a:xfrm>
          <a:prstGeom prst="rect">
            <a:avLst/>
          </a:prstGeom>
          <a:noFill/>
        </p:spPr>
        <p:txBody>
          <a:bodyPr wrap="square">
            <a:spAutoFit/>
          </a:bodyPr>
          <a:lstStyle/>
          <a:p>
            <a:r>
              <a:rPr sz="1150" b="1">
                <a:solidFill>
                  <a:srgbClr val="000000"/>
                </a:solidFill>
                <a:latin typeface="Avenir Next LT Pro Demi"/>
              </a:rPr>
              <a:t>Verdict: real but early — the next two quarters are the tell.</a:t>
            </a:r>
          </a:p>
        </p:txBody>
      </p:sp>
      <p:sp>
        <p:nvSpPr>
          <p:cNvPr id="13" name="TextBox 12"/>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Q1 FY2026 10-Q</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Operator — Gary Friedman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05156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65960" cy="1051560"/>
          </a:xfrm>
          <a:prstGeom prst="rect">
            <a:avLst/>
          </a:prstGeom>
          <a:noFill/>
        </p:spPr>
        <p:txBody>
          <a:bodyPr wrap="square" anchor="ctr">
            <a:spAutoFit/>
          </a:bodyPr>
          <a:lstStyle/>
          <a:p>
            <a:r>
              <a:rPr sz="1250" b="1">
                <a:solidFill>
                  <a:srgbClr val="000000"/>
                </a:solidFill>
                <a:latin typeface="Avenir Next LT Pro Demi"/>
              </a:rPr>
              <a:t>Role</a:t>
            </a:r>
          </a:p>
        </p:txBody>
      </p:sp>
      <p:sp>
        <p:nvSpPr>
          <p:cNvPr id="6" name="TextBox 5"/>
          <p:cNvSpPr txBox="1"/>
          <p:nvPr/>
        </p:nvSpPr>
        <p:spPr>
          <a:xfrm>
            <a:off x="2697480" y="1371600"/>
            <a:ext cx="5989320" cy="1051560"/>
          </a:xfrm>
          <a:prstGeom prst="rect">
            <a:avLst/>
          </a:prstGeom>
          <a:noFill/>
        </p:spPr>
        <p:txBody>
          <a:bodyPr wrap="square" anchor="ctr">
            <a:spAutoFit/>
          </a:bodyPr>
          <a:lstStyle/>
          <a:p>
            <a:r>
              <a:rPr sz="1200" b="0">
                <a:solidFill>
                  <a:srgbClr val="000000"/>
                </a:solidFill>
                <a:latin typeface="Avenir Next LT Pro"/>
              </a:rPr>
              <a:t>Chairman &amp; CEO and the brand's creative force (10-K key-man).</a:t>
            </a:r>
          </a:p>
        </p:txBody>
      </p:sp>
      <p:sp>
        <p:nvSpPr>
          <p:cNvPr id="7" name="Rectangle 6"/>
          <p:cNvSpPr/>
          <p:nvPr/>
        </p:nvSpPr>
        <p:spPr>
          <a:xfrm>
            <a:off x="457200" y="2514600"/>
            <a:ext cx="82296" cy="105156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514600"/>
            <a:ext cx="1965960" cy="1051560"/>
          </a:xfrm>
          <a:prstGeom prst="rect">
            <a:avLst/>
          </a:prstGeom>
          <a:noFill/>
        </p:spPr>
        <p:txBody>
          <a:bodyPr wrap="square" anchor="ctr">
            <a:spAutoFit/>
          </a:bodyPr>
          <a:lstStyle/>
          <a:p>
            <a:r>
              <a:rPr sz="1250" b="1">
                <a:solidFill>
                  <a:srgbClr val="000000"/>
                </a:solidFill>
                <a:latin typeface="Avenir Next LT Pro Demi"/>
              </a:rPr>
              <a:t>Track record</a:t>
            </a:r>
          </a:p>
        </p:txBody>
      </p:sp>
      <p:sp>
        <p:nvSpPr>
          <p:cNvPr id="9" name="TextBox 8"/>
          <p:cNvSpPr txBox="1"/>
          <p:nvPr/>
        </p:nvSpPr>
        <p:spPr>
          <a:xfrm>
            <a:off x="2697480" y="2514600"/>
            <a:ext cx="5989320" cy="1051560"/>
          </a:xfrm>
          <a:prstGeom prst="rect">
            <a:avLst/>
          </a:prstGeom>
          <a:noFill/>
        </p:spPr>
        <p:txBody>
          <a:bodyPr wrap="square" anchor="ctr">
            <a:spAutoFit/>
          </a:bodyPr>
          <a:lstStyle/>
          <a:p>
            <a:r>
              <a:rPr sz="1200" b="0">
                <a:solidFill>
                  <a:srgbClr val="000000"/>
                </a:solidFill>
                <a:latin typeface="Avenir Next LT Pro"/>
              </a:rPr>
              <a:t>Grew Pottery Barn $50M → $1B+; joined RH in 2001 near bankruptcy.</a:t>
            </a:r>
          </a:p>
        </p:txBody>
      </p:sp>
      <p:sp>
        <p:nvSpPr>
          <p:cNvPr id="10" name="Rectangle 9"/>
          <p:cNvSpPr/>
          <p:nvPr/>
        </p:nvSpPr>
        <p:spPr>
          <a:xfrm>
            <a:off x="457200" y="3657600"/>
            <a:ext cx="82296" cy="105156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657600"/>
            <a:ext cx="1965960" cy="1051560"/>
          </a:xfrm>
          <a:prstGeom prst="rect">
            <a:avLst/>
          </a:prstGeom>
          <a:noFill/>
        </p:spPr>
        <p:txBody>
          <a:bodyPr wrap="square" anchor="ctr">
            <a:spAutoFit/>
          </a:bodyPr>
          <a:lstStyle/>
          <a:p>
            <a:r>
              <a:rPr sz="1250" b="1">
                <a:solidFill>
                  <a:srgbClr val="000000"/>
                </a:solidFill>
                <a:latin typeface="Avenir Next LT Pro Demi"/>
              </a:rPr>
              <a:t>Skin in the game</a:t>
            </a:r>
          </a:p>
        </p:txBody>
      </p:sp>
      <p:sp>
        <p:nvSpPr>
          <p:cNvPr id="12" name="TextBox 11"/>
          <p:cNvSpPr txBox="1"/>
          <p:nvPr/>
        </p:nvSpPr>
        <p:spPr>
          <a:xfrm>
            <a:off x="2697480" y="3657600"/>
            <a:ext cx="5989320" cy="1051560"/>
          </a:xfrm>
          <a:prstGeom prst="rect">
            <a:avLst/>
          </a:prstGeom>
          <a:noFill/>
        </p:spPr>
        <p:txBody>
          <a:bodyPr wrap="square" anchor="ctr">
            <a:spAutoFit/>
          </a:bodyPr>
          <a:lstStyle/>
          <a:p>
            <a:r>
              <a:rPr sz="1200" b="0">
                <a:solidFill>
                  <a:srgbClr val="000000"/>
                </a:solidFill>
                <a:latin typeface="Avenir Next LT Pro"/>
              </a:rPr>
              <a:t>Owns ~18% outright (~25% incl. options); bought ~$10M at ~$216 in June 2024.</a:t>
            </a:r>
          </a:p>
        </p:txBody>
      </p:sp>
      <p:sp>
        <p:nvSpPr>
          <p:cNvPr id="13" name="Rectangle 12"/>
          <p:cNvSpPr/>
          <p:nvPr/>
        </p:nvSpPr>
        <p:spPr>
          <a:xfrm>
            <a:off x="457200" y="4800600"/>
            <a:ext cx="82296" cy="105156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00600"/>
            <a:ext cx="1965960" cy="1051560"/>
          </a:xfrm>
          <a:prstGeom prst="rect">
            <a:avLst/>
          </a:prstGeom>
          <a:noFill/>
        </p:spPr>
        <p:txBody>
          <a:bodyPr wrap="square" anchor="ctr">
            <a:spAutoFit/>
          </a:bodyPr>
          <a:lstStyle/>
          <a:p>
            <a:r>
              <a:rPr sz="1250" b="1">
                <a:solidFill>
                  <a:srgbClr val="000000"/>
                </a:solidFill>
                <a:latin typeface="Avenir Next LT Pro Demi"/>
              </a:rPr>
              <a:t>The double edge</a:t>
            </a:r>
          </a:p>
        </p:txBody>
      </p:sp>
      <p:sp>
        <p:nvSpPr>
          <p:cNvPr id="15" name="TextBox 14"/>
          <p:cNvSpPr txBox="1"/>
          <p:nvPr/>
        </p:nvSpPr>
        <p:spPr>
          <a:xfrm>
            <a:off x="2697480" y="4800600"/>
            <a:ext cx="5989320" cy="1051560"/>
          </a:xfrm>
          <a:prstGeom prst="rect">
            <a:avLst/>
          </a:prstGeom>
          <a:noFill/>
        </p:spPr>
        <p:txBody>
          <a:bodyPr wrap="square" anchor="ctr">
            <a:spAutoFit/>
          </a:bodyPr>
          <a:lstStyle/>
          <a:p>
            <a:r>
              <a:rPr sz="1200" b="0">
                <a:solidFill>
                  <a:srgbClr val="000000"/>
                </a:solidFill>
                <a:latin typeface="Avenir Next LT Pro"/>
              </a:rPr>
              <a:t>Bold allocator — same conviction drove the buybacks and Estates.</a:t>
            </a:r>
          </a:p>
        </p:txBody>
      </p:sp>
      <p:sp>
        <p:nvSpPr>
          <p:cNvPr id="16" name="TextBox 15"/>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RH IR &amp; SEC Form 4 (Jun 26, 2024); company bios</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