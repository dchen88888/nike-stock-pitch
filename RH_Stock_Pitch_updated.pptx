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9" r:id="rId32"/>
    <p:sldId id="518" r:id="rId31"/>
    <p:sldId id="481" r:id="rId9"/>
    <p:sldId id="508" r:id="rId10"/>
    <p:sldId id="482" r:id="rId11"/>
    <p:sldId id="509" r:id="rId12"/>
    <p:sldId id="510" r:id="rId13"/>
    <p:sldId id="506" r:id="rId14"/>
    <p:sldId id="511" r:id="rId15"/>
    <p:sldId id="513" r:id="rId16"/>
    <p:sldId id="514" r:id="rId27"/>
    <p:sldId id="515" r:id="rId28"/>
    <p:sldId id="516" r:id="rId29"/>
    <p:sldId id="517" r:id="rId30"/>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5.xml"/><Relationship Id="rId32"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Hold</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today ~$165 (proven fundamentals)</a:t>
            </a:r>
            <a:r>
              <a:rPr sz="1200" b="0" dirty="0">
                <a:solidFill>
                  <a:srgbClr val="9AB0C4"/>
                </a:solidFill>
                <a:latin typeface="Avenir Next LT Pro"/>
              </a:rPr>
              <a:t>  →  </a:t>
            </a:r>
            <a:r>
              <a:rPr sz="1200" b="0" dirty="0">
                <a:solidFill>
                  <a:schemeClr val="bg1"/>
                </a:solidFill>
                <a:latin typeface="Avenir Next LT Pro"/>
              </a:rPr>
              <a:t>fairly valued</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Upside if the thesis de-risks: ~$240 FV / ~$310 target (~45–90%). Not yet actionable — Estates unproven, ~4× levered. Buy on proof.</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~$310</a:t>
            </a:r>
            <a:r>
              <a:rPr lang="en-US" sz="2400" b="1" dirty="0">
                <a:solidFill>
                  <a:srgbClr val="156082"/>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~18% outright (~25% incl. options); </a:t>
            </a:r>
            <a:r>
              <a:rPr sz="1050" b="0" dirty="0">
                <a:latin typeface="Avenir Next LT Pro"/>
              </a:rPr>
              <a:t>bought ~$10M at ~$216 (Jun '24)</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 promising but unproven</a:t>
            </a:r>
            <a:r>
              <a:rPr lang="en-US" sz="1350" b="1" dirty="0">
                <a:latin typeface="Avenir Next LT Pro Demi"/>
              </a:rPr>
              <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p:spPr>
        <p:txBody>
          <a:bodyPr wrap="square" anchor="ctr">
            <a:spAutoFit/>
          </a:bodyPr>
          <a:lstStyle/>
          <a:p>
            <a:r>
              <a:rPr sz="1150">
                <a:solidFill>
                  <a:srgbClr val="000000"/>
                </a:solidFill>
                <a:latin typeface="Avenir Next LT Pro"/>
              </a:rPr>
              <a:t>Core revenue re-accelerating in or above the 4.5–8% FY26 guide and a return to profitability — a trend, not one quarter. Q2 FY26 guides to just +0.5–2.5%, so the back-half acceleration has to show up.</a:t>
            </a:r>
          </a:p>
        </p:txBody>
      </p:sp>
      <p:sp>
        <p:nvSpPr>
          <p:cNvPr id="8" name="Rectangle 7"/>
          <p:cNvSpPr/>
          <p:nvPr/>
        </p:nvSpPr>
        <p:spPr>
          <a:xfrm>
            <a:off x="457200" y="2999232"/>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p:spPr>
        <p:txBody>
          <a:bodyPr wrap="square" anchor="ctr">
            <a:spAutoFit/>
          </a:bodyPr>
          <a:lstStyle/>
          <a:p>
            <a:r>
              <a:rPr sz="1150">
                <a:solidFill>
                  <a:srgbClr val="000000"/>
                </a:solidFill>
                <a:latin typeface="Avenir Next LT Pro"/>
              </a:rPr>
              <a:t>Actual revenue contribution and gallery traction. Estates launched Jun 2026 — there is zero results data yet. First read: Q2 FY2026.</a:t>
            </a:r>
          </a:p>
        </p:txBody>
      </p:sp>
      <p:sp>
        <p:nvSpPr>
          <p:cNvPr id="11" name="Rectangle 10"/>
          <p:cNvSpPr/>
          <p:nvPr/>
        </p:nvSpPr>
        <p:spPr>
          <a:xfrm>
            <a:off x="457200" y="4306824"/>
            <a:ext cx="82296" cy="114300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p:spPr>
        <p:txBody>
          <a:bodyPr wrap="square" anchor="ctr">
            <a:spAutoFit/>
          </a:bodyPr>
          <a:lstStyle/>
          <a:p>
            <a:r>
              <a:rPr sz="1150">
                <a:solidFill>
                  <a:srgbClr val="000000"/>
                </a:solidFill>
                <a:latin typeface="Avenir Next LT Pro"/>
              </a:rPr>
              <a:t>Net debt falling on real free cash flow — not the one-time inventory unwind that drove FY25. Leverage trending toward ~3×.</a:t>
            </a:r>
          </a:p>
        </p:txBody>
      </p:sp>
      <p:sp>
        <p:nvSpPr>
          <p:cNvPr id="14" name="TextBox 13"/>
          <p:cNvSpPr txBox="1"/>
          <p:nvPr/>
        </p:nvSpPr>
        <p:spPr>
          <a:xfrm>
            <a:off x="457200" y="5532120"/>
            <a:ext cx="8229600" cy="457200"/>
          </a:xfrm>
          <a:prstGeom prst="rect">
            <a:avLst/>
          </a:prstGeom>
          <a:noFill/>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355080"/>
            <a:ext cx="8229600" cy="365760"/>
          </a:xfrm>
          <a:prstGeom prst="rect">
            <a:avLst/>
          </a:prstGeom>
          <a:noFill/>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p:spPr>
        <p:txBody>
          <a:bodyPr wrap="square">
            <a:spAutoFit/>
          </a:bodyPr>
          <a:lstStyle/>
          <a:p>
            <a:r>
              <a:rPr sz="1000" b="1" i="0" dirty="0">
                <a:solidFill>
                  <a:srgbClr val="156082"/>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~$285   (~72% upside from ~$166)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p:spPr>
        <p:txBody>
          <a:bodyPr wrap="square">
            <a:spAutoFit/>
          </a:bodyPr>
          <a:lstStyle/>
          <a:p>
            <a:r>
              <a:rPr sz="2300" b="0" i="0" dirty="0">
                <a:latin typeface="Avenir Next LT Pro Demi"/>
              </a:rPr>
              <a:t>Key Risks — What Has to Go Wrong</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806440"/>
            <a:ext cx="8229600" cy="365760"/>
          </a:xfrm>
          <a:prstGeom prst="rect">
            <a:avLst/>
          </a:prstGeom>
          <a:noFill/>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p:spPr>
        <p:txBody>
          <a:bodyPr wrap="square" anchor="ctr">
            <a:spAutoFit/>
          </a:bodyPr>
          <a:lstStyle/>
          <a:p>
            <a:r>
              <a:rPr sz="1200" b="0">
                <a:solidFill>
                  <a:srgbClr val="000000"/>
                </a:solidFill>
                <a:latin typeface="Avenir Next LT Pro"/>
              </a:rPr>
              <a:t>Owns ~18% outright (~25% incl. options); bought ~$10M at ~$216 in June 2024.</a:t>
            </a:r>
          </a:p>
        </p:txBody>
      </p:sp>
      <p:sp>
        <p:nvSpPr>
          <p:cNvPr id="13" name="Rectangle 12"/>
          <p:cNvSpPr/>
          <p:nvPr/>
        </p:nvSpPr>
        <p:spPr>
          <a:xfrm>
            <a:off x="457200" y="4800600"/>
            <a:ext cx="82296" cy="105156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a:solidFill>
                  <a:srgbClr val="000000"/>
                </a:solidFill>
                <a:latin typeface="Avenir Next LT Pro Demi"/>
              </a:rPr>
              <a:t>Where the Street Values RH — vs. My Verdict</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743200"/>
        </p:xfrm>
        <a:graphic>
          <a:graphicData uri="http://schemas.openxmlformats.org/drawingml/2006/table">
            <a:tbl>
              <a:tblPr>
                <a:tableStyleId>{5C22544A-7EE6-4342-B048-85BDC9FD1C3A}</a:tableStyleId>
              </a:tblPr>
              <a:tblGrid>
                <a:gridCol w="3291840"/>
                <a:gridCol w="2011680"/>
                <a:gridCol w="2926080"/>
              </a:tblGrid>
              <a:tr h="457200">
                <a:tc>
                  <a:txBody>
                    <a:bodyPr/>
                    <a:lstStyle/>
                    <a:p>
                      <a:pPr algn="l"/>
                      <a:r>
                        <a:rPr sz="1100" b="1">
                          <a:solidFill>
                            <a:srgbClr val="FFFFFF"/>
                          </a:solidFill>
                          <a:latin typeface="Avenir Next LT Pro Demi"/>
                        </a:rPr>
                        <a:t>Benchmark</a:t>
                      </a:r>
                    </a:p>
                  </a:txBody>
                  <a:tcPr marL="91440" marT="27432" marB="27432" anchor="ctr">
                    <a:solidFill>
                      <a:srgbClr val="0E2841"/>
                    </a:solidFill>
                  </a:tcPr>
                </a:tc>
                <a:tc>
                  <a:txBody>
                    <a:bodyPr/>
                    <a:lstStyle/>
                    <a:p>
                      <a:pPr algn="ctr"/>
                      <a:r>
                        <a:rPr sz="1100" b="1">
                          <a:solidFill>
                            <a:srgbClr val="FFFFFF"/>
                          </a:solidFill>
                          <a:latin typeface="Avenir Next LT Pro Demi"/>
                        </a:rPr>
                        <a:t>Value</a:t>
                      </a:r>
                    </a:p>
                  </a:txBody>
                  <a:tcPr marL="91440" marT="27432" marB="27432" anchor="ctr">
                    <a:solidFill>
                      <a:srgbClr val="0E2841"/>
                    </a:solidFill>
                  </a:tcPr>
                </a:tc>
                <a:tc>
                  <a:txBody>
                    <a:bodyPr/>
                    <a:lstStyle/>
                    <a:p>
                      <a:pPr algn="l"/>
                      <a:r>
                        <a:rPr sz="1100" b="1">
                          <a:solidFill>
                            <a:srgbClr val="FFFFFF"/>
                          </a:solidFill>
                          <a:latin typeface="Avenir Next LT Pro Demi"/>
                        </a:rPr>
                        <a:t>Implied read</a:t>
                      </a:r>
                    </a:p>
                  </a:txBody>
                  <a:tcPr marL="91440" marT="27432" marB="27432" anchor="ctr">
                    <a:solidFill>
                      <a:srgbClr val="0E2841"/>
                    </a:solidFill>
                  </a:tcPr>
                </a:tc>
              </a:tr>
              <a:tr h="457200">
                <a:tc>
                  <a:txBody>
                    <a:bodyPr/>
                    <a:lstStyle/>
                    <a:p>
                      <a:pPr algn="l"/>
                      <a:r>
                        <a:rPr sz="1100" b="1">
                          <a:solidFill>
                            <a:srgbClr val="000000"/>
                          </a:solidFill>
                          <a:latin typeface="Avenir Next LT Pro"/>
                        </a:rPr>
                        <a:t>Current price</a:t>
                      </a:r>
                    </a:p>
                  </a:txBody>
                  <a:tcPr marL="91440" marT="27432" marB="27432" anchor="ctr">
                    <a:solidFill>
                      <a:srgbClr val="FFFFFF"/>
                    </a:solidFill>
                  </a:tcPr>
                </a:tc>
                <a:tc>
                  <a:txBody>
                    <a:bodyPr/>
                    <a:lstStyle/>
                    <a:p>
                      <a:pPr algn="ctr"/>
                      <a:r>
                        <a:rPr sz="1100" b="0">
                          <a:solidFill>
                            <a:srgbClr val="000000"/>
                          </a:solidFill>
                          <a:latin typeface="Avenir Next LT Pro"/>
                        </a:rPr>
                        <a:t>~$166</a:t>
                      </a:r>
                    </a:p>
                  </a:txBody>
                  <a:tcPr marL="91440" marT="27432" marB="27432" anchor="ctr">
                    <a:solidFill>
                      <a:srgbClr val="FFFFFF"/>
                    </a:solidFill>
                  </a:tcPr>
                </a:tc>
                <a:tc>
                  <a:txBody>
                    <a:bodyPr/>
                    <a:lstStyle/>
                    <a:p>
                      <a:pPr algn="l"/>
                      <a:r>
                        <a:rPr sz="1100" b="0">
                          <a:solidFill>
                            <a:srgbClr val="000000"/>
                          </a:solidFill>
                          <a:latin typeface="Avenir Next LT Pro"/>
                        </a:rPr>
                        <a:t>—</a:t>
                      </a:r>
                    </a:p>
                  </a:txBody>
                  <a:tcPr marL="91440" marT="27432" marB="27432" anchor="ctr">
                    <a:solidFill>
                      <a:srgbClr val="FFFFFF"/>
                    </a:solidFill>
                  </a:tcPr>
                </a:tc>
              </a:tr>
              <a:tr h="457200">
                <a:tc>
                  <a:txBody>
                    <a:bodyPr/>
                    <a:lstStyle/>
                    <a:p>
                      <a:pPr algn="l"/>
                      <a:r>
                        <a:rPr sz="1100" b="1">
                          <a:solidFill>
                            <a:srgbClr val="000000"/>
                          </a:solidFill>
                          <a:latin typeface="Avenir Next LT Pro"/>
                        </a:rPr>
                        <a:t>Sell-side price targets</a:t>
                      </a:r>
                    </a:p>
                  </a:txBody>
                  <a:tcPr marL="91440" marT="27432" marB="27432" anchor="ctr">
                    <a:solidFill>
                      <a:srgbClr val="F4F6F8"/>
                    </a:solidFill>
                  </a:tcPr>
                </a:tc>
                <a:tc>
                  <a:txBody>
                    <a:bodyPr/>
                    <a:lstStyle/>
                    <a:p>
                      <a:pPr algn="ctr"/>
                      <a:r>
                        <a:rPr sz="1100" b="0">
                          <a:solidFill>
                            <a:srgbClr val="000000"/>
                          </a:solidFill>
                          <a:latin typeface="Avenir Next LT Pro"/>
                        </a:rPr>
                        <a:t>$130–175</a:t>
                      </a:r>
                    </a:p>
                  </a:txBody>
                  <a:tcPr marL="91440" marT="27432" marB="27432" anchor="ctr">
                    <a:solidFill>
                      <a:srgbClr val="F4F6F8"/>
                    </a:solidFill>
                  </a:tcPr>
                </a:tc>
                <a:tc>
                  <a:txBody>
                    <a:bodyPr/>
                    <a:lstStyle/>
                    <a:p>
                      <a:pPr algn="l"/>
                      <a:r>
                        <a:rPr sz="1100" b="0">
                          <a:solidFill>
                            <a:srgbClr val="000000"/>
                          </a:solidFill>
                          <a:latin typeface="Avenir Next LT Pro"/>
                        </a:rPr>
                        <a:t>Limited upside; ~fairly valued</a:t>
                      </a:r>
                    </a:p>
                  </a:txBody>
                  <a:tcPr marL="91440" marT="27432" marB="27432" anchor="ctr">
                    <a:solidFill>
                      <a:srgbClr val="F4F6F8"/>
                    </a:solidFill>
                  </a:tcPr>
                </a:tc>
              </a:tr>
              <a:tr h="457200">
                <a:tc>
                  <a:txBody>
                    <a:bodyPr/>
                    <a:lstStyle/>
                    <a:p>
                      <a:pPr algn="l"/>
                      <a:r>
                        <a:rPr sz="1100" b="1">
                          <a:solidFill>
                            <a:srgbClr val="000000"/>
                          </a:solidFill>
                          <a:latin typeface="Avenir Next LT Pro"/>
                        </a:rPr>
                        <a:t>Simply Wall St models</a:t>
                      </a:r>
                    </a:p>
                  </a:txBody>
                  <a:tcPr marL="91440" marT="27432" marB="27432" anchor="ctr">
                    <a:solidFill>
                      <a:srgbClr val="FFFFFF"/>
                    </a:solidFill>
                  </a:tcPr>
                </a:tc>
                <a:tc>
                  <a:txBody>
                    <a:bodyPr/>
                    <a:lstStyle/>
                    <a:p>
                      <a:pPr algn="ctr"/>
                      <a:r>
                        <a:rPr sz="1100" b="0">
                          <a:solidFill>
                            <a:srgbClr val="000000"/>
                          </a:solidFill>
                          <a:latin typeface="Avenir Next LT Pro"/>
                        </a:rPr>
                        <a:t>~$165–264</a:t>
                      </a:r>
                    </a:p>
                  </a:txBody>
                  <a:tcPr marL="91440" marT="27432" marB="27432" anchor="ctr">
                    <a:solidFill>
                      <a:srgbClr val="FFFFFF"/>
                    </a:solidFill>
                  </a:tcPr>
                </a:tc>
                <a:tc>
                  <a:txBody>
                    <a:bodyPr/>
                    <a:lstStyle/>
                    <a:p>
                      <a:pPr algn="l"/>
                      <a:r>
                        <a:rPr sz="1100" b="0">
                          <a:solidFill>
                            <a:srgbClr val="000000"/>
                          </a:solidFill>
                          <a:latin typeface="Avenir Next LT Pro"/>
                        </a:rPr>
                        <a:t>Fairly valued to bullish</a:t>
                      </a:r>
                    </a:p>
                  </a:txBody>
                  <a:tcPr marL="91440" marT="27432" marB="27432" anchor="ctr">
                    <a:solidFill>
                      <a:srgbClr val="FFFFFF"/>
                    </a:solidFill>
                  </a:tcPr>
                </a:tc>
              </a:tr>
              <a:tr h="457200">
                <a:tc>
                  <a:txBody>
                    <a:bodyPr/>
                    <a:lstStyle/>
                    <a:p>
                      <a:pPr algn="l"/>
                      <a:r>
                        <a:rPr sz="1100" b="1">
                          <a:solidFill>
                            <a:srgbClr val="156082"/>
                          </a:solidFill>
                          <a:latin typeface="Avenir Next LT Pro Demi"/>
                        </a:rPr>
                        <a:t>My fair value — proven today</a:t>
                      </a:r>
                    </a:p>
                  </a:txBody>
                  <a:tcPr marL="91440" marT="27432" marB="27432" anchor="ctr">
                    <a:solidFill>
                      <a:srgbClr val="F4F6F8"/>
                    </a:solidFill>
                  </a:tcPr>
                </a:tc>
                <a:tc>
                  <a:txBody>
                    <a:bodyPr/>
                    <a:lstStyle/>
                    <a:p>
                      <a:pPr algn="ctr"/>
                      <a:r>
                        <a:rPr sz="1100" b="1">
                          <a:solidFill>
                            <a:srgbClr val="156082"/>
                          </a:solidFill>
                          <a:latin typeface="Avenir Next LT Pro"/>
                        </a:rPr>
                        <a:t>~$165</a:t>
                      </a:r>
                    </a:p>
                  </a:txBody>
                  <a:tcPr marL="91440" marT="27432" marB="27432" anchor="ctr">
                    <a:solidFill>
                      <a:srgbClr val="F4F6F8"/>
                    </a:solidFill>
                  </a:tcPr>
                </a:tc>
                <a:tc>
                  <a:txBody>
                    <a:bodyPr/>
                    <a:lstStyle/>
                    <a:p>
                      <a:pPr algn="l"/>
                      <a:r>
                        <a:rPr sz="1100" b="1">
                          <a:solidFill>
                            <a:srgbClr val="000000"/>
                          </a:solidFill>
                          <a:latin typeface="Avenir Next LT Pro"/>
                        </a:rPr>
                        <a:t>In line with Street → Hold</a:t>
                      </a:r>
                    </a:p>
                  </a:txBody>
                  <a:tcPr marL="91440" marT="27432" marB="27432" anchor="ctr">
                    <a:solidFill>
                      <a:srgbClr val="F4F6F8"/>
                    </a:solidFill>
                  </a:tcPr>
                </a:tc>
              </a:tr>
              <a:tr h="457200">
                <a:tc>
                  <a:txBody>
                    <a:bodyPr/>
                    <a:lstStyle/>
                    <a:p>
                      <a:pPr algn="l"/>
                      <a:r>
                        <a:rPr sz="1100" b="1">
                          <a:solidFill>
                            <a:srgbClr val="156082"/>
                          </a:solidFill>
                          <a:latin typeface="Avenir Next LT Pro Demi"/>
                        </a:rPr>
                        <a:t>My upside case — if de-risked</a:t>
                      </a:r>
                    </a:p>
                  </a:txBody>
                  <a:tcPr marL="91440" marT="27432" marB="27432" anchor="ctr">
                    <a:solidFill>
                      <a:srgbClr val="FFFFFF"/>
                    </a:solidFill>
                  </a:tcPr>
                </a:tc>
                <a:tc>
                  <a:txBody>
                    <a:bodyPr/>
                    <a:lstStyle/>
                    <a:p>
                      <a:pPr algn="ctr"/>
                      <a:r>
                        <a:rPr sz="1100" b="1">
                          <a:solidFill>
                            <a:srgbClr val="156082"/>
                          </a:solidFill>
                          <a:latin typeface="Avenir Next LT Pro"/>
                        </a:rPr>
                        <a:t>~$240 FV / ~$310 tgt</a:t>
                      </a:r>
                    </a:p>
                  </a:txBody>
                  <a:tcPr marL="91440" marT="27432" marB="27432" anchor="ctr">
                    <a:solidFill>
                      <a:srgbClr val="FFFFFF"/>
                    </a:solidFill>
                  </a:tcPr>
                </a:tc>
                <a:tc>
                  <a:txBody>
                    <a:bodyPr/>
                    <a:lstStyle/>
                    <a:p>
                      <a:pPr algn="l"/>
                      <a:r>
                        <a:rPr sz="1100" b="1">
                          <a:solidFill>
                            <a:srgbClr val="000000"/>
                          </a:solidFill>
                          <a:latin typeface="Avenir Next LT Pro"/>
                        </a:rPr>
                        <a:t>The prize (~45–90%) if triggers hit</a:t>
                      </a:r>
                    </a:p>
                  </a:txBody>
                  <a:tcPr marL="91440" marT="27432" marB="27432" anchor="ctr">
                    <a:solidFill>
                      <a:srgbClr val="FFFFFF"/>
                    </a:solidFill>
                  </a:tcPr>
                </a:tc>
              </a:tr>
            </a:tbl>
          </a:graphicData>
        </a:graphic>
      </p:graphicFrame>
      <p:sp>
        <p:nvSpPr>
          <p:cNvPr id="5" name="TextBox 4"/>
          <p:cNvSpPr txBox="1"/>
          <p:nvPr/>
        </p:nvSpPr>
        <p:spPr>
          <a:xfrm>
            <a:off x="457200" y="4572000"/>
            <a:ext cx="8229600" cy="1005840"/>
          </a:xfrm>
          <a:prstGeom prst="rect">
            <a:avLst/>
          </a:prstGeom>
          <a:noFill/>
        </p:spPr>
        <p:txBody>
          <a:bodyPr wrap="square">
            <a:spAutoFit/>
          </a:bodyPr>
          <a:lstStyle/>
          <a:p>
            <a:r>
              <a:rPr sz="1200">
                <a:solidFill>
                  <a:srgbClr val="000000"/>
                </a:solidFill>
                <a:latin typeface="Avenir Next LT Pro"/>
              </a:rPr>
              <a:t>Takeaway: I agree with the Street on what's proven (~$165 ≈ the price). My differentiation isn't a higher "today" value — it's a defined view on the conditional upside (~$240–310) that the Street won't credit until Estates and margins prove out.</a:t>
            </a:r>
          </a:p>
          <a:p>
            <a:pPr>
              <a:spcBef>
                <a:spcPts val="800"/>
              </a:spcBef>
            </a:pPr>
            <a:r>
              <a:rPr sz="1200" b="1">
                <a:solidFill>
                  <a:srgbClr val="000000"/>
                </a:solidFill>
                <a:latin typeface="Avenir Next LT Pro Demi"/>
              </a:rPr>
              <a:t>The Hold is the discipline: I won't pay for that upside on hope — I wait for the triggers, then buy even higher.</a:t>
            </a:r>
          </a:p>
        </p:txBody>
      </p:sp>
      <p:sp>
        <p:nvSpPr>
          <p:cNvPr id="6" name="TextBox 5"/>
          <p:cNvSpPr txBox="1"/>
          <p:nvPr/>
        </p:nvSpPr>
        <p:spPr>
          <a:xfrm>
            <a:off x="457200" y="6355080"/>
            <a:ext cx="8229600" cy="365760"/>
          </a:xfrm>
          <a:prstGeom prst="rect">
            <a:avLst/>
          </a:prstGeom>
          <a:noFill/>
        </p:spPr>
        <p:txBody>
          <a:bodyPr wrap="none">
            <a:spAutoFit/>
          </a:bodyPr>
          <a:lstStyle/>
          <a:p>
            <a:r>
              <a:rPr sz="750" i="1">
                <a:solidFill>
                  <a:srgbClr val="707070"/>
                </a:solidFill>
                <a:latin typeface="Avenir Next LT Pro"/>
              </a:rPr>
              <a:t>Sources: sell-side price-target range &amp; Simply Wall St narrative fair values (per recent research); author's estimates.</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