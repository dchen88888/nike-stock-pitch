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26" r:id="rId33"/>
    <p:sldId id="522" r:id="rId35"/>
    <p:sldId id="523" r:id="rId36"/>
    <p:sldId id="524" r:id="rId37"/>
    <p:sldId id="508" r:id="rId10"/>
    <p:sldId id="482" r:id="rId11"/>
    <p:sldId id="509" r:id="rId12"/>
    <p:sldId id="506" r:id="rId14"/>
    <p:sldId id="511" r:id="rId15"/>
    <p:sldId id="513" r:id="rId16"/>
    <p:sldId id="525" r:id="rId38"/>
    <p:sldId id="510" r:id="rId13"/>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9.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no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a:t>
            </a:r>
            <a:r>
              <a:rPr lang="en-US" sz="1000" b="1" dirty="0">
                <a:solidFill>
                  <a:srgbClr val="5A5A5A"/>
                </a:solidFill>
                <a:latin typeface="Avenir Next LT Pro Demi"/>
              </a:rPr>
              <a:t/>
            </a:r>
            <a:r>
              <a:rPr sz="1000" b="1" dirty="0">
                <a:solidFill>
                  <a:srgbClr val="5A5A5A"/>
                </a:solidFill>
                <a:latin typeface="Avenir Next LT Pro Demi"/>
              </a:rPr>
              <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no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no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
        <p:nvSpPr>
          <p:cNvPr id="12" name="TextBox 11"/>
          <p:cNvSpPr txBox="1"/>
          <p:nvPr/>
        </p:nvSpPr>
        <p:spPr>
          <a:xfrm>
            <a:off x="457200" y="1965960"/>
            <a:ext cx="8229600" cy="256032"/>
          </a:xfrm>
          <a:prstGeom prst="rect">
            <a:avLst/>
          </a:prstGeom>
          <a:noFill/>
          <a:ln>
            <a:noFill/>
          </a:ln>
        </p:spPr>
        <p:txBody>
          <a:bodyPr wrap="square">
            <a:spAutoFit/>
          </a:bodyPr>
          <a:lstStyle/>
          <a:p>
            <a:r>
              <a:rPr sz="900" b="0" i="1">
                <a:solidFill>
                  <a:srgbClr val="707070"/>
                </a:solidFill>
                <a:latin typeface="Avenir Next LT Pro"/>
              </a:rPr>
              <a:t>2–3 yr outcome range if the thesis plays out (not probability-weighted):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no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no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no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no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no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no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no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no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no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no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Company Background — RH at a Glance</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640080"/>
          </a:xfrm>
          <a:prstGeom prst="rect">
            <a:avLst/>
          </a:prstGeom>
          <a:noFill/>
          <a:ln>
            <a:noFill/>
          </a:ln>
        </p:spPr>
        <p:txBody>
          <a:bodyPr wrap="square">
            <a:spAutoFit/>
          </a:bodyPr>
          <a:lstStyle/>
          <a:p>
            <a:r>
              <a:rPr sz="1100">
                <a:solidFill>
                  <a:srgbClr val="000000"/>
                </a:solidFill>
                <a:latin typeface="Avenir Next LT Pro"/>
              </a:rPr>
              <a:t>Fully direct-to-consumer luxury home-furnishings brand — design galleries, paid membership, integrated hospitality. Founder-led by Gary Friedman, who rebuilt RH from near-bankruptcy (2001) into a luxury platform across the US, Canada, UK &amp; Europe.</a:t>
            </a:r>
          </a:p>
        </p:txBody>
      </p:sp>
      <p:graphicFrame>
        <p:nvGraphicFramePr>
          <p:cNvPr id="5" name="Table 4"/>
          <p:cNvGraphicFramePr>
            <a:graphicFrameLocks noGrp="1"/>
          </p:cNvGraphicFramePr>
          <p:nvPr/>
        </p:nvGraphicFramePr>
        <p:xfrm>
          <a:off x="45720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Market &amp; Valuation (Jul 2026)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Ticker</a:t>
                      </a:r>
                    </a:p>
                  </a:txBody>
                  <a:tcPr marL="91440" anchor="ctr">
                    <a:solidFill>
                      <a:srgbClr val="FFFFFF"/>
                    </a:solidFill>
                  </a:tcPr>
                </a:tc>
                <a:tc>
                  <a:txBody>
                    <a:bodyPr/>
                    <a:lstStyle/>
                    <a:p>
                      <a:r>
                        <a:rPr sz="1050" b="0">
                          <a:solidFill>
                            <a:srgbClr val="000000"/>
                          </a:solidFill>
                          <a:latin typeface="Avenir Next LT Pro"/>
                        </a:rPr>
                        <a:t>NYSE: RH</a:t>
                      </a:r>
                    </a:p>
                  </a:txBody>
                  <a:tcPr marL="91440" anchor="ctr">
                    <a:solidFill>
                      <a:srgbClr val="FFFFFF"/>
                    </a:solidFill>
                  </a:tcPr>
                </a:tc>
              </a:tr>
              <a:tr h="457200">
                <a:tc>
                  <a:txBody>
                    <a:bodyPr/>
                    <a:lstStyle/>
                    <a:p>
                      <a:r>
                        <a:rPr sz="1050" b="1">
                          <a:solidFill>
                            <a:srgbClr val="000000"/>
                          </a:solidFill>
                          <a:latin typeface="Avenir Next LT Pro Demi"/>
                        </a:rPr>
                        <a:t>Share price</a:t>
                      </a:r>
                    </a:p>
                  </a:txBody>
                  <a:tcPr marL="91440" anchor="ctr">
                    <a:solidFill>
                      <a:srgbClr val="F4F6F8"/>
                    </a:solidFill>
                  </a:tcPr>
                </a:tc>
                <a:tc>
                  <a:txBody>
                    <a:bodyPr/>
                    <a:lstStyle/>
                    <a:p>
                      <a:r>
                        <a:rPr sz="1050" b="0">
                          <a:solidFill>
                            <a:srgbClr val="000000"/>
                          </a:solidFill>
                          <a:latin typeface="Avenir Next LT Pro"/>
                        </a:rPr>
                        <a:t>~$166</a:t>
                      </a:r>
                    </a:p>
                  </a:txBody>
                  <a:tcPr marL="91440" anchor="ctr">
                    <a:solidFill>
                      <a:srgbClr val="F4F6F8"/>
                    </a:solidFill>
                  </a:tcPr>
                </a:tc>
              </a:tr>
              <a:tr h="457200">
                <a:tc>
                  <a:txBody>
                    <a:bodyPr/>
                    <a:lstStyle/>
                    <a:p>
                      <a:r>
                        <a:rPr sz="1050" b="1">
                          <a:solidFill>
                            <a:srgbClr val="000000"/>
                          </a:solidFill>
                          <a:latin typeface="Avenir Next LT Pro Demi"/>
                        </a:rPr>
                        <a:t>Market cap</a:t>
                      </a:r>
                    </a:p>
                  </a:txBody>
                  <a:tcPr marL="91440" anchor="ctr">
                    <a:solidFill>
                      <a:srgbClr val="FFFFFF"/>
                    </a:solidFill>
                  </a:tcPr>
                </a:tc>
                <a:tc>
                  <a:txBody>
                    <a:bodyPr/>
                    <a:lstStyle/>
                    <a:p>
                      <a:r>
                        <a:rPr sz="1050" b="0">
                          <a:solidFill>
                            <a:srgbClr val="000000"/>
                          </a:solidFill>
                          <a:latin typeface="Avenir Next LT Pro"/>
                        </a:rPr>
                        <a:t>~$3.1B</a:t>
                      </a:r>
                    </a:p>
                  </a:txBody>
                  <a:tcPr marL="91440" anchor="ctr">
                    <a:solidFill>
                      <a:srgbClr val="FFFFFF"/>
                    </a:solidFill>
                  </a:tcPr>
                </a:tc>
              </a:tr>
              <a:tr h="457200">
                <a:tc>
                  <a:txBody>
                    <a:bodyPr/>
                    <a:lstStyle/>
                    <a:p>
                      <a:r>
                        <a:rPr sz="1050" b="1">
                          <a:solidFill>
                            <a:srgbClr val="000000"/>
                          </a:solidFill>
                          <a:latin typeface="Avenir Next LT Pro Demi"/>
                        </a:rPr>
                        <a:t>Net debt</a:t>
                      </a:r>
                    </a:p>
                  </a:txBody>
                  <a:tcPr marL="91440" anchor="ctr">
                    <a:solidFill>
                      <a:srgbClr val="F4F6F8"/>
                    </a:solidFill>
                  </a:tcPr>
                </a:tc>
                <a:tc>
                  <a:txBody>
                    <a:bodyPr/>
                    <a:lstStyle/>
                    <a:p>
                      <a:r>
                        <a:rPr sz="1050" b="0">
                          <a:solidFill>
                            <a:srgbClr val="000000"/>
                          </a:solidFill>
                          <a:latin typeface="Avenir Next LT Pro"/>
                        </a:rPr>
                        <a:t>~$2.4B</a:t>
                      </a:r>
                    </a:p>
                  </a:txBody>
                  <a:tcPr marL="91440" anchor="ctr">
                    <a:solidFill>
                      <a:srgbClr val="F4F6F8"/>
                    </a:solidFill>
                  </a:tcPr>
                </a:tc>
              </a:tr>
              <a:tr h="457200">
                <a:tc>
                  <a:txBody>
                    <a:bodyPr/>
                    <a:lstStyle/>
                    <a:p>
                      <a:r>
                        <a:rPr sz="1050" b="1">
                          <a:solidFill>
                            <a:srgbClr val="000000"/>
                          </a:solidFill>
                          <a:latin typeface="Avenir Next LT Pro Demi"/>
                        </a:rPr>
                        <a:t>Enterprise value</a:t>
                      </a:r>
                    </a:p>
                  </a:txBody>
                  <a:tcPr marL="91440" anchor="ctr">
                    <a:solidFill>
                      <a:srgbClr val="FFFFFF"/>
                    </a:solidFill>
                  </a:tcPr>
                </a:tc>
                <a:tc>
                  <a:txBody>
                    <a:bodyPr/>
                    <a:lstStyle/>
                    <a:p>
                      <a:r>
                        <a:rPr sz="1050" b="0">
                          <a:solidFill>
                            <a:srgbClr val="000000"/>
                          </a:solidFill>
                          <a:latin typeface="Avenir Next LT Pro"/>
                        </a:rPr>
                        <a:t>~$5.5B</a:t>
                      </a:r>
                    </a:p>
                  </a:txBody>
                  <a:tcPr marL="91440" anchor="ctr">
                    <a:solidFill>
                      <a:srgbClr val="FFFFFF"/>
                    </a:solidFill>
                  </a:tcPr>
                </a:tc>
              </a:tr>
              <a:tr h="457200">
                <a:tc>
                  <a:txBody>
                    <a:bodyPr/>
                    <a:lstStyle/>
                    <a:p>
                      <a:r>
                        <a:rPr sz="1050" b="1">
                          <a:solidFill>
                            <a:srgbClr val="000000"/>
                          </a:solidFill>
                          <a:latin typeface="Avenir Next LT Pro Demi"/>
                        </a:rPr>
                        <a:t>EV / EBITDA</a:t>
                      </a:r>
                    </a:p>
                  </a:txBody>
                  <a:tcPr marL="91440" anchor="ctr">
                    <a:solidFill>
                      <a:srgbClr val="F4F6F8"/>
                    </a:solidFill>
                  </a:tcPr>
                </a:tc>
                <a:tc>
                  <a:txBody>
                    <a:bodyPr/>
                    <a:lstStyle/>
                    <a:p>
                      <a:r>
                        <a:rPr sz="1050" b="0">
                          <a:solidFill>
                            <a:srgbClr val="000000"/>
                          </a:solidFill>
                          <a:latin typeface="Avenir Next LT Pro"/>
                        </a:rPr>
                        <a:t>~9.3×</a:t>
                      </a:r>
                    </a:p>
                  </a:txBody>
                  <a:tcPr marL="91440" anchor="ctr">
                    <a:solidFill>
                      <a:srgbClr val="F4F6F8"/>
                    </a:solidFill>
                  </a:tcPr>
                </a:tc>
              </a:tr>
            </a:tbl>
          </a:graphicData>
        </a:graphic>
      </p:graphicFrame>
      <p:graphicFrame>
        <p:nvGraphicFramePr>
          <p:cNvPr id="6" name="Table 5"/>
          <p:cNvGraphicFramePr>
            <a:graphicFrameLocks noGrp="1"/>
          </p:cNvGraphicFramePr>
          <p:nvPr/>
        </p:nvGraphicFramePr>
        <p:xfrm>
          <a:off x="4709160" y="1874519"/>
          <a:ext cx="3977640" cy="3127248"/>
        </p:xfrm>
        <a:graphic>
          <a:graphicData uri="http://schemas.openxmlformats.org/drawingml/2006/table">
            <a:tbl>
              <a:tblPr>
                <a:tableStyleId>{5C22544A-7EE6-4342-B048-85BDC9FD1C3A}</a:tableStyleId>
              </a:tblPr>
              <a:tblGrid>
                <a:gridCol w="1965960"/>
                <a:gridCol w="2011680"/>
              </a:tblGrid>
              <a:tr h="384048">
                <a:tc gridSpan="2">
                  <a:txBody>
                    <a:bodyPr/>
                    <a:lstStyle/>
                    <a:p>
                      <a:r>
                        <a:rPr sz="1100" b="1">
                          <a:solidFill>
                            <a:srgbClr val="FFFFFF"/>
                          </a:solidFill>
                          <a:latin typeface="Avenir Next LT Pro Demi"/>
                        </a:rPr>
                        <a:t>Business — FY2025 (ended Jan '26)</a:t>
                      </a:r>
                    </a:p>
                  </a:txBody>
                  <a:tcPr anchor="ctr" marL="91440">
                    <a:solidFill>
                      <a:srgbClr val="9A7B44"/>
                    </a:solidFill>
                  </a:tcPr>
                </a:tc>
                <a:tc hMerge="1">
                  <a:txBody>
                    <a:bodyPr/>
                    <a:lstStyle/>
                    <a:p/>
                  </a:txBody>
                  <a:tcPr/>
                </a:tc>
              </a:tr>
              <a:tr h="457200">
                <a:tc>
                  <a:txBody>
                    <a:bodyPr/>
                    <a:lstStyle/>
                    <a:p>
                      <a:r>
                        <a:rPr sz="1050" b="1">
                          <a:solidFill>
                            <a:srgbClr val="000000"/>
                          </a:solidFill>
                          <a:latin typeface="Avenir Next LT Pro Demi"/>
                        </a:rPr>
                        <a:t>Revenue</a:t>
                      </a:r>
                    </a:p>
                  </a:txBody>
                  <a:tcPr marL="91440" anchor="ctr">
                    <a:solidFill>
                      <a:srgbClr val="FFFFFF"/>
                    </a:solidFill>
                  </a:tcPr>
                </a:tc>
                <a:tc>
                  <a:txBody>
                    <a:bodyPr/>
                    <a:lstStyle/>
                    <a:p>
                      <a:r>
                        <a:rPr sz="1050" b="0">
                          <a:solidFill>
                            <a:srgbClr val="000000"/>
                          </a:solidFill>
                          <a:latin typeface="Avenir Next LT Pro"/>
                        </a:rPr>
                        <a:t>$3.44B</a:t>
                      </a:r>
                    </a:p>
                  </a:txBody>
                  <a:tcPr marL="91440" anchor="ctr">
                    <a:solidFill>
                      <a:srgbClr val="FFFFFF"/>
                    </a:solidFill>
                  </a:tcPr>
                </a:tc>
              </a:tr>
              <a:tr h="457200">
                <a:tc>
                  <a:txBody>
                    <a:bodyPr/>
                    <a:lstStyle/>
                    <a:p>
                      <a:r>
                        <a:rPr sz="1050" b="1">
                          <a:solidFill>
                            <a:srgbClr val="000000"/>
                          </a:solidFill>
                          <a:latin typeface="Avenir Next LT Pro Demi"/>
                        </a:rPr>
                        <a:t>Adj. EBITDA</a:t>
                      </a:r>
                    </a:p>
                  </a:txBody>
                  <a:tcPr marL="91440" anchor="ctr">
                    <a:solidFill>
                      <a:srgbClr val="F4F6F8"/>
                    </a:solidFill>
                  </a:tcPr>
                </a:tc>
                <a:tc>
                  <a:txBody>
                    <a:bodyPr/>
                    <a:lstStyle/>
                    <a:p>
                      <a:r>
                        <a:rPr sz="1050" b="0">
                          <a:solidFill>
                            <a:srgbClr val="000000"/>
                          </a:solidFill>
                          <a:latin typeface="Avenir Next LT Pro"/>
                        </a:rPr>
                        <a:t>$597M (17.3%)</a:t>
                      </a:r>
                    </a:p>
                  </a:txBody>
                  <a:tcPr marL="91440" anchor="ctr">
                    <a:solidFill>
                      <a:srgbClr val="F4F6F8"/>
                    </a:solidFill>
                  </a:tcPr>
                </a:tc>
              </a:tr>
              <a:tr h="457200">
                <a:tc>
                  <a:txBody>
                    <a:bodyPr/>
                    <a:lstStyle/>
                    <a:p>
                      <a:r>
                        <a:rPr sz="1050" b="1">
                          <a:solidFill>
                            <a:srgbClr val="000000"/>
                          </a:solidFill>
                          <a:latin typeface="Avenir Next LT Pro Demi"/>
                        </a:rPr>
                        <a:t>Gross margin</a:t>
                      </a:r>
                    </a:p>
                  </a:txBody>
                  <a:tcPr marL="91440" anchor="ctr">
                    <a:solidFill>
                      <a:srgbClr val="FFFFFF"/>
                    </a:solidFill>
                  </a:tcPr>
                </a:tc>
                <a:tc>
                  <a:txBody>
                    <a:bodyPr/>
                    <a:lstStyle/>
                    <a:p>
                      <a:r>
                        <a:rPr sz="1050" b="0">
                          <a:solidFill>
                            <a:srgbClr val="000000"/>
                          </a:solidFill>
                          <a:latin typeface="Avenir Next LT Pro"/>
                        </a:rPr>
                        <a:t>~44%</a:t>
                      </a:r>
                    </a:p>
                  </a:txBody>
                  <a:tcPr marL="91440" anchor="ctr">
                    <a:solidFill>
                      <a:srgbClr val="FFFFFF"/>
                    </a:solidFill>
                  </a:tcPr>
                </a:tc>
              </a:tr>
              <a:tr h="457200">
                <a:tc>
                  <a:txBody>
                    <a:bodyPr/>
                    <a:lstStyle/>
                    <a:p>
                      <a:r>
                        <a:rPr sz="1050" b="1">
                          <a:solidFill>
                            <a:srgbClr val="000000"/>
                          </a:solidFill>
                          <a:latin typeface="Avenir Next LT Pro Demi"/>
                        </a:rPr>
                        <a:t>Diluted EPS</a:t>
                      </a:r>
                    </a:p>
                  </a:txBody>
                  <a:tcPr marL="91440" anchor="ctr">
                    <a:solidFill>
                      <a:srgbClr val="F4F6F8"/>
                    </a:solidFill>
                  </a:tcPr>
                </a:tc>
                <a:tc>
                  <a:txBody>
                    <a:bodyPr/>
                    <a:lstStyle/>
                    <a:p>
                      <a:r>
                        <a:rPr sz="1050" b="0">
                          <a:solidFill>
                            <a:srgbClr val="000000"/>
                          </a:solidFill>
                          <a:latin typeface="Avenir Next LT Pro"/>
                        </a:rPr>
                        <a:t>$6.31</a:t>
                      </a:r>
                    </a:p>
                  </a:txBody>
                  <a:tcPr marL="91440" anchor="ctr">
                    <a:solidFill>
                      <a:srgbClr val="F4F6F8"/>
                    </a:solidFill>
                  </a:tcPr>
                </a:tc>
              </a:tr>
              <a:tr h="457200">
                <a:tc>
                  <a:txBody>
                    <a:bodyPr/>
                    <a:lstStyle/>
                    <a:p>
                      <a:r>
                        <a:rPr sz="1050" b="1">
                          <a:solidFill>
                            <a:srgbClr val="000000"/>
                          </a:solidFill>
                          <a:latin typeface="Avenir Next LT Pro Demi"/>
                        </a:rPr>
                        <a:t>Footprint</a:t>
                      </a:r>
                    </a:p>
                  </a:txBody>
                  <a:tcPr marL="91440" anchor="ctr">
                    <a:solidFill>
                      <a:srgbClr val="FFFFFF"/>
                    </a:solidFill>
                  </a:tcPr>
                </a:tc>
                <a:tc>
                  <a:txBody>
                    <a:bodyPr/>
                    <a:lstStyle/>
                    <a:p>
                      <a:r>
                        <a:rPr sz="1050" b="0">
                          <a:solidFill>
                            <a:srgbClr val="000000"/>
                          </a:solidFill>
                          <a:latin typeface="Avenir Next LT Pro"/>
                        </a:rPr>
                        <a:t>~68 galleries + 44 outlets</a:t>
                      </a:r>
                    </a:p>
                  </a:txBody>
                  <a:tcPr marL="91440" anchor="ctr">
                    <a:solidFill>
                      <a:srgbClr val="FFFFFF"/>
                    </a:solidFill>
                  </a:tcPr>
                </a:tc>
              </a:tr>
              <a:tr h="457200">
                <a:tc>
                  <a:txBody>
                    <a:bodyPr/>
                    <a:lstStyle/>
                    <a:p>
                      <a:r>
                        <a:rPr sz="1050" b="1">
                          <a:solidFill>
                            <a:srgbClr val="000000"/>
                          </a:solidFill>
                          <a:latin typeface="Avenir Next LT Pro Demi"/>
                        </a:rPr>
                        <a:t>Ownership</a:t>
                      </a:r>
                    </a:p>
                  </a:txBody>
                  <a:tcPr marL="91440" anchor="ctr">
                    <a:solidFill>
                      <a:srgbClr val="F4F6F8"/>
                    </a:solidFill>
                  </a:tcPr>
                </a:tc>
                <a:tc>
                  <a:txBody>
                    <a:bodyPr/>
                    <a:lstStyle/>
                    <a:p>
                      <a:r>
                        <a:rPr sz="1050" b="0">
                          <a:solidFill>
                            <a:srgbClr val="000000"/>
                          </a:solidFill>
                          <a:latin typeface="Avenir Next LT Pro"/>
                        </a:rPr>
                        <a:t>Founder-led; Friedman ~25%</a:t>
                      </a:r>
                    </a:p>
                  </a:txBody>
                  <a:tcPr marL="91440" anchor="ctr">
                    <a:solidFill>
                      <a:srgbClr val="F4F6F8"/>
                    </a:solidFill>
                  </a:tcPr>
                </a:tc>
              </a:tr>
            </a:tbl>
          </a:graphicData>
        </a:graphic>
      </p:graphicFrame>
      <p:sp>
        <p:nvSpPr>
          <p:cNvPr id="7" name="TextBox 6"/>
          <p:cNvSpPr txBox="1"/>
          <p:nvPr/>
        </p:nvSpPr>
        <p:spPr>
          <a:xfrm>
            <a:off x="457200" y="6309360"/>
            <a:ext cx="8229600" cy="274320"/>
          </a:xfrm>
          <a:prstGeom prst="rect">
            <a:avLst/>
          </a:prstGeom>
          <a:noFill/>
          <a:ln>
            <a:noFill/>
          </a:ln>
        </p:spPr>
        <p:txBody>
          <a:bodyPr wrap="none">
            <a:spAutoFit/>
          </a:bodyPr>
          <a:lstStyle/>
          <a:p>
            <a:r>
              <a:rPr sz="750" i="1">
                <a:solidFill>
                  <a:srgbClr val="707070"/>
                </a:solidFill>
                <a:latin typeface="Avenir Next LT Pro"/>
              </a:rPr>
              <a:t>Sources: RH FY2025 10-K &amp; Q1 FY2026 10-Q; market data as of Jul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Trough → Recovery: Where RH Stands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8229600" cy="548640"/>
          </a:xfrm>
          <a:prstGeom prst="rect">
            <a:avLst/>
          </a:prstGeom>
          <a:noFill/>
          <a:ln>
            <a:noFill/>
          </a:ln>
        </p:spPr>
        <p:txBody>
          <a:bodyPr wrap="square">
            <a:spAutoFit/>
          </a:bodyPr>
          <a:lstStyle/>
          <a:p>
            <a:r>
              <a:rPr sz="1100" b="0" i="0">
                <a:solidFill>
                  <a:srgbClr val="000000"/>
                </a:solidFill>
                <a:latin typeface="Avenir Next LT Pro"/>
              </a:rPr>
              <a:t>Peaked ~$3.6B (FY22) on a housing boom + debt-funded buybacks; housing then froze — revenue fell to a ~$3.0B trough with ~$2.4B net debt.</a:t>
            </a:r>
          </a:p>
        </p:txBody>
      </p:sp>
      <p:sp>
        <p:nvSpPr>
          <p:cNvPr id="5" name="Rectangle 4"/>
          <p:cNvSpPr/>
          <p:nvPr/>
        </p:nvSpPr>
        <p:spPr>
          <a:xfrm>
            <a:off x="457200" y="1874519"/>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WORKING</a:t>
            </a:r>
          </a:p>
        </p:txBody>
      </p:sp>
      <p:sp>
        <p:nvSpPr>
          <p:cNvPr id="6" name="Rectangle 5"/>
          <p:cNvSpPr/>
          <p:nvPr/>
        </p:nvSpPr>
        <p:spPr>
          <a:xfrm>
            <a:off x="4709160" y="1874519"/>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i="0">
                <a:solidFill>
                  <a:srgbClr val="FFFFFF"/>
                </a:solidFill>
                <a:latin typeface="Avenir Next LT Pro Demi"/>
              </a:rPr>
              <a:t>WATCH</a:t>
            </a:r>
          </a:p>
        </p:txBody>
      </p:sp>
      <p:sp>
        <p:nvSpPr>
          <p:cNvPr id="7" name="TextBox 6"/>
          <p:cNvSpPr txBox="1"/>
          <p:nvPr/>
        </p:nvSpPr>
        <p:spPr>
          <a:xfrm>
            <a:off x="457200" y="2423160"/>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FCF inflected to +$252M in FY25 (from −$214M)</a:t>
            </a:r>
          </a:p>
        </p:txBody>
      </p:sp>
      <p:sp>
        <p:nvSpPr>
          <p:cNvPr id="8" name="TextBox 7"/>
          <p:cNvSpPr txBox="1"/>
          <p:nvPr/>
        </p:nvSpPr>
        <p:spPr>
          <a:xfrm>
            <a:off x="457200" y="3081528"/>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Inventory normalized $1.02B → $819M</a:t>
            </a:r>
          </a:p>
        </p:txBody>
      </p:sp>
      <p:sp>
        <p:nvSpPr>
          <p:cNvPr id="9" name="TextBox 8"/>
          <p:cNvSpPr txBox="1"/>
          <p:nvPr/>
        </p:nvSpPr>
        <p:spPr>
          <a:xfrm>
            <a:off x="457200" y="3739896"/>
            <a:ext cx="3977639" cy="640080"/>
          </a:xfrm>
          <a:prstGeom prst="rect">
            <a:avLst/>
          </a:prstGeom>
          <a:noFill/>
          <a:ln>
            <a:noFill/>
          </a:ln>
        </p:spPr>
        <p:txBody>
          <a:bodyPr wrap="square">
            <a:spAutoFit/>
          </a:bodyPr>
          <a:lstStyle/>
          <a:p>
            <a:r>
              <a:rPr sz="1200" b="1" i="0">
                <a:solidFill>
                  <a:srgbClr val="196B24"/>
                </a:solidFill>
                <a:latin typeface="Avenir Next LT Pro Demi"/>
              </a:rPr>
              <a:t>✓  </a:t>
            </a:r>
            <a:r>
              <a:rPr sz="1100" b="0" i="0">
                <a:solidFill>
                  <a:srgbClr val="000000"/>
                </a:solidFill>
                <a:latin typeface="Avenir Next LT Pro"/>
              </a:rPr>
              <a:t>Revenue re-accelerated +8.1% in FY25</a:t>
            </a:r>
          </a:p>
        </p:txBody>
      </p:sp>
      <p:sp>
        <p:nvSpPr>
          <p:cNvPr id="10" name="TextBox 9"/>
          <p:cNvSpPr txBox="1"/>
          <p:nvPr/>
        </p:nvSpPr>
        <p:spPr>
          <a:xfrm>
            <a:off x="4709160" y="2423160"/>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Q1 FY26: revenue −1.7%, net loss</a:t>
            </a:r>
          </a:p>
        </p:txBody>
      </p:sp>
      <p:sp>
        <p:nvSpPr>
          <p:cNvPr id="11" name="TextBox 10"/>
          <p:cNvSpPr txBox="1"/>
          <p:nvPr/>
        </p:nvSpPr>
        <p:spPr>
          <a:xfrm>
            <a:off x="4709160" y="3081528"/>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~$225M/yr interest keeps coverage thin</a:t>
            </a:r>
          </a:p>
        </p:txBody>
      </p:sp>
      <p:sp>
        <p:nvSpPr>
          <p:cNvPr id="12" name="TextBox 11"/>
          <p:cNvSpPr txBox="1"/>
          <p:nvPr/>
        </p:nvSpPr>
        <p:spPr>
          <a:xfrm>
            <a:off x="4709160" y="3739896"/>
            <a:ext cx="3977639" cy="640080"/>
          </a:xfrm>
          <a:prstGeom prst="rect">
            <a:avLst/>
          </a:prstGeom>
          <a:noFill/>
          <a:ln>
            <a:noFill/>
          </a:ln>
        </p:spPr>
        <p:txBody>
          <a:bodyPr wrap="square">
            <a:spAutoFit/>
          </a:bodyPr>
          <a:lstStyle/>
          <a:p>
            <a:r>
              <a:rPr sz="1200" b="1" i="0">
                <a:solidFill>
                  <a:srgbClr val="B03030"/>
                </a:solidFill>
                <a:latin typeface="Avenir Next LT Pro Demi"/>
              </a:rPr>
              <a:t>!  </a:t>
            </a:r>
            <a:r>
              <a:rPr sz="1100" b="0" i="0">
                <a:solidFill>
                  <a:srgbClr val="000000"/>
                </a:solidFill>
                <a:latin typeface="Avenir Next LT Pro"/>
              </a:rPr>
              <a:t>Guidance is back-half loaded</a:t>
            </a:r>
          </a:p>
        </p:txBody>
      </p:sp>
      <p:sp>
        <p:nvSpPr>
          <p:cNvPr id="13" name="TextBox 12"/>
          <p:cNvSpPr txBox="1"/>
          <p:nvPr/>
        </p:nvSpPr>
        <p:spPr>
          <a:xfrm>
            <a:off x="457200" y="4663440"/>
            <a:ext cx="8229600" cy="365760"/>
          </a:xfrm>
          <a:prstGeom prst="rect">
            <a:avLst/>
          </a:prstGeom>
          <a:noFill/>
          <a:ln>
            <a:noFill/>
          </a:ln>
        </p:spPr>
        <p:txBody>
          <a:bodyPr wrap="square">
            <a:spAutoFit/>
          </a:bodyPr>
          <a:lstStyle/>
          <a:p>
            <a:r>
              <a:rPr sz="1150" b="1" i="0">
                <a:solidFill>
                  <a:srgbClr val="000000"/>
                </a:solidFill>
                <a:latin typeface="Avenir Next LT Pro Demi"/>
              </a:rPr>
              <a:t>Recovery is real but early — the next two quarters are the tell.</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Q1 FY2026 10-Q.</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100">
                <a:solidFill>
                  <a:srgbClr val="000000"/>
                </a:solidFill>
                <a:latin typeface="Avenir Next LT Pro Demi"/>
              </a:rPr>
              <a:t>Strategy &amp; Recent Execution</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43000"/>
            <a:ext cx="3977639" cy="365760"/>
          </a:xfrm>
          <a:prstGeom prst="rect">
            <a:avLst/>
          </a:prstGeom>
          <a:noFill/>
          <a:ln>
            <a:noFill/>
          </a:ln>
        </p:spPr>
        <p:txBody>
          <a:bodyPr wrap="square">
            <a:spAutoFit/>
          </a:bodyPr>
          <a:lstStyle/>
          <a:p>
            <a:r>
              <a:rPr sz="1100" b="1" i="0">
                <a:solidFill>
                  <a:srgbClr val="000000"/>
                </a:solidFill>
                <a:latin typeface="Avenir Next LT Pro Demi"/>
              </a:rPr>
              <a:t>THE PLAN</a:t>
            </a:r>
          </a:p>
        </p:txBody>
      </p:sp>
      <p:sp>
        <p:nvSpPr>
          <p:cNvPr id="5" name="TextBox 4"/>
          <p:cNvSpPr txBox="1"/>
          <p:nvPr/>
        </p:nvSpPr>
        <p:spPr>
          <a:xfrm>
            <a:off x="457200" y="1554480"/>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Product transformation — new collections</a:t>
            </a:r>
          </a:p>
        </p:txBody>
      </p:sp>
      <p:sp>
        <p:nvSpPr>
          <p:cNvPr id="6" name="TextBox 5"/>
          <p:cNvSpPr txBox="1"/>
          <p:nvPr/>
        </p:nvSpPr>
        <p:spPr>
          <a:xfrm>
            <a:off x="457200" y="2212848"/>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Gallery expansion → RH's ~$5–6B opportunity</a:t>
            </a:r>
          </a:p>
        </p:txBody>
      </p:sp>
      <p:sp>
        <p:nvSpPr>
          <p:cNvPr id="7" name="TextBox 6"/>
          <p:cNvSpPr txBox="1"/>
          <p:nvPr/>
        </p:nvSpPr>
        <p:spPr>
          <a:xfrm>
            <a:off x="457200" y="2871215"/>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Move upmarket — Estates targets the rate-immune buyer</a:t>
            </a:r>
          </a:p>
        </p:txBody>
      </p:sp>
      <p:sp>
        <p:nvSpPr>
          <p:cNvPr id="8" name="TextBox 7"/>
          <p:cNvSpPr txBox="1"/>
          <p:nvPr/>
        </p:nvSpPr>
        <p:spPr>
          <a:xfrm>
            <a:off x="457200" y="3529584"/>
            <a:ext cx="3977639" cy="64008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Global + platform — hospitality, F&amp;B</a:t>
            </a:r>
          </a:p>
        </p:txBody>
      </p:sp>
      <p:sp>
        <p:nvSpPr>
          <p:cNvPr id="9" name="TextBox 8"/>
          <p:cNvSpPr txBox="1"/>
          <p:nvPr/>
        </p:nvSpPr>
        <p:spPr>
          <a:xfrm>
            <a:off x="4709160" y="1143000"/>
            <a:ext cx="3977639" cy="365760"/>
          </a:xfrm>
          <a:prstGeom prst="rect">
            <a:avLst/>
          </a:prstGeom>
          <a:noFill/>
          <a:ln>
            <a:noFill/>
          </a:ln>
        </p:spPr>
        <p:txBody>
          <a:bodyPr wrap="square">
            <a:spAutoFit/>
          </a:bodyPr>
          <a:lstStyle/>
          <a:p>
            <a:r>
              <a:rPr sz="1100" b="1" i="0">
                <a:solidFill>
                  <a:srgbClr val="000000"/>
                </a:solidFill>
                <a:latin typeface="Avenir Next LT Pro Demi"/>
              </a:rPr>
              <a:t>RECENT MOVES  (watch, not yet catalysts)</a:t>
            </a:r>
          </a:p>
        </p:txBody>
      </p:sp>
      <p:sp>
        <p:nvSpPr>
          <p:cNvPr id="10" name="TextBox 9"/>
          <p:cNvSpPr txBox="1"/>
          <p:nvPr/>
        </p:nvSpPr>
        <p:spPr>
          <a:xfrm>
            <a:off x="4709160" y="1554480"/>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Estates unveiled — acquired legendary ateliers (owned exclusivity); commercially unproven</a:t>
            </a:r>
          </a:p>
        </p:txBody>
      </p:sp>
      <p:sp>
        <p:nvSpPr>
          <p:cNvPr id="11" name="TextBox 10"/>
          <p:cNvSpPr txBox="1"/>
          <p:nvPr/>
        </p:nvSpPr>
        <p:spPr>
          <a:xfrm>
            <a:off x="4709160" y="2395728"/>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Mercedes-AMG F1 hospitality partnership — brand halo</a:t>
            </a:r>
          </a:p>
        </p:txBody>
      </p:sp>
      <p:sp>
        <p:nvSpPr>
          <p:cNvPr id="12" name="TextBox 11"/>
          <p:cNvSpPr txBox="1"/>
          <p:nvPr/>
        </p:nvSpPr>
        <p:spPr>
          <a:xfrm>
            <a:off x="4709160" y="3236976"/>
            <a:ext cx="3977639" cy="822960"/>
          </a:xfrm>
          <a:prstGeom prst="rect">
            <a:avLst/>
          </a:prstGeom>
          <a:noFill/>
          <a:ln>
            <a:noFill/>
          </a:ln>
        </p:spPr>
        <p:txBody>
          <a:bodyPr wrap="square">
            <a:spAutoFit/>
          </a:bodyPr>
          <a:lstStyle/>
          <a:p>
            <a:r>
              <a:rPr sz="1100" b="1" i="0">
                <a:solidFill>
                  <a:srgbClr val="000000"/>
                </a:solidFill>
                <a:latin typeface="Avenir Next LT Pro"/>
              </a:rPr>
              <a:t>•  </a:t>
            </a:r>
            <a:r>
              <a:rPr sz="1100" b="0" i="0">
                <a:solidFill>
                  <a:srgbClr val="000000"/>
                </a:solidFill>
                <a:latin typeface="Avenir Next LT Pro"/>
              </a:rPr>
              <a:t>RH London Mayfair flagship — Europe doubling-down</a:t>
            </a:r>
          </a:p>
        </p:txBody>
      </p:sp>
      <p:sp>
        <p:nvSpPr>
          <p:cNvPr id="13" name="TextBox 12"/>
          <p:cNvSpPr txBox="1"/>
          <p:nvPr/>
        </p:nvSpPr>
        <p:spPr>
          <a:xfrm>
            <a:off x="457200" y="4663440"/>
            <a:ext cx="8229600" cy="457200"/>
          </a:xfrm>
          <a:prstGeom prst="rect">
            <a:avLst/>
          </a:prstGeom>
          <a:noFill/>
          <a:ln>
            <a:noFill/>
          </a:ln>
        </p:spPr>
        <p:txBody>
          <a:bodyPr wrap="square">
            <a:spAutoFit/>
          </a:bodyPr>
          <a:lstStyle/>
          <a:p>
            <a:r>
              <a:rPr sz="1150" b="1" i="0">
                <a:solidFill>
                  <a:srgbClr val="000000"/>
                </a:solidFill>
                <a:latin typeface="Avenir Next LT Pro Demi"/>
              </a:rPr>
              <a:t>Differentiated and expanding — but unproven and capital-intensive during a levered stretch.</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company announcements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noFill/>
          </a:ln>
        </p:spPr>
        <p:txBody>
          <a:bodyPr wrap="square">
            <a:spAutoFit/>
          </a:bodyPr>
          <a:lstStyle/>
          <a:p>
            <a:r>
              <a:rPr sz="2000" b="0" i="0">
                <a:solidFill>
                  <a:srgbClr val="000000"/>
                </a:solidFill>
                <a:latin typeface="Avenir Next LT Pro Demi"/>
              </a:rPr>
              <a:t>Management: A Credible Operator — But Proof Comes First</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365760"/>
          </a:xfrm>
          <a:prstGeom prst="rect">
            <a:avLst/>
          </a:prstGeom>
          <a:noFill/>
          <a:ln>
            <a:noFill/>
          </a:ln>
        </p:spPr>
        <p:txBody>
          <a:bodyPr wrap="square">
            <a:spAutoFit/>
          </a:bodyPr>
          <a:lstStyle/>
          <a:p>
            <a:r>
              <a:rPr sz="1100" b="0" i="1">
                <a:solidFill>
                  <a:srgbClr val="000000"/>
                </a:solidFill>
                <a:latin typeface="Avenir Next LT Pro"/>
              </a:rPr>
              <a:t>Friedman makes the recovery plausible — but the decision hinges on evidence, not on his reputation.</a:t>
            </a:r>
          </a:p>
        </p:txBody>
      </p:sp>
      <p:sp>
        <p:nvSpPr>
          <p:cNvPr id="5" name="TextBox 4"/>
          <p:cNvSpPr txBox="1"/>
          <p:nvPr/>
        </p:nvSpPr>
        <p:spPr>
          <a:xfrm>
            <a:off x="457200" y="1600200"/>
            <a:ext cx="3977639" cy="457200"/>
          </a:xfrm>
          <a:prstGeom prst="rect">
            <a:avLst/>
          </a:prstGeom>
          <a:noFill/>
          <a:ln>
            <a:noFill/>
          </a:ln>
        </p:spPr>
        <p:txBody>
          <a:bodyPr wrap="square">
            <a:spAutoFit/>
          </a:bodyPr>
          <a:lstStyle/>
          <a:p>
            <a:r>
              <a:rPr sz="1200" b="1" i="0">
                <a:solidFill>
                  <a:srgbClr val="196B24"/>
                </a:solidFill>
                <a:latin typeface="Avenir Next LT Pro Demi"/>
              </a:rPr>
              <a:t>THE STRENGTH — credible, aligned operator</a:t>
            </a:r>
          </a:p>
        </p:txBody>
      </p:sp>
      <p:sp>
        <p:nvSpPr>
          <p:cNvPr id="6" name="TextBox 5"/>
          <p:cNvSpPr txBox="1"/>
          <p:nvPr/>
        </p:nvSpPr>
        <p:spPr>
          <a:xfrm>
            <a:off x="457200" y="2148840"/>
            <a:ext cx="3977639" cy="822960"/>
          </a:xfrm>
          <a:prstGeom prst="rect">
            <a:avLst/>
          </a:prstGeom>
          <a:noFill/>
          <a:ln>
            <a:noFill/>
          </a:ln>
        </p:spPr>
        <p:txBody>
          <a:bodyPr wrap="square">
            <a:spAutoFit/>
          </a:bodyPr>
          <a:lstStyle/>
          <a:p>
            <a:r>
              <a:rPr sz="1100" b="1" i="0">
                <a:solidFill>
                  <a:srgbClr val="196B24"/>
                </a:solidFill>
                <a:latin typeface="Avenir Next LT Pro"/>
              </a:rPr>
              <a:t>•  </a:t>
            </a:r>
            <a:r>
              <a:rPr sz="1050" b="0" i="0">
                <a:solidFill>
                  <a:srgbClr val="000000"/>
                </a:solidFill>
                <a:latin typeface="Avenir Next LT Pro"/>
              </a:rPr>
              <a:t>Proven turnaround: Pottery Barn $50M→$1B; RH rebuilt from near-bankruptcy (2001)</a:t>
            </a:r>
          </a:p>
        </p:txBody>
      </p:sp>
      <p:sp>
        <p:nvSpPr>
          <p:cNvPr id="7" name="TextBox 6"/>
          <p:cNvSpPr txBox="1"/>
          <p:nvPr/>
        </p:nvSpPr>
        <p:spPr>
          <a:xfrm>
            <a:off x="457200" y="2990088"/>
            <a:ext cx="3977639" cy="822960"/>
          </a:xfrm>
          <a:prstGeom prst="rect">
            <a:avLst/>
          </a:prstGeom>
          <a:noFill/>
          <a:ln>
            <a:noFill/>
          </a:ln>
        </p:spPr>
        <p:txBody>
          <a:bodyPr wrap="square">
            <a:spAutoFit/>
          </a:bodyPr>
          <a:lstStyle/>
          <a:p>
            <a:r>
              <a:rPr sz="1100" b="1" i="0">
                <a:solidFill>
                  <a:srgbClr val="196B24"/>
                </a:solidFill>
                <a:latin typeface="Avenir Next LT Pro"/>
              </a:rPr>
              <a:t>•  </a:t>
            </a:r>
            <a:r>
              <a:rPr sz="1050" b="0" i="0">
                <a:solidFill>
                  <a:srgbClr val="000000"/>
                </a:solidFill>
                <a:latin typeface="Avenir Next LT Pro"/>
              </a:rPr>
              <a:t>~25% owner — deeply aligned with shareholders</a:t>
            </a:r>
          </a:p>
        </p:txBody>
      </p:sp>
      <p:sp>
        <p:nvSpPr>
          <p:cNvPr id="8" name="TextBox 7"/>
          <p:cNvSpPr txBox="1"/>
          <p:nvPr/>
        </p:nvSpPr>
        <p:spPr>
          <a:xfrm>
            <a:off x="457200" y="3831336"/>
            <a:ext cx="3977639" cy="822960"/>
          </a:xfrm>
          <a:prstGeom prst="rect">
            <a:avLst/>
          </a:prstGeom>
          <a:noFill/>
          <a:ln>
            <a:noFill/>
          </a:ln>
        </p:spPr>
        <p:txBody>
          <a:bodyPr wrap="square">
            <a:spAutoFit/>
          </a:bodyPr>
          <a:lstStyle/>
          <a:p>
            <a:r>
              <a:rPr sz="1100" b="1" i="0">
                <a:solidFill>
                  <a:srgbClr val="196B24"/>
                </a:solidFill>
                <a:latin typeface="Avenir Next LT Pro"/>
              </a:rPr>
              <a:t>•  </a:t>
            </a:r>
            <a:r>
              <a:rPr sz="1050" b="0" i="0">
                <a:solidFill>
                  <a:srgbClr val="000000"/>
                </a:solidFill>
                <a:latin typeface="Avenir Next LT Pro"/>
              </a:rPr>
              <a:t>Built the luxury-platform model rivals now copy</a:t>
            </a:r>
          </a:p>
        </p:txBody>
      </p:sp>
      <p:sp>
        <p:nvSpPr>
          <p:cNvPr id="9" name="TextBox 8"/>
          <p:cNvSpPr txBox="1"/>
          <p:nvPr/>
        </p:nvSpPr>
        <p:spPr>
          <a:xfrm>
            <a:off x="4709160" y="1600200"/>
            <a:ext cx="3977639" cy="457200"/>
          </a:xfrm>
          <a:prstGeom prst="rect">
            <a:avLst/>
          </a:prstGeom>
          <a:noFill/>
          <a:ln>
            <a:noFill/>
          </a:ln>
        </p:spPr>
        <p:txBody>
          <a:bodyPr wrap="square">
            <a:spAutoFit/>
          </a:bodyPr>
          <a:lstStyle/>
          <a:p>
            <a:r>
              <a:rPr sz="1200" b="1" i="0">
                <a:solidFill>
                  <a:srgbClr val="B03030"/>
                </a:solidFill>
                <a:latin typeface="Avenir Next LT Pro Demi"/>
              </a:rPr>
              <a:t>BUT THE CALL HINGES ON PROOF — not reputation</a:t>
            </a:r>
          </a:p>
        </p:txBody>
      </p:sp>
      <p:sp>
        <p:nvSpPr>
          <p:cNvPr id="10" name="TextBox 9"/>
          <p:cNvSpPr txBox="1"/>
          <p:nvPr/>
        </p:nvSpPr>
        <p:spPr>
          <a:xfrm>
            <a:off x="4709160" y="2148840"/>
            <a:ext cx="3977639" cy="822960"/>
          </a:xfrm>
          <a:prstGeom prst="rect">
            <a:avLst/>
          </a:prstGeom>
          <a:noFill/>
          <a:ln>
            <a:noFill/>
          </a:ln>
        </p:spPr>
        <p:txBody>
          <a:bodyPr wrap="square">
            <a:spAutoFit/>
          </a:bodyPr>
          <a:lstStyle/>
          <a:p>
            <a:r>
              <a:rPr sz="1100" b="1" i="0">
                <a:solidFill>
                  <a:srgbClr val="B03030"/>
                </a:solidFill>
                <a:latin typeface="Avenir Next LT Pro"/>
              </a:rPr>
              <a:t>•  </a:t>
            </a:r>
            <a:r>
              <a:rPr sz="1050" b="0" i="0">
                <a:solidFill>
                  <a:srgbClr val="000000"/>
                </a:solidFill>
                <a:latin typeface="Avenir Next LT Pro"/>
              </a:rPr>
              <a:t>Balance-sheet recovery — net debt falling on real FCF, toward debt-free by 2029</a:t>
            </a:r>
          </a:p>
        </p:txBody>
      </p:sp>
      <p:sp>
        <p:nvSpPr>
          <p:cNvPr id="11" name="TextBox 10"/>
          <p:cNvSpPr txBox="1"/>
          <p:nvPr/>
        </p:nvSpPr>
        <p:spPr>
          <a:xfrm>
            <a:off x="4709160" y="2990088"/>
            <a:ext cx="3977639" cy="822960"/>
          </a:xfrm>
          <a:prstGeom prst="rect">
            <a:avLst/>
          </a:prstGeom>
          <a:noFill/>
          <a:ln>
            <a:noFill/>
          </a:ln>
        </p:spPr>
        <p:txBody>
          <a:bodyPr wrap="square">
            <a:spAutoFit/>
          </a:bodyPr>
          <a:lstStyle/>
          <a:p>
            <a:r>
              <a:rPr sz="1100" b="1" i="0">
                <a:solidFill>
                  <a:srgbClr val="B03030"/>
                </a:solidFill>
                <a:latin typeface="Avenir Next LT Pro"/>
              </a:rPr>
              <a:t>•  </a:t>
            </a:r>
            <a:r>
              <a:rPr sz="1050" b="0" i="0">
                <a:solidFill>
                  <a:srgbClr val="000000"/>
                </a:solidFill>
                <a:latin typeface="Avenir Next LT Pro"/>
              </a:rPr>
              <a:t>Estates — real revenue traction, not just a launch</a:t>
            </a:r>
          </a:p>
        </p:txBody>
      </p:sp>
      <p:sp>
        <p:nvSpPr>
          <p:cNvPr id="12" name="TextBox 11"/>
          <p:cNvSpPr txBox="1"/>
          <p:nvPr/>
        </p:nvSpPr>
        <p:spPr>
          <a:xfrm>
            <a:off x="4709160" y="3831336"/>
            <a:ext cx="3977639" cy="822960"/>
          </a:xfrm>
          <a:prstGeom prst="rect">
            <a:avLst/>
          </a:prstGeom>
          <a:noFill/>
          <a:ln>
            <a:noFill/>
          </a:ln>
        </p:spPr>
        <p:txBody>
          <a:bodyPr wrap="square">
            <a:spAutoFit/>
          </a:bodyPr>
          <a:lstStyle/>
          <a:p>
            <a:r>
              <a:rPr sz="1100" b="1" i="0">
                <a:solidFill>
                  <a:srgbClr val="B03030"/>
                </a:solidFill>
                <a:latin typeface="Avenir Next LT Pro"/>
              </a:rPr>
              <a:t>•  </a:t>
            </a:r>
            <a:r>
              <a:rPr sz="1050" b="0" i="0">
                <a:solidFill>
                  <a:srgbClr val="000000"/>
                </a:solidFill>
                <a:latin typeface="Avenir Next LT Pro"/>
              </a:rPr>
              <a:t>Watch-outs: key-man risk; expansive vision while ~4× levered; net insider selling</a:t>
            </a:r>
          </a:p>
        </p:txBody>
      </p:sp>
      <p:sp>
        <p:nvSpPr>
          <p:cNvPr id="13" name="TextBox 12"/>
          <p:cNvSpPr txBox="1"/>
          <p:nvPr/>
        </p:nvSpPr>
        <p:spPr>
          <a:xfrm>
            <a:off x="457200" y="4983480"/>
            <a:ext cx="8229600" cy="640080"/>
          </a:xfrm>
          <a:prstGeom prst="rect">
            <a:avLst/>
          </a:prstGeom>
          <a:noFill/>
          <a:ln>
            <a:noFill/>
          </a:ln>
        </p:spPr>
        <p:txBody>
          <a:bodyPr wrap="square">
            <a:spAutoFit/>
          </a:bodyPr>
          <a:lstStyle/>
          <a:p>
            <a:r>
              <a:rPr sz="1150" b="1" i="0">
                <a:solidFill>
                  <a:srgbClr val="000000"/>
                </a:solidFill>
                <a:latin typeface="Avenir Next LT Pro Demi"/>
              </a:rPr>
              <a:t>A credible, aligned operator lowers execution risk — but on a ~4× levered balance sheet with an unproven Estates bet, we underwrite the evidence, not the man. Proof comes first.</a:t>
            </a:r>
          </a:p>
        </p:txBody>
      </p:sp>
      <p:sp>
        <p:nvSpPr>
          <p:cNvPr id="14" name="TextBox 13"/>
          <p:cNvSpPr txBox="1"/>
          <p:nvPr/>
        </p:nvSpPr>
        <p:spPr>
          <a:xfrm>
            <a:off x="457200" y="6309360"/>
            <a:ext cx="8229600" cy="274320"/>
          </a:xfrm>
          <a:prstGeom prst="rect">
            <a:avLst/>
          </a:prstGeom>
          <a:noFill/>
          <a:ln>
            <a:noFill/>
          </a:ln>
        </p:spPr>
        <p:txBody>
          <a:bodyPr wrap="square">
            <a:spAutoFit/>
          </a:bodyPr>
          <a:lstStyle/>
          <a:p>
            <a:r>
              <a:rPr sz="750" b="0" i="1">
                <a:solidFill>
                  <a:srgbClr val="707070"/>
                </a:solidFill>
                <a:latin typeface="Avenir Next LT Pro"/>
              </a:rPr>
              <a:t>Sources: RH FY2025 10-K &amp; DEF 14A proxy; SEC Form 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no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no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no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no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no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no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no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no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no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