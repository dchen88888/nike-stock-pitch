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17"/>
  </p:notesMasterIdLst>
  <p:handoutMasterIdLst>
    <p:handoutMasterId r:id="rId18"/>
  </p:handoutMasterIdLst>
  <p:sldIdLst>
    <p:sldId id="422" r:id="rId5"/>
    <p:sldId id="433" r:id="rId6"/>
    <p:sldId id="483" r:id="rId7"/>
    <p:sldId id="507" r:id="rId8"/>
    <p:sldId id="481" r:id="rId9"/>
    <p:sldId id="508" r:id="rId10"/>
    <p:sldId id="482" r:id="rId11"/>
    <p:sldId id="509" r:id="rId12"/>
    <p:sldId id="510" r:id="rId13"/>
    <p:sldId id="506" r:id="rId14"/>
    <p:sldId id="511" r:id="rId15"/>
    <p:sldId id="513" r:id="rId16"/>
    <p:sldId id="514" r:id="rId27"/>
    <p:sldId id="515" r:id="rId28"/>
    <p:sldId id="516" r:id="rId29"/>
    <p:sldId id="517" r:id="rId30"/>
  </p:sldIdLst>
  <p:sldSz cx="9144000" cy="6858000" type="screen4x3"/>
  <p:notesSz cx="7023100" cy="93091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2880" userDrawn="1">
          <p15:clr>
            <a:srgbClr val="A4A3A4"/>
          </p15:clr>
        </p15:guide>
        <p15:guide id="2" orient="horz" pos="2160" userDrawn="1">
          <p15:clr>
            <a:srgbClr val="A4A3A4"/>
          </p15:clr>
        </p15:guide>
      </p15:sldGuideLst>
    </p:ext>
    <p:ext uri="{2D200454-40CA-4A62-9FC3-DE9A4176ACB9}">
      <p15:notesGuideLst xmlns:p15="http://schemas.microsoft.com/office/powerpoint/2012/main">
        <p15:guide id="1" orient="horz" pos="2932" userDrawn="1">
          <p15:clr>
            <a:srgbClr val="A4A3A4"/>
          </p15:clr>
        </p15:guide>
        <p15:guide id="2" pos="2213"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46"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F8C49"/>
    <a:srgbClr val="769FB9"/>
    <a:srgbClr val="156082"/>
    <a:srgbClr val="769FB6"/>
    <a:srgbClr val="4F505D"/>
    <a:srgbClr val="FFCFD2"/>
    <a:srgbClr val="EC9A07"/>
    <a:srgbClr val="00B050"/>
    <a:srgbClr val="FFA97B"/>
    <a:srgbClr val="DD20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03DB18F-64E6-4430-AE39-36A3F49E788B}" v="6" dt="2026-07-01T16:48:15.269"/>
  </p1510:revLst>
</p1510:revInfo>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6" autoAdjust="0"/>
    <p:restoredTop sz="94660"/>
  </p:normalViewPr>
  <p:slideViewPr>
    <p:cSldViewPr snapToGrid="0">
      <p:cViewPr varScale="1">
        <p:scale>
          <a:sx n="115" d="100"/>
          <a:sy n="115" d="100"/>
        </p:scale>
        <p:origin x="1848" y="72"/>
      </p:cViewPr>
      <p:guideLst>
        <p:guide pos="2880"/>
        <p:guide orient="horz" pos="2160"/>
      </p:guideLst>
    </p:cSldViewPr>
  </p:slideViewPr>
  <p:notesTextViewPr>
    <p:cViewPr>
      <p:scale>
        <a:sx n="1" d="1"/>
        <a:sy n="1" d="1"/>
      </p:scale>
      <p:origin x="0" y="0"/>
    </p:cViewPr>
  </p:notesTextViewPr>
  <p:notesViewPr>
    <p:cSldViewPr snapToGrid="0">
      <p:cViewPr>
        <p:scale>
          <a:sx n="1" d="2"/>
          <a:sy n="1" d="2"/>
        </p:scale>
        <p:origin x="0" y="0"/>
      </p:cViewPr>
      <p:guideLst>
        <p:guide orient="horz" pos="2932"/>
        <p:guide pos="2213"/>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commentAuthors" Target="commentAuthors.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microsoft.com/office/2018/10/relationships/authors" Target="authors.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rrick Chen" userId="c17abf16-4572-4718-92d2-b565decf0b0c" providerId="ADAL" clId="{26BCF191-4B8C-46F4-B4E0-CF774475ACF2}"/>
    <pc:docChg chg="custSel addSld delSld modSld sldOrd">
      <pc:chgData name="Derrick Chen" userId="c17abf16-4572-4718-92d2-b565decf0b0c" providerId="ADAL" clId="{26BCF191-4B8C-46F4-B4E0-CF774475ACF2}" dt="2026-07-01T18:02:56.243" v="92" actId="20577"/>
      <pc:docMkLst>
        <pc:docMk/>
      </pc:docMkLst>
      <pc:sldChg chg="modSp mod">
        <pc:chgData name="Derrick Chen" userId="c17abf16-4572-4718-92d2-b565decf0b0c" providerId="ADAL" clId="{26BCF191-4B8C-46F4-B4E0-CF774475ACF2}" dt="2026-06-26T21:09:21.628" v="25" actId="20577"/>
        <pc:sldMkLst>
          <pc:docMk/>
          <pc:sldMk cId="2627608767" sldId="422"/>
        </pc:sldMkLst>
        <pc:spChg chg="mod">
          <ac:chgData name="Derrick Chen" userId="c17abf16-4572-4718-92d2-b565decf0b0c" providerId="ADAL" clId="{26BCF191-4B8C-46F4-B4E0-CF774475ACF2}" dt="2026-06-26T21:09:21.628" v="25" actId="20577"/>
          <ac:spMkLst>
            <pc:docMk/>
            <pc:sldMk cId="2627608767" sldId="422"/>
            <ac:spMk id="3" creationId="{59638BFF-4FC7-3F12-DDB4-5547AEC40B4E}"/>
          </ac:spMkLst>
        </pc:spChg>
      </pc:sldChg>
      <pc:sldChg chg="del">
        <pc:chgData name="Derrick Chen" userId="c17abf16-4572-4718-92d2-b565decf0b0c" providerId="ADAL" clId="{26BCF191-4B8C-46F4-B4E0-CF774475ACF2}" dt="2026-07-01T00:39:06.980" v="29" actId="47"/>
        <pc:sldMkLst>
          <pc:docMk/>
          <pc:sldMk cId="2497924218" sldId="489"/>
        </pc:sldMkLst>
      </pc:sldChg>
      <pc:sldChg chg="del">
        <pc:chgData name="Derrick Chen" userId="c17abf16-4572-4718-92d2-b565decf0b0c" providerId="ADAL" clId="{26BCF191-4B8C-46F4-B4E0-CF774475ACF2}" dt="2026-07-01T00:39:14.854" v="36" actId="47"/>
        <pc:sldMkLst>
          <pc:docMk/>
          <pc:sldMk cId="637616509" sldId="492"/>
        </pc:sldMkLst>
      </pc:sldChg>
      <pc:sldChg chg="del">
        <pc:chgData name="Derrick Chen" userId="c17abf16-4572-4718-92d2-b565decf0b0c" providerId="ADAL" clId="{26BCF191-4B8C-46F4-B4E0-CF774475ACF2}" dt="2026-07-01T00:39:08.105" v="31" actId="47"/>
        <pc:sldMkLst>
          <pc:docMk/>
          <pc:sldMk cId="2727070108" sldId="493"/>
        </pc:sldMkLst>
      </pc:sldChg>
      <pc:sldChg chg="del">
        <pc:chgData name="Derrick Chen" userId="c17abf16-4572-4718-92d2-b565decf0b0c" providerId="ADAL" clId="{26BCF191-4B8C-46F4-B4E0-CF774475ACF2}" dt="2026-07-01T00:39:15.710" v="37" actId="47"/>
        <pc:sldMkLst>
          <pc:docMk/>
          <pc:sldMk cId="3714223132" sldId="495"/>
        </pc:sldMkLst>
      </pc:sldChg>
      <pc:sldChg chg="del">
        <pc:chgData name="Derrick Chen" userId="c17abf16-4572-4718-92d2-b565decf0b0c" providerId="ADAL" clId="{26BCF191-4B8C-46F4-B4E0-CF774475ACF2}" dt="2026-07-01T00:39:11.445" v="33" actId="47"/>
        <pc:sldMkLst>
          <pc:docMk/>
          <pc:sldMk cId="2747759066" sldId="496"/>
        </pc:sldMkLst>
      </pc:sldChg>
      <pc:sldChg chg="del">
        <pc:chgData name="Derrick Chen" userId="c17abf16-4572-4718-92d2-b565decf0b0c" providerId="ADAL" clId="{26BCF191-4B8C-46F4-B4E0-CF774475ACF2}" dt="2026-07-01T00:39:07.655" v="30" actId="47"/>
        <pc:sldMkLst>
          <pc:docMk/>
          <pc:sldMk cId="803245848" sldId="497"/>
        </pc:sldMkLst>
      </pc:sldChg>
      <pc:sldChg chg="del">
        <pc:chgData name="Derrick Chen" userId="c17abf16-4572-4718-92d2-b565decf0b0c" providerId="ADAL" clId="{26BCF191-4B8C-46F4-B4E0-CF774475ACF2}" dt="2026-07-01T00:39:02.384" v="26" actId="47"/>
        <pc:sldMkLst>
          <pc:docMk/>
          <pc:sldMk cId="2128817963" sldId="500"/>
        </pc:sldMkLst>
      </pc:sldChg>
      <pc:sldChg chg="del">
        <pc:chgData name="Derrick Chen" userId="c17abf16-4572-4718-92d2-b565decf0b0c" providerId="ADAL" clId="{26BCF191-4B8C-46F4-B4E0-CF774475ACF2}" dt="2026-07-01T00:39:06.286" v="28" actId="47"/>
        <pc:sldMkLst>
          <pc:docMk/>
          <pc:sldMk cId="2819474060" sldId="501"/>
        </pc:sldMkLst>
      </pc:sldChg>
      <pc:sldChg chg="del">
        <pc:chgData name="Derrick Chen" userId="c17abf16-4572-4718-92d2-b565decf0b0c" providerId="ADAL" clId="{26BCF191-4B8C-46F4-B4E0-CF774475ACF2}" dt="2026-07-01T00:39:08.637" v="32" actId="47"/>
        <pc:sldMkLst>
          <pc:docMk/>
          <pc:sldMk cId="2412664316" sldId="503"/>
        </pc:sldMkLst>
      </pc:sldChg>
      <pc:sldChg chg="del">
        <pc:chgData name="Derrick Chen" userId="c17abf16-4572-4718-92d2-b565decf0b0c" providerId="ADAL" clId="{26BCF191-4B8C-46F4-B4E0-CF774475ACF2}" dt="2026-07-01T00:39:03.402" v="27" actId="47"/>
        <pc:sldMkLst>
          <pc:docMk/>
          <pc:sldMk cId="1480335235" sldId="504"/>
        </pc:sldMkLst>
      </pc:sldChg>
      <pc:sldChg chg="del">
        <pc:chgData name="Derrick Chen" userId="c17abf16-4572-4718-92d2-b565decf0b0c" providerId="ADAL" clId="{26BCF191-4B8C-46F4-B4E0-CF774475ACF2}" dt="2026-07-01T00:39:11.912" v="34" actId="47"/>
        <pc:sldMkLst>
          <pc:docMk/>
          <pc:sldMk cId="2054142428" sldId="505"/>
        </pc:sldMkLst>
      </pc:sldChg>
      <pc:sldChg chg="delSp modSp add mod">
        <pc:chgData name="Derrick Chen" userId="c17abf16-4572-4718-92d2-b565decf0b0c" providerId="ADAL" clId="{26BCF191-4B8C-46F4-B4E0-CF774475ACF2}" dt="2026-07-01T18:02:56.243" v="92" actId="20577"/>
        <pc:sldMkLst>
          <pc:docMk/>
          <pc:sldMk cId="0" sldId="507"/>
        </pc:sldMkLst>
        <pc:spChg chg="del">
          <ac:chgData name="Derrick Chen" userId="c17abf16-4572-4718-92d2-b565decf0b0c" providerId="ADAL" clId="{26BCF191-4B8C-46F4-B4E0-CF774475ACF2}" dt="2026-07-01T17:11:22.056" v="82" actId="478"/>
          <ac:spMkLst>
            <pc:docMk/>
            <pc:sldMk cId="0" sldId="507"/>
            <ac:spMk id="3" creationId="{00000000-0000-0000-0000-000000000000}"/>
          </ac:spMkLst>
        </pc:spChg>
        <pc:spChg chg="mod">
          <ac:chgData name="Derrick Chen" userId="c17abf16-4572-4718-92d2-b565decf0b0c" providerId="ADAL" clId="{26BCF191-4B8C-46F4-B4E0-CF774475ACF2}" dt="2026-07-01T18:02:33.934" v="89" actId="20577"/>
          <ac:spMkLst>
            <pc:docMk/>
            <pc:sldMk cId="0" sldId="507"/>
            <ac:spMk id="4" creationId="{00000000-0000-0000-0000-000000000000}"/>
          </ac:spMkLst>
        </pc:spChg>
        <pc:spChg chg="mod">
          <ac:chgData name="Derrick Chen" userId="c17abf16-4572-4718-92d2-b565decf0b0c" providerId="ADAL" clId="{26BCF191-4B8C-46F4-B4E0-CF774475ACF2}" dt="2026-07-01T18:02:06.261" v="87" actId="20577"/>
          <ac:spMkLst>
            <pc:docMk/>
            <pc:sldMk cId="0" sldId="507"/>
            <ac:spMk id="6" creationId="{00000000-0000-0000-0000-000000000000}"/>
          </ac:spMkLst>
        </pc:spChg>
        <pc:spChg chg="mod">
          <ac:chgData name="Derrick Chen" userId="c17abf16-4572-4718-92d2-b565decf0b0c" providerId="ADAL" clId="{26BCF191-4B8C-46F4-B4E0-CF774475ACF2}" dt="2026-07-01T18:02:56.243" v="92" actId="20577"/>
          <ac:spMkLst>
            <pc:docMk/>
            <pc:sldMk cId="0" sldId="507"/>
            <ac:spMk id="7" creationId="{00000000-0000-0000-0000-000000000000}"/>
          </ac:spMkLst>
        </pc:spChg>
      </pc:sldChg>
      <pc:sldChg chg="del">
        <pc:chgData name="Derrick Chen" userId="c17abf16-4572-4718-92d2-b565decf0b0c" providerId="ADAL" clId="{26BCF191-4B8C-46F4-B4E0-CF774475ACF2}" dt="2026-07-01T00:39:12.514" v="35" actId="47"/>
        <pc:sldMkLst>
          <pc:docMk/>
          <pc:sldMk cId="1932589684" sldId="507"/>
        </pc:sldMkLst>
      </pc:sldChg>
      <pc:sldChg chg="delSp modSp add mod ord">
        <pc:chgData name="Derrick Chen" userId="c17abf16-4572-4718-92d2-b565decf0b0c" providerId="ADAL" clId="{26BCF191-4B8C-46F4-B4E0-CF774475ACF2}" dt="2026-07-01T17:11:17.592" v="81" actId="478"/>
        <pc:sldMkLst>
          <pc:docMk/>
          <pc:sldMk cId="0" sldId="508"/>
        </pc:sldMkLst>
        <pc:spChg chg="mod">
          <ac:chgData name="Derrick Chen" userId="c17abf16-4572-4718-92d2-b565decf0b0c" providerId="ADAL" clId="{26BCF191-4B8C-46F4-B4E0-CF774475ACF2}" dt="2026-07-01T17:10:48.501" v="78" actId="207"/>
          <ac:spMkLst>
            <pc:docMk/>
            <pc:sldMk cId="0" sldId="508"/>
            <ac:spMk id="2" creationId="{00000000-0000-0000-0000-000000000000}"/>
          </ac:spMkLst>
        </pc:spChg>
        <pc:spChg chg="del">
          <ac:chgData name="Derrick Chen" userId="c17abf16-4572-4718-92d2-b565decf0b0c" providerId="ADAL" clId="{26BCF191-4B8C-46F4-B4E0-CF774475ACF2}" dt="2026-07-01T17:11:17.592" v="81" actId="478"/>
          <ac:spMkLst>
            <pc:docMk/>
            <pc:sldMk cId="0" sldId="508"/>
            <ac:spMk id="3" creationId="{00000000-0000-0000-0000-000000000000}"/>
          </ac:spMkLst>
        </pc:spChg>
        <pc:graphicFrameChg chg="modGraphic">
          <ac:chgData name="Derrick Chen" userId="c17abf16-4572-4718-92d2-b565decf0b0c" providerId="ADAL" clId="{26BCF191-4B8C-46F4-B4E0-CF774475ACF2}" dt="2026-07-01T17:11:04.452" v="80" actId="207"/>
          <ac:graphicFrameMkLst>
            <pc:docMk/>
            <pc:sldMk cId="0" sldId="508"/>
            <ac:graphicFrameMk id="6" creationId="{00000000-0000-0000-0000-000000000000}"/>
          </ac:graphicFrameMkLst>
        </pc:graphicFrameChg>
      </pc:sldChg>
      <pc:sldChg chg="delSp modSp add mod">
        <pc:chgData name="Derrick Chen" userId="c17abf16-4572-4718-92d2-b565decf0b0c" providerId="ADAL" clId="{26BCF191-4B8C-46F4-B4E0-CF774475ACF2}" dt="2026-07-01T17:10:43.384" v="77" actId="207"/>
        <pc:sldMkLst>
          <pc:docMk/>
          <pc:sldMk cId="0" sldId="509"/>
        </pc:sldMkLst>
        <pc:spChg chg="mod">
          <ac:chgData name="Derrick Chen" userId="c17abf16-4572-4718-92d2-b565decf0b0c" providerId="ADAL" clId="{26BCF191-4B8C-46F4-B4E0-CF774475ACF2}" dt="2026-07-01T17:10:43.384" v="77" actId="207"/>
          <ac:spMkLst>
            <pc:docMk/>
            <pc:sldMk cId="0" sldId="509"/>
            <ac:spMk id="2" creationId="{00000000-0000-0000-0000-000000000000}"/>
          </ac:spMkLst>
        </pc:spChg>
        <pc:spChg chg="del">
          <ac:chgData name="Derrick Chen" userId="c17abf16-4572-4718-92d2-b565decf0b0c" providerId="ADAL" clId="{26BCF191-4B8C-46F4-B4E0-CF774475ACF2}" dt="2026-07-01T16:50:29.549" v="62" actId="478"/>
          <ac:spMkLst>
            <pc:docMk/>
            <pc:sldMk cId="0" sldId="509"/>
            <ac:spMk id="3" creationId="{00000000-0000-0000-0000-000000000000}"/>
          </ac:spMkLst>
        </pc:spChg>
        <pc:spChg chg="del mod">
          <ac:chgData name="Derrick Chen" userId="c17abf16-4572-4718-92d2-b565decf0b0c" providerId="ADAL" clId="{26BCF191-4B8C-46F4-B4E0-CF774475ACF2}" dt="2026-07-01T17:09:18.326" v="71" actId="478"/>
          <ac:spMkLst>
            <pc:docMk/>
            <pc:sldMk cId="0" sldId="509"/>
            <ac:spMk id="4" creationId="{00000000-0000-0000-0000-000000000000}"/>
          </ac:spMkLst>
        </pc:spChg>
      </pc:sldChg>
      <pc:sldChg chg="delSp modSp add mod">
        <pc:chgData name="Derrick Chen" userId="c17abf16-4572-4718-92d2-b565decf0b0c" providerId="ADAL" clId="{26BCF191-4B8C-46F4-B4E0-CF774475ACF2}" dt="2026-07-01T17:09:22.523" v="72" actId="478"/>
        <pc:sldMkLst>
          <pc:docMk/>
          <pc:sldMk cId="0" sldId="510"/>
        </pc:sldMkLst>
        <pc:spChg chg="mod">
          <ac:chgData name="Derrick Chen" userId="c17abf16-4572-4718-92d2-b565decf0b0c" providerId="ADAL" clId="{26BCF191-4B8C-46F4-B4E0-CF774475ACF2}" dt="2026-07-01T16:50:21.641" v="60" actId="207"/>
          <ac:spMkLst>
            <pc:docMk/>
            <pc:sldMk cId="0" sldId="510"/>
            <ac:spMk id="2" creationId="{00000000-0000-0000-0000-000000000000}"/>
          </ac:spMkLst>
        </pc:spChg>
        <pc:spChg chg="del">
          <ac:chgData name="Derrick Chen" userId="c17abf16-4572-4718-92d2-b565decf0b0c" providerId="ADAL" clId="{26BCF191-4B8C-46F4-B4E0-CF774475ACF2}" dt="2026-07-01T16:50:26.174" v="61" actId="478"/>
          <ac:spMkLst>
            <pc:docMk/>
            <pc:sldMk cId="0" sldId="510"/>
            <ac:spMk id="3" creationId="{00000000-0000-0000-0000-000000000000}"/>
          </ac:spMkLst>
        </pc:spChg>
        <pc:spChg chg="del">
          <ac:chgData name="Derrick Chen" userId="c17abf16-4572-4718-92d2-b565decf0b0c" providerId="ADAL" clId="{26BCF191-4B8C-46F4-B4E0-CF774475ACF2}" dt="2026-07-01T17:09:22.523" v="72" actId="478"/>
          <ac:spMkLst>
            <pc:docMk/>
            <pc:sldMk cId="0" sldId="510"/>
            <ac:spMk id="4" creationId="{00000000-0000-0000-0000-000000000000}"/>
          </ac:spMkLst>
        </pc:spChg>
        <pc:spChg chg="mod">
          <ac:chgData name="Derrick Chen" userId="c17abf16-4572-4718-92d2-b565decf0b0c" providerId="ADAL" clId="{26BCF191-4B8C-46F4-B4E0-CF774475ACF2}" dt="2026-07-01T16:49:07.489" v="52" actId="20577"/>
          <ac:spMkLst>
            <pc:docMk/>
            <pc:sldMk cId="0" sldId="510"/>
            <ac:spMk id="7" creationId="{00000000-0000-0000-0000-000000000000}"/>
          </ac:spMkLst>
        </pc:spChg>
        <pc:graphicFrameChg chg="mod modGraphic">
          <ac:chgData name="Derrick Chen" userId="c17abf16-4572-4718-92d2-b565decf0b0c" providerId="ADAL" clId="{26BCF191-4B8C-46F4-B4E0-CF774475ACF2}" dt="2026-07-01T16:48:53.063" v="49" actId="207"/>
          <ac:graphicFrameMkLst>
            <pc:docMk/>
            <pc:sldMk cId="0" sldId="510"/>
            <ac:graphicFrameMk id="6" creationId="{00000000-0000-0000-0000-000000000000}"/>
          </ac:graphicFrameMkLst>
        </pc:graphicFrameChg>
      </pc:sldChg>
      <pc:sldChg chg="delSp modSp add mod">
        <pc:chgData name="Derrick Chen" userId="c17abf16-4572-4718-92d2-b565decf0b0c" providerId="ADAL" clId="{26BCF191-4B8C-46F4-B4E0-CF774475ACF2}" dt="2026-07-01T17:10:36.157" v="76" actId="207"/>
        <pc:sldMkLst>
          <pc:docMk/>
          <pc:sldMk cId="0" sldId="511"/>
        </pc:sldMkLst>
        <pc:spChg chg="mod">
          <ac:chgData name="Derrick Chen" userId="c17abf16-4572-4718-92d2-b565decf0b0c" providerId="ADAL" clId="{26BCF191-4B8C-46F4-B4E0-CF774475ACF2}" dt="2026-07-01T17:10:36.157" v="76" actId="207"/>
          <ac:spMkLst>
            <pc:docMk/>
            <pc:sldMk cId="0" sldId="511"/>
            <ac:spMk id="2" creationId="{00000000-0000-0000-0000-000000000000}"/>
          </ac:spMkLst>
        </pc:spChg>
        <pc:spChg chg="del">
          <ac:chgData name="Derrick Chen" userId="c17abf16-4572-4718-92d2-b565decf0b0c" providerId="ADAL" clId="{26BCF191-4B8C-46F4-B4E0-CF774475ACF2}" dt="2026-07-01T17:09:26.906" v="73" actId="478"/>
          <ac:spMkLst>
            <pc:docMk/>
            <pc:sldMk cId="0" sldId="511"/>
            <ac:spMk id="4" creationId="{00000000-0000-0000-0000-000000000000}"/>
          </ac:spMkLst>
        </pc:spChg>
        <pc:spChg chg="mod">
          <ac:chgData name="Derrick Chen" userId="c17abf16-4572-4718-92d2-b565decf0b0c" providerId="ADAL" clId="{26BCF191-4B8C-46F4-B4E0-CF774475ACF2}" dt="2026-07-01T16:50:14.655" v="59" actId="20577"/>
          <ac:spMkLst>
            <pc:docMk/>
            <pc:sldMk cId="0" sldId="511"/>
            <ac:spMk id="7" creationId="{00000000-0000-0000-0000-000000000000}"/>
          </ac:spMkLst>
        </pc:spChg>
        <pc:graphicFrameChg chg="mod modGraphic">
          <ac:chgData name="Derrick Chen" userId="c17abf16-4572-4718-92d2-b565decf0b0c" providerId="ADAL" clId="{26BCF191-4B8C-46F4-B4E0-CF774475ACF2}" dt="2026-07-01T16:50:05.742" v="57" actId="207"/>
          <ac:graphicFrameMkLst>
            <pc:docMk/>
            <pc:sldMk cId="0" sldId="511"/>
            <ac:graphicFrameMk id="6" creationId="{00000000-0000-0000-0000-000000000000}"/>
          </ac:graphicFrameMkLst>
        </pc:graphicFrameChg>
      </pc:sldChg>
      <pc:sldChg chg="delSp modSp add mod">
        <pc:chgData name="Derrick Chen" userId="c17abf16-4572-4718-92d2-b565decf0b0c" providerId="ADAL" clId="{26BCF191-4B8C-46F4-B4E0-CF774475ACF2}" dt="2026-07-01T17:08:50.195" v="69" actId="20577"/>
        <pc:sldMkLst>
          <pc:docMk/>
          <pc:sldMk cId="0" sldId="512"/>
        </pc:sldMkLst>
        <pc:spChg chg="del">
          <ac:chgData name="Derrick Chen" userId="c17abf16-4572-4718-92d2-b565decf0b0c" providerId="ADAL" clId="{26BCF191-4B8C-46F4-B4E0-CF774475ACF2}" dt="2026-07-01T16:50:35.947" v="63" actId="478"/>
          <ac:spMkLst>
            <pc:docMk/>
            <pc:sldMk cId="0" sldId="512"/>
            <ac:spMk id="3" creationId="{00000000-0000-0000-0000-000000000000}"/>
          </ac:spMkLst>
        </pc:spChg>
        <pc:spChg chg="mod">
          <ac:chgData name="Derrick Chen" userId="c17abf16-4572-4718-92d2-b565decf0b0c" providerId="ADAL" clId="{26BCF191-4B8C-46F4-B4E0-CF774475ACF2}" dt="2026-07-01T17:08:33.164" v="64" actId="20577"/>
          <ac:spMkLst>
            <pc:docMk/>
            <pc:sldMk cId="0" sldId="512"/>
            <ac:spMk id="6" creationId="{00000000-0000-0000-0000-000000000000}"/>
          </ac:spMkLst>
        </pc:spChg>
        <pc:spChg chg="mod">
          <ac:chgData name="Derrick Chen" userId="c17abf16-4572-4718-92d2-b565decf0b0c" providerId="ADAL" clId="{26BCF191-4B8C-46F4-B4E0-CF774475ACF2}" dt="2026-07-01T17:08:50.195" v="69" actId="20577"/>
          <ac:spMkLst>
            <pc:docMk/>
            <pc:sldMk cId="0" sldId="512"/>
            <ac:spMk id="8" creationId="{00000000-0000-0000-0000-000000000000}"/>
          </ac:spMkLst>
        </pc:spChg>
        <pc:spChg chg="mod">
          <ac:chgData name="Derrick Chen" userId="c17abf16-4572-4718-92d2-b565decf0b0c" providerId="ADAL" clId="{26BCF191-4B8C-46F4-B4E0-CF774475ACF2}" dt="2026-07-01T17:08:37.459" v="65" actId="20577"/>
          <ac:spMkLst>
            <pc:docMk/>
            <pc:sldMk cId="0" sldId="512"/>
            <ac:spMk id="10" creationId="{00000000-0000-0000-0000-000000000000}"/>
          </ac:spMkLst>
        </pc:spChg>
        <pc:spChg chg="mod">
          <ac:chgData name="Derrick Chen" userId="c17abf16-4572-4718-92d2-b565decf0b0c" providerId="ADAL" clId="{26BCF191-4B8C-46F4-B4E0-CF774475ACF2}" dt="2026-07-01T17:08:46.793" v="68" actId="20577"/>
          <ac:spMkLst>
            <pc:docMk/>
            <pc:sldMk cId="0" sldId="512"/>
            <ac:spMk id="12" creationId="{00000000-0000-0000-0000-000000000000}"/>
          </ac:spMkLst>
        </pc:spChg>
        <pc:spChg chg="mod">
          <ac:chgData name="Derrick Chen" userId="c17abf16-4572-4718-92d2-b565decf0b0c" providerId="ADAL" clId="{26BCF191-4B8C-46F4-B4E0-CF774475ACF2}" dt="2026-07-01T17:08:40.873" v="66" actId="20577"/>
          <ac:spMkLst>
            <pc:docMk/>
            <pc:sldMk cId="0" sldId="512"/>
            <ac:spMk id="14" creationId="{00000000-0000-0000-0000-000000000000}"/>
          </ac:spMkLst>
        </pc:spChg>
        <pc:spChg chg="mod">
          <ac:chgData name="Derrick Chen" userId="c17abf16-4572-4718-92d2-b565decf0b0c" providerId="ADAL" clId="{26BCF191-4B8C-46F4-B4E0-CF774475ACF2}" dt="2026-07-01T17:08:44.045" v="67" actId="20577"/>
          <ac:spMkLst>
            <pc:docMk/>
            <pc:sldMk cId="0" sldId="512"/>
            <ac:spMk id="16"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sz="quarter" idx="1"/>
          </p:nvPr>
        </p:nvSpPr>
        <p:spPr>
          <a:xfrm>
            <a:off x="3978136" y="3"/>
            <a:ext cx="3043342" cy="465455"/>
          </a:xfrm>
          <a:prstGeom prst="rect">
            <a:avLst/>
          </a:prstGeom>
        </p:spPr>
        <p:txBody>
          <a:bodyPr vert="horz" lIns="93969" tIns="46985" rIns="93969" bIns="46985" rtlCol="0"/>
          <a:lstStyle>
            <a:lvl1pPr algn="r">
              <a:defRPr sz="1200"/>
            </a:lvl1pPr>
          </a:lstStyle>
          <a:p>
            <a:fld id="{128FCA9C-FF92-4024-BDEC-A6D3B663DC09}" type="datetimeFigureOut">
              <a:rPr lang="en-US"/>
              <a:t>7/2/2026</a:t>
            </a:fld>
            <a:endParaRPr/>
          </a:p>
        </p:txBody>
      </p:sp>
      <p:sp>
        <p:nvSpPr>
          <p:cNvPr id="4" name="Footer Placeholder 3"/>
          <p:cNvSpPr>
            <a:spLocks noGrp="1"/>
          </p:cNvSpPr>
          <p:nvPr>
            <p:ph type="ftr" sz="quarter" idx="2"/>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5" name="Slide Number Placeholder 4"/>
          <p:cNvSpPr>
            <a:spLocks noGrp="1"/>
          </p:cNvSpPr>
          <p:nvPr>
            <p:ph type="sldNum" sz="quarter" idx="3"/>
          </p:nvPr>
        </p:nvSpPr>
        <p:spPr>
          <a:xfrm>
            <a:off x="3978136" y="8842031"/>
            <a:ext cx="3043342" cy="465455"/>
          </a:xfrm>
          <a:prstGeom prst="rect">
            <a:avLst/>
          </a:prstGeom>
        </p:spPr>
        <p:txBody>
          <a:bodyPr vert="horz" lIns="93969" tIns="46985" rIns="93969" bIns="46985" rtlCol="0" anchor="b"/>
          <a:lstStyle>
            <a:lvl1pPr algn="r">
              <a:defRPr sz="1200"/>
            </a:lvl1pPr>
          </a:lstStyle>
          <a:p>
            <a:fld id="{A446DCAE-1661-43FF-8A44-43DAFDC1FD90}" type="slidenum">
              <a:rPr/>
              <a:t>‹#›</a:t>
            </a:fld>
            <a:endParaRPr/>
          </a:p>
        </p:txBody>
      </p:sp>
    </p:spTree>
    <p:extLst>
      <p:ext uri="{BB962C8B-B14F-4D97-AF65-F5344CB8AC3E}">
        <p14:creationId xmlns:p14="http://schemas.microsoft.com/office/powerpoint/2010/main" val="29198055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idx="1"/>
          </p:nvPr>
        </p:nvSpPr>
        <p:spPr>
          <a:xfrm>
            <a:off x="3978136" y="3"/>
            <a:ext cx="3043342" cy="465455"/>
          </a:xfrm>
          <a:prstGeom prst="rect">
            <a:avLst/>
          </a:prstGeom>
        </p:spPr>
        <p:txBody>
          <a:bodyPr vert="horz" lIns="93969" tIns="46985" rIns="93969" bIns="46985" rtlCol="0"/>
          <a:lstStyle>
            <a:lvl1pPr algn="r">
              <a:defRPr sz="1200"/>
            </a:lvl1pPr>
          </a:lstStyle>
          <a:p>
            <a:fld id="{772AB877-E7B1-4681-847E-D0918612832B}" type="datetimeFigureOut">
              <a:rPr lang="en-US"/>
              <a:t>7/2/2026</a:t>
            </a:fld>
            <a:endParaRPr/>
          </a:p>
        </p:txBody>
      </p:sp>
      <p:sp>
        <p:nvSpPr>
          <p:cNvPr id="4" name="Slide Image Placeholder 3"/>
          <p:cNvSpPr>
            <a:spLocks noGrp="1" noRot="1" noChangeAspect="1"/>
          </p:cNvSpPr>
          <p:nvPr>
            <p:ph type="sldImg" idx="2"/>
          </p:nvPr>
        </p:nvSpPr>
        <p:spPr>
          <a:xfrm>
            <a:off x="1184275" y="698500"/>
            <a:ext cx="4654550" cy="3490913"/>
          </a:xfrm>
          <a:prstGeom prst="rect">
            <a:avLst/>
          </a:prstGeom>
          <a:noFill/>
          <a:ln w="12700">
            <a:solidFill>
              <a:prstClr val="black"/>
            </a:solidFill>
          </a:ln>
        </p:spPr>
        <p:txBody>
          <a:bodyPr vert="horz" lIns="93969" tIns="46985" rIns="93969" bIns="46985" rtlCol="0" anchor="ctr"/>
          <a:lstStyle/>
          <a:p>
            <a:endParaRPr/>
          </a:p>
        </p:txBody>
      </p:sp>
      <p:sp>
        <p:nvSpPr>
          <p:cNvPr id="5" name="Notes Placeholder 4"/>
          <p:cNvSpPr>
            <a:spLocks noGrp="1"/>
          </p:cNvSpPr>
          <p:nvPr>
            <p:ph type="body" sz="quarter" idx="3"/>
          </p:nvPr>
        </p:nvSpPr>
        <p:spPr>
          <a:xfrm>
            <a:off x="702311" y="4421824"/>
            <a:ext cx="5618480" cy="4189095"/>
          </a:xfrm>
          <a:prstGeom prst="rect">
            <a:avLst/>
          </a:prstGeom>
        </p:spPr>
        <p:txBody>
          <a:bodyPr vert="horz" lIns="93969" tIns="46985" rIns="93969" bIns="46985" rtlCol="0"/>
          <a:lstStyle/>
          <a:p>
            <a:pPr lvl="0"/>
            <a:r>
              <a:t>Click to edit Master text styles</a:t>
            </a:r>
          </a:p>
          <a:p>
            <a:pPr lvl="1"/>
            <a:r>
              <a:t>Second level</a:t>
            </a:r>
          </a:p>
          <a:p>
            <a:pPr lvl="2"/>
            <a:r>
              <a:t>Third level</a:t>
            </a:r>
          </a:p>
          <a:p>
            <a:pPr lvl="3"/>
            <a:r>
              <a:t>Fourth level</a:t>
            </a:r>
          </a:p>
          <a:p>
            <a:pPr lvl="4"/>
            <a:r>
              <a:t>Fifth level</a:t>
            </a:r>
          </a:p>
        </p:txBody>
      </p:sp>
      <p:sp>
        <p:nvSpPr>
          <p:cNvPr id="6" name="Footer Placeholder 5"/>
          <p:cNvSpPr>
            <a:spLocks noGrp="1"/>
          </p:cNvSpPr>
          <p:nvPr>
            <p:ph type="ftr" sz="quarter" idx="4"/>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7" name="Slide Number Placeholder 6"/>
          <p:cNvSpPr>
            <a:spLocks noGrp="1"/>
          </p:cNvSpPr>
          <p:nvPr>
            <p:ph type="sldNum" sz="quarter" idx="5"/>
          </p:nvPr>
        </p:nvSpPr>
        <p:spPr>
          <a:xfrm>
            <a:off x="3978136" y="8842031"/>
            <a:ext cx="3043342" cy="465455"/>
          </a:xfrm>
          <a:prstGeom prst="rect">
            <a:avLst/>
          </a:prstGeom>
        </p:spPr>
        <p:txBody>
          <a:bodyPr vert="horz" lIns="93969" tIns="46985" rIns="93969" bIns="46985" rtlCol="0" anchor="b"/>
          <a:lstStyle>
            <a:lvl1pPr algn="r">
              <a:defRPr sz="1200"/>
            </a:lvl1pPr>
          </a:lstStyle>
          <a:p>
            <a:fld id="{69C971FF-EF28-4195-A575-329446EFAA55}" type="slidenum">
              <a:rPr/>
              <a:t>‹#›</a:t>
            </a:fld>
            <a:endParaRPr/>
          </a:p>
        </p:txBody>
      </p:sp>
    </p:spTree>
    <p:extLst>
      <p:ext uri="{BB962C8B-B14F-4D97-AF65-F5344CB8AC3E}">
        <p14:creationId xmlns:p14="http://schemas.microsoft.com/office/powerpoint/2010/main" val="1398995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lumMod val="50000"/>
          </a:schemeClr>
        </a:solidFill>
        <a:latin typeface="+mn-lt"/>
        <a:ea typeface="+mn-ea"/>
        <a:cs typeface="+mn-cs"/>
      </a:defRPr>
    </a:lvl1pPr>
    <a:lvl2pPr marL="457200" algn="l" defTabSz="914400" rtl="0" eaLnBrk="1" latinLnBrk="0" hangingPunct="1">
      <a:defRPr sz="1200" kern="1200">
        <a:solidFill>
          <a:schemeClr val="tx1">
            <a:lumMod val="50000"/>
          </a:schemeClr>
        </a:solidFill>
        <a:latin typeface="+mn-lt"/>
        <a:ea typeface="+mn-ea"/>
        <a:cs typeface="+mn-cs"/>
      </a:defRPr>
    </a:lvl2pPr>
    <a:lvl3pPr marL="914400" algn="l" defTabSz="914400" rtl="0" eaLnBrk="1" latinLnBrk="0" hangingPunct="1">
      <a:defRPr sz="1200" kern="1200">
        <a:solidFill>
          <a:schemeClr val="tx1">
            <a:lumMod val="50000"/>
          </a:schemeClr>
        </a:solidFill>
        <a:latin typeface="+mn-lt"/>
        <a:ea typeface="+mn-ea"/>
        <a:cs typeface="+mn-cs"/>
      </a:defRPr>
    </a:lvl3pPr>
    <a:lvl4pPr marL="1371600" algn="l" defTabSz="914400" rtl="0" eaLnBrk="1" latinLnBrk="0" hangingPunct="1">
      <a:defRPr sz="1200" kern="1200">
        <a:solidFill>
          <a:schemeClr val="tx1">
            <a:lumMod val="50000"/>
          </a:schemeClr>
        </a:solidFill>
        <a:latin typeface="+mn-lt"/>
        <a:ea typeface="+mn-ea"/>
        <a:cs typeface="+mn-cs"/>
      </a:defRPr>
    </a:lvl4pPr>
    <a:lvl5pPr marL="1828800" algn="l" defTabSz="914400" rtl="0" eaLnBrk="1" latinLnBrk="0" hangingPunct="1">
      <a:defRPr sz="1200" kern="1200">
        <a:solidFill>
          <a:schemeClr val="tx1">
            <a:lumMod val="50000"/>
          </a:schemeClr>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16013" y="679450"/>
            <a:ext cx="4510087" cy="338455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9C971FF-EF28-4195-A575-329446EFAA55}" type="slidenum">
              <a:rPr lang="en-US" smtClean="0"/>
              <a:t>1</a:t>
            </a:fld>
            <a:endParaRPr lang="en-US"/>
          </a:p>
        </p:txBody>
      </p:sp>
    </p:spTree>
    <p:extLst>
      <p:ext uri="{BB962C8B-B14F-4D97-AF65-F5344CB8AC3E}">
        <p14:creationId xmlns:p14="http://schemas.microsoft.com/office/powerpoint/2010/main" val="17950114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7" name="Subtitle 2"/>
          <p:cNvSpPr>
            <a:spLocks noGrp="1"/>
          </p:cNvSpPr>
          <p:nvPr>
            <p:ph type="subTitle" idx="1"/>
          </p:nvPr>
        </p:nvSpPr>
        <p:spPr>
          <a:xfrm>
            <a:off x="1801232" y="5715000"/>
            <a:ext cx="5541537" cy="533400"/>
          </a:xfrm>
          <a:noFill/>
        </p:spPr>
        <p:txBody>
          <a:bodyPr>
            <a:normAutofit/>
          </a:bodyPr>
          <a:lstStyle>
            <a:lvl1pPr marL="0" indent="0" algn="ctr">
              <a:spcBef>
                <a:spcPts val="0"/>
              </a:spcBef>
              <a:buNone/>
              <a:defRPr sz="1800" i="0">
                <a:solidFill>
                  <a:schemeClr val="tx1"/>
                </a:solidFill>
                <a:latin typeface="Avenir Next LT Pro" panose="020B0504020202020204" pitchFamily="34" charset="0"/>
              </a:defRPr>
            </a:lvl1pPr>
            <a:lvl2pPr marL="342991" indent="0" algn="ctr">
              <a:buNone/>
              <a:defRPr>
                <a:solidFill>
                  <a:schemeClr val="tx1">
                    <a:tint val="75000"/>
                  </a:schemeClr>
                </a:solidFill>
              </a:defRPr>
            </a:lvl2pPr>
            <a:lvl3pPr marL="685983" indent="0" algn="ctr">
              <a:buNone/>
              <a:defRPr>
                <a:solidFill>
                  <a:schemeClr val="tx1">
                    <a:tint val="75000"/>
                  </a:schemeClr>
                </a:solidFill>
              </a:defRPr>
            </a:lvl3pPr>
            <a:lvl4pPr marL="1028974" indent="0" algn="ctr">
              <a:buNone/>
              <a:defRPr>
                <a:solidFill>
                  <a:schemeClr val="tx1">
                    <a:tint val="75000"/>
                  </a:schemeClr>
                </a:solidFill>
              </a:defRPr>
            </a:lvl4pPr>
            <a:lvl5pPr marL="1371966" indent="0" algn="ctr">
              <a:buNone/>
              <a:defRPr>
                <a:solidFill>
                  <a:schemeClr val="tx1">
                    <a:tint val="75000"/>
                  </a:schemeClr>
                </a:solidFill>
              </a:defRPr>
            </a:lvl5pPr>
            <a:lvl6pPr marL="1714957" indent="0" algn="ctr">
              <a:buNone/>
              <a:defRPr>
                <a:solidFill>
                  <a:schemeClr val="tx1">
                    <a:tint val="75000"/>
                  </a:schemeClr>
                </a:solidFill>
              </a:defRPr>
            </a:lvl6pPr>
            <a:lvl7pPr marL="2057949" indent="0" algn="ctr">
              <a:buNone/>
              <a:defRPr>
                <a:solidFill>
                  <a:schemeClr val="tx1">
                    <a:tint val="75000"/>
                  </a:schemeClr>
                </a:solidFill>
              </a:defRPr>
            </a:lvl7pPr>
            <a:lvl8pPr marL="2400940" indent="0" algn="ctr">
              <a:buNone/>
              <a:defRPr>
                <a:solidFill>
                  <a:schemeClr val="tx1">
                    <a:tint val="75000"/>
                  </a:schemeClr>
                </a:solidFill>
              </a:defRPr>
            </a:lvl8pPr>
            <a:lvl9pPr marL="2743932" indent="0" algn="ctr">
              <a:buNone/>
              <a:defRPr>
                <a:solidFill>
                  <a:schemeClr val="tx1">
                    <a:tint val="75000"/>
                  </a:schemeClr>
                </a:solidFill>
              </a:defRPr>
            </a:lvl9pPr>
          </a:lstStyle>
          <a:p>
            <a:r>
              <a:rPr lang="en-US"/>
              <a:t>Click to edit Master subtitle style</a:t>
            </a:r>
            <a:endParaRPr/>
          </a:p>
        </p:txBody>
      </p:sp>
      <p:sp>
        <p:nvSpPr>
          <p:cNvPr id="8" name="Title 6"/>
          <p:cNvSpPr>
            <a:spLocks noGrp="1"/>
          </p:cNvSpPr>
          <p:nvPr>
            <p:ph type="title"/>
          </p:nvPr>
        </p:nvSpPr>
        <p:spPr>
          <a:xfrm>
            <a:off x="1800003" y="4714977"/>
            <a:ext cx="5543995" cy="923823"/>
          </a:xfrm>
          <a:prstGeom prst="rect">
            <a:avLst/>
          </a:prstGeom>
          <a:noFill/>
        </p:spPr>
        <p:txBody>
          <a:bodyPr anchor="b" anchorCtr="0">
            <a:normAutofit/>
          </a:bodyPr>
          <a:lstStyle>
            <a:lvl1pPr marL="0" algn="ctr" defTabSz="914400" rtl="0" eaLnBrk="1" latinLnBrk="0" hangingPunct="1">
              <a:lnSpc>
                <a:spcPct val="90000"/>
              </a:lnSpc>
              <a:defRPr lang="en-US" sz="2600" kern="1200" cap="none" baseline="0" dirty="0">
                <a:ln w="0"/>
                <a:solidFill>
                  <a:schemeClr val="tx1"/>
                </a:solidFill>
                <a:effectLst/>
                <a:latin typeface="Avenir Next LT Pro" panose="020B0504020202020204" pitchFamily="34" charset="0"/>
                <a:ea typeface="+mn-ea"/>
                <a:cs typeface="+mn-cs"/>
              </a:defRPr>
            </a:lvl1pPr>
          </a:lstStyle>
          <a:p>
            <a:r>
              <a:rPr lang="en-US"/>
              <a:t>Click to edit Master title style</a:t>
            </a:r>
          </a:p>
        </p:txBody>
      </p:sp>
      <p:sp>
        <p:nvSpPr>
          <p:cNvPr id="10" name="Rectangle 9"/>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89714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9" name="Content Placeholder 2"/>
          <p:cNvSpPr>
            <a:spLocks noGrp="1"/>
          </p:cNvSpPr>
          <p:nvPr>
            <p:ph idx="1"/>
          </p:nvPr>
        </p:nvSpPr>
        <p:spPr>
          <a:xfrm>
            <a:off x="228600" y="838200"/>
            <a:ext cx="8679365" cy="5562600"/>
          </a:xfrm>
        </p:spPr>
        <p:txBody>
          <a:bodyPr>
            <a:normAutofit/>
          </a:bodyPr>
          <a:lstStyle>
            <a:lvl1pPr marL="205795" indent="-171496">
              <a:buClr>
                <a:schemeClr val="bg1">
                  <a:lumMod val="50000"/>
                </a:schemeClr>
              </a:buClr>
              <a:buSzPct val="105000"/>
              <a:buFont typeface="Wingdings" panose="05000000000000000000" pitchFamily="2" charset="2"/>
              <a:buChar char="§"/>
              <a:defRPr sz="1200">
                <a:latin typeface="Avenir Next LT Pro" panose="020B0504020202020204" pitchFamily="34" charset="0"/>
              </a:defRPr>
            </a:lvl1pPr>
            <a:lvl2pPr marL="377291"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2pPr>
            <a:lvl3pPr marL="548786"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a:lvl6pPr>
            <a:lvl7pPr>
              <a:defRPr baseline="0"/>
            </a:lvl7pPr>
            <a:lvl8pPr>
              <a:defRPr baseline="0"/>
            </a:lvl8pPr>
            <a:lvl9pP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Title 1"/>
          <p:cNvSpPr>
            <a:spLocks noGrp="1"/>
          </p:cNvSpPr>
          <p:nvPr>
            <p:ph type="title"/>
          </p:nvPr>
        </p:nvSpPr>
        <p:spPr>
          <a:xfrm>
            <a:off x="228600" y="228600"/>
            <a:ext cx="8679366" cy="478756"/>
          </a:xfrm>
          <a:prstGeom prst="rect">
            <a:avLst/>
          </a:prstGeom>
        </p:spPr>
        <p:txBody>
          <a:bodyPr anchor="b" anchorCtr="0">
            <a:normAutofit/>
          </a:bodyPr>
          <a:lstStyle>
            <a:lvl1pPr algn="r">
              <a:defRPr lang="en-GB" sz="1300" b="0" kern="1200" cap="all" baseline="0" dirty="0">
                <a:solidFill>
                  <a:schemeClr val="tx1"/>
                </a:solidFill>
                <a:latin typeface="Avenir Next LT Pro Demi" panose="020B0704020202020204" pitchFamily="34" charset="0"/>
                <a:ea typeface="+mj-ea"/>
                <a:cs typeface="+mj-cs"/>
              </a:defRPr>
            </a:lvl1pPr>
          </a:lstStyle>
          <a:p>
            <a:r>
              <a:rPr lang="en-US"/>
              <a:t>Click to edit Master title style</a:t>
            </a:r>
            <a:endParaRPr lang="en-GB"/>
          </a:p>
        </p:txBody>
      </p:sp>
      <p:cxnSp>
        <p:nvCxnSpPr>
          <p:cNvPr id="15" name="Straight Connector 14"/>
          <p:cNvCxnSpPr/>
          <p:nvPr/>
        </p:nvCxnSpPr>
        <p:spPr>
          <a:xfrm>
            <a:off x="233172" y="762000"/>
            <a:ext cx="867765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21" name="Rectangle 20"/>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latin typeface="Avenir Next LT Pro" panose="020B0504020202020204" pitchFamily="34" charset="0"/>
            </a:endParaRPr>
          </a:p>
        </p:txBody>
      </p:sp>
      <p:cxnSp>
        <p:nvCxnSpPr>
          <p:cNvPr id="22" name="Straight Connector 21"/>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3" name="Slide Number Placeholder 9"/>
          <p:cNvSpPr txBox="1">
            <a:spLocks/>
          </p:cNvSpPr>
          <p:nvPr userDrawn="1"/>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4"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Tree>
    <p:extLst>
      <p:ext uri="{BB962C8B-B14F-4D97-AF65-F5344CB8AC3E}">
        <p14:creationId xmlns:p14="http://schemas.microsoft.com/office/powerpoint/2010/main" val="1918354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8" name="Title 1"/>
          <p:cNvSpPr>
            <a:spLocks noGrp="1"/>
          </p:cNvSpPr>
          <p:nvPr>
            <p:ph type="title"/>
          </p:nvPr>
        </p:nvSpPr>
        <p:spPr>
          <a:xfrm>
            <a:off x="913448" y="3135710"/>
            <a:ext cx="7317105" cy="586581"/>
          </a:xfrm>
        </p:spPr>
        <p:txBody>
          <a:bodyPr anchor="ctr">
            <a:noAutofit/>
          </a:bodyPr>
          <a:lstStyle>
            <a:lvl1pPr algn="ctr" defTabSz="685983" rtl="0" eaLnBrk="1" latinLnBrk="0" hangingPunct="1">
              <a:lnSpc>
                <a:spcPct val="90000"/>
              </a:lnSpc>
              <a:spcBef>
                <a:spcPct val="0"/>
              </a:spcBef>
              <a:buNone/>
              <a:defRPr lang="en-GB" sz="2400" b="0" kern="1200" cap="all" baseline="0" dirty="0">
                <a:solidFill>
                  <a:srgbClr val="AF8C49"/>
                </a:solidFill>
                <a:latin typeface="Avenir Next LT Pro" panose="020B0504020202020204" pitchFamily="34" charset="0"/>
                <a:ea typeface="+mj-ea"/>
                <a:cs typeface="+mj-cs"/>
              </a:defRPr>
            </a:lvl1pPr>
          </a:lstStyle>
          <a:p>
            <a:r>
              <a:rPr lang="en-US"/>
              <a:t>Click to edit Master title style</a:t>
            </a:r>
            <a:endParaRPr/>
          </a:p>
        </p:txBody>
      </p:sp>
      <p:sp>
        <p:nvSpPr>
          <p:cNvPr id="12"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3" name="Rectangle 12"/>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cxnSp>
        <p:nvCxnSpPr>
          <p:cNvPr id="14" name="Straight Connector 13"/>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cxnSp>
        <p:nvCxnSpPr>
          <p:cNvPr id="9" name="Straight Connector 8"/>
          <p:cNvCxnSpPr/>
          <p:nvPr userDrawn="1"/>
        </p:nvCxnSpPr>
        <p:spPr>
          <a:xfrm>
            <a:off x="420752" y="845820"/>
            <a:ext cx="830249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10"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2" name="Rectangle 1">
            <a:extLst>
              <a:ext uri="{FF2B5EF4-FFF2-40B4-BE49-F238E27FC236}">
                <a16:creationId xmlns:a16="http://schemas.microsoft.com/office/drawing/2014/main" id="{C3C3C381-A40D-8C46-E61E-BFF1FE6905FC}"/>
              </a:ext>
            </a:extLst>
          </p:cNvPr>
          <p:cNvSpPr/>
          <p:nvPr userDrawn="1"/>
        </p:nvSpPr>
        <p:spPr>
          <a:xfrm>
            <a:off x="304800" y="609600"/>
            <a:ext cx="8534400" cy="533399"/>
          </a:xfrm>
          <a:prstGeom prst="rect">
            <a:avLst/>
          </a:prstGeom>
          <a:solidFill>
            <a:schemeClr val="bg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21484319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pic>
        <p:nvPicPr>
          <p:cNvPr id="13" name="Picture 1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a:noFill/>
        </p:spPr>
      </p:pic>
      <p:sp>
        <p:nvSpPr>
          <p:cNvPr id="14" name="Content Placeholder 2"/>
          <p:cNvSpPr>
            <a:spLocks noGrp="1"/>
          </p:cNvSpPr>
          <p:nvPr>
            <p:ph idx="1"/>
          </p:nvPr>
        </p:nvSpPr>
        <p:spPr>
          <a:xfrm>
            <a:off x="4400508" y="685800"/>
            <a:ext cx="4230202" cy="5486400"/>
          </a:xfrm>
        </p:spPr>
        <p:txBody>
          <a:bodyPr>
            <a:normAutofit/>
          </a:bodyPr>
          <a:lstStyle>
            <a:lvl1pPr>
              <a:defRPr sz="1800">
                <a:latin typeface="Avenir Next LT Pro" panose="020B0504020202020204" pitchFamily="34" charset="0"/>
              </a:defRPr>
            </a:lvl1pPr>
            <a:lvl2pPr marL="377291" marR="0" indent="-171496" algn="l" defTabSz="685983" rtl="0" eaLnBrk="1" fontAlgn="auto" latinLnBrk="0" hangingPunct="1">
              <a:lnSpc>
                <a:spcPct val="90000"/>
              </a:lnSpc>
              <a:spcBef>
                <a:spcPts val="450"/>
              </a:spcBef>
              <a:spcAft>
                <a:spcPts val="0"/>
              </a:spcAft>
              <a:buClr>
                <a:schemeClr val="bg1">
                  <a:lumMod val="50000"/>
                </a:schemeClr>
              </a:buClr>
              <a:buSzPct val="105000"/>
              <a:buFont typeface="Cambria" panose="02040503050406030204" pitchFamily="18" charset="0"/>
              <a:buChar char="–"/>
              <a:tabLst/>
              <a:defRPr sz="1200">
                <a:latin typeface="Avenir Next LT Pro" panose="020B0504020202020204" pitchFamily="34" charset="0"/>
              </a:defRPr>
            </a:lvl2pPr>
            <a:lvl3pPr marL="548786"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sz="1200"/>
            </a:lvl6pPr>
            <a:lvl7pPr>
              <a:defRPr sz="1200"/>
            </a:lvl7pPr>
            <a:lvl8pPr>
              <a:defRPr sz="1200"/>
            </a:lvl8pPr>
            <a:lvl9pPr>
              <a:defRPr sz="1200"/>
            </a:lvl9pPr>
          </a:lstStyle>
          <a:p>
            <a:pPr marL="155335" marR="0" lvl="0"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Click to edit Master text styles</a:t>
            </a:r>
          </a:p>
          <a:p>
            <a:pPr marL="155335" marR="0" lvl="1"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Second level</a:t>
            </a:r>
          </a:p>
          <a:p>
            <a:pPr marL="155335" marR="0" lvl="2"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Third level</a:t>
            </a:r>
          </a:p>
          <a:p>
            <a:pPr marL="155335" marR="0" lvl="3"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Fourth level</a:t>
            </a:r>
          </a:p>
          <a:p>
            <a:pPr marL="155335" marR="0" lvl="4"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Fifth level</a:t>
            </a:r>
          </a:p>
        </p:txBody>
      </p:sp>
      <p:sp>
        <p:nvSpPr>
          <p:cNvPr id="15"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16"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15369690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pic>
        <p:nvPicPr>
          <p:cNvPr id="12" name="Picture 11"/>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p:spPr>
      </p:pic>
      <p:sp>
        <p:nvSpPr>
          <p:cNvPr id="13" name="Picture Placeholder 2"/>
          <p:cNvSpPr>
            <a:spLocks noGrp="1"/>
          </p:cNvSpPr>
          <p:nvPr>
            <p:ph type="pic" idx="1"/>
          </p:nvPr>
        </p:nvSpPr>
        <p:spPr>
          <a:xfrm>
            <a:off x="4400508" y="685800"/>
            <a:ext cx="4230202" cy="5486400"/>
          </a:xfrm>
          <a:solidFill>
            <a:schemeClr val="bg1">
              <a:lumMod val="95000"/>
            </a:schemeClr>
          </a:solidFill>
          <a:ln w="3175">
            <a:solidFill>
              <a:schemeClr val="bg1">
                <a:lumMod val="75000"/>
              </a:schemeClr>
            </a:solidFill>
            <a:miter lim="800000"/>
          </a:ln>
        </p:spPr>
        <p:txBody>
          <a:bodyPr tIns="914400">
            <a:normAutofit/>
          </a:bodyPr>
          <a:lstStyle>
            <a:lvl1pPr marL="0" indent="0" algn="ctr">
              <a:buNone/>
              <a:defRPr sz="1800">
                <a:latin typeface="Avenir Next LT Pro" panose="020B0504020202020204" pitchFamily="34" charset="0"/>
              </a:defRPr>
            </a:lvl1pPr>
            <a:lvl2pPr marL="342991" indent="0">
              <a:buNone/>
              <a:defRPr sz="2101"/>
            </a:lvl2pPr>
            <a:lvl3pPr marL="685983" indent="0">
              <a:buNone/>
              <a:defRPr sz="1800"/>
            </a:lvl3pPr>
            <a:lvl4pPr marL="1028974" indent="0">
              <a:buNone/>
              <a:defRPr sz="1500"/>
            </a:lvl4pPr>
            <a:lvl5pPr marL="1371966" indent="0">
              <a:buNone/>
              <a:defRPr sz="1500"/>
            </a:lvl5pPr>
            <a:lvl6pPr marL="1714957" indent="0">
              <a:buNone/>
              <a:defRPr sz="1500"/>
            </a:lvl6pPr>
            <a:lvl7pPr marL="2057949" indent="0">
              <a:buNone/>
              <a:defRPr sz="1500"/>
            </a:lvl7pPr>
            <a:lvl8pPr marL="2400940" indent="0">
              <a:buNone/>
              <a:defRPr sz="1500"/>
            </a:lvl8pPr>
            <a:lvl9pPr marL="2743932" indent="0">
              <a:buNone/>
              <a:defRPr sz="1500"/>
            </a:lvl9pPr>
          </a:lstStyle>
          <a:p>
            <a:r>
              <a:rPr lang="en-US"/>
              <a:t>Click icon to add picture</a:t>
            </a:r>
            <a:endParaRPr/>
          </a:p>
        </p:txBody>
      </p:sp>
      <p:sp>
        <p:nvSpPr>
          <p:cNvPr id="14"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sp>
        <p:nvSpPr>
          <p:cNvPr id="16"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34070007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bg1">
                <a:lumMod val="100000"/>
              </a:schemeClr>
            </a:gs>
            <a:gs pos="100000">
              <a:schemeClr val="bg1">
                <a:lumMod val="85000"/>
              </a:schemeClr>
            </a:gs>
          </a:gsLst>
          <a:path path="circle">
            <a:fillToRect l="100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451" y="274638"/>
            <a:ext cx="7317105" cy="1325562"/>
          </a:xfrm>
          <a:prstGeom prst="rect">
            <a:avLst/>
          </a:prstGeom>
        </p:spPr>
        <p:txBody>
          <a:bodyPr vert="horz" lIns="91440" tIns="45720" rIns="91440" bIns="45720" rtlCol="0" anchor="b">
            <a:normAutofit/>
          </a:bodyPr>
          <a:lstStyle/>
          <a:p>
            <a:r>
              <a:rPr lang="en-US"/>
              <a:t>Click to edit Master title style</a:t>
            </a:r>
            <a:endParaRPr/>
          </a:p>
        </p:txBody>
      </p:sp>
      <p:sp>
        <p:nvSpPr>
          <p:cNvPr id="3" name="Text Placeholder 2"/>
          <p:cNvSpPr>
            <a:spLocks noGrp="1"/>
          </p:cNvSpPr>
          <p:nvPr>
            <p:ph type="body" idx="1"/>
          </p:nvPr>
        </p:nvSpPr>
        <p:spPr>
          <a:xfrm>
            <a:off x="913451" y="1828800"/>
            <a:ext cx="7317105" cy="43434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2"/>
          </p:nvPr>
        </p:nvSpPr>
        <p:spPr>
          <a:xfrm>
            <a:off x="6115455" y="6448427"/>
            <a:ext cx="894946"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endParaRPr lang="en-US"/>
          </a:p>
        </p:txBody>
      </p:sp>
      <p:sp>
        <p:nvSpPr>
          <p:cNvPr id="5" name="Footer Placeholder 4"/>
          <p:cNvSpPr>
            <a:spLocks noGrp="1"/>
          </p:cNvSpPr>
          <p:nvPr>
            <p:ph type="ftr" sz="quarter" idx="3"/>
          </p:nvPr>
        </p:nvSpPr>
        <p:spPr>
          <a:xfrm>
            <a:off x="906865" y="6448427"/>
            <a:ext cx="4979929" cy="180974"/>
          </a:xfrm>
          <a:prstGeom prst="rect">
            <a:avLst/>
          </a:prstGeom>
        </p:spPr>
        <p:txBody>
          <a:bodyPr vert="horz" lIns="91440" tIns="45720" rIns="91440" bIns="45720" rtlCol="0" anchor="ctr"/>
          <a:lstStyle>
            <a:lvl1pPr algn="l">
              <a:defRPr sz="750" cap="all" baseline="0">
                <a:solidFill>
                  <a:schemeClr val="tx1"/>
                </a:solidFill>
                <a:latin typeface="Avenir Next LT Pro" panose="020B0504020202020204" pitchFamily="34" charset="0"/>
              </a:defRPr>
            </a:lvl1pPr>
          </a:lstStyle>
          <a:p>
            <a:r>
              <a:rPr lang="en-US"/>
              <a:t>KILDARE PARTNERS</a:t>
            </a:r>
          </a:p>
        </p:txBody>
      </p:sp>
      <p:sp>
        <p:nvSpPr>
          <p:cNvPr id="6" name="Slide Number Placeholder 5"/>
          <p:cNvSpPr>
            <a:spLocks noGrp="1"/>
          </p:cNvSpPr>
          <p:nvPr>
            <p:ph type="sldNum" sz="quarter" idx="4"/>
          </p:nvPr>
        </p:nvSpPr>
        <p:spPr>
          <a:xfrm>
            <a:off x="7239000" y="6448427"/>
            <a:ext cx="991554"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r>
              <a:rPr lang="en-US"/>
              <a:t>Confidential | </a:t>
            </a:r>
            <a:fld id="{F36C87F6-986D-49E6-AF40-1B3A1EE8064D}" type="slidenum">
              <a:rPr lang="en-US" smtClean="0"/>
              <a:pPr/>
              <a:t>‹#›</a:t>
            </a:fld>
            <a:endParaRPr lang="en-US"/>
          </a:p>
        </p:txBody>
      </p:sp>
      <p:sp>
        <p:nvSpPr>
          <p:cNvPr id="7" name="TextBox 6"/>
          <p:cNvSpPr txBox="1"/>
          <p:nvPr userDrawn="1"/>
        </p:nvSpPr>
        <p:spPr>
          <a:xfrm>
            <a:off x="-888521" y="0"/>
            <a:ext cx="838200" cy="203133"/>
          </a:xfrm>
          <a:prstGeom prst="rect">
            <a:avLst/>
          </a:prstGeom>
          <a:solidFill>
            <a:srgbClr val="AF8C49"/>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AF8C49</a:t>
            </a:r>
          </a:p>
        </p:txBody>
      </p:sp>
      <p:sp>
        <p:nvSpPr>
          <p:cNvPr id="10" name="TextBox 9">
            <a:extLst>
              <a:ext uri="{FF2B5EF4-FFF2-40B4-BE49-F238E27FC236}">
                <a16:creationId xmlns:a16="http://schemas.microsoft.com/office/drawing/2014/main" id="{215E4D0A-4535-9DCC-30EC-115F63F87340}"/>
              </a:ext>
            </a:extLst>
          </p:cNvPr>
          <p:cNvSpPr txBox="1"/>
          <p:nvPr userDrawn="1"/>
        </p:nvSpPr>
        <p:spPr>
          <a:xfrm>
            <a:off x="-888521" y="253072"/>
            <a:ext cx="838200" cy="203133"/>
          </a:xfrm>
          <a:prstGeom prst="rect">
            <a:avLst/>
          </a:prstGeom>
          <a:solidFill>
            <a:srgbClr val="1442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14425D</a:t>
            </a:r>
          </a:p>
        </p:txBody>
      </p:sp>
      <p:sp>
        <p:nvSpPr>
          <p:cNvPr id="11" name="TextBox 10">
            <a:extLst>
              <a:ext uri="{FF2B5EF4-FFF2-40B4-BE49-F238E27FC236}">
                <a16:creationId xmlns:a16="http://schemas.microsoft.com/office/drawing/2014/main" id="{A0ADA7A3-4A4C-2191-5488-71A26B234E8D}"/>
              </a:ext>
            </a:extLst>
          </p:cNvPr>
          <p:cNvSpPr txBox="1"/>
          <p:nvPr userDrawn="1"/>
        </p:nvSpPr>
        <p:spPr>
          <a:xfrm>
            <a:off x="-888521" y="506144"/>
            <a:ext cx="838200" cy="203133"/>
          </a:xfrm>
          <a:prstGeom prst="rect">
            <a:avLst/>
          </a:prstGeom>
          <a:solidFill>
            <a:srgbClr val="280003"/>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280003</a:t>
            </a:r>
          </a:p>
        </p:txBody>
      </p:sp>
      <p:sp>
        <p:nvSpPr>
          <p:cNvPr id="12" name="TextBox 11">
            <a:extLst>
              <a:ext uri="{FF2B5EF4-FFF2-40B4-BE49-F238E27FC236}">
                <a16:creationId xmlns:a16="http://schemas.microsoft.com/office/drawing/2014/main" id="{F704D1EF-97DC-7BC5-3A14-30C0D04058D6}"/>
              </a:ext>
            </a:extLst>
          </p:cNvPr>
          <p:cNvSpPr txBox="1"/>
          <p:nvPr userDrawn="1"/>
        </p:nvSpPr>
        <p:spPr>
          <a:xfrm>
            <a:off x="-888521" y="757886"/>
            <a:ext cx="838200" cy="203133"/>
          </a:xfrm>
          <a:prstGeom prst="rect">
            <a:avLst/>
          </a:prstGeom>
          <a:solidFill>
            <a:srgbClr val="4F50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4F505D</a:t>
            </a:r>
          </a:p>
        </p:txBody>
      </p:sp>
      <p:sp>
        <p:nvSpPr>
          <p:cNvPr id="13" name="TextBox 12">
            <a:extLst>
              <a:ext uri="{FF2B5EF4-FFF2-40B4-BE49-F238E27FC236}">
                <a16:creationId xmlns:a16="http://schemas.microsoft.com/office/drawing/2014/main" id="{3405E372-FAEB-E166-F39E-B06223EE3FFD}"/>
              </a:ext>
            </a:extLst>
          </p:cNvPr>
          <p:cNvSpPr txBox="1"/>
          <p:nvPr userDrawn="1"/>
        </p:nvSpPr>
        <p:spPr>
          <a:xfrm>
            <a:off x="-888521" y="1009628"/>
            <a:ext cx="838200" cy="203133"/>
          </a:xfrm>
          <a:prstGeom prst="rect">
            <a:avLst/>
          </a:prstGeom>
          <a:solidFill>
            <a:srgbClr val="769FB6"/>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769FB6</a:t>
            </a:r>
          </a:p>
        </p:txBody>
      </p:sp>
      <p:sp>
        <p:nvSpPr>
          <p:cNvPr id="14" name="TextBox 13">
            <a:extLst>
              <a:ext uri="{FF2B5EF4-FFF2-40B4-BE49-F238E27FC236}">
                <a16:creationId xmlns:a16="http://schemas.microsoft.com/office/drawing/2014/main" id="{1E4BBA53-6D09-8782-B5B9-E9A5BECF8AD0}"/>
              </a:ext>
            </a:extLst>
          </p:cNvPr>
          <p:cNvSpPr txBox="1"/>
          <p:nvPr userDrawn="1"/>
        </p:nvSpPr>
        <p:spPr>
          <a:xfrm>
            <a:off x="-888521" y="1261370"/>
            <a:ext cx="838200" cy="203133"/>
          </a:xfrm>
          <a:prstGeom prst="rect">
            <a:avLst/>
          </a:prstGeom>
          <a:solidFill>
            <a:srgbClr val="FFCFD2"/>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FFCFD2</a:t>
            </a:r>
          </a:p>
        </p:txBody>
      </p:sp>
      <p:sp>
        <p:nvSpPr>
          <p:cNvPr id="15" name="TextBox 14">
            <a:extLst>
              <a:ext uri="{FF2B5EF4-FFF2-40B4-BE49-F238E27FC236}">
                <a16:creationId xmlns:a16="http://schemas.microsoft.com/office/drawing/2014/main" id="{01F61B67-6E0E-07C7-E37E-D7FC9728B8B6}"/>
              </a:ext>
            </a:extLst>
          </p:cNvPr>
          <p:cNvSpPr txBox="1"/>
          <p:nvPr userDrawn="1"/>
        </p:nvSpPr>
        <p:spPr>
          <a:xfrm>
            <a:off x="-888521" y="1513112"/>
            <a:ext cx="838200" cy="203133"/>
          </a:xfrm>
          <a:prstGeom prst="rect">
            <a:avLst/>
          </a:prstGeom>
          <a:solidFill>
            <a:srgbClr val="EC9A07"/>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EC9A07</a:t>
            </a:r>
          </a:p>
        </p:txBody>
      </p:sp>
      <p:sp>
        <p:nvSpPr>
          <p:cNvPr id="16" name="TextBox 15">
            <a:extLst>
              <a:ext uri="{FF2B5EF4-FFF2-40B4-BE49-F238E27FC236}">
                <a16:creationId xmlns:a16="http://schemas.microsoft.com/office/drawing/2014/main" id="{EA51C9DA-77AA-6EB7-9BE0-9B4FF8AC0A98}"/>
              </a:ext>
            </a:extLst>
          </p:cNvPr>
          <p:cNvSpPr txBox="1"/>
          <p:nvPr userDrawn="1"/>
        </p:nvSpPr>
        <p:spPr>
          <a:xfrm>
            <a:off x="-888521" y="1764854"/>
            <a:ext cx="838200" cy="203133"/>
          </a:xfrm>
          <a:prstGeom prst="rect">
            <a:avLst/>
          </a:prstGeom>
          <a:solidFill>
            <a:srgbClr val="00B050"/>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00B050</a:t>
            </a:r>
          </a:p>
        </p:txBody>
      </p:sp>
    </p:spTree>
    <p:extLst>
      <p:ext uri="{BB962C8B-B14F-4D97-AF65-F5344CB8AC3E}">
        <p14:creationId xmlns:p14="http://schemas.microsoft.com/office/powerpoint/2010/main" val="1489234859"/>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64" r:id="rId3"/>
    <p:sldLayoutId id="2147483669" r:id="rId4"/>
    <p:sldLayoutId id="2147483670" r:id="rId5"/>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685983" rtl="0" eaLnBrk="1" latinLnBrk="0" hangingPunct="1">
        <a:lnSpc>
          <a:spcPct val="90000"/>
        </a:lnSpc>
        <a:spcBef>
          <a:spcPct val="0"/>
        </a:spcBef>
        <a:buNone/>
        <a:defRPr sz="3001" kern="1200" cap="all" baseline="0">
          <a:solidFill>
            <a:schemeClr val="tx1">
              <a:lumMod val="50000"/>
            </a:schemeClr>
          </a:solidFill>
          <a:latin typeface="Avenir Next LT Pro" panose="020B0504020202020204" pitchFamily="34" charset="0"/>
          <a:ea typeface="+mj-ea"/>
          <a:cs typeface="+mj-cs"/>
        </a:defRPr>
      </a:lvl1pPr>
    </p:titleStyle>
    <p:bodyStyle>
      <a:lvl1pPr marL="205795" indent="-171496" algn="l" defTabSz="685983" rtl="0" eaLnBrk="1" latinLnBrk="0" hangingPunct="1">
        <a:lnSpc>
          <a:spcPct val="90000"/>
        </a:lnSpc>
        <a:spcBef>
          <a:spcPts val="1350"/>
        </a:spcBef>
        <a:buClr>
          <a:schemeClr val="tx1"/>
        </a:buClr>
        <a:buSzPct val="80000"/>
        <a:buFont typeface="Arial" pitchFamily="34" charset="0"/>
        <a:buChar char="•"/>
        <a:defRPr sz="1800" kern="1200">
          <a:solidFill>
            <a:schemeClr val="tx1"/>
          </a:solidFill>
          <a:latin typeface="Avenir Next LT Pro" panose="020B0504020202020204" pitchFamily="34" charset="0"/>
          <a:ea typeface="+mn-ea"/>
          <a:cs typeface="+mn-cs"/>
        </a:defRPr>
      </a:lvl1pPr>
      <a:lvl2pPr marL="377291" indent="-171496" algn="l" defTabSz="685983" rtl="0" eaLnBrk="1" latinLnBrk="0" hangingPunct="1">
        <a:lnSpc>
          <a:spcPct val="90000"/>
        </a:lnSpc>
        <a:spcBef>
          <a:spcPts val="450"/>
        </a:spcBef>
        <a:buClr>
          <a:schemeClr val="tx1"/>
        </a:buClr>
        <a:buSzPct val="80000"/>
        <a:buFont typeface="Arial" pitchFamily="34" charset="0"/>
        <a:buChar char="•"/>
        <a:defRPr sz="1500" kern="1200">
          <a:solidFill>
            <a:schemeClr val="tx1"/>
          </a:solidFill>
          <a:latin typeface="Avenir Next LT Pro" panose="020B0504020202020204" pitchFamily="34" charset="0"/>
          <a:ea typeface="+mn-ea"/>
          <a:cs typeface="+mn-cs"/>
        </a:defRPr>
      </a:lvl2pPr>
      <a:lvl3pPr marL="548786" indent="-171496" algn="l" defTabSz="685983" rtl="0" eaLnBrk="1" latinLnBrk="0" hangingPunct="1">
        <a:lnSpc>
          <a:spcPct val="90000"/>
        </a:lnSpc>
        <a:spcBef>
          <a:spcPts val="450"/>
        </a:spcBef>
        <a:buClr>
          <a:schemeClr val="tx1"/>
        </a:buClr>
        <a:buSzPct val="80000"/>
        <a:buFont typeface="Arial" pitchFamily="34" charset="0"/>
        <a:buChar char="•"/>
        <a:defRPr sz="1350" kern="1200">
          <a:solidFill>
            <a:schemeClr val="tx1"/>
          </a:solidFill>
          <a:latin typeface="Avenir Next LT Pro" panose="020B0504020202020204" pitchFamily="34" charset="0"/>
          <a:ea typeface="+mn-ea"/>
          <a:cs typeface="+mn-cs"/>
        </a:defRPr>
      </a:lvl3pPr>
      <a:lvl4pPr marL="720282"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4pPr>
      <a:lvl5pPr marL="891778"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5pPr>
      <a:lvl6pPr marL="1063273"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6pPr>
      <a:lvl7pPr marL="1234769"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7pPr>
      <a:lvl8pPr marL="1406265"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8pPr>
      <a:lvl9pPr marL="1577761" indent="-171496" algn="l" defTabSz="685983" rtl="0" eaLnBrk="1" latinLnBrk="0" hangingPunct="1">
        <a:spcBef>
          <a:spcPts val="450"/>
        </a:spcBef>
        <a:buSzPct val="80000"/>
        <a:buFont typeface="Arial" pitchFamily="34" charset="0"/>
        <a:buChar char="•"/>
        <a:defRPr sz="1200" kern="1200" baseline="0">
          <a:solidFill>
            <a:schemeClr val="tx1"/>
          </a:solidFill>
          <a:latin typeface="+mn-lt"/>
          <a:ea typeface="+mn-ea"/>
          <a:cs typeface="+mn-cs"/>
        </a:defRPr>
      </a:lvl9pPr>
    </p:bodyStyle>
    <p:otherStyle>
      <a:defPPr>
        <a:defRPr/>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0" orient="horz" pos="2160" userDrawn="1">
          <p15:clr>
            <a:srgbClr val="F26B43"/>
          </p15:clr>
        </p15:guide>
        <p15:guide id="1"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74A37A1-7D8A-6F00-8812-7226595E3D4B}"/>
              </a:ext>
            </a:extLst>
          </p:cNvPr>
          <p:cNvSpPr/>
          <p:nvPr/>
        </p:nvSpPr>
        <p:spPr>
          <a:xfrm>
            <a:off x="147856" y="5619750"/>
            <a:ext cx="8839200" cy="1043876"/>
          </a:xfrm>
          <a:prstGeom prst="rect">
            <a:avLst/>
          </a:prstGeom>
        </p:spPr>
        <p:txBody>
          <a:bodyPr wrap="square">
            <a:spAutoFit/>
          </a:bodyPr>
          <a:lstStyle/>
          <a:p>
            <a:pPr algn="just" eaLnBrk="0" hangingPunct="0">
              <a:spcAft>
                <a:spcPts val="400"/>
              </a:spcAft>
            </a:pPr>
            <a:r>
              <a:rPr lang="en-US" sz="650" i="1">
                <a:latin typeface="Avenir Next LT Pro" panose="020B0504020202020204" pitchFamily="34" charset="0"/>
              </a:rPr>
              <a:t>The contents of this presentation are confidential and for discussion purposes only. The delivery of this presentation and its contents do not constitute an offer of securities in any existing or to-be-formed issuer or a solicitation of an offer to purchase any such securities by any person.  Offers of securities will only be made by delivery of a Confidential Private Placement Memorandum.  </a:t>
            </a:r>
          </a:p>
          <a:p>
            <a:pPr algn="just" eaLnBrk="0" hangingPunct="0"/>
            <a:r>
              <a:rPr lang="en-US" sz="650" i="1">
                <a:latin typeface="Avenir Next LT Pro" panose="020B0504020202020204" pitchFamily="34" charset="0"/>
              </a:rPr>
              <a:t>The materials herein are confidential and proprietary.  Accordingly, this presentation is to be treated as strictly confidential and not disclosed, directly or indirectly, to any party other than the person to whom it has been delivered and such person’s professional advisors.  Any distribution of this presentation, in whole or in part, or the divulgence of any of its contents, is unauthorized. Past performance is not an indication of future results, and no representation or warranty is made as to the returns which may be experienced by an investor.</a:t>
            </a:r>
          </a:p>
          <a:p>
            <a:pPr algn="just" eaLnBrk="0" hangingPunct="0"/>
            <a:endParaRPr lang="en-US" sz="650" i="1">
              <a:latin typeface="Avenir Next LT Pro" panose="020B0504020202020204" pitchFamily="34" charset="0"/>
            </a:endParaRPr>
          </a:p>
          <a:p>
            <a:pPr algn="just" eaLnBrk="0" hangingPunct="0"/>
            <a:r>
              <a:rPr lang="en-US" sz="650" i="1">
                <a:latin typeface="Avenir Next LT Pro" panose="020B0504020202020204" pitchFamily="34" charset="0"/>
              </a:rPr>
              <a:t>The information in this presentation contains forward-looking statements regarding future events, targets or expectations. The commercial real estate market is volatile and unpredictable. There are no guarantees that the historical performance of an investment, Portfolio, or asset class will have a direct correlation with its future performance. The information in this presentation is based on current market conditions, which will fluctuate and may be superseded by subsequent market events or for other reasons.</a:t>
            </a:r>
          </a:p>
        </p:txBody>
      </p:sp>
      <p:sp>
        <p:nvSpPr>
          <p:cNvPr id="5" name="Subtitle 4"/>
          <p:cNvSpPr>
            <a:spLocks noGrp="1"/>
          </p:cNvSpPr>
          <p:nvPr>
            <p:ph type="subTitle" idx="1"/>
          </p:nvPr>
        </p:nvSpPr>
        <p:spPr>
          <a:xfrm>
            <a:off x="158338" y="4735007"/>
            <a:ext cx="8839200" cy="533400"/>
          </a:xfrm>
        </p:spPr>
        <p:txBody>
          <a:bodyPr>
            <a:normAutofit/>
          </a:bodyPr>
          <a:lstStyle/>
          <a:p>
            <a:endParaRPr lang="en-US" sz="1600">
              <a:latin typeface="Avenir Next LT Pro" panose="020B0504020202020204" pitchFamily="34" charset="0"/>
            </a:endParaRPr>
          </a:p>
        </p:txBody>
      </p:sp>
      <p:sp>
        <p:nvSpPr>
          <p:cNvPr id="3" name="TextBox 2">
            <a:extLst>
              <a:ext uri="{FF2B5EF4-FFF2-40B4-BE49-F238E27FC236}">
                <a16:creationId xmlns:a16="http://schemas.microsoft.com/office/drawing/2014/main" id="{59638BFF-4FC7-3F12-DDB4-5547AEC40B4E}"/>
              </a:ext>
            </a:extLst>
          </p:cNvPr>
          <p:cNvSpPr txBox="1"/>
          <p:nvPr/>
        </p:nvSpPr>
        <p:spPr>
          <a:xfrm>
            <a:off x="153794" y="3949859"/>
            <a:ext cx="8848288" cy="609600"/>
          </a:xfrm>
          <a:prstGeom prst="rect">
            <a:avLst/>
          </a:prstGeom>
          <a:noFill/>
          <a:ln w="6350">
            <a:noFill/>
          </a:ln>
          <a:effectLst/>
        </p:spPr>
        <p:txBody>
          <a:bodyPr vert="horz" wrap="square" lIns="73152" tIns="42203" rIns="73152" bIns="42203" rtlCol="0" anchor="ctr" anchorCtr="0">
            <a:noAutofit/>
          </a:bodyPr>
          <a:lstStyle/>
          <a:p>
            <a:pPr algn="ctr"/>
            <a:r>
              <a:rPr lang="en-US" sz="2400" dirty="0">
                <a:latin typeface="Avenir Next LT Pro Demi" panose="020B0704020202020204" pitchFamily="34" charset="0"/>
              </a:rPr>
              <a:t>Restoration Hardware </a:t>
            </a:r>
            <a:r>
              <a:rPr lang="en-US" sz="2400">
                <a:latin typeface="Avenir Next LT Pro Demi" panose="020B0704020202020204" pitchFamily="34" charset="0"/>
              </a:rPr>
              <a:t>(RH) Stock </a:t>
            </a:r>
            <a:r>
              <a:rPr lang="en-US" sz="2400" dirty="0">
                <a:latin typeface="Avenir Next LT Pro Demi" panose="020B0704020202020204" pitchFamily="34" charset="0"/>
              </a:rPr>
              <a:t>Pitch</a:t>
            </a:r>
          </a:p>
        </p:txBody>
      </p:sp>
      <p:pic>
        <p:nvPicPr>
          <p:cNvPr id="4" name="Picture 3">
            <a:extLst>
              <a:ext uri="{FF2B5EF4-FFF2-40B4-BE49-F238E27FC236}">
                <a16:creationId xmlns:a16="http://schemas.microsoft.com/office/drawing/2014/main" id="{18A7F065-9AC5-5E17-3645-8A09D7A7ABF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45920" y="911357"/>
            <a:ext cx="5852160" cy="1539915"/>
          </a:xfrm>
          <a:prstGeom prst="rect">
            <a:avLst/>
          </a:prstGeom>
        </p:spPr>
      </p:pic>
    </p:spTree>
    <p:extLst>
      <p:ext uri="{BB962C8B-B14F-4D97-AF65-F5344CB8AC3E}">
        <p14:creationId xmlns:p14="http://schemas.microsoft.com/office/powerpoint/2010/main" val="26276087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4A3F6-56BE-9745-691F-5DDCD589A11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84B421E-9E49-3211-883A-EDF9D07FE1F5}"/>
              </a:ext>
            </a:extLst>
          </p:cNvPr>
          <p:cNvSpPr>
            <a:spLocks noGrp="1"/>
          </p:cNvSpPr>
          <p:nvPr>
            <p:ph type="title"/>
          </p:nvPr>
        </p:nvSpPr>
        <p:spPr/>
        <p:txBody>
          <a:bodyPr/>
          <a:lstStyle/>
          <a:p>
            <a:r>
              <a:rPr lang="en-US"/>
              <a:t>Table of Contents</a:t>
            </a:r>
          </a:p>
        </p:txBody>
      </p:sp>
      <p:graphicFrame>
        <p:nvGraphicFramePr>
          <p:cNvPr id="2" name="Table 1">
            <a:extLst>
              <a:ext uri="{FF2B5EF4-FFF2-40B4-BE49-F238E27FC236}">
                <a16:creationId xmlns:a16="http://schemas.microsoft.com/office/drawing/2014/main" id="{B661FD0E-1B52-5132-0BF5-35BE33B1205E}"/>
              </a:ext>
            </a:extLst>
          </p:cNvPr>
          <p:cNvGraphicFramePr>
            <a:graphicFrameLocks noGrp="1"/>
          </p:cNvGraphicFramePr>
          <p:nvPr>
            <p:extLst>
              <p:ext uri="{D42A27DB-BD31-4B8C-83A1-F6EECF244321}">
                <p14:modId xmlns:p14="http://schemas.microsoft.com/office/powerpoint/2010/main" val="4186093786"/>
              </p:ext>
            </p:extLst>
          </p:nvPr>
        </p:nvGraphicFramePr>
        <p:xfrm>
          <a:off x="361461" y="1270173"/>
          <a:ext cx="5164015" cy="3942688"/>
        </p:xfrm>
        <a:graphic>
          <a:graphicData uri="http://schemas.openxmlformats.org/drawingml/2006/table">
            <a:tbl>
              <a:tblPr firstRow="1" bandRow="1">
                <a:tableStyleId>{5940675A-B579-460E-94D1-54222C63F5DA}</a:tableStyleId>
              </a:tblPr>
              <a:tblGrid>
                <a:gridCol w="4258048">
                  <a:extLst>
                    <a:ext uri="{9D8B030D-6E8A-4147-A177-3AD203B41FA5}">
                      <a16:colId xmlns:a16="http://schemas.microsoft.com/office/drawing/2014/main" val="3371369022"/>
                    </a:ext>
                  </a:extLst>
                </a:gridCol>
                <a:gridCol w="905967">
                  <a:extLst>
                    <a:ext uri="{9D8B030D-6E8A-4147-A177-3AD203B41FA5}">
                      <a16:colId xmlns:a16="http://schemas.microsoft.com/office/drawing/2014/main" val="3756833042"/>
                    </a:ext>
                  </a:extLst>
                </a:gridCol>
              </a:tblGrid>
              <a:tr h="829499">
                <a:tc>
                  <a:txBody>
                    <a:bodyPr/>
                    <a:lstStyle/>
                    <a:p>
                      <a:r>
                        <a:rPr lang="en-US" sz="1400" b="1">
                          <a:solidFill>
                            <a:schemeClr val="tx1"/>
                          </a:solidFill>
                        </a:rPr>
                        <a:t>Section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400" b="1">
                          <a:solidFill>
                            <a:schemeClr val="tx1"/>
                          </a:solidFill>
                        </a:rPr>
                        <a:t>Page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23660340"/>
                  </a:ext>
                </a:extLst>
              </a:tr>
              <a:tr h="829499">
                <a:tc>
                  <a:txBody>
                    <a:bodyPr/>
                    <a:lstStyle/>
                    <a:p>
                      <a:r>
                        <a:rPr lang="en-US" sz="1400">
                          <a:solidFill>
                            <a:schemeClr val="bg1">
                              <a:lumMod val="50000"/>
                            </a:schemeClr>
                          </a:solidFill>
                        </a:rPr>
                        <a:t>1.  Investment Thesis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58414655"/>
                  </a:ext>
                </a:extLst>
              </a:tr>
              <a:tr h="829499">
                <a:tc>
                  <a:txBody>
                    <a:bodyPr/>
                    <a:lstStyle/>
                    <a:p>
                      <a:r>
                        <a:rPr lang="en-US" sz="1400">
                          <a:solidFill>
                            <a:schemeClr val="bg1">
                              <a:lumMod val="50000"/>
                            </a:schemeClr>
                          </a:solidFill>
                        </a:rPr>
                        <a:t>2.  Stock Overview</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6</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220369599"/>
                  </a:ext>
                </a:extLst>
              </a:tr>
              <a:tr h="1454191">
                <a:tc>
                  <a:txBody>
                    <a:bodyPr/>
                    <a:lstStyle/>
                    <a:p>
                      <a:pPr marL="228600" indent="-228600">
                        <a:buAutoNum type="arabicPeriod" startAt="3"/>
                      </a:pPr>
                      <a:r>
                        <a:rPr lang="en-US" sz="1400">
                          <a:solidFill>
                            <a:schemeClr val="bg1">
                              <a:lumMod val="50000"/>
                            </a:schemeClr>
                          </a:solidFill>
                        </a:rPr>
                        <a:t>Valuation &amp; Returns</a:t>
                      </a: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r>
                        <a:rPr lang="en-US" sz="1400">
                          <a:solidFill>
                            <a:schemeClr val="bg1">
                              <a:lumMod val="50000"/>
                            </a:schemeClr>
                          </a:solidFill>
                        </a:rPr>
                        <a:t>Competitors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13</a:t>
                      </a: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17</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75359035"/>
                  </a:ext>
                </a:extLst>
              </a:tr>
            </a:tbl>
          </a:graphicData>
        </a:graphic>
      </p:graphicFrame>
    </p:spTree>
    <p:extLst>
      <p:ext uri="{BB962C8B-B14F-4D97-AF65-F5344CB8AC3E}">
        <p14:creationId xmlns:p14="http://schemas.microsoft.com/office/powerpoint/2010/main" val="39147151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4F2F2-7CB4-C805-D8CF-2A95F47E6D33}"/>
              </a:ext>
            </a:extLst>
          </p:cNvPr>
          <p:cNvSpPr>
            <a:spLocks noGrp="1"/>
          </p:cNvSpPr>
          <p:nvPr>
            <p:ph type="title"/>
          </p:nvPr>
        </p:nvSpPr>
        <p:spPr/>
        <p:txBody>
          <a:bodyPr/>
          <a:lstStyle/>
          <a:p>
            <a:r>
              <a:rPr lang="en-US"/>
              <a:t>Investment thesis</a:t>
            </a:r>
          </a:p>
        </p:txBody>
      </p:sp>
    </p:spTree>
    <p:extLst>
      <p:ext uri="{BB962C8B-B14F-4D97-AF65-F5344CB8AC3E}">
        <p14:creationId xmlns:p14="http://schemas.microsoft.com/office/powerpoint/2010/main" val="345621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92443"/>
          </a:xfrm>
          <a:prstGeom prst="rect">
            <a:avLst/>
          </a:prstGeom>
          <a:noFill/>
        </p:spPr>
        <p:txBody>
          <a:bodyPr wrap="square">
            <a:spAutoFit/>
          </a:bodyPr>
          <a:lstStyle/>
          <a:p>
            <a:r>
              <a:rPr sz="2600" b="0" dirty="0">
                <a:latin typeface="Avenir Next LT Pro Demi"/>
              </a:rPr>
              <a:t>Recommendation: Buy</a:t>
            </a:r>
          </a:p>
        </p:txBody>
      </p:sp>
      <p:sp>
        <p:nvSpPr>
          <p:cNvPr id="4" name="Rectangle 3"/>
          <p:cNvSpPr/>
          <p:nvPr/>
        </p:nvSpPr>
        <p:spPr>
          <a:xfrm>
            <a:off x="457200" y="995363"/>
            <a:ext cx="8229600" cy="868680"/>
          </a:xfrm>
          <a:prstGeom prst="rect">
            <a:avLst/>
          </a:prstGeom>
          <a:solidFill>
            <a:srgbClr val="AF8C49"/>
          </a:solidFill>
          <a:ln>
            <a:noFill/>
          </a:ln>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r>
              <a:rPr sz="1500" b="0" dirty="0">
                <a:solidFill>
                  <a:srgbClr val="FFFFFF"/>
                </a:solidFill>
                <a:latin typeface="Avenir Next LT Pro"/>
              </a:rPr>
              <a:t>Current ~$</a:t>
            </a:r>
            <a:r>
              <a:rPr lang="en-US" sz="1500" dirty="0">
                <a:solidFill>
                  <a:srgbClr val="FFFFFF"/>
                </a:solidFill>
                <a:latin typeface="Avenir Next LT Pro"/>
              </a:rPr>
              <a:t>166</a:t>
            </a:r>
            <a:r>
              <a:rPr sz="1500" b="0" dirty="0">
                <a:solidFill>
                  <a:srgbClr val="9AB0C4"/>
                </a:solidFill>
                <a:latin typeface="Avenir Next LT Pro"/>
              </a:rPr>
              <a:t>     →     </a:t>
            </a:r>
            <a:r>
              <a:rPr sz="1700" b="1" dirty="0">
                <a:solidFill>
                  <a:srgbClr val="FFFFFF"/>
                </a:solidFill>
                <a:latin typeface="Avenir Next LT Pro Demi"/>
              </a:rPr>
              <a:t>Fair Value ~$240</a:t>
            </a:r>
            <a:r>
              <a:rPr sz="1200" b="0" dirty="0">
                <a:solidFill>
                  <a:srgbClr val="9AB0C4"/>
                </a:solidFill>
                <a:latin typeface="Avenir Next LT Pro"/>
              </a:rPr>
              <a:t>  </a:t>
            </a:r>
            <a:r>
              <a:rPr sz="1200" b="0" dirty="0">
                <a:solidFill>
                  <a:schemeClr val="bg1"/>
                </a:solidFill>
                <a:latin typeface="Avenir Next LT Pro"/>
              </a:rPr>
              <a:t>(today)</a:t>
            </a:r>
          </a:p>
          <a:p>
            <a:pPr algn="l"/>
            <a:r>
              <a:rPr sz="1100" b="0" dirty="0">
                <a:solidFill>
                  <a:schemeClr val="bg1"/>
                </a:solidFill>
                <a:latin typeface="Avenir Next LT Pro"/>
              </a:rPr>
              <a:t>~</a:t>
            </a:r>
            <a:r>
              <a:rPr lang="en-US" sz="1100" b="0" dirty="0">
                <a:solidFill>
                  <a:schemeClr val="bg1"/>
                </a:solidFill>
                <a:latin typeface="Avenir Next LT Pro"/>
              </a:rPr>
              <a:t>45</a:t>
            </a:r>
            <a:r>
              <a:rPr sz="1100" b="0" dirty="0">
                <a:solidFill>
                  <a:schemeClr val="bg1"/>
                </a:solidFill>
                <a:latin typeface="Avenir Next LT Pro"/>
              </a:rPr>
              <a:t>% upside to fair value   ·   FY2027E base target ~$310 (~28% IRR)   ·   Prob-weighted ~$</a:t>
            </a:r>
            <a:r>
              <a:rPr lang="en-US" sz="1100" b="0" dirty="0">
                <a:solidFill>
                  <a:schemeClr val="bg1"/>
                </a:solidFill>
                <a:latin typeface="Avenir Next LT Pro"/>
              </a:rPr>
              <a:t>285</a:t>
            </a:r>
            <a:endParaRPr sz="1100" b="0" dirty="0">
              <a:solidFill>
                <a:schemeClr val="bg1"/>
              </a:solidFill>
              <a:latin typeface="Avenir Next LT Pro"/>
            </a:endParaRPr>
          </a:p>
        </p:txBody>
      </p:sp>
      <p:sp>
        <p:nvSpPr>
          <p:cNvPr id="5" name="Rectangle 4"/>
          <p:cNvSpPr/>
          <p:nvPr/>
        </p:nvSpPr>
        <p:spPr>
          <a:xfrm>
            <a:off x="457200" y="2240280"/>
            <a:ext cx="2651760" cy="914400"/>
          </a:xfrm>
          <a:prstGeom prst="rect">
            <a:avLst/>
          </a:prstGeom>
          <a:solidFill>
            <a:srgbClr val="E8E8E8"/>
          </a:solidFill>
          <a:ln w="19050">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BEAR · </a:t>
            </a:r>
            <a:r>
              <a:rPr lang="en-US" sz="1000" b="1" dirty="0">
                <a:solidFill>
                  <a:srgbClr val="5A5A5A"/>
                </a:solidFill>
                <a:latin typeface="Avenir Next LT Pro Demi"/>
              </a:rPr>
              <a:t>30</a:t>
            </a:r>
            <a:r>
              <a:rPr sz="1000" b="1" dirty="0">
                <a:solidFill>
                  <a:srgbClr val="5A5A5A"/>
                </a:solidFill>
                <a:latin typeface="Avenir Next LT Pro Demi"/>
              </a:rPr>
              <a:t>%</a:t>
            </a:r>
          </a:p>
          <a:p>
            <a:pPr algn="ctr"/>
            <a:r>
              <a:rPr sz="2400" b="1" dirty="0">
                <a:solidFill>
                  <a:srgbClr val="E97132"/>
                </a:solidFill>
                <a:latin typeface="Avenir Next LT Pro Demi"/>
              </a:rPr>
              <a:t>~$100</a:t>
            </a:r>
          </a:p>
        </p:txBody>
      </p:sp>
      <p:sp>
        <p:nvSpPr>
          <p:cNvPr id="6" name="Rectangle 5"/>
          <p:cNvSpPr/>
          <p:nvPr/>
        </p:nvSpPr>
        <p:spPr>
          <a:xfrm>
            <a:off x="3246120" y="2240280"/>
            <a:ext cx="2651760" cy="914400"/>
          </a:xfrm>
          <a:prstGeom prst="rect">
            <a:avLst/>
          </a:prstGeom>
          <a:solidFill>
            <a:srgbClr val="E8E8E8"/>
          </a:solidFill>
          <a:ln w="19050">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BASE · 5</a:t>
            </a:r>
            <a:r>
              <a:rPr lang="en-US" sz="1000" b="1" dirty="0">
                <a:solidFill>
                  <a:srgbClr val="5A5A5A"/>
                </a:solidFill>
                <a:latin typeface="Avenir Next LT Pro Demi"/>
              </a:rPr>
              <a:t>5</a:t>
            </a:r>
            <a:r>
              <a:rPr sz="1000" b="1" dirty="0">
                <a:solidFill>
                  <a:srgbClr val="5A5A5A"/>
                </a:solidFill>
                <a:latin typeface="Avenir Next LT Pro Demi"/>
              </a:rPr>
              <a:t>%</a:t>
            </a:r>
          </a:p>
          <a:p>
            <a:pPr algn="ctr"/>
            <a:r>
              <a:rPr sz="2400" b="1" dirty="0">
                <a:solidFill>
                  <a:srgbClr val="156082"/>
                </a:solidFill>
                <a:latin typeface="Avenir Next LT Pro Demi"/>
              </a:rPr>
              <a:t>~$310</a:t>
            </a:r>
            <a:r>
              <a:rPr lang="en-US" sz="2400" b="1" dirty="0">
                <a:solidFill>
                  <a:srgbClr val="156082"/>
                </a:solidFill>
                <a:latin typeface="Avenir Next LT Pro Demi"/>
              </a:rPr>
              <a:t/>
            </a:r>
            <a:endParaRPr sz="2400" b="1" dirty="0">
              <a:solidFill>
                <a:srgbClr val="156082"/>
              </a:solidFill>
              <a:latin typeface="Avenir Next LT Pro Demi"/>
            </a:endParaRPr>
          </a:p>
        </p:txBody>
      </p:sp>
      <p:sp>
        <p:nvSpPr>
          <p:cNvPr id="7" name="Rectangle 6"/>
          <p:cNvSpPr/>
          <p:nvPr/>
        </p:nvSpPr>
        <p:spPr>
          <a:xfrm>
            <a:off x="6035040" y="2240280"/>
            <a:ext cx="2651760" cy="914400"/>
          </a:xfrm>
          <a:prstGeom prst="rect">
            <a:avLst/>
          </a:prstGeom>
          <a:solidFill>
            <a:srgbClr val="E8E8E8"/>
          </a:solidFill>
          <a:ln w="19050">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BULL · </a:t>
            </a:r>
            <a:r>
              <a:rPr lang="en-US" sz="1000" b="1" dirty="0">
                <a:solidFill>
                  <a:srgbClr val="5A5A5A"/>
                </a:solidFill>
                <a:latin typeface="Avenir Next LT Pro Demi"/>
              </a:rPr>
              <a:t>15</a:t>
            </a:r>
            <a:r>
              <a:rPr sz="1000" b="1" dirty="0">
                <a:solidFill>
                  <a:srgbClr val="5A5A5A"/>
                </a:solidFill>
                <a:latin typeface="Avenir Next LT Pro Demi"/>
              </a:rPr>
              <a:t>%</a:t>
            </a:r>
          </a:p>
          <a:p>
            <a:pPr algn="ctr"/>
            <a:r>
              <a:rPr sz="2400" b="1">
                <a:solidFill>
                  <a:srgbClr val="196B24"/>
                </a:solidFill>
                <a:latin typeface="Avenir Next LT Pro Demi"/>
              </a:rPr>
              <a:t>~$562</a:t>
            </a:r>
            <a:r>
              <a:rPr lang="en-US" sz="2400" b="1">
                <a:solidFill>
                  <a:srgbClr val="196B24"/>
                </a:solidFill>
                <a:latin typeface="Avenir Next LT Pro Demi"/>
              </a:rPr>
              <a:t/>
            </a:r>
            <a:endParaRPr sz="2400" b="1" dirty="0">
              <a:solidFill>
                <a:srgbClr val="196B24"/>
              </a:solidFill>
              <a:latin typeface="Avenir Next LT Pro Demi"/>
            </a:endParaRPr>
          </a:p>
        </p:txBody>
      </p:sp>
      <p:sp>
        <p:nvSpPr>
          <p:cNvPr id="8" name="Rectangle 7"/>
          <p:cNvSpPr/>
          <p:nvPr/>
        </p:nvSpPr>
        <p:spPr>
          <a:xfrm>
            <a:off x="457200" y="3429000"/>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1792" y="3410712"/>
            <a:ext cx="3776472" cy="1049005"/>
          </a:xfrm>
          <a:prstGeom prst="rect">
            <a:avLst/>
          </a:prstGeom>
          <a:noFill/>
        </p:spPr>
        <p:txBody>
          <a:bodyPr wrap="square">
            <a:spAutoFit/>
          </a:bodyPr>
          <a:lstStyle/>
          <a:p>
            <a:r>
              <a:rPr sz="1350" b="1" dirty="0">
                <a:latin typeface="Avenir Next LT Pro Demi"/>
              </a:rPr>
              <a:t>Bet on the operator</a:t>
            </a:r>
          </a:p>
          <a:p>
            <a:pPr marL="171450" indent="-171450">
              <a:spcBef>
                <a:spcPts val="200"/>
              </a:spcBef>
              <a:buFont typeface="Arial" panose="020B0604020202020204" pitchFamily="34" charset="0"/>
              <a:buChar char="•"/>
            </a:pPr>
            <a:r>
              <a:rPr sz="1050" b="0" dirty="0">
                <a:latin typeface="Avenir Next LT Pro"/>
              </a:rPr>
              <a:t>Friedman took Pottery Barn from $50M to $1B+ </a:t>
            </a:r>
            <a:endParaRPr lang="en-US" sz="1050" b="0" dirty="0">
              <a:latin typeface="Avenir Next LT Pro"/>
            </a:endParaRPr>
          </a:p>
          <a:p>
            <a:pPr marL="171450" indent="-171450">
              <a:spcBef>
                <a:spcPts val="200"/>
              </a:spcBef>
              <a:buFont typeface="Arial" panose="020B0604020202020204" pitchFamily="34" charset="0"/>
              <a:buChar char="•"/>
            </a:pPr>
            <a:r>
              <a:rPr lang="en-US" sz="1050" dirty="0">
                <a:latin typeface="Avenir Next LT Pro"/>
              </a:rPr>
              <a:t>B</a:t>
            </a:r>
            <a:r>
              <a:rPr sz="1050" b="0" dirty="0">
                <a:latin typeface="Avenir Next LT Pro"/>
              </a:rPr>
              <a:t>uilt the Gallery model</a:t>
            </a:r>
            <a:endParaRPr lang="en-US" sz="1050" b="0" dirty="0">
              <a:latin typeface="Avenir Next LT Pro"/>
            </a:endParaRPr>
          </a:p>
          <a:p>
            <a:pPr marL="171450" indent="-171450">
              <a:spcBef>
                <a:spcPts val="200"/>
              </a:spcBef>
              <a:buFont typeface="Arial" panose="020B0604020202020204" pitchFamily="34" charset="0"/>
              <a:buChar char="•"/>
            </a:pPr>
            <a:r>
              <a:rPr lang="en-US" sz="1050" b="0" dirty="0">
                <a:latin typeface="Avenir Next LT Pro"/>
              </a:rPr>
              <a:t>Owns ~25%; </a:t>
            </a:r>
            <a:r>
              <a:rPr sz="1050" b="0" dirty="0">
                <a:latin typeface="Avenir Next LT Pro"/>
              </a:rPr>
              <a:t>bought ~$10M more at ~$216 (Jun 2024)</a:t>
            </a:r>
            <a:endParaRPr lang="en-US" sz="1050" b="0" dirty="0">
              <a:latin typeface="Avenir Next LT Pro"/>
            </a:endParaRPr>
          </a:p>
          <a:p>
            <a:pPr marL="171450" indent="-171450">
              <a:spcBef>
                <a:spcPts val="200"/>
              </a:spcBef>
              <a:buFont typeface="Arial" panose="020B0604020202020204" pitchFamily="34" charset="0"/>
              <a:buChar char="•"/>
            </a:pPr>
            <a:r>
              <a:rPr lang="en-US" sz="1050" dirty="0">
                <a:latin typeface="Avenir Next LT Pro"/>
              </a:rPr>
              <a:t>O</a:t>
            </a:r>
            <a:r>
              <a:rPr sz="1050" b="0" dirty="0">
                <a:latin typeface="Avenir Next LT Pro"/>
              </a:rPr>
              <a:t>perator bet, not a macro bet</a:t>
            </a:r>
          </a:p>
        </p:txBody>
      </p:sp>
      <p:sp>
        <p:nvSpPr>
          <p:cNvPr id="10" name="Rectangle 9"/>
          <p:cNvSpPr/>
          <p:nvPr/>
        </p:nvSpPr>
        <p:spPr>
          <a:xfrm>
            <a:off x="4709159" y="3429000"/>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873751" y="3410712"/>
            <a:ext cx="3776472" cy="836126"/>
          </a:xfrm>
          <a:prstGeom prst="rect">
            <a:avLst/>
          </a:prstGeom>
          <a:noFill/>
        </p:spPr>
        <p:txBody>
          <a:bodyPr wrap="square">
            <a:spAutoFit/>
          </a:bodyPr>
          <a:lstStyle/>
          <a:p>
            <a:r>
              <a:rPr sz="1350" b="1" dirty="0">
                <a:latin typeface="Avenir Next LT Pro Demi"/>
              </a:rPr>
              <a:t>Estates </a:t>
            </a:r>
            <a:r>
              <a:rPr lang="en-US" sz="1350" b="1" dirty="0">
                <a:latin typeface="Avenir Next LT Pro Demi"/>
              </a:rPr>
              <a:t>targets the rate-immune buyer</a:t>
            </a:r>
            <a:endParaRPr sz="1350" b="1" dirty="0">
              <a:latin typeface="Avenir Next LT Pro Demi"/>
            </a:endParaRPr>
          </a:p>
          <a:p>
            <a:pPr marL="171450" indent="-171450">
              <a:spcBef>
                <a:spcPts val="200"/>
              </a:spcBef>
              <a:buFont typeface="Arial" panose="020B0604020202020204" pitchFamily="34" charset="0"/>
              <a:buChar char="•"/>
            </a:pPr>
            <a:r>
              <a:rPr sz="1050" b="0" dirty="0">
                <a:latin typeface="Avenir Next LT Pro"/>
              </a:rPr>
              <a:t>Targets rate-insensitive cash buyers at $20K+ pieces</a:t>
            </a:r>
            <a:endParaRPr lang="en-US" sz="1050" b="0" dirty="0">
              <a:latin typeface="Avenir Next LT Pro"/>
            </a:endParaRPr>
          </a:p>
          <a:p>
            <a:pPr marL="171450" indent="-171450">
              <a:spcBef>
                <a:spcPts val="200"/>
              </a:spcBef>
              <a:buFont typeface="Arial" panose="020B0604020202020204" pitchFamily="34" charset="0"/>
              <a:buChar char="•"/>
            </a:pPr>
            <a:r>
              <a:rPr sz="1050" b="0" dirty="0">
                <a:latin typeface="Avenir Next LT Pro"/>
              </a:rPr>
              <a:t>In galleries covering 60–65% of the business by Sept 2026</a:t>
            </a:r>
          </a:p>
        </p:txBody>
      </p:sp>
      <p:sp>
        <p:nvSpPr>
          <p:cNvPr id="12" name="Rectangle 11"/>
          <p:cNvSpPr/>
          <p:nvPr/>
        </p:nvSpPr>
        <p:spPr>
          <a:xfrm>
            <a:off x="457200" y="4727448"/>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21792" y="4709160"/>
            <a:ext cx="3776472" cy="836126"/>
          </a:xfrm>
          <a:prstGeom prst="rect">
            <a:avLst/>
          </a:prstGeom>
          <a:noFill/>
        </p:spPr>
        <p:txBody>
          <a:bodyPr wrap="square">
            <a:spAutoFit/>
          </a:bodyPr>
          <a:lstStyle/>
          <a:p>
            <a:r>
              <a:rPr sz="1350" b="1" dirty="0">
                <a:latin typeface="Avenir Next LT Pro Demi"/>
              </a:rPr>
              <a:t>Housing recovery = free upside</a:t>
            </a:r>
          </a:p>
          <a:p>
            <a:pPr marL="171450" indent="-171450">
              <a:spcBef>
                <a:spcPts val="200"/>
              </a:spcBef>
              <a:buFont typeface="Arial" panose="020B0604020202020204" pitchFamily="34" charset="0"/>
              <a:buChar char="•"/>
            </a:pPr>
            <a:r>
              <a:rPr sz="1050" b="0" dirty="0">
                <a:latin typeface="Avenir Next LT Pro"/>
              </a:rPr>
              <a:t>Base case assumes no recovery</a:t>
            </a:r>
            <a:endParaRPr lang="en-US" sz="1050" dirty="0">
              <a:latin typeface="Avenir Next LT Pro"/>
            </a:endParaRPr>
          </a:p>
          <a:p>
            <a:pPr marL="171450" indent="-171450">
              <a:spcBef>
                <a:spcPts val="200"/>
              </a:spcBef>
              <a:buFont typeface="Arial" panose="020B0604020202020204" pitchFamily="34" charset="0"/>
              <a:buChar char="•"/>
            </a:pPr>
            <a:r>
              <a:rPr sz="1050" b="0" dirty="0">
                <a:latin typeface="Avenir Next LT Pro"/>
              </a:rPr>
              <a:t>If rates ease, a fixed cost base drives an earnings inflection that isn't priced in</a:t>
            </a:r>
          </a:p>
        </p:txBody>
      </p:sp>
      <p:sp>
        <p:nvSpPr>
          <p:cNvPr id="14" name="Rectangle 13"/>
          <p:cNvSpPr/>
          <p:nvPr/>
        </p:nvSpPr>
        <p:spPr>
          <a:xfrm>
            <a:off x="4709159" y="4727448"/>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873751" y="4709160"/>
            <a:ext cx="3776472" cy="946413"/>
          </a:xfrm>
          <a:prstGeom prst="rect">
            <a:avLst/>
          </a:prstGeom>
          <a:noFill/>
        </p:spPr>
        <p:txBody>
          <a:bodyPr wrap="square">
            <a:spAutoFit/>
          </a:bodyPr>
          <a:lstStyle/>
          <a:p>
            <a:r>
              <a:rPr sz="1350" b="1" dirty="0">
                <a:latin typeface="Avenir Next LT Pro Demi"/>
              </a:rPr>
              <a:t>Debt is the risk</a:t>
            </a:r>
            <a:endParaRPr lang="en-US" sz="1350" b="1" dirty="0">
              <a:latin typeface="Avenir Next LT Pro Demi"/>
            </a:endParaRPr>
          </a:p>
          <a:p>
            <a:pPr marL="171450" indent="-171450">
              <a:buFont typeface="Arial" panose="020B0604020202020204" pitchFamily="34" charset="0"/>
              <a:buChar char="•"/>
            </a:pPr>
            <a:r>
              <a:rPr sz="1050" b="0" dirty="0">
                <a:latin typeface="Avenir Next LT Pro"/>
              </a:rPr>
              <a:t>~$2.4B net debt at ~4.0× EBITDA, ~$225M/yr interest</a:t>
            </a:r>
            <a:endParaRPr lang="en-US" sz="1050" dirty="0">
              <a:latin typeface="Avenir Next LT Pro"/>
            </a:endParaRPr>
          </a:p>
          <a:p>
            <a:pPr marL="171450" indent="-171450">
              <a:buFont typeface="Arial" panose="020B0604020202020204" pitchFamily="34" charset="0"/>
              <a:buChar char="•"/>
            </a:pPr>
            <a:r>
              <a:rPr sz="1050" b="0" dirty="0">
                <a:latin typeface="Avenir Next LT Pro"/>
              </a:rPr>
              <a:t>FCF inflected to +$252M in FY25</a:t>
            </a:r>
            <a:endParaRPr lang="en-US" sz="1050" b="0" dirty="0">
              <a:latin typeface="Avenir Next LT Pro"/>
            </a:endParaRPr>
          </a:p>
          <a:p>
            <a:pPr marL="171450" indent="-171450">
              <a:buFont typeface="Arial" panose="020B0604020202020204" pitchFamily="34" charset="0"/>
              <a:buChar char="•"/>
            </a:pPr>
            <a:r>
              <a:rPr lang="en-US" sz="1050" dirty="0">
                <a:latin typeface="Avenir Next LT Pro"/>
              </a:rPr>
              <a:t>P</a:t>
            </a:r>
            <a:r>
              <a:rPr sz="1050" b="0" dirty="0">
                <a:latin typeface="Avenir Next LT Pro"/>
              </a:rPr>
              <a:t>rolonged freeze tightens the balance sheet — size accordingly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F9AC4-5F7C-A2D7-D6B4-5016F0DAC4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35ACC6-6C7A-527D-E401-ADAD448F3BB9}"/>
              </a:ext>
            </a:extLst>
          </p:cNvPr>
          <p:cNvSpPr>
            <a:spLocks noGrp="1"/>
          </p:cNvSpPr>
          <p:nvPr>
            <p:ph type="title"/>
          </p:nvPr>
        </p:nvSpPr>
        <p:spPr/>
        <p:txBody>
          <a:bodyPr/>
          <a:lstStyle/>
          <a:p>
            <a:r>
              <a:rPr lang="en-US"/>
              <a:t>Stock</a:t>
            </a:r>
            <a:br>
              <a:rPr lang="en-US"/>
            </a:br>
            <a:r>
              <a:rPr lang="en-US" sz="1800"/>
              <a:t>Overview</a:t>
            </a:r>
          </a:p>
        </p:txBody>
      </p:sp>
    </p:spTree>
    <p:extLst>
      <p:ext uri="{BB962C8B-B14F-4D97-AF65-F5344CB8AC3E}">
        <p14:creationId xmlns:p14="http://schemas.microsoft.com/office/powerpoint/2010/main" val="3862385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Financial Performance — Trough to Recovery</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94982956"/>
              </p:ext>
            </p:extLst>
          </p:nvPr>
        </p:nvGraphicFramePr>
        <p:xfrm>
          <a:off x="457200" y="1417320"/>
          <a:ext cx="8229600" cy="3456432"/>
        </p:xfrm>
        <a:graphic>
          <a:graphicData uri="http://schemas.openxmlformats.org/drawingml/2006/table">
            <a:tbl>
              <a:tblPr>
                <a:tableStyleId>{5C22544A-7EE6-4342-B048-85BDC9FD1C3A}</a:tableStyleId>
              </a:tblPr>
              <a:tblGrid>
                <a:gridCol w="2377440">
                  <a:extLst>
                    <a:ext uri="{9D8B030D-6E8A-4147-A177-3AD203B41FA5}">
                      <a16:colId xmlns:a16="http://schemas.microsoft.com/office/drawing/2014/main" val="20000"/>
                    </a:ext>
                  </a:extLst>
                </a:gridCol>
                <a:gridCol w="1170432">
                  <a:extLst>
                    <a:ext uri="{9D8B030D-6E8A-4147-A177-3AD203B41FA5}">
                      <a16:colId xmlns:a16="http://schemas.microsoft.com/office/drawing/2014/main" val="20001"/>
                    </a:ext>
                  </a:extLst>
                </a:gridCol>
                <a:gridCol w="1170432">
                  <a:extLst>
                    <a:ext uri="{9D8B030D-6E8A-4147-A177-3AD203B41FA5}">
                      <a16:colId xmlns:a16="http://schemas.microsoft.com/office/drawing/2014/main" val="20002"/>
                    </a:ext>
                  </a:extLst>
                </a:gridCol>
                <a:gridCol w="1170432">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gridCol w="1170432">
                  <a:extLst>
                    <a:ext uri="{9D8B030D-6E8A-4147-A177-3AD203B41FA5}">
                      <a16:colId xmlns:a16="http://schemas.microsoft.com/office/drawing/2014/main" val="20005"/>
                    </a:ext>
                  </a:extLst>
                </a:gridCol>
              </a:tblGrid>
              <a:tr h="384048">
                <a:tc>
                  <a:txBody>
                    <a:bodyPr/>
                    <a:lstStyle/>
                    <a:p>
                      <a:pPr algn="l"/>
                      <a:r>
                        <a:rPr sz="1050" b="1" i="0" dirty="0">
                          <a:solidFill>
                            <a:srgbClr val="FFFFFF"/>
                          </a:solidFill>
                          <a:latin typeface="Avenir Next LT Pro Demi"/>
                        </a:rPr>
                        <a:t>Metric ($M unless noted)</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FY23</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FY24</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FY25</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FY26E</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FY27E</a:t>
                      </a:r>
                    </a:p>
                  </a:txBody>
                  <a:tcPr marL="73152" marR="73152" marT="18288" marB="18288" anchor="ctr">
                    <a:solidFill>
                      <a:srgbClr val="AF8C49"/>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Revenue</a:t>
                      </a:r>
                    </a:p>
                  </a:txBody>
                  <a:tcPr marL="73152" marR="73152" marT="18288" marB="18288" anchor="ctr">
                    <a:solidFill>
                      <a:srgbClr val="FFFFFF"/>
                    </a:solidFill>
                  </a:tcPr>
                </a:tc>
                <a:tc>
                  <a:txBody>
                    <a:bodyPr/>
                    <a:lstStyle/>
                    <a:p>
                      <a:pPr algn="ctr"/>
                      <a:r>
                        <a:rPr sz="1100" b="0" i="0">
                          <a:solidFill>
                            <a:schemeClr val="tx1"/>
                          </a:solidFill>
                          <a:latin typeface="Avenir Next LT Pro"/>
                        </a:rPr>
                        <a:t>3,032</a:t>
                      </a:r>
                    </a:p>
                  </a:txBody>
                  <a:tcPr marL="73152" marR="73152" marT="18288" marB="18288" anchor="ctr">
                    <a:solidFill>
                      <a:srgbClr val="FFFFFF"/>
                    </a:solidFill>
                  </a:tcPr>
                </a:tc>
                <a:tc>
                  <a:txBody>
                    <a:bodyPr/>
                    <a:lstStyle/>
                    <a:p>
                      <a:pPr algn="ctr"/>
                      <a:r>
                        <a:rPr sz="1100" b="0" i="0">
                          <a:solidFill>
                            <a:schemeClr val="tx1"/>
                          </a:solidFill>
                          <a:latin typeface="Avenir Next LT Pro"/>
                        </a:rPr>
                        <a:t>3,182</a:t>
                      </a:r>
                    </a:p>
                  </a:txBody>
                  <a:tcPr marL="73152" marR="73152" marT="18288" marB="18288" anchor="ctr">
                    <a:solidFill>
                      <a:srgbClr val="FFFFFF"/>
                    </a:solidFill>
                  </a:tcPr>
                </a:tc>
                <a:tc>
                  <a:txBody>
                    <a:bodyPr/>
                    <a:lstStyle/>
                    <a:p>
                      <a:pPr algn="ctr"/>
                      <a:r>
                        <a:rPr sz="1100" b="0" i="0">
                          <a:solidFill>
                            <a:schemeClr val="tx1"/>
                          </a:solidFill>
                          <a:latin typeface="Avenir Next LT Pro"/>
                        </a:rPr>
                        <a:t>3,440</a:t>
                      </a:r>
                    </a:p>
                  </a:txBody>
                  <a:tcPr marL="73152" marR="73152" marT="18288" marB="18288" anchor="ctr">
                    <a:solidFill>
                      <a:srgbClr val="FFFFFF"/>
                    </a:solidFill>
                  </a:tcPr>
                </a:tc>
                <a:tc>
                  <a:txBody>
                    <a:bodyPr/>
                    <a:lstStyle/>
                    <a:p>
                      <a:pPr algn="ctr"/>
                      <a:r>
                        <a:rPr sz="1100" b="0" i="0">
                          <a:solidFill>
                            <a:schemeClr val="tx1"/>
                          </a:solidFill>
                          <a:latin typeface="Avenir Next LT Pro"/>
                        </a:rPr>
                        <a:t>3,780</a:t>
                      </a:r>
                    </a:p>
                  </a:txBody>
                  <a:tcPr marL="73152" marR="73152" marT="18288" marB="18288" anchor="ctr">
                    <a:solidFill>
                      <a:srgbClr val="FFFFFF"/>
                    </a:solidFill>
                  </a:tcPr>
                </a:tc>
                <a:tc>
                  <a:txBody>
                    <a:bodyPr/>
                    <a:lstStyle/>
                    <a:p>
                      <a:pPr algn="ctr"/>
                      <a:r>
                        <a:rPr sz="1100" b="0" i="0">
                          <a:solidFill>
                            <a:schemeClr val="tx1"/>
                          </a:solidFill>
                          <a:latin typeface="Avenir Next LT Pro"/>
                        </a:rPr>
                        <a:t>4,165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dirty="0">
                          <a:solidFill>
                            <a:schemeClr val="tx1"/>
                          </a:solidFill>
                          <a:latin typeface="Avenir Next LT Pro Demi"/>
                        </a:rPr>
                        <a:t>YoY Growth</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a:t>
                      </a:r>
                      <a:r>
                        <a:rPr lang="en-US" sz="1100" b="0" i="0" dirty="0">
                          <a:solidFill>
                            <a:schemeClr val="tx1"/>
                          </a:solidFill>
                          <a:latin typeface="Avenir Next LT Pro"/>
                        </a:rPr>
                        <a:t>5.6</a:t>
                      </a:r>
                      <a:r>
                        <a:rPr sz="1100" b="0" i="0" dirty="0">
                          <a:solidFill>
                            <a:schemeClr val="tx1"/>
                          </a:solidFill>
                          <a:latin typeface="Avenir Next LT Pro"/>
                        </a:rPr>
                        <a:t>%</a:t>
                      </a:r>
                    </a:p>
                  </a:txBody>
                  <a:tcPr marL="73152" marR="73152" marT="18288" marB="18288" anchor="ctr">
                    <a:solidFill>
                      <a:srgbClr val="F4F6F8"/>
                    </a:solidFill>
                  </a:tcPr>
                </a:tc>
                <a:tc>
                  <a:txBody>
                    <a:bodyPr/>
                    <a:lstStyle/>
                    <a:p>
                      <a:pPr algn="ctr"/>
                      <a:r>
                        <a:rPr sz="1100" b="0" i="0">
                          <a:solidFill>
                            <a:schemeClr val="tx1"/>
                          </a:solidFill>
                          <a:latin typeface="Avenir Next LT Pro"/>
                        </a:rPr>
                        <a:t>+4.9%</a:t>
                      </a:r>
                    </a:p>
                  </a:txBody>
                  <a:tcPr marL="73152" marR="73152" marT="18288" marB="18288" anchor="ctr">
                    <a:solidFill>
                      <a:srgbClr val="F4F6F8"/>
                    </a:solidFill>
                  </a:tcPr>
                </a:tc>
                <a:tc>
                  <a:txBody>
                    <a:bodyPr/>
                    <a:lstStyle/>
                    <a:p>
                      <a:pPr algn="ctr"/>
                      <a:r>
                        <a:rPr sz="1100" b="0" i="0">
                          <a:solidFill>
                            <a:schemeClr val="tx1"/>
                          </a:solidFill>
                          <a:latin typeface="Avenir Next LT Pro"/>
                        </a:rPr>
                        <a:t>+8.1%</a:t>
                      </a:r>
                    </a:p>
                  </a:txBody>
                  <a:tcPr marL="73152" marR="73152" marT="18288" marB="18288" anchor="ctr">
                    <a:solidFill>
                      <a:srgbClr val="F4F6F8"/>
                    </a:solidFill>
                  </a:tcPr>
                </a:tc>
                <a:tc>
                  <a:txBody>
                    <a:bodyPr/>
                    <a:lstStyle/>
                    <a:p>
                      <a:pPr algn="ctr"/>
                      <a:r>
                        <a:rPr sz="1100" b="0" i="0">
                          <a:solidFill>
                            <a:schemeClr val="tx1"/>
                          </a:solidFill>
                          <a:latin typeface="Avenir Next LT Pro"/>
                        </a:rPr>
                        <a:t>+9.9%</a:t>
                      </a:r>
                    </a:p>
                  </a:txBody>
                  <a:tcPr marL="73152" marR="73152" marT="18288" marB="18288" anchor="ctr">
                    <a:solidFill>
                      <a:srgbClr val="F4F6F8"/>
                    </a:solidFill>
                  </a:tcPr>
                </a:tc>
                <a:tc>
                  <a:txBody>
                    <a:bodyPr/>
                    <a:lstStyle/>
                    <a:p>
                      <a:pPr algn="ctr"/>
                      <a:r>
                        <a:rPr sz="1100" b="0" i="0">
                          <a:solidFill>
                            <a:schemeClr val="tx1"/>
                          </a:solidFill>
                          <a:latin typeface="Avenir Next LT Pro"/>
                        </a:rPr>
                        <a:t>+10.2%</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dirty="0">
                          <a:solidFill>
                            <a:schemeClr val="tx1"/>
                          </a:solidFill>
                          <a:latin typeface="Avenir Next LT Pro Demi"/>
                        </a:rPr>
                        <a:t>Gross Margin</a:t>
                      </a:r>
                    </a:p>
                  </a:txBody>
                  <a:tcPr marL="73152" marR="73152" marT="18288" marB="18288" anchor="ctr">
                    <a:solidFill>
                      <a:srgbClr val="FFFFFF"/>
                    </a:solidFill>
                  </a:tcPr>
                </a:tc>
                <a:tc>
                  <a:txBody>
                    <a:bodyPr/>
                    <a:lstStyle/>
                    <a:p>
                      <a:pPr algn="ctr"/>
                      <a:r>
                        <a:rPr sz="1100" b="0" i="0">
                          <a:solidFill>
                            <a:schemeClr val="tx1"/>
                          </a:solidFill>
                          <a:latin typeface="Avenir Next LT Pro"/>
                        </a:rPr>
                        <a:t>45.9%</a:t>
                      </a:r>
                    </a:p>
                  </a:txBody>
                  <a:tcPr marL="73152" marR="73152" marT="18288" marB="18288" anchor="ctr">
                    <a:solidFill>
                      <a:srgbClr val="FFFFFF"/>
                    </a:solidFill>
                  </a:tcPr>
                </a:tc>
                <a:tc>
                  <a:txBody>
                    <a:bodyPr/>
                    <a:lstStyle/>
                    <a:p>
                      <a:pPr algn="ctr"/>
                      <a:r>
                        <a:rPr sz="1100" b="0" i="0">
                          <a:solidFill>
                            <a:schemeClr val="tx1"/>
                          </a:solidFill>
                          <a:latin typeface="Avenir Next LT Pro"/>
                        </a:rPr>
                        <a:t>44.5%</a:t>
                      </a:r>
                    </a:p>
                  </a:txBody>
                  <a:tcPr marL="73152" marR="73152" marT="18288" marB="18288" anchor="ctr">
                    <a:solidFill>
                      <a:srgbClr val="FFFFFF"/>
                    </a:solidFill>
                  </a:tcPr>
                </a:tc>
                <a:tc>
                  <a:txBody>
                    <a:bodyPr/>
                    <a:lstStyle/>
                    <a:p>
                      <a:pPr algn="ctr"/>
                      <a:r>
                        <a:rPr sz="1100" b="0" i="0">
                          <a:solidFill>
                            <a:schemeClr val="tx1"/>
                          </a:solidFill>
                          <a:latin typeface="Avenir Next LT Pro"/>
                        </a:rPr>
                        <a:t>44.1%</a:t>
                      </a:r>
                    </a:p>
                  </a:txBody>
                  <a:tcPr marL="73152" marR="73152" marT="18288" marB="18288" anchor="ctr">
                    <a:solidFill>
                      <a:srgbClr val="FFFFFF"/>
                    </a:solidFill>
                  </a:tcPr>
                </a:tc>
                <a:tc>
                  <a:txBody>
                    <a:bodyPr/>
                    <a:lstStyle/>
                    <a:p>
                      <a:pPr algn="ctr"/>
                      <a:r>
                        <a:rPr sz="1100" b="0" i="0">
                          <a:solidFill>
                            <a:schemeClr val="tx1"/>
                          </a:solidFill>
                          <a:latin typeface="Avenir Next LT Pro"/>
                        </a:rPr>
                        <a:t>~45%</a:t>
                      </a:r>
                    </a:p>
                  </a:txBody>
                  <a:tcPr marL="73152" marR="73152" marT="18288" marB="18288" anchor="ctr">
                    <a:solidFill>
                      <a:srgbClr val="FFFFFF"/>
                    </a:solidFill>
                  </a:tcPr>
                </a:tc>
                <a:tc>
                  <a:txBody>
                    <a:bodyPr/>
                    <a:lstStyle/>
                    <a:p>
                      <a:pPr algn="ctr"/>
                      <a:r>
                        <a:rPr sz="1100" b="0" i="0">
                          <a:solidFill>
                            <a:schemeClr val="tx1"/>
                          </a:solidFill>
                          <a:latin typeface="Avenir Next LT Pro"/>
                        </a:rPr>
                        <a:t>~46%</a:t>
                      </a:r>
                    </a:p>
                  </a:txBody>
                  <a:tcPr marL="73152" marR="73152" marT="18288" marB="18288" anchor="ctr">
                    <a:solidFill>
                      <a:srgbClr val="FFFFFF"/>
                    </a:solidFill>
                  </a:tcPr>
                </a:tc>
                <a:extLst>
                  <a:ext uri="{0D108BD9-81ED-4DB2-BD59-A6C34878D82A}">
                    <a16:rowId xmlns:a16="http://schemas.microsoft.com/office/drawing/2014/main" val="10003"/>
                  </a:ext>
                </a:extLst>
              </a:tr>
              <a:tr h="384048">
                <a:tc>
                  <a:txBody>
                    <a:bodyPr/>
                    <a:lstStyle/>
                    <a:p>
                      <a:pPr algn="l"/>
                      <a:r>
                        <a:rPr sz="1100" b="1" i="0" dirty="0">
                          <a:solidFill>
                            <a:schemeClr val="tx1"/>
                          </a:solidFill>
                          <a:latin typeface="Avenir Next LT Pro Demi"/>
                        </a:rPr>
                        <a:t>Adj. EBITDA</a:t>
                      </a:r>
                    </a:p>
                  </a:txBody>
                  <a:tcPr marL="73152" marR="73152" marT="18288" marB="18288" anchor="ctr">
                    <a:solidFill>
                      <a:srgbClr val="F4F6F8"/>
                    </a:solidFill>
                  </a:tcPr>
                </a:tc>
                <a:tc>
                  <a:txBody>
                    <a:bodyPr/>
                    <a:lstStyle/>
                    <a:p>
                      <a:pPr algn="ctr"/>
                      <a:r>
                        <a:rPr sz="1100" b="0" i="0" dirty="0">
                          <a:solidFill>
                            <a:schemeClr val="tx1"/>
                          </a:solidFill>
                          <a:latin typeface="Avenir Next LT Pro"/>
                        </a:rPr>
                        <a:t>512</a:t>
                      </a:r>
                    </a:p>
                  </a:txBody>
                  <a:tcPr marL="73152" marR="73152" marT="18288" marB="18288" anchor="ctr">
                    <a:solidFill>
                      <a:srgbClr val="F4F6F8"/>
                    </a:solidFill>
                  </a:tcPr>
                </a:tc>
                <a:tc>
                  <a:txBody>
                    <a:bodyPr/>
                    <a:lstStyle/>
                    <a:p>
                      <a:pPr algn="ctr"/>
                      <a:r>
                        <a:rPr sz="1100" b="0" i="0">
                          <a:solidFill>
                            <a:schemeClr val="tx1"/>
                          </a:solidFill>
                          <a:latin typeface="Avenir Next LT Pro"/>
                        </a:rPr>
                        <a:t>538</a:t>
                      </a:r>
                    </a:p>
                  </a:txBody>
                  <a:tcPr marL="73152" marR="73152" marT="18288" marB="18288" anchor="ctr">
                    <a:solidFill>
                      <a:srgbClr val="F4F6F8"/>
                    </a:solidFill>
                  </a:tcPr>
                </a:tc>
                <a:tc>
                  <a:txBody>
                    <a:bodyPr/>
                    <a:lstStyle/>
                    <a:p>
                      <a:pPr algn="ctr"/>
                      <a:r>
                        <a:rPr sz="1100" b="0" i="0">
                          <a:solidFill>
                            <a:schemeClr val="tx1"/>
                          </a:solidFill>
                          <a:latin typeface="Avenir Next LT Pro"/>
                        </a:rPr>
                        <a:t>597</a:t>
                      </a:r>
                    </a:p>
                  </a:txBody>
                  <a:tcPr marL="73152" marR="73152" marT="18288" marB="18288" anchor="ctr">
                    <a:solidFill>
                      <a:srgbClr val="F4F6F8"/>
                    </a:solidFill>
                  </a:tcPr>
                </a:tc>
                <a:tc>
                  <a:txBody>
                    <a:bodyPr/>
                    <a:lstStyle/>
                    <a:p>
                      <a:pPr algn="ctr"/>
                      <a:r>
                        <a:rPr sz="1100" b="0" i="0">
                          <a:solidFill>
                            <a:schemeClr val="tx1"/>
                          </a:solidFill>
                          <a:latin typeface="Avenir Next LT Pro"/>
                        </a:rPr>
                        <a:t>605</a:t>
                      </a:r>
                    </a:p>
                  </a:txBody>
                  <a:tcPr marL="73152" marR="73152" marT="18288" marB="18288" anchor="ctr">
                    <a:solidFill>
                      <a:srgbClr val="F4F6F8"/>
                    </a:solidFill>
                  </a:tcPr>
                </a:tc>
                <a:tc>
                  <a:txBody>
                    <a:bodyPr/>
                    <a:lstStyle/>
                    <a:p>
                      <a:pPr algn="ctr"/>
                      <a:r>
                        <a:rPr sz="1100" b="0" i="0">
                          <a:solidFill>
                            <a:schemeClr val="tx1"/>
                          </a:solidFill>
                          <a:latin typeface="Avenir Next LT Pro"/>
                        </a:rPr>
                        <a:t>708</a:t>
                      </a:r>
                    </a:p>
                  </a:txBody>
                  <a:tcPr marL="73152" marR="73152" marT="18288" marB="18288" anchor="ctr">
                    <a:solidFill>
                      <a:srgbClr val="F4F6F8"/>
                    </a:solidFill>
                  </a:tcPr>
                </a:tc>
                <a:extLst>
                  <a:ext uri="{0D108BD9-81ED-4DB2-BD59-A6C34878D82A}">
                    <a16:rowId xmlns:a16="http://schemas.microsoft.com/office/drawing/2014/main" val="10004"/>
                  </a:ext>
                </a:extLst>
              </a:tr>
              <a:tr h="384048">
                <a:tc>
                  <a:txBody>
                    <a:bodyPr/>
                    <a:lstStyle/>
                    <a:p>
                      <a:pPr algn="l"/>
                      <a:r>
                        <a:rPr sz="1100" b="1" i="0">
                          <a:solidFill>
                            <a:schemeClr val="tx1"/>
                          </a:solidFill>
                          <a:latin typeface="Avenir Next LT Pro Demi"/>
                        </a:rPr>
                        <a:t>EBITDA Margin</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17.3%</a:t>
                      </a:r>
                    </a:p>
                  </a:txBody>
                  <a:tcPr marL="73152" marR="73152" marT="18288" marB="18288" anchor="ctr">
                    <a:solidFill>
                      <a:srgbClr val="FFFFFF"/>
                    </a:solidFill>
                  </a:tcPr>
                </a:tc>
                <a:tc>
                  <a:txBody>
                    <a:bodyPr/>
                    <a:lstStyle/>
                    <a:p>
                      <a:pPr algn="ctr"/>
                      <a:r>
                        <a:rPr sz="1100" b="0" i="0">
                          <a:solidFill>
                            <a:schemeClr val="tx1"/>
                          </a:solidFill>
                          <a:latin typeface="Avenir Next LT Pro"/>
                        </a:rPr>
                        <a:t>16.0%</a:t>
                      </a:r>
                    </a:p>
                  </a:txBody>
                  <a:tcPr marL="73152" marR="73152" marT="18288" marB="18288" anchor="ctr">
                    <a:solidFill>
                      <a:srgbClr val="FFFFFF"/>
                    </a:solidFill>
                  </a:tcPr>
                </a:tc>
                <a:tc>
                  <a:txBody>
                    <a:bodyPr/>
                    <a:lstStyle/>
                    <a:p>
                      <a:pPr algn="ctr"/>
                      <a:r>
                        <a:rPr sz="1100" b="0" i="0">
                          <a:solidFill>
                            <a:schemeClr val="tx1"/>
                          </a:solidFill>
                          <a:latin typeface="Avenir Next LT Pro"/>
                        </a:rPr>
                        <a:t>17.0%</a:t>
                      </a:r>
                    </a:p>
                  </a:txBody>
                  <a:tcPr marL="73152" marR="73152" marT="18288" marB="18288" anchor="ctr">
                    <a:solidFill>
                      <a:srgbClr val="FFFFFF"/>
                    </a:solidFill>
                  </a:tcPr>
                </a:tc>
                <a:extLst>
                  <a:ext uri="{0D108BD9-81ED-4DB2-BD59-A6C34878D82A}">
                    <a16:rowId xmlns:a16="http://schemas.microsoft.com/office/drawing/2014/main" val="10005"/>
                  </a:ext>
                </a:extLst>
              </a:tr>
              <a:tr h="384048">
                <a:tc>
                  <a:txBody>
                    <a:bodyPr/>
                    <a:lstStyle/>
                    <a:p>
                      <a:pPr algn="l"/>
                      <a:r>
                        <a:rPr sz="1100" b="1" i="0">
                          <a:solidFill>
                            <a:schemeClr val="tx1"/>
                          </a:solidFill>
                          <a:latin typeface="Avenir Next LT Pro Demi"/>
                        </a:rPr>
                        <a:t>Diluted EPS (GAAP)</a:t>
                      </a:r>
                    </a:p>
                  </a:txBody>
                  <a:tcPr marL="73152" marR="73152" marT="18288" marB="18288" anchor="ctr">
                    <a:solidFill>
                      <a:srgbClr val="F4F6F8"/>
                    </a:solidFill>
                  </a:tcPr>
                </a:tc>
                <a:tc>
                  <a:txBody>
                    <a:bodyPr/>
                    <a:lstStyle/>
                    <a:p>
                      <a:pPr algn="ctr"/>
                      <a:r>
                        <a:rPr sz="1100" b="0" i="0">
                          <a:solidFill>
                            <a:schemeClr val="tx1"/>
                          </a:solidFill>
                          <a:latin typeface="Avenir Next LT Pro"/>
                        </a:rPr>
                        <a:t>$5.91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$3.62</a:t>
                      </a:r>
                    </a:p>
                  </a:txBody>
                  <a:tcPr marL="73152" marR="73152" marT="18288" marB="18288" anchor="ctr">
                    <a:solidFill>
                      <a:srgbClr val="F4F6F8"/>
                    </a:solidFill>
                  </a:tcPr>
                </a:tc>
                <a:tc>
                  <a:txBody>
                    <a:bodyPr/>
                    <a:lstStyle/>
                    <a:p>
                      <a:pPr algn="ctr"/>
                      <a:r>
                        <a:rPr sz="1100" b="0" i="0">
                          <a:solidFill>
                            <a:schemeClr val="tx1"/>
                          </a:solidFill>
                          <a:latin typeface="Avenir Next LT Pro"/>
                        </a:rPr>
                        <a:t>$6.31</a:t>
                      </a:r>
                    </a:p>
                  </a:txBody>
                  <a:tcPr marL="73152" marR="73152" marT="18288" marB="18288" anchor="ctr">
                    <a:solidFill>
                      <a:srgbClr val="F4F6F8"/>
                    </a:solidFill>
                  </a:tcPr>
                </a:tc>
                <a:tc>
                  <a:txBody>
                    <a:bodyPr/>
                    <a:lstStyle/>
                    <a:p>
                      <a:pPr algn="ctr"/>
                      <a:r>
                        <a:rPr sz="1100" b="0" i="0">
                          <a:solidFill>
                            <a:schemeClr val="tx1"/>
                          </a:solidFill>
                          <a:latin typeface="Avenir Next LT Pro"/>
                        </a:rPr>
                        <a:t>~$9</a:t>
                      </a:r>
                    </a:p>
                  </a:txBody>
                  <a:tcPr marL="73152" marR="73152" marT="18288" marB="18288" anchor="ctr">
                    <a:solidFill>
                      <a:srgbClr val="F4F6F8"/>
                    </a:solidFill>
                  </a:tcPr>
                </a:tc>
                <a:tc>
                  <a:txBody>
                    <a:bodyPr/>
                    <a:lstStyle/>
                    <a:p>
                      <a:pPr algn="ctr"/>
                      <a:r>
                        <a:rPr sz="1100" b="0" i="0">
                          <a:solidFill>
                            <a:schemeClr val="tx1"/>
                          </a:solidFill>
                          <a:latin typeface="Avenir Next LT Pro"/>
                        </a:rPr>
                        <a:t>~$14</a:t>
                      </a:r>
                    </a:p>
                  </a:txBody>
                  <a:tcPr marL="73152" marR="73152" marT="18288" marB="18288" anchor="ctr">
                    <a:solidFill>
                      <a:srgbClr val="F4F6F8"/>
                    </a:solidFill>
                  </a:tcPr>
                </a:tc>
                <a:extLst>
                  <a:ext uri="{0D108BD9-81ED-4DB2-BD59-A6C34878D82A}">
                    <a16:rowId xmlns:a16="http://schemas.microsoft.com/office/drawing/2014/main" val="10006"/>
                  </a:ext>
                </a:extLst>
              </a:tr>
              <a:tr h="384048">
                <a:tc>
                  <a:txBody>
                    <a:bodyPr/>
                    <a:lstStyle/>
                    <a:p>
                      <a:pPr algn="l"/>
                      <a:r>
                        <a:rPr sz="1100" b="1" i="0">
                          <a:solidFill>
                            <a:schemeClr val="tx1"/>
                          </a:solidFill>
                          <a:latin typeface="Avenir Next LT Pro Demi"/>
                        </a:rPr>
                        <a:t>Free Cash Flow</a:t>
                      </a:r>
                    </a:p>
                  </a:txBody>
                  <a:tcPr marL="73152" marR="73152" marT="18288" marB="18288" anchor="ctr">
                    <a:solidFill>
                      <a:srgbClr val="FFFFFF"/>
                    </a:solidFill>
                  </a:tcPr>
                </a:tc>
                <a:tc>
                  <a:txBody>
                    <a:bodyPr/>
                    <a:lstStyle/>
                    <a:p>
                      <a:pPr algn="ctr"/>
                      <a:r>
                        <a:rPr sz="1100" b="0" i="0">
                          <a:solidFill>
                            <a:schemeClr val="tx1"/>
                          </a:solidFill>
                          <a:latin typeface="Avenir Next LT Pro"/>
                        </a:rPr>
                        <a:t>-67</a:t>
                      </a:r>
                    </a:p>
                  </a:txBody>
                  <a:tcPr marL="73152" marR="73152" marT="18288" marB="18288" anchor="ctr">
                    <a:solidFill>
                      <a:srgbClr val="FFFFFF"/>
                    </a:solidFill>
                  </a:tcPr>
                </a:tc>
                <a:tc>
                  <a:txBody>
                    <a:bodyPr/>
                    <a:lstStyle/>
                    <a:p>
                      <a:pPr algn="ctr"/>
                      <a:r>
                        <a:rPr sz="1100" b="0" i="0">
                          <a:solidFill>
                            <a:schemeClr val="tx1"/>
                          </a:solidFill>
                          <a:latin typeface="Avenir Next LT Pro"/>
                        </a:rPr>
                        <a:t>-214</a:t>
                      </a:r>
                    </a:p>
                  </a:txBody>
                  <a:tcPr marL="73152" marR="73152" marT="18288" marB="18288" anchor="ctr">
                    <a:solidFill>
                      <a:srgbClr val="FFFFFF"/>
                    </a:solidFill>
                  </a:tcPr>
                </a:tc>
                <a:tc>
                  <a:txBody>
                    <a:bodyPr/>
                    <a:lstStyle/>
                    <a:p>
                      <a:pPr algn="ctr"/>
                      <a:r>
                        <a:rPr sz="1100" b="0" i="0" dirty="0">
                          <a:solidFill>
                            <a:schemeClr val="tx1"/>
                          </a:solidFill>
                          <a:latin typeface="Avenir Next LT Pro"/>
                        </a:rPr>
                        <a:t>252</a:t>
                      </a:r>
                    </a:p>
                  </a:txBody>
                  <a:tcPr marL="73152" marR="73152" marT="18288" marB="18288" anchor="ctr">
                    <a:solidFill>
                      <a:srgbClr val="FFFFFF"/>
                    </a:solidFill>
                  </a:tcPr>
                </a:tc>
                <a:tc>
                  <a:txBody>
                    <a:bodyPr/>
                    <a:lstStyle/>
                    <a:p>
                      <a:pPr algn="ctr"/>
                      <a:r>
                        <a:rPr sz="1100" b="0" i="0">
                          <a:solidFill>
                            <a:schemeClr val="tx1"/>
                          </a:solidFill>
                          <a:latin typeface="Avenir Next LT Pro"/>
                        </a:rPr>
                        <a:t>~350</a:t>
                      </a:r>
                    </a:p>
                  </a:txBody>
                  <a:tcPr marL="73152" marR="73152" marT="18288" marB="18288" anchor="ctr">
                    <a:solidFill>
                      <a:srgbClr val="FFFFFF"/>
                    </a:solidFill>
                  </a:tcPr>
                </a:tc>
                <a:tc>
                  <a:txBody>
                    <a:bodyPr/>
                    <a:lstStyle/>
                    <a:p>
                      <a:pPr algn="ctr"/>
                      <a:r>
                        <a:rPr sz="1100" b="0" i="0">
                          <a:solidFill>
                            <a:schemeClr val="tx1"/>
                          </a:solidFill>
                          <a:latin typeface="Avenir Next LT Pro"/>
                        </a:rPr>
                        <a:t>~450</a:t>
                      </a:r>
                    </a:p>
                  </a:txBody>
                  <a:tcPr marL="73152" marR="73152" marT="18288" marB="18288" anchor="ctr">
                    <a:solidFill>
                      <a:srgbClr val="FFFFFF"/>
                    </a:solidFill>
                  </a:tcPr>
                </a:tc>
                <a:extLst>
                  <a:ext uri="{0D108BD9-81ED-4DB2-BD59-A6C34878D82A}">
                    <a16:rowId xmlns:a16="http://schemas.microsoft.com/office/drawing/2014/main" val="10007"/>
                  </a:ext>
                </a:extLst>
              </a:tr>
              <a:tr h="384048">
                <a:tc>
                  <a:txBody>
                    <a:bodyPr/>
                    <a:lstStyle/>
                    <a:p>
                      <a:pPr algn="l"/>
                      <a:r>
                        <a:rPr sz="1100" b="1" i="0">
                          <a:solidFill>
                            <a:schemeClr val="tx1"/>
                          </a:solidFill>
                          <a:latin typeface="Avenir Next LT Pro Demi"/>
                        </a:rPr>
                        <a:t>Net Debt</a:t>
                      </a:r>
                    </a:p>
                  </a:txBody>
                  <a:tcPr marL="73152" marR="73152" marT="18288" marB="18288" anchor="ctr">
                    <a:solidFill>
                      <a:srgbClr val="F4F6F8"/>
                    </a:solidFill>
                  </a:tcPr>
                </a:tc>
                <a:tc>
                  <a:txBody>
                    <a:bodyPr/>
                    <a:lstStyle/>
                    <a:p>
                      <a:pPr algn="ctr"/>
                      <a:r>
                        <a:rPr sz="1100" b="0" i="0">
                          <a:solidFill>
                            <a:schemeClr val="tx1"/>
                          </a:solidFill>
                          <a:latin typeface="Avenir Next LT Pro"/>
                        </a:rPr>
                        <a:t>~2,600</a:t>
                      </a:r>
                    </a:p>
                  </a:txBody>
                  <a:tcPr marL="73152" marR="73152" marT="18288" marB="18288" anchor="ctr">
                    <a:solidFill>
                      <a:srgbClr val="F4F6F8"/>
                    </a:solidFill>
                  </a:tcPr>
                </a:tc>
                <a:tc>
                  <a:txBody>
                    <a:bodyPr/>
                    <a:lstStyle/>
                    <a:p>
                      <a:pPr algn="ctr"/>
                      <a:r>
                        <a:rPr sz="1100" b="0" i="0">
                          <a:solidFill>
                            <a:schemeClr val="tx1"/>
                          </a:solidFill>
                          <a:latin typeface="Avenir Next LT Pro"/>
                        </a:rPr>
                        <a:t>2,594</a:t>
                      </a:r>
                    </a:p>
                  </a:txBody>
                  <a:tcPr marL="73152" marR="73152" marT="18288" marB="18288" anchor="ctr">
                    <a:solidFill>
                      <a:srgbClr val="F4F6F8"/>
                    </a:solidFill>
                  </a:tcPr>
                </a:tc>
                <a:tc>
                  <a:txBody>
                    <a:bodyPr/>
                    <a:lstStyle/>
                    <a:p>
                      <a:pPr algn="ctr"/>
                      <a:r>
                        <a:rPr sz="1100" b="0" i="0">
                          <a:solidFill>
                            <a:schemeClr val="tx1"/>
                          </a:solidFill>
                          <a:latin typeface="Avenir Next LT Pro"/>
                        </a:rPr>
                        <a:t>2,378</a:t>
                      </a:r>
                    </a:p>
                  </a:txBody>
                  <a:tcPr marL="73152" marR="73152" marT="18288" marB="18288" anchor="ctr">
                    <a:solidFill>
                      <a:srgbClr val="F4F6F8"/>
                    </a:solidFill>
                  </a:tcPr>
                </a:tc>
                <a:tc>
                  <a:txBody>
                    <a:bodyPr/>
                    <a:lstStyle/>
                    <a:p>
                      <a:pPr algn="ctr"/>
                      <a:r>
                        <a:rPr sz="1100" b="0" i="0" dirty="0">
                          <a:solidFill>
                            <a:schemeClr val="tx1"/>
                          </a:solidFill>
                          <a:latin typeface="Avenir Next LT Pro"/>
                        </a:rPr>
                        <a:t>~2,180</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~1,900</a:t>
                      </a:r>
                    </a:p>
                  </a:txBody>
                  <a:tcPr marL="73152" marR="73152" marT="18288" marB="18288" anchor="ctr">
                    <a:solidFill>
                      <a:srgbClr val="F4F6F8"/>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218660" y="5041127"/>
            <a:ext cx="8653669" cy="400110"/>
          </a:xfrm>
          <a:prstGeom prst="rect">
            <a:avLst/>
          </a:prstGeom>
          <a:noFill/>
        </p:spPr>
        <p:txBody>
          <a:bodyPr wrap="square">
            <a:spAutoFit/>
          </a:bodyPr>
          <a:lstStyle/>
          <a:p>
            <a:r>
              <a:rPr sz="1000" b="1" i="0" dirty="0">
                <a:solidFill>
                  <a:srgbClr val="156082"/>
                </a:solidFill>
                <a:latin typeface="Avenir Next LT Pro"/>
              </a:rPr>
              <a:t>Story: margins dip near-term (FY26 guide 14–16%) then recover toward ~17%; FCF inflected to +$252M in FY25 — but ~$2.4B net debt (~4× EBITDA) and ~$225M/yr interest make it a leveraged bet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EAD30-CEA1-8508-C4C6-5800B2CA8846}"/>
              </a:ext>
            </a:extLst>
          </p:cNvPr>
          <p:cNvSpPr>
            <a:spLocks noGrp="1"/>
          </p:cNvSpPr>
          <p:nvPr>
            <p:ph type="title"/>
          </p:nvPr>
        </p:nvSpPr>
        <p:spPr/>
        <p:txBody>
          <a:bodyPr/>
          <a:lstStyle/>
          <a:p>
            <a:r>
              <a:rPr lang="en-US"/>
              <a:t>Valuation &amp; returns</a:t>
            </a:r>
          </a:p>
        </p:txBody>
      </p:sp>
    </p:spTree>
    <p:extLst>
      <p:ext uri="{BB962C8B-B14F-4D97-AF65-F5344CB8AC3E}">
        <p14:creationId xmlns:p14="http://schemas.microsoft.com/office/powerpoint/2010/main" val="1202939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Valuation — EV/EBITDA, FY2027E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FY27E EBITDA</a:t>
            </a:r>
          </a:p>
          <a:p>
            <a:pPr algn="ctr"/>
            <a:r>
              <a:rPr sz="1700" b="1" i="0">
                <a:solidFill>
                  <a:srgbClr val="0E2841"/>
                </a:solidFill>
                <a:latin typeface="Avenir Next LT Pro Demi"/>
              </a:rPr>
              <a:t>$708M</a:t>
            </a:r>
          </a:p>
        </p:txBody>
      </p:sp>
      <p:sp>
        <p:nvSpPr>
          <p:cNvPr id="7" name="Rectangle 6"/>
          <p:cNvSpPr/>
          <p:nvPr/>
        </p:nvSpPr>
        <p:spPr>
          <a:xfrm>
            <a:off x="2084832" y="1508760"/>
            <a:ext cx="1572768" cy="914400"/>
          </a:xfrm>
          <a:prstGeom prst="rect">
            <a:avLst/>
          </a:prstGeom>
          <a:solidFill>
            <a:srgbClr val="E8E8E8"/>
          </a:solidFill>
          <a:ln w="15875">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Exit Multiple</a:t>
            </a:r>
          </a:p>
          <a:p>
            <a:pPr algn="ctr"/>
            <a:r>
              <a:rPr sz="1700" b="1" i="0">
                <a:solidFill>
                  <a:srgbClr val="156082"/>
                </a:solidFill>
                <a:latin typeface="Avenir Next LT Pro Demi"/>
              </a:rPr>
              <a:t>11×</a:t>
            </a:r>
          </a:p>
        </p:txBody>
      </p:sp>
      <p:sp>
        <p:nvSpPr>
          <p:cNvPr id="8" name="Rectangle 7"/>
          <p:cNvSpPr/>
          <p:nvPr/>
        </p:nvSpPr>
        <p:spPr>
          <a:xfrm>
            <a:off x="3712464"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Enterprise Value</a:t>
            </a:r>
          </a:p>
          <a:p>
            <a:pPr algn="ctr"/>
            <a:r>
              <a:rPr sz="1700" b="1" i="0">
                <a:solidFill>
                  <a:srgbClr val="0E2841"/>
                </a:solidFill>
                <a:latin typeface="Avenir Next LT Pro Demi"/>
              </a:rPr>
              <a:t>~$7.8B</a:t>
            </a:r>
          </a:p>
        </p:txBody>
      </p:sp>
      <p:sp>
        <p:nvSpPr>
          <p:cNvPr id="9" name="Rectangle 8"/>
          <p:cNvSpPr/>
          <p:nvPr/>
        </p:nvSpPr>
        <p:spPr>
          <a:xfrm>
            <a:off x="5340096" y="1508760"/>
            <a:ext cx="1572768" cy="914400"/>
          </a:xfrm>
          <a:prstGeom prst="rect">
            <a:avLst/>
          </a:prstGeom>
          <a:solidFill>
            <a:srgbClr val="E8E8E8"/>
          </a:solidFill>
          <a:ln w="15875">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Net Debt</a:t>
            </a:r>
          </a:p>
          <a:p>
            <a:pPr algn="ctr"/>
            <a:r>
              <a:rPr sz="1700" b="1" i="0">
                <a:solidFill>
                  <a:srgbClr val="E97132"/>
                </a:solidFill>
                <a:latin typeface="Avenir Next LT Pro Demi"/>
              </a:rPr>
              <a:t>$1.9B</a:t>
            </a:r>
          </a:p>
        </p:txBody>
      </p:sp>
      <p:sp>
        <p:nvSpPr>
          <p:cNvPr id="10" name="Rectangle 9"/>
          <p:cNvSpPr/>
          <p:nvPr/>
        </p:nvSpPr>
        <p:spPr>
          <a:xfrm>
            <a:off x="6967728" y="1508760"/>
            <a:ext cx="1572768" cy="914400"/>
          </a:xfrm>
          <a:prstGeom prst="rect">
            <a:avLst/>
          </a:prstGeom>
          <a:solidFill>
            <a:srgbClr val="E8E8E8"/>
          </a:solidFill>
          <a:ln w="15875">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Shares (19M)</a:t>
            </a:r>
          </a:p>
          <a:p>
            <a:pPr algn="ctr"/>
            <a:r>
              <a:rPr sz="1700" b="1" i="0">
                <a:solidFill>
                  <a:srgbClr val="196B24"/>
                </a:solidFill>
                <a:latin typeface="Avenir Next LT Pro Demi"/>
              </a:rPr>
              <a:t>= ~$310</a:t>
            </a:r>
          </a:p>
        </p:txBody>
      </p:sp>
      <p:graphicFrame>
        <p:nvGraphicFramePr>
          <p:cNvPr id="11" name="Table 10"/>
          <p:cNvGraphicFramePr>
            <a:graphicFrameLocks noGrp="1"/>
          </p:cNvGraphicFramePr>
          <p:nvPr>
            <p:extLst>
              <p:ext uri="{D42A27DB-BD31-4B8C-83A1-F6EECF244321}">
                <p14:modId xmlns:p14="http://schemas.microsoft.com/office/powerpoint/2010/main" val="3973473890"/>
              </p:ext>
            </p:extLst>
          </p:nvPr>
        </p:nvGraphicFramePr>
        <p:xfrm>
          <a:off x="457200" y="2880360"/>
          <a:ext cx="8229600" cy="1536192"/>
        </p:xfrm>
        <a:graphic>
          <a:graphicData uri="http://schemas.openxmlformats.org/drawingml/2006/table">
            <a:tbl>
              <a:tblPr>
                <a:tableStyleId>{5C22544A-7EE6-4342-B048-85BDC9FD1C3A}</a:tableStyleId>
              </a:tblPr>
              <a:tblGrid>
                <a:gridCol w="1554480">
                  <a:extLst>
                    <a:ext uri="{9D8B030D-6E8A-4147-A177-3AD203B41FA5}">
                      <a16:colId xmlns:a16="http://schemas.microsoft.com/office/drawing/2014/main" val="20000"/>
                    </a:ext>
                  </a:extLst>
                </a:gridCol>
                <a:gridCol w="1335024">
                  <a:extLst>
                    <a:ext uri="{9D8B030D-6E8A-4147-A177-3AD203B41FA5}">
                      <a16:colId xmlns:a16="http://schemas.microsoft.com/office/drawing/2014/main" val="20001"/>
                    </a:ext>
                  </a:extLst>
                </a:gridCol>
                <a:gridCol w="1335024">
                  <a:extLst>
                    <a:ext uri="{9D8B030D-6E8A-4147-A177-3AD203B41FA5}">
                      <a16:colId xmlns:a16="http://schemas.microsoft.com/office/drawing/2014/main" val="20002"/>
                    </a:ext>
                  </a:extLst>
                </a:gridCol>
                <a:gridCol w="1335024">
                  <a:extLst>
                    <a:ext uri="{9D8B030D-6E8A-4147-A177-3AD203B41FA5}">
                      <a16:colId xmlns:a16="http://schemas.microsoft.com/office/drawing/2014/main" val="20003"/>
                    </a:ext>
                  </a:extLst>
                </a:gridCol>
                <a:gridCol w="1335024">
                  <a:extLst>
                    <a:ext uri="{9D8B030D-6E8A-4147-A177-3AD203B41FA5}">
                      <a16:colId xmlns:a16="http://schemas.microsoft.com/office/drawing/2014/main" val="20004"/>
                    </a:ext>
                  </a:extLst>
                </a:gridCol>
                <a:gridCol w="1335024">
                  <a:extLst>
                    <a:ext uri="{9D8B030D-6E8A-4147-A177-3AD203B41FA5}">
                      <a16:colId xmlns:a16="http://schemas.microsoft.com/office/drawing/2014/main" val="20005"/>
                    </a:ext>
                  </a:extLst>
                </a:gridCol>
              </a:tblGrid>
              <a:tr h="384048">
                <a:tc>
                  <a:txBody>
                    <a:bodyPr/>
                    <a:lstStyle/>
                    <a:p>
                      <a:pPr algn="l"/>
                      <a:r>
                        <a:rPr sz="1000" b="1" i="0" dirty="0">
                          <a:solidFill>
                            <a:srgbClr val="FFFFFF"/>
                          </a:solidFill>
                          <a:latin typeface="Avenir Next LT Pro Demi"/>
                        </a:rPr>
                        <a:t>Scenario</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Rev CAGR</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EBITDA </a:t>
                      </a:r>
                      <a:r>
                        <a:rPr sz="1000" b="1" i="0" dirty="0" err="1">
                          <a:solidFill>
                            <a:srgbClr val="FFFFFF"/>
                          </a:solidFill>
                          <a:latin typeface="Avenir Next LT Pro Demi"/>
                        </a:rPr>
                        <a:t>Mgn</a:t>
                      </a:r>
                      <a:endParaRPr sz="1000" b="1" i="0" dirty="0">
                        <a:solidFill>
                          <a:srgbClr val="FFFFFF"/>
                        </a:solidFill>
                        <a:latin typeface="Avenir Next LT Pro Demi"/>
                      </a:endParaRP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Exit Mult</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Implied Price</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Prob.</a:t>
                      </a:r>
                    </a:p>
                  </a:txBody>
                  <a:tcPr marL="73152" marR="73152" marT="18288" marB="18288" anchor="ctr">
                    <a:solidFill>
                      <a:srgbClr val="AF8C49"/>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Bull</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10%</a:t>
                      </a:r>
                    </a:p>
                  </a:txBody>
                  <a:tcPr marL="73152" marR="73152" marT="18288" marB="18288" anchor="ctr">
                    <a:solidFill>
                      <a:srgbClr val="FFFFFF"/>
                    </a:solidFill>
                  </a:tcPr>
                </a:tc>
                <a:tc>
                  <a:txBody>
                    <a:bodyPr/>
                    <a:lstStyle/>
                    <a:p>
                      <a:pPr algn="ctr"/>
                      <a:r>
                        <a:rPr sz="1100" b="0" i="0">
                          <a:solidFill>
                            <a:schemeClr val="tx1"/>
                          </a:solidFill>
                          <a:latin typeface="Avenir Next LT Pro"/>
                        </a:rPr>
                        <a:t>20%</a:t>
                      </a:r>
                    </a:p>
                  </a:txBody>
                  <a:tcPr marL="73152" marR="73152" marT="18288" marB="18288" anchor="ctr">
                    <a:solidFill>
                      <a:srgbClr val="FFFFFF"/>
                    </a:solidFill>
                  </a:tcPr>
                </a:tc>
                <a:tc>
                  <a:txBody>
                    <a:bodyPr/>
                    <a:lstStyle/>
                    <a:p>
                      <a:pPr algn="ctr"/>
                      <a:r>
                        <a:rPr sz="1100" b="0" i="0">
                          <a:solidFill>
                            <a:schemeClr val="tx1"/>
                          </a:solidFill>
                          <a:latin typeface="Avenir Next LT Pro"/>
                        </a:rPr>
                        <a:t>13×</a:t>
                      </a:r>
                    </a:p>
                  </a:txBody>
                  <a:tcPr marL="73152" marR="73152" marT="18288" marB="18288" anchor="ctr">
                    <a:solidFill>
                      <a:srgbClr val="FFFFFF"/>
                    </a:solidFill>
                  </a:tcPr>
                </a:tc>
                <a:tc>
                  <a:txBody>
                    <a:bodyPr/>
                    <a:lstStyle/>
                    <a:p>
                      <a:pPr algn="ctr"/>
                      <a:r>
                        <a:rPr sz="1100" b="0" i="0">
                          <a:solidFill>
                            <a:schemeClr val="tx1"/>
                          </a:solidFill>
                          <a:latin typeface="Avenir Next LT Pro"/>
                        </a:rPr>
                        <a:t>~$562</a:t>
                      </a:r>
                    </a:p>
                  </a:txBody>
                  <a:tcPr marL="73152" marR="73152" marT="18288" marB="18288" anchor="ctr">
                    <a:solidFill>
                      <a:srgbClr val="FFFFFF"/>
                    </a:solidFill>
                  </a:tcPr>
                </a:tc>
                <a:tc>
                  <a:txBody>
                    <a:bodyPr/>
                    <a:lstStyle/>
                    <a:p>
                      <a:pPr algn="ctr"/>
                      <a:r>
                        <a:rPr sz="1100" b="0" i="0">
                          <a:solidFill>
                            <a:schemeClr val="tx1"/>
                          </a:solidFill>
                          <a:latin typeface="Avenir Next LT Pro"/>
                        </a:rPr>
                        <a:t>15%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a:solidFill>
                            <a:schemeClr val="tx1"/>
                          </a:solidFill>
                          <a:latin typeface="Avenir Next LT Pro Demi"/>
                        </a:rPr>
                        <a:t>Base</a:t>
                      </a:r>
                    </a:p>
                  </a:txBody>
                  <a:tcPr marL="73152" marR="73152" marT="18288" marB="18288" anchor="ctr">
                    <a:solidFill>
                      <a:srgbClr val="F4F6F8"/>
                    </a:solidFill>
                  </a:tcPr>
                </a:tc>
                <a:tc>
                  <a:txBody>
                    <a:bodyPr/>
                    <a:lstStyle/>
                    <a:p>
                      <a:pPr algn="ctr"/>
                      <a:r>
                        <a:rPr sz="1100" b="0" i="0" dirty="0">
                          <a:solidFill>
                            <a:schemeClr val="tx1"/>
                          </a:solidFill>
                          <a:latin typeface="Avenir Next LT Pro"/>
                        </a:rPr>
                        <a:t>6%</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17%</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~$310</a:t>
                      </a:r>
                    </a:p>
                  </a:txBody>
                  <a:tcPr marL="73152" marR="73152" marT="18288" marB="18288" anchor="ctr">
                    <a:solidFill>
                      <a:srgbClr val="F4F6F8"/>
                    </a:solidFill>
                  </a:tcPr>
                </a:tc>
                <a:tc>
                  <a:txBody>
                    <a:bodyPr/>
                    <a:lstStyle/>
                    <a:p>
                      <a:pPr algn="ctr"/>
                      <a:r>
                        <a:rPr sz="1100" b="0" i="0">
                          <a:solidFill>
                            <a:schemeClr val="tx1"/>
                          </a:solidFill>
                          <a:latin typeface="Avenir Next LT Pro"/>
                        </a:rPr>
                        <a:t>55%</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a:solidFill>
                            <a:schemeClr val="tx1"/>
                          </a:solidFill>
                          <a:latin typeface="Avenir Next LT Pro Demi"/>
                        </a:rPr>
                        <a:t>Bear</a:t>
                      </a:r>
                    </a:p>
                  </a:txBody>
                  <a:tcPr marL="73152" marR="73152" marT="18288" marB="18288" anchor="ctr">
                    <a:solidFill>
                      <a:srgbClr val="FFFFFF"/>
                    </a:solidFill>
                  </a:tcPr>
                </a:tc>
                <a:tc>
                  <a:txBody>
                    <a:bodyPr/>
                    <a:lstStyle/>
                    <a:p>
                      <a:pPr algn="ctr"/>
                      <a:r>
                        <a:rPr sz="1100" b="0" i="0">
                          <a:solidFill>
                            <a:schemeClr val="tx1"/>
                          </a:solidFill>
                          <a:latin typeface="Avenir Next LT Pro"/>
                        </a:rPr>
                        <a:t>2%</a:t>
                      </a:r>
                    </a:p>
                  </a:txBody>
                  <a:tcPr marL="73152" marR="73152" marT="18288" marB="18288" anchor="ctr">
                    <a:solidFill>
                      <a:srgbClr val="FFFFFF"/>
                    </a:solidFill>
                  </a:tcPr>
                </a:tc>
                <a:tc>
                  <a:txBody>
                    <a:bodyPr/>
                    <a:lstStyle/>
                    <a:p>
                      <a:pPr algn="ctr"/>
                      <a:r>
                        <a:rPr sz="1100" b="0" i="0">
                          <a:solidFill>
                            <a:schemeClr val="tx1"/>
                          </a:solidFill>
                          <a:latin typeface="Avenir Next LT Pro"/>
                        </a:rPr>
                        <a:t>14%</a:t>
                      </a:r>
                    </a:p>
                  </a:txBody>
                  <a:tcPr marL="73152" marR="73152" marT="18288" marB="18288" anchor="ctr">
                    <a:solidFill>
                      <a:srgbClr val="FFFFFF"/>
                    </a:solidFill>
                  </a:tcPr>
                </a:tc>
                <a:tc>
                  <a:txBody>
                    <a:bodyPr/>
                    <a:lstStyle/>
                    <a:p>
                      <a:pPr algn="ctr"/>
                      <a:r>
                        <a:rPr sz="1100" b="0" i="0">
                          <a:solidFill>
                            <a:schemeClr val="tx1"/>
                          </a:solidFill>
                          <a:latin typeface="Avenir Next LT Pro"/>
                        </a:rPr>
                        <a:t>8×</a:t>
                      </a:r>
                    </a:p>
                  </a:txBody>
                  <a:tcPr marL="73152" marR="73152" marT="18288" marB="18288" anchor="ctr">
                    <a:solidFill>
                      <a:srgbClr val="FFFFFF"/>
                    </a:solidFill>
                  </a:tcPr>
                </a:tc>
                <a:tc>
                  <a:txBody>
                    <a:bodyPr/>
                    <a:lstStyle/>
                    <a:p>
                      <a:pPr algn="ctr"/>
                      <a:r>
                        <a:rPr sz="1100" b="0" i="0">
                          <a:solidFill>
                            <a:schemeClr val="tx1"/>
                          </a:solidFill>
                          <a:latin typeface="Avenir Next LT Pro"/>
                        </a:rPr>
                        <a:t>~$100</a:t>
                      </a:r>
                    </a:p>
                  </a:txBody>
                  <a:tcPr marL="73152" marR="73152" marT="18288" marB="18288" anchor="ctr">
                    <a:solidFill>
                      <a:srgbClr val="FFFFFF"/>
                    </a:solidFill>
                  </a:tcPr>
                </a:tc>
                <a:tc>
                  <a:txBody>
                    <a:bodyPr/>
                    <a:lstStyle/>
                    <a:p>
                      <a:pPr algn="ctr"/>
                      <a:r>
                        <a:rPr sz="1100" b="0" i="0" dirty="0">
                          <a:solidFill>
                            <a:schemeClr val="tx1"/>
                          </a:solidFill>
                          <a:latin typeface="Avenir Next LT Pro"/>
                        </a:rPr>
                        <a:t>30%</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2" name="TextBox 11"/>
          <p:cNvSpPr txBox="1"/>
          <p:nvPr/>
        </p:nvSpPr>
        <p:spPr>
          <a:xfrm>
            <a:off x="457200" y="4572000"/>
            <a:ext cx="8229600" cy="365760"/>
          </a:xfrm>
          <a:prstGeom prst="rect">
            <a:avLst/>
          </a:prstGeom>
          <a:noFill/>
        </p:spPr>
        <p:txBody>
          <a:bodyPr wrap="none">
            <a:spAutoFit/>
          </a:bodyPr>
          <a:lstStyle/>
          <a:p>
            <a:r>
              <a:rPr sz="1300" b="1" i="0">
                <a:solidFill>
                  <a:srgbClr val="156082"/>
                </a:solidFill>
                <a:latin typeface="Avenir Next LT Pro Demi"/>
              </a:rPr>
              <a:t>Probability-weighted target: ~$285   (~72% upside from ~$166)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Macro Sensitivity — Housing Is Option Value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54062618"/>
              </p:ext>
            </p:extLst>
          </p:nvPr>
        </p:nvGraphicFramePr>
        <p:xfrm>
          <a:off x="228600" y="1577340"/>
          <a:ext cx="8686800" cy="1828800"/>
        </p:xfrm>
        <a:graphic>
          <a:graphicData uri="http://schemas.openxmlformats.org/drawingml/2006/table">
            <a:tbl>
              <a:tblPr>
                <a:tableStyleId>{5C22544A-7EE6-4342-B048-85BDC9FD1C3A}</a:tableStyleId>
              </a:tblPr>
              <a:tblGrid>
                <a:gridCol w="16916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57200">
                <a:tc>
                  <a:txBody>
                    <a:bodyPr/>
                    <a:lstStyle/>
                    <a:p>
                      <a:pPr algn="l"/>
                      <a:r>
                        <a:rPr sz="880" b="1" i="0" dirty="0">
                          <a:solidFill>
                            <a:srgbClr val="FFFFFF"/>
                          </a:solidFill>
                          <a:latin typeface="Avenir Next LT Pro Demi"/>
                        </a:rPr>
                        <a:t>Scenario</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30Y Mortgage</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Existing Home Sales</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RH Revenue</a:t>
                      </a:r>
                    </a:p>
                  </a:txBody>
                  <a:tcPr marL="73152" marR="73152" marT="18288" marB="18288" anchor="ctr">
                    <a:solidFill>
                      <a:srgbClr val="AF8C49"/>
                    </a:solidFill>
                  </a:tcPr>
                </a:tc>
                <a:tc>
                  <a:txBody>
                    <a:bodyPr/>
                    <a:lstStyle/>
                    <a:p>
                      <a:pPr algn="ctr"/>
                      <a:r>
                        <a:rPr sz="880" b="1" i="0">
                          <a:solidFill>
                            <a:srgbClr val="FFFFFF"/>
                          </a:solidFill>
                          <a:latin typeface="Avenir Next LT Pro Demi"/>
                        </a:rPr>
                        <a:t>EBITDA Mgn</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Est. EPS (fwd)</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Implied P/E @ $166</a:t>
                      </a:r>
                    </a:p>
                  </a:txBody>
                  <a:tcPr marL="73152" marR="73152" marT="18288" marB="18288" anchor="ctr">
                    <a:solidFill>
                      <a:srgbClr val="AF8C49"/>
                    </a:solidFill>
                  </a:tcPr>
                </a:tc>
                <a:extLst>
                  <a:ext uri="{0D108BD9-81ED-4DB2-BD59-A6C34878D82A}">
                    <a16:rowId xmlns:a16="http://schemas.microsoft.com/office/drawing/2014/main" val="10000"/>
                  </a:ext>
                </a:extLst>
              </a:tr>
              <a:tr h="457200">
                <a:tc>
                  <a:txBody>
                    <a:bodyPr/>
                    <a:lstStyle/>
                    <a:p>
                      <a:pPr algn="l"/>
                      <a:r>
                        <a:rPr sz="950" b="1" i="0" dirty="0">
                          <a:solidFill>
                            <a:schemeClr val="tx1"/>
                          </a:solidFill>
                          <a:latin typeface="Avenir Next LT Pro Demi"/>
                        </a:rPr>
                        <a:t>Bull — rate relief</a:t>
                      </a:r>
                    </a:p>
                  </a:txBody>
                  <a:tcPr marL="73152" marR="73152" marT="18288" marB="18288" anchor="ctr">
                    <a:solidFill>
                      <a:srgbClr val="FFFFFF"/>
                    </a:solidFill>
                  </a:tcPr>
                </a:tc>
                <a:tc>
                  <a:txBody>
                    <a:bodyPr/>
                    <a:lstStyle/>
                    <a:p>
                      <a:pPr algn="ctr"/>
                      <a:r>
                        <a:rPr sz="950" b="0" i="0">
                          <a:solidFill>
                            <a:schemeClr val="tx1"/>
                          </a:solidFill>
                          <a:latin typeface="Avenir Next LT Pro"/>
                        </a:rPr>
                        <a:t>&lt;5.5%</a:t>
                      </a:r>
                    </a:p>
                  </a:txBody>
                  <a:tcPr marL="73152" marR="73152" marT="18288" marB="18288" anchor="ctr">
                    <a:solidFill>
                      <a:srgbClr val="FFFFFF"/>
                    </a:solidFill>
                  </a:tcPr>
                </a:tc>
                <a:tc>
                  <a:txBody>
                    <a:bodyPr/>
                    <a:lstStyle/>
                    <a:p>
                      <a:pPr algn="ctr"/>
                      <a:r>
                        <a:rPr sz="950" b="0" i="0">
                          <a:solidFill>
                            <a:schemeClr val="tx1"/>
                          </a:solidFill>
                          <a:latin typeface="Avenir Next LT Pro"/>
                        </a:rPr>
                        <a:t>~5.2–5.8M</a:t>
                      </a:r>
                    </a:p>
                  </a:txBody>
                  <a:tcPr marL="73152" marR="73152" marT="18288" marB="18288" anchor="ctr">
                    <a:solidFill>
                      <a:srgbClr val="FFFFFF"/>
                    </a:solidFill>
                  </a:tcPr>
                </a:tc>
                <a:tc>
                  <a:txBody>
                    <a:bodyPr/>
                    <a:lstStyle/>
                    <a:p>
                      <a:pPr algn="ctr"/>
                      <a:r>
                        <a:rPr sz="950" b="0" i="0">
                          <a:solidFill>
                            <a:schemeClr val="tx1"/>
                          </a:solidFill>
                          <a:latin typeface="Avenir Next LT Pro"/>
                        </a:rPr>
                        <a:t>~$4.2–4.8B</a:t>
                      </a:r>
                    </a:p>
                  </a:txBody>
                  <a:tcPr marL="73152" marR="73152" marT="18288" marB="18288" anchor="ctr">
                    <a:solidFill>
                      <a:srgbClr val="FFFFFF"/>
                    </a:solidFill>
                  </a:tcPr>
                </a:tc>
                <a:tc>
                  <a:txBody>
                    <a:bodyPr/>
                    <a:lstStyle/>
                    <a:p>
                      <a:pPr algn="ctr"/>
                      <a:r>
                        <a:rPr sz="950" b="0" i="0" dirty="0">
                          <a:solidFill>
                            <a:schemeClr val="tx1"/>
                          </a:solidFill>
                          <a:latin typeface="Avenir Next LT Pro"/>
                        </a:rPr>
                        <a:t>22–26%</a:t>
                      </a:r>
                    </a:p>
                  </a:txBody>
                  <a:tcPr marL="73152" marR="73152" marT="18288" marB="18288" anchor="ctr">
                    <a:solidFill>
                      <a:srgbClr val="FFFFFF"/>
                    </a:solidFill>
                  </a:tcPr>
                </a:tc>
                <a:tc>
                  <a:txBody>
                    <a:bodyPr/>
                    <a:lstStyle/>
                    <a:p>
                      <a:pPr algn="ctr"/>
                      <a:r>
                        <a:rPr sz="950" b="0" i="0">
                          <a:solidFill>
                            <a:schemeClr val="tx1"/>
                          </a:solidFill>
                          <a:latin typeface="Avenir Next LT Pro"/>
                        </a:rPr>
                        <a:t>~$22–35</a:t>
                      </a:r>
                    </a:p>
                  </a:txBody>
                  <a:tcPr marL="73152" marR="73152" marT="18288" marB="18288" anchor="ctr">
                    <a:solidFill>
                      <a:srgbClr val="FFFFFF"/>
                    </a:solidFill>
                  </a:tcPr>
                </a:tc>
                <a:tc>
                  <a:txBody>
                    <a:bodyPr/>
                    <a:lstStyle/>
                    <a:p>
                      <a:pPr algn="ctr"/>
                      <a:r>
                        <a:rPr sz="950" b="0" i="0">
                          <a:solidFill>
                            <a:schemeClr val="tx1"/>
                          </a:solidFill>
                          <a:latin typeface="Avenir Next LT Pro"/>
                        </a:rPr>
                        <a:t>~5–7×</a:t>
                      </a:r>
                    </a:p>
                  </a:txBody>
                  <a:tcPr marL="73152" marR="73152" marT="18288" marB="18288" anchor="ctr">
                    <a:solidFill>
                      <a:srgbClr val="FFFFFF"/>
                    </a:solidFill>
                  </a:tcPr>
                </a:tc>
                <a:extLst>
                  <a:ext uri="{0D108BD9-81ED-4DB2-BD59-A6C34878D82A}">
                    <a16:rowId xmlns:a16="http://schemas.microsoft.com/office/drawing/2014/main" val="10001"/>
                  </a:ext>
                </a:extLst>
              </a:tr>
              <a:tr h="457200">
                <a:tc>
                  <a:txBody>
                    <a:bodyPr/>
                    <a:lstStyle/>
                    <a:p>
                      <a:pPr algn="l"/>
                      <a:r>
                        <a:rPr sz="950" b="1" i="0">
                          <a:solidFill>
                            <a:schemeClr val="tx1"/>
                          </a:solidFill>
                          <a:latin typeface="Avenir Next LT Pro Demi"/>
                        </a:rPr>
                        <a:t>Base — modest easing</a:t>
                      </a:r>
                    </a:p>
                  </a:txBody>
                  <a:tcPr marL="73152" marR="73152" marT="18288" marB="18288" anchor="ctr">
                    <a:solidFill>
                      <a:srgbClr val="F4F6F8"/>
                    </a:solidFill>
                  </a:tcPr>
                </a:tc>
                <a:tc>
                  <a:txBody>
                    <a:bodyPr/>
                    <a:lstStyle/>
                    <a:p>
                      <a:pPr algn="ctr"/>
                      <a:r>
                        <a:rPr sz="950" b="0" i="0" dirty="0">
                          <a:solidFill>
                            <a:schemeClr val="tx1"/>
                          </a:solidFill>
                          <a:latin typeface="Avenir Next LT Pro"/>
                        </a:rPr>
                        <a:t>5.75–6.25%</a:t>
                      </a:r>
                    </a:p>
                  </a:txBody>
                  <a:tcPr marL="73152" marR="73152" marT="18288" marB="18288" anchor="ctr">
                    <a:solidFill>
                      <a:srgbClr val="F4F6F8"/>
                    </a:solidFill>
                  </a:tcPr>
                </a:tc>
                <a:tc>
                  <a:txBody>
                    <a:bodyPr/>
                    <a:lstStyle/>
                    <a:p>
                      <a:pPr algn="ctr"/>
                      <a:r>
                        <a:rPr sz="950" b="0" i="0">
                          <a:solidFill>
                            <a:schemeClr val="tx1"/>
                          </a:solidFill>
                          <a:latin typeface="Avenir Next LT Pro"/>
                        </a:rPr>
                        <a:t>~4.5–5.0M</a:t>
                      </a:r>
                    </a:p>
                  </a:txBody>
                  <a:tcPr marL="73152" marR="73152" marT="18288" marB="18288" anchor="ctr">
                    <a:solidFill>
                      <a:srgbClr val="F4F6F8"/>
                    </a:solidFill>
                  </a:tcPr>
                </a:tc>
                <a:tc>
                  <a:txBody>
                    <a:bodyPr/>
                    <a:lstStyle/>
                    <a:p>
                      <a:pPr algn="ctr"/>
                      <a:r>
                        <a:rPr sz="950" b="0" i="0">
                          <a:solidFill>
                            <a:schemeClr val="tx1"/>
                          </a:solidFill>
                          <a:latin typeface="Avenir Next LT Pro"/>
                        </a:rPr>
                        <a:t>~$3.6–4.0B</a:t>
                      </a:r>
                    </a:p>
                  </a:txBody>
                  <a:tcPr marL="73152" marR="73152" marT="18288" marB="18288" anchor="ctr">
                    <a:solidFill>
                      <a:srgbClr val="F4F6F8"/>
                    </a:solidFill>
                  </a:tcPr>
                </a:tc>
                <a:tc>
                  <a:txBody>
                    <a:bodyPr/>
                    <a:lstStyle/>
                    <a:p>
                      <a:pPr algn="ctr"/>
                      <a:r>
                        <a:rPr sz="950" b="0" i="0" dirty="0">
                          <a:solidFill>
                            <a:schemeClr val="tx1"/>
                          </a:solidFill>
                          <a:latin typeface="Avenir Next LT Pro"/>
                        </a:rPr>
                        <a:t>18–21%</a:t>
                      </a:r>
                    </a:p>
                  </a:txBody>
                  <a:tcPr marL="73152" marR="73152" marT="18288" marB="18288" anchor="ctr">
                    <a:solidFill>
                      <a:srgbClr val="F4F6F8"/>
                    </a:solidFill>
                  </a:tcPr>
                </a:tc>
                <a:tc>
                  <a:txBody>
                    <a:bodyPr/>
                    <a:lstStyle/>
                    <a:p>
                      <a:pPr algn="ctr"/>
                      <a:r>
                        <a:rPr sz="950" b="0" i="0">
                          <a:solidFill>
                            <a:schemeClr val="tx1"/>
                          </a:solidFill>
                          <a:latin typeface="Avenir Next LT Pro"/>
                        </a:rPr>
                        <a:t>~$11–19</a:t>
                      </a:r>
                    </a:p>
                  </a:txBody>
                  <a:tcPr marL="73152" marR="73152" marT="18288" marB="18288" anchor="ctr">
                    <a:solidFill>
                      <a:srgbClr val="F4F6F8"/>
                    </a:solidFill>
                  </a:tcPr>
                </a:tc>
                <a:tc>
                  <a:txBody>
                    <a:bodyPr/>
                    <a:lstStyle/>
                    <a:p>
                      <a:pPr algn="ctr"/>
                      <a:r>
                        <a:rPr sz="950" b="0" i="0">
                          <a:solidFill>
                            <a:schemeClr val="tx1"/>
                          </a:solidFill>
                          <a:latin typeface="Avenir Next LT Pro"/>
                        </a:rPr>
                        <a:t>~9–15×</a:t>
                      </a:r>
                    </a:p>
                  </a:txBody>
                  <a:tcPr marL="73152" marR="73152" marT="18288" marB="18288" anchor="ctr">
                    <a:solidFill>
                      <a:srgbClr val="F4F6F8"/>
                    </a:solidFill>
                  </a:tcPr>
                </a:tc>
                <a:extLst>
                  <a:ext uri="{0D108BD9-81ED-4DB2-BD59-A6C34878D82A}">
                    <a16:rowId xmlns:a16="http://schemas.microsoft.com/office/drawing/2014/main" val="10002"/>
                  </a:ext>
                </a:extLst>
              </a:tr>
              <a:tr h="457200">
                <a:tc>
                  <a:txBody>
                    <a:bodyPr/>
                    <a:lstStyle/>
                    <a:p>
                      <a:pPr algn="l"/>
                      <a:r>
                        <a:rPr sz="950" b="1" i="0">
                          <a:solidFill>
                            <a:schemeClr val="tx1"/>
                          </a:solidFill>
                          <a:latin typeface="Avenir Next LT Pro Demi"/>
                        </a:rPr>
                        <a:t>Bear — rates stay high</a:t>
                      </a:r>
                    </a:p>
                  </a:txBody>
                  <a:tcPr marL="73152" marR="73152" marT="18288" marB="18288" anchor="ctr">
                    <a:solidFill>
                      <a:srgbClr val="FFFFFF"/>
                    </a:solidFill>
                  </a:tcPr>
                </a:tc>
                <a:tc>
                  <a:txBody>
                    <a:bodyPr/>
                    <a:lstStyle/>
                    <a:p>
                      <a:pPr algn="ctr"/>
                      <a:r>
                        <a:rPr sz="950" b="0" i="0" dirty="0">
                          <a:solidFill>
                            <a:schemeClr val="tx1"/>
                          </a:solidFill>
                          <a:latin typeface="Avenir Next LT Pro"/>
                        </a:rPr>
                        <a:t>6.75–7.25%</a:t>
                      </a:r>
                    </a:p>
                  </a:txBody>
                  <a:tcPr marL="73152" marR="73152" marT="18288" marB="18288" anchor="ctr">
                    <a:solidFill>
                      <a:srgbClr val="FFFFFF"/>
                    </a:solidFill>
                  </a:tcPr>
                </a:tc>
                <a:tc>
                  <a:txBody>
                    <a:bodyPr/>
                    <a:lstStyle/>
                    <a:p>
                      <a:pPr algn="ctr"/>
                      <a:r>
                        <a:rPr sz="950" b="0" i="0" dirty="0">
                          <a:solidFill>
                            <a:schemeClr val="tx1"/>
                          </a:solidFill>
                          <a:latin typeface="Avenir Next LT Pro"/>
                        </a:rPr>
                        <a:t>~3.8–4.0M</a:t>
                      </a:r>
                    </a:p>
                  </a:txBody>
                  <a:tcPr marL="73152" marR="73152" marT="18288" marB="18288" anchor="ctr">
                    <a:solidFill>
                      <a:srgbClr val="FFFFFF"/>
                    </a:solidFill>
                  </a:tcPr>
                </a:tc>
                <a:tc>
                  <a:txBody>
                    <a:bodyPr/>
                    <a:lstStyle/>
                    <a:p>
                      <a:pPr algn="ctr"/>
                      <a:r>
                        <a:rPr sz="950" b="0" i="0" dirty="0">
                          <a:solidFill>
                            <a:schemeClr val="tx1"/>
                          </a:solidFill>
                          <a:latin typeface="Avenir Next LT Pro"/>
                        </a:rPr>
                        <a:t>~$3.1–3.3B</a:t>
                      </a:r>
                    </a:p>
                  </a:txBody>
                  <a:tcPr marL="73152" marR="73152" marT="18288" marB="18288" anchor="ctr">
                    <a:solidFill>
                      <a:srgbClr val="FFFFFF"/>
                    </a:solidFill>
                  </a:tcPr>
                </a:tc>
                <a:tc>
                  <a:txBody>
                    <a:bodyPr/>
                    <a:lstStyle/>
                    <a:p>
                      <a:pPr algn="ctr"/>
                      <a:r>
                        <a:rPr sz="950" b="0" i="0" dirty="0">
                          <a:solidFill>
                            <a:schemeClr val="tx1"/>
                          </a:solidFill>
                          <a:latin typeface="Avenir Next LT Pro"/>
                        </a:rPr>
                        <a:t>14–16%</a:t>
                      </a:r>
                    </a:p>
                  </a:txBody>
                  <a:tcPr marL="73152" marR="73152" marT="18288" marB="18288" anchor="ctr">
                    <a:solidFill>
                      <a:srgbClr val="FFFFFF"/>
                    </a:solidFill>
                  </a:tcPr>
                </a:tc>
                <a:tc>
                  <a:txBody>
                    <a:bodyPr/>
                    <a:lstStyle/>
                    <a:p>
                      <a:pPr algn="ctr"/>
                      <a:r>
                        <a:rPr sz="950" b="0" i="0" dirty="0">
                          <a:solidFill>
                            <a:schemeClr val="tx1"/>
                          </a:solidFill>
                          <a:latin typeface="Avenir Next LT Pro"/>
                        </a:rPr>
                        <a:t>~$3–6</a:t>
                      </a:r>
                    </a:p>
                  </a:txBody>
                  <a:tcPr marL="73152" marR="73152" marT="18288" marB="18288" anchor="ctr">
                    <a:solidFill>
                      <a:srgbClr val="FFFFFF"/>
                    </a:solidFill>
                  </a:tcPr>
                </a:tc>
                <a:tc>
                  <a:txBody>
                    <a:bodyPr/>
                    <a:lstStyle/>
                    <a:p>
                      <a:pPr algn="ctr"/>
                      <a:r>
                        <a:rPr sz="950" b="0" i="0" dirty="0">
                          <a:solidFill>
                            <a:schemeClr val="tx1"/>
                          </a:solidFill>
                          <a:latin typeface="Avenir Next LT Pro"/>
                        </a:rPr>
                        <a:t>~25–55×</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457200" y="3657600"/>
            <a:ext cx="8229600" cy="415498"/>
          </a:xfrm>
          <a:prstGeom prst="rect">
            <a:avLst/>
          </a:prstGeom>
          <a:noFill/>
        </p:spPr>
        <p:txBody>
          <a:bodyPr wrap="square">
            <a:spAutoFit/>
          </a:bodyPr>
          <a:lstStyle/>
          <a:p>
            <a:r>
              <a:rPr sz="1100" b="1" i="0" dirty="0">
                <a:latin typeface="Avenir Next LT Pro Demi"/>
              </a:rPr>
              <a:t>Key distinction: RH tracks housing TRANSACTIONS (turnover), not prices</a:t>
            </a:r>
          </a:p>
          <a:p>
            <a:r>
              <a:rPr sz="1000" b="0" i="0" dirty="0">
                <a:solidFill>
                  <a:srgbClr val="5A5A5A"/>
                </a:solidFill>
                <a:latin typeface="Avenir Next LT Pro"/>
              </a:rPr>
              <a:t>Base case assumes NO recovery — a rate-driven turn is upside, not a requirement</a:t>
            </a:r>
          </a:p>
        </p:txBody>
      </p:sp>
      <p:sp>
        <p:nvSpPr>
          <p:cNvPr id="8" name="TextBox 7"/>
          <p:cNvSpPr txBox="1"/>
          <p:nvPr/>
        </p:nvSpPr>
        <p:spPr>
          <a:xfrm>
            <a:off x="457200" y="5989320"/>
            <a:ext cx="8229600" cy="365760"/>
          </a:xfrm>
          <a:prstGeom prst="rect">
            <a:avLst/>
          </a:prstGeom>
          <a:noFill/>
        </p:spPr>
        <p:txBody>
          <a:bodyPr wrap="square">
            <a:spAutoFit/>
          </a:bodyPr>
          <a:lstStyle/>
          <a:p>
            <a:r>
              <a:rPr sz="800" i="1">
                <a:solidFill>
                  <a:srgbClr val="707070"/>
                </a:solidFill>
                <a:latin typeface="Avenir Next LT Pro"/>
              </a:rPr>
              <a:t>EPS ≈ (EBITDA − ~$150M D&amp;A − ~$215M interest) × (1 − 25% tax) ÷ ~19M shares. Illustrative, not a forecast.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0880E-3485-E4DD-E794-98A7729742E7}"/>
              </a:ext>
            </a:extLst>
          </p:cNvPr>
          <p:cNvSpPr>
            <a:spLocks noGrp="1"/>
          </p:cNvSpPr>
          <p:nvPr>
            <p:ph type="title"/>
          </p:nvPr>
        </p:nvSpPr>
        <p:spPr/>
        <p:txBody>
          <a:bodyPr/>
          <a:lstStyle/>
          <a:p>
            <a:r>
              <a:rPr lang="en-US"/>
              <a:t>Competitive landscape</a:t>
            </a:r>
          </a:p>
        </p:txBody>
      </p:sp>
    </p:spTree>
    <p:extLst>
      <p:ext uri="{BB962C8B-B14F-4D97-AF65-F5344CB8AC3E}">
        <p14:creationId xmlns:p14="http://schemas.microsoft.com/office/powerpoint/2010/main" val="182952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8229600" cy="446276"/>
          </a:xfrm>
          <a:prstGeom prst="rect">
            <a:avLst/>
          </a:prstGeom>
          <a:noFill/>
        </p:spPr>
        <p:txBody>
          <a:bodyPr wrap="square">
            <a:spAutoFit/>
          </a:bodyPr>
          <a:lstStyle/>
          <a:p>
            <a:r>
              <a:rPr sz="2300" b="0" i="0" dirty="0">
                <a:latin typeface="Avenir Next LT Pro Demi"/>
              </a:rPr>
              <a:t>Competitive Landscape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3484064200"/>
              </p:ext>
            </p:extLst>
          </p:nvPr>
        </p:nvGraphicFramePr>
        <p:xfrm>
          <a:off x="457200" y="1547854"/>
          <a:ext cx="8229599" cy="2103120"/>
        </p:xfrm>
        <a:graphic>
          <a:graphicData uri="http://schemas.openxmlformats.org/drawingml/2006/table">
            <a:tbl>
              <a:tblPr>
                <a:tableStyleId>{5C22544A-7EE6-4342-B048-85BDC9FD1C3A}</a:tableStyleId>
              </a:tblPr>
              <a:tblGrid>
                <a:gridCol w="952901">
                  <a:extLst>
                    <a:ext uri="{9D8B030D-6E8A-4147-A177-3AD203B41FA5}">
                      <a16:colId xmlns:a16="http://schemas.microsoft.com/office/drawing/2014/main" val="20000"/>
                    </a:ext>
                  </a:extLst>
                </a:gridCol>
                <a:gridCol w="2165684">
                  <a:extLst>
                    <a:ext uri="{9D8B030D-6E8A-4147-A177-3AD203B41FA5}">
                      <a16:colId xmlns:a16="http://schemas.microsoft.com/office/drawing/2014/main" val="20001"/>
                    </a:ext>
                  </a:extLst>
                </a:gridCol>
                <a:gridCol w="1386038">
                  <a:extLst>
                    <a:ext uri="{9D8B030D-6E8A-4147-A177-3AD203B41FA5}">
                      <a16:colId xmlns:a16="http://schemas.microsoft.com/office/drawing/2014/main" val="20002"/>
                    </a:ext>
                  </a:extLst>
                </a:gridCol>
                <a:gridCol w="1169469">
                  <a:extLst>
                    <a:ext uri="{9D8B030D-6E8A-4147-A177-3AD203B41FA5}">
                      <a16:colId xmlns:a16="http://schemas.microsoft.com/office/drawing/2014/main" val="20003"/>
                    </a:ext>
                  </a:extLst>
                </a:gridCol>
                <a:gridCol w="1169469">
                  <a:extLst>
                    <a:ext uri="{9D8B030D-6E8A-4147-A177-3AD203B41FA5}">
                      <a16:colId xmlns:a16="http://schemas.microsoft.com/office/drawing/2014/main" val="20004"/>
                    </a:ext>
                  </a:extLst>
                </a:gridCol>
                <a:gridCol w="1386038">
                  <a:extLst>
                    <a:ext uri="{9D8B030D-6E8A-4147-A177-3AD203B41FA5}">
                      <a16:colId xmlns:a16="http://schemas.microsoft.com/office/drawing/2014/main" val="20005"/>
                    </a:ext>
                  </a:extLst>
                </a:gridCol>
              </a:tblGrid>
              <a:tr h="420624">
                <a:tc>
                  <a:txBody>
                    <a:bodyPr/>
                    <a:lstStyle/>
                    <a:p>
                      <a:pPr algn="l"/>
                      <a:r>
                        <a:rPr sz="950" b="1" i="0" dirty="0">
                          <a:solidFill>
                            <a:srgbClr val="FFFFFF"/>
                          </a:solidFill>
                          <a:latin typeface="Avenir Next LT Pro Demi"/>
                        </a:rPr>
                        <a:t>Ticker</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Company</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Rev CAGR (3y)</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EBITDA </a:t>
                      </a:r>
                      <a:r>
                        <a:rPr sz="950" b="1" i="0" dirty="0" err="1">
                          <a:solidFill>
                            <a:srgbClr val="FFFFFF"/>
                          </a:solidFill>
                          <a:latin typeface="Avenir Next LT Pro Demi"/>
                        </a:rPr>
                        <a:t>Mgn</a:t>
                      </a:r>
                      <a:endParaRPr sz="950" b="1" i="0" dirty="0">
                        <a:solidFill>
                          <a:srgbClr val="FFFFFF"/>
                        </a:solidFill>
                        <a:latin typeface="Avenir Next LT Pro Demi"/>
                      </a:endParaRP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EV/EBITDA</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Status</a:t>
                      </a:r>
                    </a:p>
                  </a:txBody>
                  <a:tcPr marL="73152" marR="73152" marT="18288" marB="18288" anchor="ctr">
                    <a:solidFill>
                      <a:srgbClr val="AF8C49"/>
                    </a:solidFill>
                  </a:tcPr>
                </a:tc>
                <a:extLst>
                  <a:ext uri="{0D108BD9-81ED-4DB2-BD59-A6C34878D82A}">
                    <a16:rowId xmlns:a16="http://schemas.microsoft.com/office/drawing/2014/main" val="10000"/>
                  </a:ext>
                </a:extLst>
              </a:tr>
              <a:tr h="420624">
                <a:tc>
                  <a:txBody>
                    <a:bodyPr/>
                    <a:lstStyle/>
                    <a:p>
                      <a:pPr algn="l"/>
                      <a:r>
                        <a:rPr sz="1050" b="1" i="0" dirty="0">
                          <a:solidFill>
                            <a:schemeClr val="tx1"/>
                          </a:solidFill>
                          <a:latin typeface="Avenir Next LT Pro Demi"/>
                        </a:rPr>
                        <a:t>ARHS</a:t>
                      </a:r>
                    </a:p>
                  </a:txBody>
                  <a:tcPr marL="73152" marR="73152" marT="18288" marB="18288" anchor="ctr">
                    <a:solidFill>
                      <a:srgbClr val="FFFFFF"/>
                    </a:solidFill>
                  </a:tcPr>
                </a:tc>
                <a:tc>
                  <a:txBody>
                    <a:bodyPr/>
                    <a:lstStyle/>
                    <a:p>
                      <a:pPr algn="ctr"/>
                      <a:r>
                        <a:rPr sz="1050" b="0" i="0" dirty="0">
                          <a:solidFill>
                            <a:schemeClr val="tx1"/>
                          </a:solidFill>
                          <a:latin typeface="Avenir Next LT Pro"/>
                        </a:rPr>
                        <a:t>Arhaus</a:t>
                      </a:r>
                    </a:p>
                  </a:txBody>
                  <a:tcPr marL="73152" marR="73152" marT="18288" marB="18288" anchor="ctr">
                    <a:solidFill>
                      <a:srgbClr val="FFFFFF"/>
                    </a:solidFill>
                  </a:tcPr>
                </a:tc>
                <a:tc>
                  <a:txBody>
                    <a:bodyPr/>
                    <a:lstStyle/>
                    <a:p>
                      <a:pPr algn="ctr"/>
                      <a:r>
                        <a:rPr sz="1050" b="0" i="0">
                          <a:solidFill>
                            <a:schemeClr val="tx1"/>
                          </a:solidFill>
                          <a:latin typeface="Avenir Next LT Pro"/>
                        </a:rPr>
                        <a:t>+11.4%</a:t>
                      </a:r>
                    </a:p>
                  </a:txBody>
                  <a:tcPr marL="73152" marR="73152" marT="18288" marB="18288" anchor="ctr">
                    <a:solidFill>
                      <a:srgbClr val="FFFFFF"/>
                    </a:solidFill>
                  </a:tcPr>
                </a:tc>
                <a:tc>
                  <a:txBody>
                    <a:bodyPr/>
                    <a:lstStyle/>
                    <a:p>
                      <a:pPr algn="ctr"/>
                      <a:r>
                        <a:rPr sz="1050" b="0" i="0">
                          <a:solidFill>
                            <a:schemeClr val="tx1"/>
                          </a:solidFill>
                          <a:latin typeface="Avenir Next LT Pro"/>
                        </a:rPr>
                        <a:t>~14%</a:t>
                      </a:r>
                    </a:p>
                  </a:txBody>
                  <a:tcPr marL="73152" marR="73152" marT="18288" marB="18288" anchor="ctr">
                    <a:solidFill>
                      <a:srgbClr val="FFFFFF"/>
                    </a:solidFill>
                  </a:tcPr>
                </a:tc>
                <a:tc>
                  <a:txBody>
                    <a:bodyPr/>
                    <a:lstStyle/>
                    <a:p>
                      <a:pPr algn="ctr"/>
                      <a:r>
                        <a:rPr sz="1050" b="0" i="0">
                          <a:solidFill>
                            <a:schemeClr val="tx1"/>
                          </a:solidFill>
                          <a:latin typeface="Avenir Next LT Pro"/>
                        </a:rPr>
                        <a:t>~11×</a:t>
                      </a:r>
                    </a:p>
                  </a:txBody>
                  <a:tcPr marL="73152" marR="73152" marT="18288" marB="18288" anchor="ctr">
                    <a:solidFill>
                      <a:srgbClr val="FFFFFF"/>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FFFFF"/>
                    </a:solidFill>
                  </a:tcPr>
                </a:tc>
                <a:extLst>
                  <a:ext uri="{0D108BD9-81ED-4DB2-BD59-A6C34878D82A}">
                    <a16:rowId xmlns:a16="http://schemas.microsoft.com/office/drawing/2014/main" val="10001"/>
                  </a:ext>
                </a:extLst>
              </a:tr>
              <a:tr h="420624">
                <a:tc>
                  <a:txBody>
                    <a:bodyPr/>
                    <a:lstStyle/>
                    <a:p>
                      <a:pPr algn="l"/>
                      <a:r>
                        <a:rPr sz="1050" b="1" i="0">
                          <a:solidFill>
                            <a:schemeClr val="tx1"/>
                          </a:solidFill>
                          <a:latin typeface="Avenir Next LT Pro Demi"/>
                        </a:rPr>
                        <a:t>WSM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Williams-Sonoma</a:t>
                      </a:r>
                    </a:p>
                  </a:txBody>
                  <a:tcPr marL="73152" marR="73152" marT="18288" marB="18288" anchor="ctr">
                    <a:solidFill>
                      <a:srgbClr val="F4F6F8"/>
                    </a:solidFill>
                  </a:tcPr>
                </a:tc>
                <a:tc>
                  <a:txBody>
                    <a:bodyPr/>
                    <a:lstStyle/>
                    <a:p>
                      <a:pPr algn="ctr"/>
                      <a:r>
                        <a:rPr sz="1050" b="0" i="0" dirty="0">
                          <a:solidFill>
                            <a:schemeClr val="tx1"/>
                          </a:solidFill>
                          <a:latin typeface="Avenir Next LT Pro"/>
                        </a:rPr>
                        <a:t>+7.2%</a:t>
                      </a:r>
                    </a:p>
                  </a:txBody>
                  <a:tcPr marL="73152" marR="73152" marT="18288" marB="18288" anchor="ctr">
                    <a:solidFill>
                      <a:srgbClr val="F4F6F8"/>
                    </a:solidFill>
                  </a:tcPr>
                </a:tc>
                <a:tc>
                  <a:txBody>
                    <a:bodyPr/>
                    <a:lstStyle/>
                    <a:p>
                      <a:pPr algn="ctr"/>
                      <a:r>
                        <a:rPr sz="1050" b="0" i="0">
                          <a:solidFill>
                            <a:schemeClr val="tx1"/>
                          </a:solidFill>
                          <a:latin typeface="Avenir Next LT Pro"/>
                        </a:rPr>
                        <a:t>~18%</a:t>
                      </a:r>
                    </a:p>
                  </a:txBody>
                  <a:tcPr marL="73152" marR="73152" marT="18288" marB="18288" anchor="ctr">
                    <a:solidFill>
                      <a:srgbClr val="F4F6F8"/>
                    </a:solidFill>
                  </a:tcPr>
                </a:tc>
                <a:tc>
                  <a:txBody>
                    <a:bodyPr/>
                    <a:lstStyle/>
                    <a:p>
                      <a:pPr algn="ctr"/>
                      <a:r>
                        <a:rPr sz="1050" b="0" i="0">
                          <a:solidFill>
                            <a:schemeClr val="tx1"/>
                          </a:solidFill>
                          <a:latin typeface="Avenir Next LT Pro"/>
                        </a:rPr>
                        <a:t>~15×</a:t>
                      </a:r>
                    </a:p>
                  </a:txBody>
                  <a:tcPr marL="73152" marR="73152" marT="18288" marB="18288" anchor="ctr">
                    <a:solidFill>
                      <a:srgbClr val="F4F6F8"/>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4F6F8"/>
                    </a:solidFill>
                  </a:tcPr>
                </a:tc>
                <a:extLst>
                  <a:ext uri="{0D108BD9-81ED-4DB2-BD59-A6C34878D82A}">
                    <a16:rowId xmlns:a16="http://schemas.microsoft.com/office/drawing/2014/main" val="10002"/>
                  </a:ext>
                </a:extLst>
              </a:tr>
              <a:tr h="420624">
                <a:tc>
                  <a:txBody>
                    <a:bodyPr/>
                    <a:lstStyle/>
                    <a:p>
                      <a:pPr algn="l"/>
                      <a:r>
                        <a:rPr sz="1050" b="1" i="0">
                          <a:solidFill>
                            <a:schemeClr val="tx1"/>
                          </a:solidFill>
                          <a:latin typeface="Avenir Next LT Pro Demi"/>
                        </a:rPr>
                        <a:t>RH</a:t>
                      </a:r>
                    </a:p>
                  </a:txBody>
                  <a:tcPr marL="73152" marR="73152" marT="18288" marB="18288" anchor="ctr">
                    <a:solidFill>
                      <a:srgbClr val="FFFFFF"/>
                    </a:solidFill>
                  </a:tcPr>
                </a:tc>
                <a:tc>
                  <a:txBody>
                    <a:bodyPr/>
                    <a:lstStyle/>
                    <a:p>
                      <a:pPr algn="ctr"/>
                      <a:r>
                        <a:rPr sz="1050" b="0" i="0">
                          <a:solidFill>
                            <a:schemeClr val="tx1"/>
                          </a:solidFill>
                          <a:latin typeface="Avenir Next LT Pro"/>
                        </a:rPr>
                        <a:t>Restoration Hardware</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-1.4%</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~17%</a:t>
                      </a:r>
                    </a:p>
                  </a:txBody>
                  <a:tcPr marL="73152" marR="73152" marT="18288" marB="18288" anchor="ctr">
                    <a:solidFill>
                      <a:srgbClr val="FFFFFF"/>
                    </a:solidFill>
                  </a:tcPr>
                </a:tc>
                <a:tc>
                  <a:txBody>
                    <a:bodyPr/>
                    <a:lstStyle/>
                    <a:p>
                      <a:pPr algn="ctr"/>
                      <a:r>
                        <a:rPr sz="1050" b="0" i="0">
                          <a:solidFill>
                            <a:schemeClr val="tx1"/>
                          </a:solidFill>
                          <a:latin typeface="Avenir Next LT Pro"/>
                        </a:rPr>
                        <a:t>~9.3×</a:t>
                      </a:r>
                    </a:p>
                  </a:txBody>
                  <a:tcPr marL="73152" marR="73152" marT="18288" marB="18288" anchor="ctr">
                    <a:solidFill>
                      <a:srgbClr val="FFFFFF"/>
                    </a:solidFill>
                  </a:tcPr>
                </a:tc>
                <a:tc>
                  <a:txBody>
                    <a:bodyPr/>
                    <a:lstStyle/>
                    <a:p>
                      <a:pPr algn="ctr"/>
                      <a:r>
                        <a:rPr sz="1050" b="0" i="0">
                          <a:solidFill>
                            <a:schemeClr val="tx1"/>
                          </a:solidFill>
                          <a:latin typeface="Avenir Next LT Pro"/>
                        </a:rPr>
                        <a:t>At Trough</a:t>
                      </a:r>
                    </a:p>
                  </a:txBody>
                  <a:tcPr marL="73152" marR="73152" marT="18288" marB="18288" anchor="ctr">
                    <a:solidFill>
                      <a:srgbClr val="FFFFFF"/>
                    </a:solidFill>
                  </a:tcPr>
                </a:tc>
                <a:extLst>
                  <a:ext uri="{0D108BD9-81ED-4DB2-BD59-A6C34878D82A}">
                    <a16:rowId xmlns:a16="http://schemas.microsoft.com/office/drawing/2014/main" val="10003"/>
                  </a:ext>
                </a:extLst>
              </a:tr>
              <a:tr h="420624">
                <a:tc>
                  <a:txBody>
                    <a:bodyPr/>
                    <a:lstStyle/>
                    <a:p>
                      <a:pPr algn="l"/>
                      <a:r>
                        <a:rPr sz="1050" b="1" i="0">
                          <a:solidFill>
                            <a:schemeClr val="tx1"/>
                          </a:solidFill>
                          <a:latin typeface="Avenir Next LT Pro Demi"/>
                        </a:rPr>
                        <a:t>W</a:t>
                      </a:r>
                    </a:p>
                  </a:txBody>
                  <a:tcPr marL="73152" marR="73152" marT="18288" marB="18288" anchor="ctr">
                    <a:solidFill>
                      <a:srgbClr val="F4F6F8"/>
                    </a:solidFill>
                  </a:tcPr>
                </a:tc>
                <a:tc>
                  <a:txBody>
                    <a:bodyPr/>
                    <a:lstStyle/>
                    <a:p>
                      <a:pPr algn="ctr"/>
                      <a:r>
                        <a:rPr sz="1050" b="0" i="0">
                          <a:solidFill>
                            <a:schemeClr val="tx1"/>
                          </a:solidFill>
                          <a:latin typeface="Avenir Next LT Pro"/>
                        </a:rPr>
                        <a:t>Wayfair</a:t>
                      </a:r>
                    </a:p>
                  </a:txBody>
                  <a:tcPr marL="73152" marR="73152" marT="18288" marB="18288" anchor="ctr">
                    <a:solidFill>
                      <a:srgbClr val="F4F6F8"/>
                    </a:solidFill>
                  </a:tcPr>
                </a:tc>
                <a:tc>
                  <a:txBody>
                    <a:bodyPr/>
                    <a:lstStyle/>
                    <a:p>
                      <a:pPr algn="ctr"/>
                      <a:r>
                        <a:rPr sz="1050" b="0" i="0">
                          <a:solidFill>
                            <a:schemeClr val="tx1"/>
                          </a:solidFill>
                          <a:latin typeface="Avenir Next LT Pro"/>
                        </a:rPr>
                        <a:t>-8.3%</a:t>
                      </a:r>
                    </a:p>
                  </a:txBody>
                  <a:tcPr marL="73152" marR="73152" marT="18288" marB="18288" anchor="ctr">
                    <a:solidFill>
                      <a:srgbClr val="F4F6F8"/>
                    </a:solidFill>
                  </a:tcPr>
                </a:tc>
                <a:tc>
                  <a:txBody>
                    <a:bodyPr/>
                    <a:lstStyle/>
                    <a:p>
                      <a:pPr algn="ctr"/>
                      <a:r>
                        <a:rPr sz="1050" b="0" i="0">
                          <a:solidFill>
                            <a:schemeClr val="tx1"/>
                          </a:solidFill>
                          <a:latin typeface="Avenir Next LT Pro"/>
                        </a:rPr>
                        <a:t>~1%</a:t>
                      </a:r>
                    </a:p>
                  </a:txBody>
                  <a:tcPr marL="73152" marR="73152" marT="18288" marB="18288" anchor="ctr">
                    <a:solidFill>
                      <a:srgbClr val="F4F6F8"/>
                    </a:solidFill>
                  </a:tcPr>
                </a:tc>
                <a:tc>
                  <a:txBody>
                    <a:bodyPr/>
                    <a:lstStyle/>
                    <a:p>
                      <a:pPr algn="ctr"/>
                      <a:r>
                        <a:rPr sz="1050" b="0" i="0" dirty="0">
                          <a:solidFill>
                            <a:schemeClr val="tx1"/>
                          </a:solidFill>
                          <a:latin typeface="Avenir Next LT Pro"/>
                        </a:rPr>
                        <a:t>NM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Underperforming</a:t>
                      </a:r>
                    </a:p>
                  </a:txBody>
                  <a:tcPr marL="73152" marR="73152" marT="18288" marB="18288" anchor="ctr">
                    <a:solidFill>
                      <a:srgbClr val="F4F6F8"/>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457200" y="3749039"/>
            <a:ext cx="8229600" cy="415498"/>
          </a:xfrm>
          <a:prstGeom prst="rect">
            <a:avLst/>
          </a:prstGeom>
          <a:noFill/>
        </p:spPr>
        <p:txBody>
          <a:bodyPr wrap="square">
            <a:spAutoFit/>
          </a:bodyPr>
          <a:lstStyle/>
          <a:p>
            <a:r>
              <a:rPr sz="1100" b="1" i="0" dirty="0">
                <a:latin typeface="Avenir Next LT Pro Demi"/>
              </a:rPr>
              <a:t>The real competitor is Arhaus, not European luxury.</a:t>
            </a:r>
          </a:p>
          <a:p>
            <a:r>
              <a:rPr sz="1000" b="0" i="0" dirty="0">
                <a:latin typeface="Avenir Next LT Pro"/>
              </a:rPr>
              <a:t>RH's negative CAGR is self-inflicted + housing — not lost share. Estates moves RH up, out of Arhaus's tier</a:t>
            </a:r>
            <a:endParaRPr sz="1000" b="0" i="0" dirty="0">
              <a:solidFill>
                <a:srgbClr val="5A5A5A"/>
              </a:solidFill>
              <a:latin typeface="Avenir Next LT Pr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198" y="274320"/>
            <a:ext cx="8229600" cy="446276"/>
          </a:xfrm>
          <a:prstGeom prst="rect">
            <a:avLst/>
          </a:prstGeom>
          <a:noFill/>
        </p:spPr>
        <p:txBody>
          <a:bodyPr wrap="square">
            <a:spAutoFit/>
          </a:bodyPr>
          <a:lstStyle/>
          <a:p>
            <a:r>
              <a:rPr sz="2300" b="0" i="0" dirty="0">
                <a:latin typeface="Avenir Next LT Pro Demi"/>
              </a:rPr>
              <a:t>Key Risks — What Has to Go Wrong</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Housing stays depressed through 2027</a:t>
            </a:r>
          </a:p>
          <a:p>
            <a:r>
              <a:rPr sz="950" b="1" i="0" dirty="0">
                <a:solidFill>
                  <a:srgbClr val="B03030"/>
                </a:solidFill>
                <a:latin typeface="Avenir Next LT Pro"/>
              </a:rPr>
              <a:t>Severity: HIGH   ·   Probability:</a:t>
            </a:r>
          </a:p>
        </p:txBody>
      </p:sp>
      <p:sp>
        <p:nvSpPr>
          <p:cNvPr id="7" name="Rectangle 6"/>
          <p:cNvSpPr/>
          <p:nvPr/>
        </p:nvSpPr>
        <p:spPr>
          <a:xfrm>
            <a:off x="457200" y="1554480"/>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709159"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Balance-sheet stress — ~4.0× levered, ~$225M/yr interest</a:t>
            </a:r>
          </a:p>
          <a:p>
            <a:r>
              <a:rPr sz="950" b="1" i="0" dirty="0">
                <a:solidFill>
                  <a:srgbClr val="B03030"/>
                </a:solidFill>
                <a:latin typeface="Avenir Next LT Pro"/>
              </a:rPr>
              <a:t>Severity: HIGH   ·   Probability:</a:t>
            </a:r>
          </a:p>
        </p:txBody>
      </p:sp>
      <p:sp>
        <p:nvSpPr>
          <p:cNvPr id="9" name="Rectangle 8"/>
          <p:cNvSpPr/>
          <p:nvPr/>
        </p:nvSpPr>
        <p:spPr>
          <a:xfrm>
            <a:off x="4709159" y="1554480"/>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International execution failure</a:t>
            </a:r>
          </a:p>
          <a:p>
            <a:r>
              <a:rPr sz="950" b="1" i="0" dirty="0">
                <a:solidFill>
                  <a:srgbClr val="C88A12"/>
                </a:solidFill>
                <a:latin typeface="Avenir Next LT Pro"/>
              </a:rPr>
              <a:t>Severity: MED   ·   Probability:</a:t>
            </a:r>
          </a:p>
        </p:txBody>
      </p:sp>
      <p:sp>
        <p:nvSpPr>
          <p:cNvPr id="11" name="Rectangle 10"/>
          <p:cNvSpPr/>
          <p:nvPr/>
        </p:nvSpPr>
        <p:spPr>
          <a:xfrm>
            <a:off x="457200" y="2679191"/>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709159"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Tariff / supply-chain disruption</a:t>
            </a:r>
          </a:p>
          <a:p>
            <a:r>
              <a:rPr sz="950" b="1" i="0" dirty="0">
                <a:solidFill>
                  <a:srgbClr val="C88A12"/>
                </a:solidFill>
                <a:latin typeface="Avenir Next LT Pro"/>
              </a:rPr>
              <a:t>Severity: MED   ·   Probability:</a:t>
            </a:r>
          </a:p>
        </p:txBody>
      </p:sp>
      <p:sp>
        <p:nvSpPr>
          <p:cNvPr id="13" name="Rectangle 12"/>
          <p:cNvSpPr/>
          <p:nvPr/>
        </p:nvSpPr>
        <p:spPr>
          <a:xfrm>
            <a:off x="4709159" y="2679191"/>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Friedman key-man dependency</a:t>
            </a:r>
          </a:p>
          <a:p>
            <a:r>
              <a:rPr sz="950" b="1" i="0" dirty="0">
                <a:solidFill>
                  <a:srgbClr val="B03030"/>
                </a:solidFill>
                <a:latin typeface="Avenir Next LT Pro"/>
              </a:rPr>
              <a:t>Severity: HIGH   ·   Probability:</a:t>
            </a:r>
          </a:p>
        </p:txBody>
      </p:sp>
      <p:sp>
        <p:nvSpPr>
          <p:cNvPr id="15" name="Rectangle 14"/>
          <p:cNvSpPr/>
          <p:nvPr/>
        </p:nvSpPr>
        <p:spPr>
          <a:xfrm>
            <a:off x="457200" y="3803904"/>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709159"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Broad consumer / discretionary recession</a:t>
            </a:r>
          </a:p>
          <a:p>
            <a:r>
              <a:rPr sz="950" b="1" i="0" dirty="0">
                <a:solidFill>
                  <a:srgbClr val="C88A12"/>
                </a:solidFill>
                <a:latin typeface="Avenir Next LT Pro"/>
              </a:rPr>
              <a:t>Severity: MED   ·   Probability:</a:t>
            </a:r>
          </a:p>
        </p:txBody>
      </p:sp>
      <p:sp>
        <p:nvSpPr>
          <p:cNvPr id="17" name="Rectangle 16"/>
          <p:cNvSpPr/>
          <p:nvPr/>
        </p:nvSpPr>
        <p:spPr>
          <a:xfrm>
            <a:off x="4709159" y="3803904"/>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4928616"/>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a:solidFill>
                  <a:srgbClr val="0E2841"/>
                </a:solidFill>
                <a:latin typeface="Avenir Next LT Pro Demi"/>
              </a:rPr>
              <a:t>Fulfillment / delivery execution (moat risk at Estates tier)</a:t>
            </a:r>
          </a:p>
          <a:p>
            <a:r>
              <a:rPr sz="950" b="1">
                <a:solidFill>
                  <a:srgbClr val="C88A12"/>
                </a:solidFill>
                <a:latin typeface="Avenir Next LT Pro"/>
              </a:rPr>
              <a:t>Severity: MED   ·   Probability: 30%</a:t>
            </a:r>
          </a:p>
        </p:txBody>
      </p:sp>
      <p:sp>
        <p:nvSpPr>
          <p:cNvPr id="19" name="Rectangle 18"/>
          <p:cNvSpPr/>
          <p:nvPr/>
        </p:nvSpPr>
        <p:spPr>
          <a:xfrm>
            <a:off x="457200" y="4928616"/>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How RH Got Here</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114300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920240" cy="1143000"/>
          </a:xfrm>
          <a:prstGeom prst="rect">
            <a:avLst/>
          </a:prstGeom>
          <a:noFill/>
        </p:spPr>
        <p:txBody>
          <a:bodyPr wrap="square" anchor="ctr">
            <a:spAutoFit/>
          </a:bodyPr>
          <a:lstStyle/>
          <a:p>
            <a:r>
              <a:rPr sz="1400" b="1">
                <a:solidFill>
                  <a:srgbClr val="000000"/>
                </a:solidFill>
                <a:latin typeface="Avenir Next LT Pro Demi"/>
              </a:rPr>
              <a:t>The Build</a:t>
            </a:r>
          </a:p>
          <a:p>
            <a:r>
              <a:rPr sz="1000" b="0">
                <a:solidFill>
                  <a:srgbClr val="707070"/>
                </a:solidFill>
                <a:latin typeface="Avenir Next LT Pro"/>
              </a:rPr>
              <a:t>Pre-2020</a:t>
            </a:r>
          </a:p>
        </p:txBody>
      </p:sp>
      <p:sp>
        <p:nvSpPr>
          <p:cNvPr id="6" name="TextBox 5"/>
          <p:cNvSpPr txBox="1"/>
          <p:nvPr/>
        </p:nvSpPr>
        <p:spPr>
          <a:xfrm>
            <a:off x="2743200" y="1371600"/>
            <a:ext cx="5943600" cy="1143000"/>
          </a:xfrm>
          <a:prstGeom prst="rect">
            <a:avLst/>
          </a:prstGeom>
          <a:noFill/>
        </p:spPr>
        <p:txBody>
          <a:bodyPr wrap="square" anchor="ctr">
            <a:spAutoFit/>
          </a:bodyPr>
          <a:lstStyle/>
          <a:p>
            <a:r>
              <a:rPr sz="1250" b="0">
                <a:solidFill>
                  <a:srgbClr val="000000"/>
                </a:solidFill>
                <a:latin typeface="Avenir Next LT Pro"/>
              </a:rPr>
              <a:t>Friedman turns RH into a luxury Gallery brand.</a:t>
            </a:r>
          </a:p>
        </p:txBody>
      </p:sp>
      <p:sp>
        <p:nvSpPr>
          <p:cNvPr id="7" name="Rectangle 6"/>
          <p:cNvSpPr/>
          <p:nvPr/>
        </p:nvSpPr>
        <p:spPr>
          <a:xfrm>
            <a:off x="457200" y="2679191"/>
            <a:ext cx="82296" cy="114300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9191"/>
            <a:ext cx="1920240" cy="1143000"/>
          </a:xfrm>
          <a:prstGeom prst="rect">
            <a:avLst/>
          </a:prstGeom>
          <a:noFill/>
        </p:spPr>
        <p:txBody>
          <a:bodyPr wrap="square" anchor="ctr">
            <a:spAutoFit/>
          </a:bodyPr>
          <a:lstStyle/>
          <a:p>
            <a:r>
              <a:rPr sz="1400" b="1">
                <a:solidFill>
                  <a:srgbClr val="000000"/>
                </a:solidFill>
                <a:latin typeface="Avenir Next LT Pro Demi"/>
              </a:rPr>
              <a:t>The Peak</a:t>
            </a:r>
          </a:p>
          <a:p>
            <a:r>
              <a:rPr sz="1000" b="0">
                <a:solidFill>
                  <a:srgbClr val="707070"/>
                </a:solidFill>
                <a:latin typeface="Avenir Next LT Pro"/>
              </a:rPr>
              <a:t>FY2022</a:t>
            </a:r>
          </a:p>
        </p:txBody>
      </p:sp>
      <p:sp>
        <p:nvSpPr>
          <p:cNvPr id="9" name="TextBox 8"/>
          <p:cNvSpPr txBox="1"/>
          <p:nvPr/>
        </p:nvSpPr>
        <p:spPr>
          <a:xfrm>
            <a:off x="2743200" y="2679191"/>
            <a:ext cx="5943600" cy="1143000"/>
          </a:xfrm>
          <a:prstGeom prst="rect">
            <a:avLst/>
          </a:prstGeom>
          <a:noFill/>
        </p:spPr>
        <p:txBody>
          <a:bodyPr wrap="square" anchor="ctr">
            <a:spAutoFit/>
          </a:bodyPr>
          <a:lstStyle/>
          <a:p>
            <a:r>
              <a:rPr sz="1250" b="0">
                <a:solidFill>
                  <a:srgbClr val="000000"/>
                </a:solidFill>
                <a:latin typeface="Avenir Next LT Pro"/>
              </a:rPr>
              <a:t>~$3.6B revenue — then buys back ~7.6M shares at ~$269–321, debt-funded.</a:t>
            </a:r>
          </a:p>
        </p:txBody>
      </p:sp>
      <p:sp>
        <p:nvSpPr>
          <p:cNvPr id="10" name="Rectangle 9"/>
          <p:cNvSpPr/>
          <p:nvPr/>
        </p:nvSpPr>
        <p:spPr>
          <a:xfrm>
            <a:off x="457200" y="3986783"/>
            <a:ext cx="82296" cy="114300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86783"/>
            <a:ext cx="1920240" cy="1143000"/>
          </a:xfrm>
          <a:prstGeom prst="rect">
            <a:avLst/>
          </a:prstGeom>
          <a:noFill/>
        </p:spPr>
        <p:txBody>
          <a:bodyPr wrap="square" anchor="ctr">
            <a:spAutoFit/>
          </a:bodyPr>
          <a:lstStyle/>
          <a:p>
            <a:r>
              <a:rPr sz="1400" b="1">
                <a:solidFill>
                  <a:srgbClr val="000000"/>
                </a:solidFill>
                <a:latin typeface="Avenir Next LT Pro Demi"/>
              </a:rPr>
              <a:t>The Fall</a:t>
            </a:r>
          </a:p>
          <a:p>
            <a:r>
              <a:rPr sz="1000" b="0">
                <a:solidFill>
                  <a:srgbClr val="707070"/>
                </a:solidFill>
                <a:latin typeface="Avenir Next LT Pro"/>
              </a:rPr>
              <a:t>FY23–24</a:t>
            </a:r>
          </a:p>
        </p:txBody>
      </p:sp>
      <p:sp>
        <p:nvSpPr>
          <p:cNvPr id="12" name="TextBox 11"/>
          <p:cNvSpPr txBox="1"/>
          <p:nvPr/>
        </p:nvSpPr>
        <p:spPr>
          <a:xfrm>
            <a:off x="2743200" y="3986783"/>
            <a:ext cx="5943600" cy="1143000"/>
          </a:xfrm>
          <a:prstGeom prst="rect">
            <a:avLst/>
          </a:prstGeom>
          <a:noFill/>
        </p:spPr>
        <p:txBody>
          <a:bodyPr wrap="square" anchor="ctr">
            <a:spAutoFit/>
          </a:bodyPr>
          <a:lstStyle/>
          <a:p>
            <a:r>
              <a:rPr sz="1250" b="0">
                <a:solidFill>
                  <a:srgbClr val="000000"/>
                </a:solidFill>
                <a:latin typeface="Avenir Next LT Pro"/>
              </a:rPr>
              <a:t>Housing freezes; revenue falls to ~$3.03B. Debt now ~$2.4B, ~4× levered.</a:t>
            </a:r>
          </a:p>
        </p:txBody>
      </p:sp>
      <p:sp>
        <p:nvSpPr>
          <p:cNvPr id="13" name="TextBox 12"/>
          <p:cNvSpPr txBox="1"/>
          <p:nvPr/>
        </p:nvSpPr>
        <p:spPr>
          <a:xfrm>
            <a:off x="457200" y="5806440"/>
            <a:ext cx="8229600" cy="365760"/>
          </a:xfrm>
          <a:prstGeom prst="rect">
            <a:avLst/>
          </a:prstGeom>
          <a:noFill/>
        </p:spPr>
        <p:txBody>
          <a:bodyPr wrap="square">
            <a:spAutoFit/>
          </a:bodyPr>
          <a:lstStyle/>
          <a:p>
            <a:r>
              <a:rPr sz="1100" b="1">
                <a:solidFill>
                  <a:srgbClr val="000000"/>
                </a:solidFill>
                <a:latin typeface="Avenir Next LT Pro Demi"/>
              </a:rPr>
              <a:t>Partly self-inflicted: leveraged buybacks at the top, then the cycle turned.</a:t>
            </a:r>
          </a:p>
        </p:txBody>
      </p:sp>
      <p:sp>
        <p:nvSpPr>
          <p:cNvPr id="14" name="TextBox 13"/>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Form 10-K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The Recovery Plan</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96012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7955279" cy="960120"/>
          </a:xfrm>
          <a:prstGeom prst="rect">
            <a:avLst/>
          </a:prstGeom>
          <a:noFill/>
        </p:spPr>
        <p:txBody>
          <a:bodyPr wrap="square" anchor="ctr">
            <a:spAutoFit/>
          </a:bodyPr>
          <a:lstStyle/>
          <a:p>
            <a:r>
              <a:rPr sz="1350" b="1">
                <a:solidFill>
                  <a:srgbClr val="000000"/>
                </a:solidFill>
                <a:latin typeface="Avenir Next LT Pro Demi"/>
              </a:rPr>
              <a:t>Product transformation  —  </a:t>
            </a:r>
            <a:r>
              <a:rPr sz="1250" b="0">
                <a:solidFill>
                  <a:srgbClr val="000000"/>
                </a:solidFill>
                <a:latin typeface="Avenir Next LT Pro"/>
              </a:rPr>
              <a:t>New collections and refreshed Sourcebooks.</a:t>
            </a:r>
          </a:p>
        </p:txBody>
      </p:sp>
      <p:sp>
        <p:nvSpPr>
          <p:cNvPr id="6" name="Rectangle 5"/>
          <p:cNvSpPr/>
          <p:nvPr/>
        </p:nvSpPr>
        <p:spPr>
          <a:xfrm>
            <a:off x="457200" y="2496312"/>
            <a:ext cx="82296" cy="960120"/>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496312"/>
            <a:ext cx="7955279" cy="960120"/>
          </a:xfrm>
          <a:prstGeom prst="rect">
            <a:avLst/>
          </a:prstGeom>
          <a:noFill/>
        </p:spPr>
        <p:txBody>
          <a:bodyPr wrap="square" anchor="ctr">
            <a:spAutoFit/>
          </a:bodyPr>
          <a:lstStyle/>
          <a:p>
            <a:r>
              <a:rPr sz="1350" b="1">
                <a:solidFill>
                  <a:srgbClr val="000000"/>
                </a:solidFill>
                <a:latin typeface="Avenir Next LT Pro Demi"/>
              </a:rPr>
              <a:t>Gallery expansion  —  </a:t>
            </a:r>
            <a:r>
              <a:rPr sz="1250" b="0">
                <a:solidFill>
                  <a:srgbClr val="000000"/>
                </a:solidFill>
                <a:latin typeface="Avenir Next LT Pro"/>
              </a:rPr>
              <a:t>Every major U.S./Canada market — RH's ~$5–6B opportunity.</a:t>
            </a:r>
          </a:p>
        </p:txBody>
      </p:sp>
      <p:sp>
        <p:nvSpPr>
          <p:cNvPr id="8" name="Rectangle 7"/>
          <p:cNvSpPr/>
          <p:nvPr/>
        </p:nvSpPr>
        <p:spPr>
          <a:xfrm>
            <a:off x="457200" y="3621024"/>
            <a:ext cx="82296" cy="96012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621024"/>
            <a:ext cx="7955279" cy="960120"/>
          </a:xfrm>
          <a:prstGeom prst="rect">
            <a:avLst/>
          </a:prstGeom>
          <a:noFill/>
        </p:spPr>
        <p:txBody>
          <a:bodyPr wrap="square" anchor="ctr">
            <a:spAutoFit/>
          </a:bodyPr>
          <a:lstStyle/>
          <a:p>
            <a:r>
              <a:rPr sz="1350" b="1">
                <a:solidFill>
                  <a:srgbClr val="000000"/>
                </a:solidFill>
                <a:latin typeface="Avenir Next LT Pro Demi"/>
              </a:rPr>
              <a:t>Move upmarket  —  </a:t>
            </a:r>
            <a:r>
              <a:rPr sz="1250" b="0">
                <a:solidFill>
                  <a:srgbClr val="000000"/>
                </a:solidFill>
                <a:latin typeface="Avenir Next LT Pro"/>
              </a:rPr>
              <a:t>Estates targets the rate-immune cash buyer.</a:t>
            </a:r>
          </a:p>
        </p:txBody>
      </p:sp>
      <p:sp>
        <p:nvSpPr>
          <p:cNvPr id="10" name="Rectangle 9"/>
          <p:cNvSpPr/>
          <p:nvPr/>
        </p:nvSpPr>
        <p:spPr>
          <a:xfrm>
            <a:off x="457200" y="4745736"/>
            <a:ext cx="82296" cy="96012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745736"/>
            <a:ext cx="7955279" cy="960120"/>
          </a:xfrm>
          <a:prstGeom prst="rect">
            <a:avLst/>
          </a:prstGeom>
          <a:noFill/>
        </p:spPr>
        <p:txBody>
          <a:bodyPr wrap="square" anchor="ctr">
            <a:spAutoFit/>
          </a:bodyPr>
          <a:lstStyle/>
          <a:p>
            <a:r>
              <a:rPr sz="1350" b="1">
                <a:solidFill>
                  <a:srgbClr val="000000"/>
                </a:solidFill>
                <a:latin typeface="Avenir Next LT Pro Demi"/>
              </a:rPr>
              <a:t>Global + platform  —  </a:t>
            </a:r>
            <a:r>
              <a:rPr sz="1250" b="0">
                <a:solidFill>
                  <a:srgbClr val="000000"/>
                </a:solidFill>
                <a:latin typeface="Avenir Next LT Pro"/>
              </a:rPr>
              <a:t>RH England, Guesthouses, hospitality &amp; F&amp;B.</a:t>
            </a:r>
          </a:p>
        </p:txBody>
      </p:sp>
      <p:sp>
        <p:nvSpPr>
          <p:cNvPr id="12" name="TextBox 11"/>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Form 10-K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Is It Working?</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34440"/>
            <a:ext cx="3977639" cy="384048"/>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a:solidFill>
                  <a:srgbClr val="FFFFFF"/>
                </a:solidFill>
                <a:latin typeface="Avenir Next LT Pro Demi"/>
              </a:rPr>
              <a:t>WORKING</a:t>
            </a:r>
          </a:p>
        </p:txBody>
      </p:sp>
      <p:sp>
        <p:nvSpPr>
          <p:cNvPr id="5" name="Rectangle 4"/>
          <p:cNvSpPr/>
          <p:nvPr/>
        </p:nvSpPr>
        <p:spPr>
          <a:xfrm>
            <a:off x="4709160" y="1234440"/>
            <a:ext cx="3977639" cy="384048"/>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a:solidFill>
                  <a:srgbClr val="FFFFFF"/>
                </a:solidFill>
                <a:latin typeface="Avenir Next LT Pro Demi"/>
              </a:rPr>
              <a:t>WATCH</a:t>
            </a:r>
          </a:p>
        </p:txBody>
      </p:sp>
      <p:sp>
        <p:nvSpPr>
          <p:cNvPr id="6" name="TextBox 5"/>
          <p:cNvSpPr txBox="1"/>
          <p:nvPr/>
        </p:nvSpPr>
        <p:spPr>
          <a:xfrm>
            <a:off x="457200" y="182880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FCF inflected to +$252M (from −$214M)</a:t>
            </a:r>
          </a:p>
        </p:txBody>
      </p:sp>
      <p:sp>
        <p:nvSpPr>
          <p:cNvPr id="7" name="TextBox 6"/>
          <p:cNvSpPr txBox="1"/>
          <p:nvPr/>
        </p:nvSpPr>
        <p:spPr>
          <a:xfrm>
            <a:off x="457200" y="265176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Inventory normalized $1.02B → $819M</a:t>
            </a:r>
          </a:p>
        </p:txBody>
      </p:sp>
      <p:sp>
        <p:nvSpPr>
          <p:cNvPr id="8" name="TextBox 7"/>
          <p:cNvSpPr txBox="1"/>
          <p:nvPr/>
        </p:nvSpPr>
        <p:spPr>
          <a:xfrm>
            <a:off x="457200" y="347472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Revenue re-accelerated +8.1% in FY25</a:t>
            </a:r>
          </a:p>
        </p:txBody>
      </p:sp>
      <p:sp>
        <p:nvSpPr>
          <p:cNvPr id="9" name="TextBox 8"/>
          <p:cNvSpPr txBox="1"/>
          <p:nvPr/>
        </p:nvSpPr>
        <p:spPr>
          <a:xfrm>
            <a:off x="4709160" y="182880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Q1 FY26: revenue −1.7%, net loss −$14M</a:t>
            </a:r>
          </a:p>
        </p:txBody>
      </p:sp>
      <p:sp>
        <p:nvSpPr>
          <p:cNvPr id="10" name="TextBox 9"/>
          <p:cNvSpPr txBox="1"/>
          <p:nvPr/>
        </p:nvSpPr>
        <p:spPr>
          <a:xfrm>
            <a:off x="4709160" y="265176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~$225M/yr interest keeps coverage thin</a:t>
            </a:r>
          </a:p>
        </p:txBody>
      </p:sp>
      <p:sp>
        <p:nvSpPr>
          <p:cNvPr id="11" name="TextBox 10"/>
          <p:cNvSpPr txBox="1"/>
          <p:nvPr/>
        </p:nvSpPr>
        <p:spPr>
          <a:xfrm>
            <a:off x="4709160" y="347472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Guidance is back-half loaded</a:t>
            </a:r>
          </a:p>
        </p:txBody>
      </p:sp>
      <p:sp>
        <p:nvSpPr>
          <p:cNvPr id="12" name="TextBox 11"/>
          <p:cNvSpPr txBox="1"/>
          <p:nvPr/>
        </p:nvSpPr>
        <p:spPr>
          <a:xfrm>
            <a:off x="457200" y="4663440"/>
            <a:ext cx="8229600" cy="365760"/>
          </a:xfrm>
          <a:prstGeom prst="rect">
            <a:avLst/>
          </a:prstGeom>
          <a:noFill/>
        </p:spPr>
        <p:txBody>
          <a:bodyPr wrap="square">
            <a:spAutoFit/>
          </a:bodyPr>
          <a:lstStyle/>
          <a:p>
            <a:r>
              <a:rPr sz="1150" b="1">
                <a:solidFill>
                  <a:srgbClr val="000000"/>
                </a:solidFill>
                <a:latin typeface="Avenir Next LT Pro Demi"/>
              </a:rPr>
              <a:t>Verdict: real but early — the next two quarters are the tell.</a:t>
            </a:r>
          </a:p>
        </p:txBody>
      </p:sp>
      <p:sp>
        <p:nvSpPr>
          <p:cNvPr id="13" name="TextBox 12"/>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10-K; Q1 FY2026 10-Q</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The Operator — Gary Friedman</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105156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965960" cy="1051560"/>
          </a:xfrm>
          <a:prstGeom prst="rect">
            <a:avLst/>
          </a:prstGeom>
          <a:noFill/>
        </p:spPr>
        <p:txBody>
          <a:bodyPr wrap="square" anchor="ctr">
            <a:spAutoFit/>
          </a:bodyPr>
          <a:lstStyle/>
          <a:p>
            <a:r>
              <a:rPr sz="1250" b="1">
                <a:solidFill>
                  <a:srgbClr val="000000"/>
                </a:solidFill>
                <a:latin typeface="Avenir Next LT Pro Demi"/>
              </a:rPr>
              <a:t>Role</a:t>
            </a:r>
          </a:p>
        </p:txBody>
      </p:sp>
      <p:sp>
        <p:nvSpPr>
          <p:cNvPr id="6" name="TextBox 5"/>
          <p:cNvSpPr txBox="1"/>
          <p:nvPr/>
        </p:nvSpPr>
        <p:spPr>
          <a:xfrm>
            <a:off x="2697480" y="1371600"/>
            <a:ext cx="5989320" cy="1051560"/>
          </a:xfrm>
          <a:prstGeom prst="rect">
            <a:avLst/>
          </a:prstGeom>
          <a:noFill/>
        </p:spPr>
        <p:txBody>
          <a:bodyPr wrap="square" anchor="ctr">
            <a:spAutoFit/>
          </a:bodyPr>
          <a:lstStyle/>
          <a:p>
            <a:r>
              <a:rPr sz="1200" b="0">
                <a:solidFill>
                  <a:srgbClr val="000000"/>
                </a:solidFill>
                <a:latin typeface="Avenir Next LT Pro"/>
              </a:rPr>
              <a:t>Chairman &amp; CEO and the brand's creative force (10-K key-man).</a:t>
            </a:r>
          </a:p>
        </p:txBody>
      </p:sp>
      <p:sp>
        <p:nvSpPr>
          <p:cNvPr id="7" name="Rectangle 6"/>
          <p:cNvSpPr/>
          <p:nvPr/>
        </p:nvSpPr>
        <p:spPr>
          <a:xfrm>
            <a:off x="457200" y="2514600"/>
            <a:ext cx="82296" cy="1051560"/>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514600"/>
            <a:ext cx="1965960" cy="1051560"/>
          </a:xfrm>
          <a:prstGeom prst="rect">
            <a:avLst/>
          </a:prstGeom>
          <a:noFill/>
        </p:spPr>
        <p:txBody>
          <a:bodyPr wrap="square" anchor="ctr">
            <a:spAutoFit/>
          </a:bodyPr>
          <a:lstStyle/>
          <a:p>
            <a:r>
              <a:rPr sz="1250" b="1">
                <a:solidFill>
                  <a:srgbClr val="000000"/>
                </a:solidFill>
                <a:latin typeface="Avenir Next LT Pro Demi"/>
              </a:rPr>
              <a:t>Track record</a:t>
            </a:r>
          </a:p>
        </p:txBody>
      </p:sp>
      <p:sp>
        <p:nvSpPr>
          <p:cNvPr id="9" name="TextBox 8"/>
          <p:cNvSpPr txBox="1"/>
          <p:nvPr/>
        </p:nvSpPr>
        <p:spPr>
          <a:xfrm>
            <a:off x="2697480" y="2514600"/>
            <a:ext cx="5989320" cy="1051560"/>
          </a:xfrm>
          <a:prstGeom prst="rect">
            <a:avLst/>
          </a:prstGeom>
          <a:noFill/>
        </p:spPr>
        <p:txBody>
          <a:bodyPr wrap="square" anchor="ctr">
            <a:spAutoFit/>
          </a:bodyPr>
          <a:lstStyle/>
          <a:p>
            <a:r>
              <a:rPr sz="1200" b="0">
                <a:solidFill>
                  <a:srgbClr val="000000"/>
                </a:solidFill>
                <a:latin typeface="Avenir Next LT Pro"/>
              </a:rPr>
              <a:t>Grew Pottery Barn $50M → $1B+; joined RH in 2001 near bankruptcy.</a:t>
            </a:r>
          </a:p>
        </p:txBody>
      </p:sp>
      <p:sp>
        <p:nvSpPr>
          <p:cNvPr id="10" name="Rectangle 9"/>
          <p:cNvSpPr/>
          <p:nvPr/>
        </p:nvSpPr>
        <p:spPr>
          <a:xfrm>
            <a:off x="457200" y="3657600"/>
            <a:ext cx="82296" cy="105156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657600"/>
            <a:ext cx="1965960" cy="1051560"/>
          </a:xfrm>
          <a:prstGeom prst="rect">
            <a:avLst/>
          </a:prstGeom>
          <a:noFill/>
        </p:spPr>
        <p:txBody>
          <a:bodyPr wrap="square" anchor="ctr">
            <a:spAutoFit/>
          </a:bodyPr>
          <a:lstStyle/>
          <a:p>
            <a:r>
              <a:rPr sz="1250" b="1">
                <a:solidFill>
                  <a:srgbClr val="000000"/>
                </a:solidFill>
                <a:latin typeface="Avenir Next LT Pro Demi"/>
              </a:rPr>
              <a:t>Skin in the game</a:t>
            </a:r>
          </a:p>
        </p:txBody>
      </p:sp>
      <p:sp>
        <p:nvSpPr>
          <p:cNvPr id="12" name="TextBox 11"/>
          <p:cNvSpPr txBox="1"/>
          <p:nvPr/>
        </p:nvSpPr>
        <p:spPr>
          <a:xfrm>
            <a:off x="2697480" y="3657600"/>
            <a:ext cx="5989320" cy="1051560"/>
          </a:xfrm>
          <a:prstGeom prst="rect">
            <a:avLst/>
          </a:prstGeom>
          <a:noFill/>
        </p:spPr>
        <p:txBody>
          <a:bodyPr wrap="square" anchor="ctr">
            <a:spAutoFit/>
          </a:bodyPr>
          <a:lstStyle/>
          <a:p>
            <a:r>
              <a:rPr sz="1200" b="0">
                <a:solidFill>
                  <a:srgbClr val="000000"/>
                </a:solidFill>
                <a:latin typeface="Avenir Next LT Pro"/>
              </a:rPr>
              <a:t>Owns ~25%; bought ~$10M more at ~$216 in June 2024.</a:t>
            </a:r>
          </a:p>
        </p:txBody>
      </p:sp>
      <p:sp>
        <p:nvSpPr>
          <p:cNvPr id="13" name="Rectangle 12"/>
          <p:cNvSpPr/>
          <p:nvPr/>
        </p:nvSpPr>
        <p:spPr>
          <a:xfrm>
            <a:off x="457200" y="4800600"/>
            <a:ext cx="82296" cy="105156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800600"/>
            <a:ext cx="1965960" cy="1051560"/>
          </a:xfrm>
          <a:prstGeom prst="rect">
            <a:avLst/>
          </a:prstGeom>
          <a:noFill/>
        </p:spPr>
        <p:txBody>
          <a:bodyPr wrap="square" anchor="ctr">
            <a:spAutoFit/>
          </a:bodyPr>
          <a:lstStyle/>
          <a:p>
            <a:r>
              <a:rPr sz="1250" b="1">
                <a:solidFill>
                  <a:srgbClr val="000000"/>
                </a:solidFill>
                <a:latin typeface="Avenir Next LT Pro Demi"/>
              </a:rPr>
              <a:t>The double edge</a:t>
            </a:r>
          </a:p>
        </p:txBody>
      </p:sp>
      <p:sp>
        <p:nvSpPr>
          <p:cNvPr id="15" name="TextBox 14"/>
          <p:cNvSpPr txBox="1"/>
          <p:nvPr/>
        </p:nvSpPr>
        <p:spPr>
          <a:xfrm>
            <a:off x="2697480" y="4800600"/>
            <a:ext cx="5989320" cy="1051560"/>
          </a:xfrm>
          <a:prstGeom prst="rect">
            <a:avLst/>
          </a:prstGeom>
          <a:noFill/>
        </p:spPr>
        <p:txBody>
          <a:bodyPr wrap="square" anchor="ctr">
            <a:spAutoFit/>
          </a:bodyPr>
          <a:lstStyle/>
          <a:p>
            <a:r>
              <a:rPr sz="1200" b="0">
                <a:solidFill>
                  <a:srgbClr val="000000"/>
                </a:solidFill>
                <a:latin typeface="Avenir Next LT Pro"/>
              </a:rPr>
              <a:t>Bold allocator — same conviction drove the buybacks and Estates.</a:t>
            </a:r>
          </a:p>
        </p:txBody>
      </p:sp>
      <p:sp>
        <p:nvSpPr>
          <p:cNvPr id="16" name="TextBox 15"/>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10-K; RH IR &amp; SEC Form 4 (Jun 26, 2024); company bios</a:t>
            </a:r>
          </a:p>
        </p:txBody>
      </p:sp>
    </p:spTree>
  </p:cSld>
  <p:clrMapOvr>
    <a:masterClrMapping/>
  </p:clrMapOvr>
</p:sld>
</file>

<file path=ppt/theme/theme1.xml><?xml version="1.0" encoding="utf-8"?>
<a:theme xmlns:a="http://schemas.openxmlformats.org/drawingml/2006/main" name="Theme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1">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sz="2400"/>
        </a:defPPr>
      </a:lstStyle>
      <a:style>
        <a:lnRef idx="2">
          <a:schemeClr val="dk1">
            <a:shade val="50000"/>
          </a:schemeClr>
        </a:lnRef>
        <a:fillRef idx="1">
          <a:schemeClr val="dk1"/>
        </a:fillRef>
        <a:effectRef idx="0">
          <a:schemeClr val="dk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nSpc>
            <a:spcPct val="90000"/>
          </a:lnSpc>
          <a:defRPr sz="2400"/>
        </a:defPPr>
      </a:lstStyle>
    </a:txDef>
  </a:objectDefaults>
  <a:extraClrSchemeLst/>
  <a:extLst>
    <a:ext uri="{05A4C25C-085E-4340-85A3-A5531E510DB2}">
      <thm15:themeFamily xmlns:thm15="http://schemas.microsoft.com/office/thememl/2012/main" name="Theme1" id="{3BFAA7AE-A268-4826-9D8B-94FA75FEEF0F}" vid="{9E9B2CBF-1CCA-4D2A-AC69-DF77A87F1DC6}"/>
    </a:ext>
  </a:extLst>
</a:theme>
</file>

<file path=ppt/theme/theme2.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47"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2EC8420-7163-49FF-8E4A-85261AD340AF}">
  <we:reference id="wa200010001" version="1.0.0.1" store="en-US" storeType="OMEX"/>
  <we:alternateReferences>
    <we:reference id="WA200010001" version="1.0.0.1" store="" storeType="OMEX"/>
  </we:alternateReferences>
  <we:properties>
    <we:property name="claude.fileId" value="&quot;66a6f049-fcc9-46c6-bfc3-b8f1fcac00f7&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F3AA903C02CEB42B8ED53135F8CD172" ma:contentTypeVersion="19" ma:contentTypeDescription="Create a new document." ma:contentTypeScope="" ma:versionID="d26509f8eb1f4bd0cedb37206d7fe58d">
  <xsd:schema xmlns:xsd="http://www.w3.org/2001/XMLSchema" xmlns:xs="http://www.w3.org/2001/XMLSchema" xmlns:p="http://schemas.microsoft.com/office/2006/metadata/properties" xmlns:ns2="97990345-9152-4417-8f04-d1350c114d86" xmlns:ns3="60323a4b-ec8c-4870-a04a-4daeb2e428a0" xmlns:ns4="5684647e-1a6d-4b94-b02a-af0990aec00f" targetNamespace="http://schemas.microsoft.com/office/2006/metadata/properties" ma:root="true" ma:fieldsID="a00cabcfd3e433e5628bc08f43970357" ns2:_="" ns3:_="" ns4:_="">
    <xsd:import namespace="97990345-9152-4417-8f04-d1350c114d86"/>
    <xsd:import namespace="60323a4b-ec8c-4870-a04a-4daeb2e428a0"/>
    <xsd:import namespace="5684647e-1a6d-4b94-b02a-af0990aec00f"/>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lcf76f155ced4ddcb4097134ff3c332f" minOccurs="0"/>
                <xsd:element ref="ns3:TaxCatchAll" minOccurs="0"/>
                <xsd:element ref="ns2:MediaServiceObjectDetectorVersions" minOccurs="0"/>
                <xsd:element ref="ns2:MediaServiceSearchProperties" minOccurs="0"/>
                <xsd:element ref="ns2:MediaServiceDateTaken" minOccurs="0"/>
                <xsd:element ref="ns4:SharedWithUsers" minOccurs="0"/>
                <xsd:element ref="ns4:SharedWithDetails" minOccurs="0"/>
                <xsd:element ref="ns2:MediaServiceLocation" minOccurs="0"/>
                <xsd:element ref="ns2:MediaServiceBillingMetadata"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7990345-9152-4417-8f04-d1350c114d8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527491e8-f4ef-4635-9e85-3146e5dcd36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MediaLengthInSeconds" ma:index="26"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0323a4b-ec8c-4870-a04a-4daeb2e428a0"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fab32fd4-b725-4246-ae97-00f2796f2d8b}" ma:internalName="TaxCatchAll" ma:showField="CatchAllData" ma:web="60323a4b-ec8c-4870-a04a-4daeb2e428a0">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5684647e-1a6d-4b94-b02a-af0990aec00f" elementFormDefault="qualified">
    <xsd:import namespace="http://schemas.microsoft.com/office/2006/documentManagement/types"/>
    <xsd:import namespace="http://schemas.microsoft.com/office/infopath/2007/PartnerControls"/>
    <xsd:element name="SharedWithUsers" ma:index="2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pc="http://schemas.microsoft.com/office/infopath/2007/PartnerControls" xmlns:xsi="http://www.w3.org/2001/XMLSchema-instance">
  <documentManagement>
    <lcf76f155ced4ddcb4097134ff3c332f xmlns="97990345-9152-4417-8f04-d1350c114d86">
      <Terms xmlns="http://schemas.microsoft.com/office/infopath/2007/PartnerControls"/>
    </lcf76f155ced4ddcb4097134ff3c332f>
    <TaxCatchAll xmlns="60323a4b-ec8c-4870-a04a-4daeb2e428a0" xsi:nil="true"/>
  </documentManagement>
</p:properties>
</file>

<file path=customXml/itemProps1.xml><?xml version="1.0" encoding="utf-8"?>
<ds:datastoreItem xmlns:ds="http://schemas.openxmlformats.org/officeDocument/2006/customXml" ds:itemID="{595B4667-E460-42B9-B123-AF1C3A04326C}">
  <ds:schemaRefs>
    <ds:schemaRef ds:uri="5684647e-1a6d-4b94-b02a-af0990aec00f"/>
    <ds:schemaRef ds:uri="60323a4b-ec8c-4870-a04a-4daeb2e428a0"/>
    <ds:schemaRef ds:uri="97990345-9152-4417-8f04-d1350c114d8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1FB15A05-7974-443B-B2C6-66CA14E10BBE}">
  <ds:schemaRefs>
    <ds:schemaRef ds:uri="http://schemas.microsoft.com/sharepoint/v3/contenttype/forms"/>
  </ds:schemaRefs>
</ds:datastoreItem>
</file>

<file path=customXml/itemProps3.xml><?xml version="1.0" encoding="utf-8"?>
<ds:datastoreItem xmlns:ds="http://schemas.openxmlformats.org/officeDocument/2006/customXml" ds:itemID="{F45B40EE-95C0-4252-9204-87A3C9A26B20}">
  <ds:schemaRefs>
    <ds:schemaRef ds:uri="http://www.w3.org/XML/1998/namespace"/>
    <ds:schemaRef ds:uri="http://purl.org/dc/elements/1.1/"/>
    <ds:schemaRef ds:uri="http://purl.org/dc/terms/"/>
    <ds:schemaRef ds:uri="http://purl.org/dc/dcmitype/"/>
    <ds:schemaRef ds:uri="5684647e-1a6d-4b94-b02a-af0990aec00f"/>
    <ds:schemaRef ds:uri="http://schemas.microsoft.com/office/2006/documentManagement/types"/>
    <ds:schemaRef ds:uri="http://schemas.openxmlformats.org/package/2006/metadata/core-properties"/>
    <ds:schemaRef ds:uri="http://schemas.microsoft.com/office/infopath/2007/PartnerControls"/>
    <ds:schemaRef ds:uri="60323a4b-ec8c-4870-a04a-4daeb2e428a0"/>
    <ds:schemaRef ds:uri="97990345-9152-4417-8f04-d1350c114d86"/>
    <ds:schemaRef ds:uri="http://schemas.microsoft.com/office/2006/metadata/properties"/>
  </ds:schemaRefs>
</ds:datastoreItem>
</file>

<file path=docMetadata/LabelInfo.xml><?xml version="1.0" encoding="utf-8"?>
<clbl:labelList xmlns:clbl="http://schemas.microsoft.com/office/2020/mipLabelMetadata">
  <clbl:label id="{c327fc46-d125-460c-9dec-2276c3cb8bf4}" enabled="0" method="" siteId="{c327fc46-d125-460c-9dec-2276c3cb8bf4}" removed="1"/>
</clbl:labelList>
</file>

<file path=docProps/app.xml><?xml version="1.0" encoding="utf-8"?>
<Properties xmlns="http://schemas.openxmlformats.org/officeDocument/2006/extended-properties" xmlns:vt="http://schemas.openxmlformats.org/officeDocument/2006/docPropsVTypes">
  <Template>Nike Stock Pitch</Template>
  <TotalTime>399</TotalTime>
  <Words>1025</Words>
  <Application>Microsoft Office PowerPoint</Application>
  <PresentationFormat>On-screen Show (4:3)</PresentationFormat>
  <Paragraphs>229</Paragraphs>
  <Slides>12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Avenir Next LT Pro</vt:lpstr>
      <vt:lpstr>Avenir Next LT Pro Demi</vt:lpstr>
      <vt:lpstr>Cambria</vt:lpstr>
      <vt:lpstr>Century Gothic</vt:lpstr>
      <vt:lpstr>Wingdings</vt:lpstr>
      <vt:lpstr>Theme1</vt:lpstr>
      <vt:lpstr>PowerPoint Presentation</vt:lpstr>
      <vt:lpstr>Table of Contents</vt:lpstr>
      <vt:lpstr>Investment thesis</vt:lpstr>
      <vt:lpstr>PowerPoint Presentation</vt:lpstr>
      <vt:lpstr>Stock Overview</vt:lpstr>
      <vt:lpstr>PowerPoint Presentation</vt:lpstr>
      <vt:lpstr>Valuation &amp; returns</vt:lpstr>
      <vt:lpstr>PowerPoint Presentation</vt:lpstr>
      <vt:lpstr>PowerPoint Presentation</vt:lpstr>
      <vt:lpstr>Competitive landscape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Derrick Chen</dc:creator>
  <cp:lastModifiedBy>Derrick Chen</cp:lastModifiedBy>
  <cp:revision>3</cp:revision>
  <cp:lastPrinted>2026-06-10T00:07:23Z</cp:lastPrinted>
  <dcterms:created xsi:type="dcterms:W3CDTF">2026-06-26T21:07:49Z</dcterms:created>
  <dcterms:modified xsi:type="dcterms:W3CDTF">2026-07-02T20:59:50Z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TC028048779991</vt:lpwstr>
  </property>
  <property fmtid="{D5CDD505-2E9C-101B-9397-08002B2CF9AE}" pid="3" name="Modified By">
    <vt:lpwstr>i:0#.f|membership|tramirez@kildarepartners.com</vt:lpwstr>
  </property>
  <property fmtid="{D5CDD505-2E9C-101B-9397-08002B2CF9AE}" pid="4" name="Created By">
    <vt:lpwstr>i:0#.f|membership|tramirez@kildarepartners.com</vt:lpwstr>
  </property>
  <property fmtid="{D5CDD505-2E9C-101B-9397-08002B2CF9AE}" pid="5" name="ContentTypeId">
    <vt:lpwstr>0x010100CF3AA903C02CEB42B8ED53135F8CD172</vt:lpwstr>
  </property>
  <property fmtid="{D5CDD505-2E9C-101B-9397-08002B2CF9AE}" pid="6" name="MediaServiceImageTags">
    <vt:lpwstr/>
  </property>
</Properties>
</file>