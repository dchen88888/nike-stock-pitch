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handoutMasterIdLst>
    <p:handoutMasterId r:id="rId18"/>
  </p:handoutMasterIdLst>
  <p:sldIdLst>
    <p:sldId id="422" r:id="rId5"/>
    <p:sldId id="433" r:id="rId6"/>
    <p:sldId id="483" r:id="rId7"/>
    <p:sldId id="507" r:id="rId8"/>
    <p:sldId id="519" r:id="rId32"/>
    <p:sldId id="518" r:id="rId31"/>
    <p:sldId id="481" r:id="rId9"/>
    <p:sldId id="514" r:id="rId27"/>
    <p:sldId id="515" r:id="rId28"/>
    <p:sldId id="520" r:id="rId33"/>
    <p:sldId id="517" r:id="rId30"/>
    <p:sldId id="521" r:id="rId34"/>
    <p:sldId id="516" r:id="rId29"/>
    <p:sldId id="508" r:id="rId10"/>
    <p:sldId id="482" r:id="rId11"/>
    <p:sldId id="509" r:id="rId12"/>
    <p:sldId id="510" r:id="rId13"/>
    <p:sldId id="506" r:id="rId14"/>
    <p:sldId id="511" r:id="rId15"/>
    <p:sldId id="513" r:id="rId16"/>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8C49"/>
    <a:srgbClr val="769FB9"/>
    <a:srgbClr val="156082"/>
    <a:srgbClr val="769FB6"/>
    <a:srgbClr val="4F505D"/>
    <a:srgbClr val="FFCFD2"/>
    <a:srgbClr val="EC9A07"/>
    <a:srgbClr val="00B050"/>
    <a:srgbClr val="FFA97B"/>
    <a:srgbClr val="DD2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DB18F-64E6-4430-AE39-36A3F49E788B}" v="6" dt="2026-07-01T16:48:15.269"/>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1848" y="72"/>
      </p:cViewPr>
      <p:guideLst>
        <p:guide pos="288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7.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microsoft.com/office/2018/10/relationships/authors" Target="authors.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3.xml"/><Relationship Id="rId30" Type="http://schemas.openxmlformats.org/officeDocument/2006/relationships/slide" Target="slides/slide11.xml"/><Relationship Id="rId31" Type="http://schemas.openxmlformats.org/officeDocument/2006/relationships/slide" Target="slides/slide6.xml"/><Relationship Id="rId32" Type="http://schemas.openxmlformats.org/officeDocument/2006/relationships/slide" Target="slides/slide5.xml"/><Relationship Id="rId33" Type="http://schemas.openxmlformats.org/officeDocument/2006/relationships/slide" Target="slides/slide10.xml"/><Relationship Id="rId3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rick Chen" userId="c17abf16-4572-4718-92d2-b565decf0b0c" providerId="ADAL" clId="{26BCF191-4B8C-46F4-B4E0-CF774475ACF2}"/>
    <pc:docChg chg="custSel addSld delSld modSld sldOrd">
      <pc:chgData name="Derrick Chen" userId="c17abf16-4572-4718-92d2-b565decf0b0c" providerId="ADAL" clId="{26BCF191-4B8C-46F4-B4E0-CF774475ACF2}" dt="2026-07-01T18:02:56.243" v="92" actId="20577"/>
      <pc:docMkLst>
        <pc:docMk/>
      </pc:docMkLst>
      <pc:sldChg chg="modSp mod">
        <pc:chgData name="Derrick Chen" userId="c17abf16-4572-4718-92d2-b565decf0b0c" providerId="ADAL" clId="{26BCF191-4B8C-46F4-B4E0-CF774475ACF2}" dt="2026-06-26T21:09:21.628" v="25" actId="20577"/>
        <pc:sldMkLst>
          <pc:docMk/>
          <pc:sldMk cId="2627608767" sldId="422"/>
        </pc:sldMkLst>
        <pc:spChg chg="mod">
          <ac:chgData name="Derrick Chen" userId="c17abf16-4572-4718-92d2-b565decf0b0c" providerId="ADAL" clId="{26BCF191-4B8C-46F4-B4E0-CF774475ACF2}" dt="2026-06-26T21:09:21.628" v="25" actId="20577"/>
          <ac:spMkLst>
            <pc:docMk/>
            <pc:sldMk cId="2627608767" sldId="422"/>
            <ac:spMk id="3" creationId="{59638BFF-4FC7-3F12-DDB4-5547AEC40B4E}"/>
          </ac:spMkLst>
        </pc:spChg>
      </pc:sldChg>
      <pc:sldChg chg="del">
        <pc:chgData name="Derrick Chen" userId="c17abf16-4572-4718-92d2-b565decf0b0c" providerId="ADAL" clId="{26BCF191-4B8C-46F4-B4E0-CF774475ACF2}" dt="2026-07-01T00:39:06.980" v="29" actId="47"/>
        <pc:sldMkLst>
          <pc:docMk/>
          <pc:sldMk cId="2497924218" sldId="489"/>
        </pc:sldMkLst>
      </pc:sldChg>
      <pc:sldChg chg="del">
        <pc:chgData name="Derrick Chen" userId="c17abf16-4572-4718-92d2-b565decf0b0c" providerId="ADAL" clId="{26BCF191-4B8C-46F4-B4E0-CF774475ACF2}" dt="2026-07-01T00:39:14.854" v="36" actId="47"/>
        <pc:sldMkLst>
          <pc:docMk/>
          <pc:sldMk cId="637616509" sldId="492"/>
        </pc:sldMkLst>
      </pc:sldChg>
      <pc:sldChg chg="del">
        <pc:chgData name="Derrick Chen" userId="c17abf16-4572-4718-92d2-b565decf0b0c" providerId="ADAL" clId="{26BCF191-4B8C-46F4-B4E0-CF774475ACF2}" dt="2026-07-01T00:39:08.105" v="31" actId="47"/>
        <pc:sldMkLst>
          <pc:docMk/>
          <pc:sldMk cId="2727070108" sldId="493"/>
        </pc:sldMkLst>
      </pc:sldChg>
      <pc:sldChg chg="del">
        <pc:chgData name="Derrick Chen" userId="c17abf16-4572-4718-92d2-b565decf0b0c" providerId="ADAL" clId="{26BCF191-4B8C-46F4-B4E0-CF774475ACF2}" dt="2026-07-01T00:39:15.710" v="37" actId="47"/>
        <pc:sldMkLst>
          <pc:docMk/>
          <pc:sldMk cId="3714223132" sldId="495"/>
        </pc:sldMkLst>
      </pc:sldChg>
      <pc:sldChg chg="del">
        <pc:chgData name="Derrick Chen" userId="c17abf16-4572-4718-92d2-b565decf0b0c" providerId="ADAL" clId="{26BCF191-4B8C-46F4-B4E0-CF774475ACF2}" dt="2026-07-01T00:39:11.445" v="33" actId="47"/>
        <pc:sldMkLst>
          <pc:docMk/>
          <pc:sldMk cId="2747759066" sldId="496"/>
        </pc:sldMkLst>
      </pc:sldChg>
      <pc:sldChg chg="del">
        <pc:chgData name="Derrick Chen" userId="c17abf16-4572-4718-92d2-b565decf0b0c" providerId="ADAL" clId="{26BCF191-4B8C-46F4-B4E0-CF774475ACF2}" dt="2026-07-01T00:39:07.655" v="30" actId="47"/>
        <pc:sldMkLst>
          <pc:docMk/>
          <pc:sldMk cId="803245848" sldId="497"/>
        </pc:sldMkLst>
      </pc:sldChg>
      <pc:sldChg chg="del">
        <pc:chgData name="Derrick Chen" userId="c17abf16-4572-4718-92d2-b565decf0b0c" providerId="ADAL" clId="{26BCF191-4B8C-46F4-B4E0-CF774475ACF2}" dt="2026-07-01T00:39:02.384" v="26" actId="47"/>
        <pc:sldMkLst>
          <pc:docMk/>
          <pc:sldMk cId="2128817963" sldId="500"/>
        </pc:sldMkLst>
      </pc:sldChg>
      <pc:sldChg chg="del">
        <pc:chgData name="Derrick Chen" userId="c17abf16-4572-4718-92d2-b565decf0b0c" providerId="ADAL" clId="{26BCF191-4B8C-46F4-B4E0-CF774475ACF2}" dt="2026-07-01T00:39:06.286" v="28" actId="47"/>
        <pc:sldMkLst>
          <pc:docMk/>
          <pc:sldMk cId="2819474060" sldId="501"/>
        </pc:sldMkLst>
      </pc:sldChg>
      <pc:sldChg chg="del">
        <pc:chgData name="Derrick Chen" userId="c17abf16-4572-4718-92d2-b565decf0b0c" providerId="ADAL" clId="{26BCF191-4B8C-46F4-B4E0-CF774475ACF2}" dt="2026-07-01T00:39:08.637" v="32" actId="47"/>
        <pc:sldMkLst>
          <pc:docMk/>
          <pc:sldMk cId="2412664316" sldId="503"/>
        </pc:sldMkLst>
      </pc:sldChg>
      <pc:sldChg chg="del">
        <pc:chgData name="Derrick Chen" userId="c17abf16-4572-4718-92d2-b565decf0b0c" providerId="ADAL" clId="{26BCF191-4B8C-46F4-B4E0-CF774475ACF2}" dt="2026-07-01T00:39:03.402" v="27" actId="47"/>
        <pc:sldMkLst>
          <pc:docMk/>
          <pc:sldMk cId="1480335235" sldId="504"/>
        </pc:sldMkLst>
      </pc:sldChg>
      <pc:sldChg chg="del">
        <pc:chgData name="Derrick Chen" userId="c17abf16-4572-4718-92d2-b565decf0b0c" providerId="ADAL" clId="{26BCF191-4B8C-46F4-B4E0-CF774475ACF2}" dt="2026-07-01T00:39:11.912" v="34" actId="47"/>
        <pc:sldMkLst>
          <pc:docMk/>
          <pc:sldMk cId="2054142428" sldId="505"/>
        </pc:sldMkLst>
      </pc:sldChg>
      <pc:sldChg chg="delSp modSp add mod">
        <pc:chgData name="Derrick Chen" userId="c17abf16-4572-4718-92d2-b565decf0b0c" providerId="ADAL" clId="{26BCF191-4B8C-46F4-B4E0-CF774475ACF2}" dt="2026-07-01T18:02:56.243" v="92" actId="20577"/>
        <pc:sldMkLst>
          <pc:docMk/>
          <pc:sldMk cId="0" sldId="507"/>
        </pc:sldMkLst>
        <pc:spChg chg="del">
          <ac:chgData name="Derrick Chen" userId="c17abf16-4572-4718-92d2-b565decf0b0c" providerId="ADAL" clId="{26BCF191-4B8C-46F4-B4E0-CF774475ACF2}" dt="2026-07-01T17:11:22.056" v="82" actId="478"/>
          <ac:spMkLst>
            <pc:docMk/>
            <pc:sldMk cId="0" sldId="507"/>
            <ac:spMk id="3" creationId="{00000000-0000-0000-0000-000000000000}"/>
          </ac:spMkLst>
        </pc:spChg>
        <pc:spChg chg="mod">
          <ac:chgData name="Derrick Chen" userId="c17abf16-4572-4718-92d2-b565decf0b0c" providerId="ADAL" clId="{26BCF191-4B8C-46F4-B4E0-CF774475ACF2}" dt="2026-07-01T18:02:33.934" v="89" actId="20577"/>
          <ac:spMkLst>
            <pc:docMk/>
            <pc:sldMk cId="0" sldId="507"/>
            <ac:spMk id="4" creationId="{00000000-0000-0000-0000-000000000000}"/>
          </ac:spMkLst>
        </pc:spChg>
        <pc:spChg chg="mod">
          <ac:chgData name="Derrick Chen" userId="c17abf16-4572-4718-92d2-b565decf0b0c" providerId="ADAL" clId="{26BCF191-4B8C-46F4-B4E0-CF774475ACF2}" dt="2026-07-01T18:02:06.261" v="87" actId="20577"/>
          <ac:spMkLst>
            <pc:docMk/>
            <pc:sldMk cId="0" sldId="507"/>
            <ac:spMk id="6" creationId="{00000000-0000-0000-0000-000000000000}"/>
          </ac:spMkLst>
        </pc:spChg>
        <pc:spChg chg="mod">
          <ac:chgData name="Derrick Chen" userId="c17abf16-4572-4718-92d2-b565decf0b0c" providerId="ADAL" clId="{26BCF191-4B8C-46F4-B4E0-CF774475ACF2}" dt="2026-07-01T18:02:56.243" v="92" actId="20577"/>
          <ac:spMkLst>
            <pc:docMk/>
            <pc:sldMk cId="0" sldId="507"/>
            <ac:spMk id="7" creationId="{00000000-0000-0000-0000-000000000000}"/>
          </ac:spMkLst>
        </pc:spChg>
      </pc:sldChg>
      <pc:sldChg chg="del">
        <pc:chgData name="Derrick Chen" userId="c17abf16-4572-4718-92d2-b565decf0b0c" providerId="ADAL" clId="{26BCF191-4B8C-46F4-B4E0-CF774475ACF2}" dt="2026-07-01T00:39:12.514" v="35" actId="47"/>
        <pc:sldMkLst>
          <pc:docMk/>
          <pc:sldMk cId="1932589684" sldId="507"/>
        </pc:sldMkLst>
      </pc:sldChg>
      <pc:sldChg chg="delSp modSp add mod ord">
        <pc:chgData name="Derrick Chen" userId="c17abf16-4572-4718-92d2-b565decf0b0c" providerId="ADAL" clId="{26BCF191-4B8C-46F4-B4E0-CF774475ACF2}" dt="2026-07-01T17:11:17.592" v="81" actId="478"/>
        <pc:sldMkLst>
          <pc:docMk/>
          <pc:sldMk cId="0" sldId="508"/>
        </pc:sldMkLst>
        <pc:spChg chg="mod">
          <ac:chgData name="Derrick Chen" userId="c17abf16-4572-4718-92d2-b565decf0b0c" providerId="ADAL" clId="{26BCF191-4B8C-46F4-B4E0-CF774475ACF2}" dt="2026-07-01T17:10:48.501" v="78" actId="207"/>
          <ac:spMkLst>
            <pc:docMk/>
            <pc:sldMk cId="0" sldId="508"/>
            <ac:spMk id="2" creationId="{00000000-0000-0000-0000-000000000000}"/>
          </ac:spMkLst>
        </pc:spChg>
        <pc:spChg chg="del">
          <ac:chgData name="Derrick Chen" userId="c17abf16-4572-4718-92d2-b565decf0b0c" providerId="ADAL" clId="{26BCF191-4B8C-46F4-B4E0-CF774475ACF2}" dt="2026-07-01T17:11:17.592" v="81" actId="478"/>
          <ac:spMkLst>
            <pc:docMk/>
            <pc:sldMk cId="0" sldId="508"/>
            <ac:spMk id="3" creationId="{00000000-0000-0000-0000-000000000000}"/>
          </ac:spMkLst>
        </pc:spChg>
        <pc:graphicFrameChg chg="modGraphic">
          <ac:chgData name="Derrick Chen" userId="c17abf16-4572-4718-92d2-b565decf0b0c" providerId="ADAL" clId="{26BCF191-4B8C-46F4-B4E0-CF774475ACF2}" dt="2026-07-01T17:11:04.452" v="80" actId="207"/>
          <ac:graphicFrameMkLst>
            <pc:docMk/>
            <pc:sldMk cId="0" sldId="508"/>
            <ac:graphicFrameMk id="6" creationId="{00000000-0000-0000-0000-000000000000}"/>
          </ac:graphicFrameMkLst>
        </pc:graphicFrameChg>
      </pc:sldChg>
      <pc:sldChg chg="delSp modSp add mod">
        <pc:chgData name="Derrick Chen" userId="c17abf16-4572-4718-92d2-b565decf0b0c" providerId="ADAL" clId="{26BCF191-4B8C-46F4-B4E0-CF774475ACF2}" dt="2026-07-01T17:10:43.384" v="77" actId="207"/>
        <pc:sldMkLst>
          <pc:docMk/>
          <pc:sldMk cId="0" sldId="509"/>
        </pc:sldMkLst>
        <pc:spChg chg="mod">
          <ac:chgData name="Derrick Chen" userId="c17abf16-4572-4718-92d2-b565decf0b0c" providerId="ADAL" clId="{26BCF191-4B8C-46F4-B4E0-CF774475ACF2}" dt="2026-07-01T17:10:43.384" v="77" actId="207"/>
          <ac:spMkLst>
            <pc:docMk/>
            <pc:sldMk cId="0" sldId="509"/>
            <ac:spMk id="2" creationId="{00000000-0000-0000-0000-000000000000}"/>
          </ac:spMkLst>
        </pc:spChg>
        <pc:spChg chg="del">
          <ac:chgData name="Derrick Chen" userId="c17abf16-4572-4718-92d2-b565decf0b0c" providerId="ADAL" clId="{26BCF191-4B8C-46F4-B4E0-CF774475ACF2}" dt="2026-07-01T16:50:29.549" v="62" actId="478"/>
          <ac:spMkLst>
            <pc:docMk/>
            <pc:sldMk cId="0" sldId="509"/>
            <ac:spMk id="3" creationId="{00000000-0000-0000-0000-000000000000}"/>
          </ac:spMkLst>
        </pc:spChg>
        <pc:spChg chg="del mod">
          <ac:chgData name="Derrick Chen" userId="c17abf16-4572-4718-92d2-b565decf0b0c" providerId="ADAL" clId="{26BCF191-4B8C-46F4-B4E0-CF774475ACF2}" dt="2026-07-01T17:09:18.326" v="71" actId="478"/>
          <ac:spMkLst>
            <pc:docMk/>
            <pc:sldMk cId="0" sldId="509"/>
            <ac:spMk id="4" creationId="{00000000-0000-0000-0000-000000000000}"/>
          </ac:spMkLst>
        </pc:spChg>
      </pc:sldChg>
      <pc:sldChg chg="delSp modSp add mod">
        <pc:chgData name="Derrick Chen" userId="c17abf16-4572-4718-92d2-b565decf0b0c" providerId="ADAL" clId="{26BCF191-4B8C-46F4-B4E0-CF774475ACF2}" dt="2026-07-01T17:09:22.523" v="72" actId="478"/>
        <pc:sldMkLst>
          <pc:docMk/>
          <pc:sldMk cId="0" sldId="510"/>
        </pc:sldMkLst>
        <pc:spChg chg="mod">
          <ac:chgData name="Derrick Chen" userId="c17abf16-4572-4718-92d2-b565decf0b0c" providerId="ADAL" clId="{26BCF191-4B8C-46F4-B4E0-CF774475ACF2}" dt="2026-07-01T16:50:21.641" v="60" actId="207"/>
          <ac:spMkLst>
            <pc:docMk/>
            <pc:sldMk cId="0" sldId="510"/>
            <ac:spMk id="2" creationId="{00000000-0000-0000-0000-000000000000}"/>
          </ac:spMkLst>
        </pc:spChg>
        <pc:spChg chg="del">
          <ac:chgData name="Derrick Chen" userId="c17abf16-4572-4718-92d2-b565decf0b0c" providerId="ADAL" clId="{26BCF191-4B8C-46F4-B4E0-CF774475ACF2}" dt="2026-07-01T16:50:26.174" v="61" actId="478"/>
          <ac:spMkLst>
            <pc:docMk/>
            <pc:sldMk cId="0" sldId="510"/>
            <ac:spMk id="3" creationId="{00000000-0000-0000-0000-000000000000}"/>
          </ac:spMkLst>
        </pc:spChg>
        <pc:spChg chg="del">
          <ac:chgData name="Derrick Chen" userId="c17abf16-4572-4718-92d2-b565decf0b0c" providerId="ADAL" clId="{26BCF191-4B8C-46F4-B4E0-CF774475ACF2}" dt="2026-07-01T17:09:22.523" v="72" actId="478"/>
          <ac:spMkLst>
            <pc:docMk/>
            <pc:sldMk cId="0" sldId="510"/>
            <ac:spMk id="4" creationId="{00000000-0000-0000-0000-000000000000}"/>
          </ac:spMkLst>
        </pc:spChg>
        <pc:spChg chg="mod">
          <ac:chgData name="Derrick Chen" userId="c17abf16-4572-4718-92d2-b565decf0b0c" providerId="ADAL" clId="{26BCF191-4B8C-46F4-B4E0-CF774475ACF2}" dt="2026-07-01T16:49:07.489" v="52" actId="20577"/>
          <ac:spMkLst>
            <pc:docMk/>
            <pc:sldMk cId="0" sldId="510"/>
            <ac:spMk id="7" creationId="{00000000-0000-0000-0000-000000000000}"/>
          </ac:spMkLst>
        </pc:spChg>
        <pc:graphicFrameChg chg="mod modGraphic">
          <ac:chgData name="Derrick Chen" userId="c17abf16-4572-4718-92d2-b565decf0b0c" providerId="ADAL" clId="{26BCF191-4B8C-46F4-B4E0-CF774475ACF2}" dt="2026-07-01T16:48:53.063" v="49" actId="207"/>
          <ac:graphicFrameMkLst>
            <pc:docMk/>
            <pc:sldMk cId="0" sldId="510"/>
            <ac:graphicFrameMk id="6" creationId="{00000000-0000-0000-0000-000000000000}"/>
          </ac:graphicFrameMkLst>
        </pc:graphicFrameChg>
      </pc:sldChg>
      <pc:sldChg chg="delSp modSp add mod">
        <pc:chgData name="Derrick Chen" userId="c17abf16-4572-4718-92d2-b565decf0b0c" providerId="ADAL" clId="{26BCF191-4B8C-46F4-B4E0-CF774475ACF2}" dt="2026-07-01T17:10:36.157" v="76" actId="207"/>
        <pc:sldMkLst>
          <pc:docMk/>
          <pc:sldMk cId="0" sldId="511"/>
        </pc:sldMkLst>
        <pc:spChg chg="mod">
          <ac:chgData name="Derrick Chen" userId="c17abf16-4572-4718-92d2-b565decf0b0c" providerId="ADAL" clId="{26BCF191-4B8C-46F4-B4E0-CF774475ACF2}" dt="2026-07-01T17:10:36.157" v="76" actId="207"/>
          <ac:spMkLst>
            <pc:docMk/>
            <pc:sldMk cId="0" sldId="511"/>
            <ac:spMk id="2" creationId="{00000000-0000-0000-0000-000000000000}"/>
          </ac:spMkLst>
        </pc:spChg>
        <pc:spChg chg="del">
          <ac:chgData name="Derrick Chen" userId="c17abf16-4572-4718-92d2-b565decf0b0c" providerId="ADAL" clId="{26BCF191-4B8C-46F4-B4E0-CF774475ACF2}" dt="2026-07-01T17:09:26.906" v="73" actId="478"/>
          <ac:spMkLst>
            <pc:docMk/>
            <pc:sldMk cId="0" sldId="511"/>
            <ac:spMk id="4" creationId="{00000000-0000-0000-0000-000000000000}"/>
          </ac:spMkLst>
        </pc:spChg>
        <pc:spChg chg="mod">
          <ac:chgData name="Derrick Chen" userId="c17abf16-4572-4718-92d2-b565decf0b0c" providerId="ADAL" clId="{26BCF191-4B8C-46F4-B4E0-CF774475ACF2}" dt="2026-07-01T16:50:14.655" v="59" actId="20577"/>
          <ac:spMkLst>
            <pc:docMk/>
            <pc:sldMk cId="0" sldId="511"/>
            <ac:spMk id="7" creationId="{00000000-0000-0000-0000-000000000000}"/>
          </ac:spMkLst>
        </pc:spChg>
        <pc:graphicFrameChg chg="mod modGraphic">
          <ac:chgData name="Derrick Chen" userId="c17abf16-4572-4718-92d2-b565decf0b0c" providerId="ADAL" clId="{26BCF191-4B8C-46F4-B4E0-CF774475ACF2}" dt="2026-07-01T16:50:05.742" v="57" actId="207"/>
          <ac:graphicFrameMkLst>
            <pc:docMk/>
            <pc:sldMk cId="0" sldId="511"/>
            <ac:graphicFrameMk id="6" creationId="{00000000-0000-0000-0000-000000000000}"/>
          </ac:graphicFrameMkLst>
        </pc:graphicFrameChg>
      </pc:sldChg>
      <pc:sldChg chg="delSp modSp add mod">
        <pc:chgData name="Derrick Chen" userId="c17abf16-4572-4718-92d2-b565decf0b0c" providerId="ADAL" clId="{26BCF191-4B8C-46F4-B4E0-CF774475ACF2}" dt="2026-07-01T17:08:50.195" v="69" actId="20577"/>
        <pc:sldMkLst>
          <pc:docMk/>
          <pc:sldMk cId="0" sldId="512"/>
        </pc:sldMkLst>
        <pc:spChg chg="del">
          <ac:chgData name="Derrick Chen" userId="c17abf16-4572-4718-92d2-b565decf0b0c" providerId="ADAL" clId="{26BCF191-4B8C-46F4-B4E0-CF774475ACF2}" dt="2026-07-01T16:50:35.947" v="63" actId="478"/>
          <ac:spMkLst>
            <pc:docMk/>
            <pc:sldMk cId="0" sldId="512"/>
            <ac:spMk id="3" creationId="{00000000-0000-0000-0000-000000000000}"/>
          </ac:spMkLst>
        </pc:spChg>
        <pc:spChg chg="mod">
          <ac:chgData name="Derrick Chen" userId="c17abf16-4572-4718-92d2-b565decf0b0c" providerId="ADAL" clId="{26BCF191-4B8C-46F4-B4E0-CF774475ACF2}" dt="2026-07-01T17:08:33.164" v="64" actId="20577"/>
          <ac:spMkLst>
            <pc:docMk/>
            <pc:sldMk cId="0" sldId="512"/>
            <ac:spMk id="6" creationId="{00000000-0000-0000-0000-000000000000}"/>
          </ac:spMkLst>
        </pc:spChg>
        <pc:spChg chg="mod">
          <ac:chgData name="Derrick Chen" userId="c17abf16-4572-4718-92d2-b565decf0b0c" providerId="ADAL" clId="{26BCF191-4B8C-46F4-B4E0-CF774475ACF2}" dt="2026-07-01T17:08:50.195" v="69" actId="20577"/>
          <ac:spMkLst>
            <pc:docMk/>
            <pc:sldMk cId="0" sldId="512"/>
            <ac:spMk id="8" creationId="{00000000-0000-0000-0000-000000000000}"/>
          </ac:spMkLst>
        </pc:spChg>
        <pc:spChg chg="mod">
          <ac:chgData name="Derrick Chen" userId="c17abf16-4572-4718-92d2-b565decf0b0c" providerId="ADAL" clId="{26BCF191-4B8C-46F4-B4E0-CF774475ACF2}" dt="2026-07-01T17:08:37.459" v="65" actId="20577"/>
          <ac:spMkLst>
            <pc:docMk/>
            <pc:sldMk cId="0" sldId="512"/>
            <ac:spMk id="10" creationId="{00000000-0000-0000-0000-000000000000}"/>
          </ac:spMkLst>
        </pc:spChg>
        <pc:spChg chg="mod">
          <ac:chgData name="Derrick Chen" userId="c17abf16-4572-4718-92d2-b565decf0b0c" providerId="ADAL" clId="{26BCF191-4B8C-46F4-B4E0-CF774475ACF2}" dt="2026-07-01T17:08:46.793" v="68" actId="20577"/>
          <ac:spMkLst>
            <pc:docMk/>
            <pc:sldMk cId="0" sldId="512"/>
            <ac:spMk id="12" creationId="{00000000-0000-0000-0000-000000000000}"/>
          </ac:spMkLst>
        </pc:spChg>
        <pc:spChg chg="mod">
          <ac:chgData name="Derrick Chen" userId="c17abf16-4572-4718-92d2-b565decf0b0c" providerId="ADAL" clId="{26BCF191-4B8C-46F4-B4E0-CF774475ACF2}" dt="2026-07-01T17:08:40.873" v="66" actId="20577"/>
          <ac:spMkLst>
            <pc:docMk/>
            <pc:sldMk cId="0" sldId="512"/>
            <ac:spMk id="14" creationId="{00000000-0000-0000-0000-000000000000}"/>
          </ac:spMkLst>
        </pc:spChg>
        <pc:spChg chg="mod">
          <ac:chgData name="Derrick Chen" userId="c17abf16-4572-4718-92d2-b565decf0b0c" providerId="ADAL" clId="{26BCF191-4B8C-46F4-B4E0-CF774475ACF2}" dt="2026-07-01T17:08:44.045" v="67" actId="20577"/>
          <ac:spMkLst>
            <pc:docMk/>
            <pc:sldMk cId="0" sldId="512"/>
            <ac:spMk id="1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sz="quarter" idx="1"/>
          </p:nvPr>
        </p:nvSpPr>
        <p:spPr>
          <a:xfrm>
            <a:off x="3978136" y="3"/>
            <a:ext cx="3043342" cy="465455"/>
          </a:xfrm>
          <a:prstGeom prst="rect">
            <a:avLst/>
          </a:prstGeom>
        </p:spPr>
        <p:txBody>
          <a:bodyPr vert="horz" lIns="93969" tIns="46985" rIns="93969" bIns="46985" rtlCol="0"/>
          <a:lstStyle>
            <a:lvl1pPr algn="r">
              <a:defRPr sz="1200"/>
            </a:lvl1pPr>
          </a:lstStyle>
          <a:p>
            <a:fld id="{128FCA9C-FF92-4024-BDEC-A6D3B663DC09}" type="datetimeFigureOut">
              <a:rPr lang="en-US"/>
              <a:t>7/2/2026</a:t>
            </a:fld>
            <a:endParaRPr/>
          </a:p>
        </p:txBody>
      </p:sp>
      <p:sp>
        <p:nvSpPr>
          <p:cNvPr id="4" name="Footer Placeholder 3"/>
          <p:cNvSpPr>
            <a:spLocks noGrp="1"/>
          </p:cNvSpPr>
          <p:nvPr>
            <p:ph type="ftr" sz="quarter" idx="2"/>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5" name="Slide Number Placeholder 4"/>
          <p:cNvSpPr>
            <a:spLocks noGrp="1"/>
          </p:cNvSpPr>
          <p:nvPr>
            <p:ph type="sldNum" sz="quarter" idx="3"/>
          </p:nvPr>
        </p:nvSpPr>
        <p:spPr>
          <a:xfrm>
            <a:off x="3978136" y="8842031"/>
            <a:ext cx="3043342" cy="465455"/>
          </a:xfrm>
          <a:prstGeom prst="rect">
            <a:avLst/>
          </a:prstGeom>
        </p:spPr>
        <p:txBody>
          <a:bodyPr vert="horz" lIns="93969" tIns="46985" rIns="93969" bIns="4698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idx="1"/>
          </p:nvPr>
        </p:nvSpPr>
        <p:spPr>
          <a:xfrm>
            <a:off x="3978136" y="3"/>
            <a:ext cx="3043342" cy="465455"/>
          </a:xfrm>
          <a:prstGeom prst="rect">
            <a:avLst/>
          </a:prstGeom>
        </p:spPr>
        <p:txBody>
          <a:bodyPr vert="horz" lIns="93969" tIns="46985" rIns="93969" bIns="46985" rtlCol="0"/>
          <a:lstStyle>
            <a:lvl1pPr algn="r">
              <a:defRPr sz="1200"/>
            </a:lvl1pPr>
          </a:lstStyle>
          <a:p>
            <a:fld id="{772AB877-E7B1-4681-847E-D0918612832B}" type="datetimeFigureOut">
              <a:rPr lang="en-US"/>
              <a:t>7/2/2026</a:t>
            </a:fld>
            <a:endParaRPr/>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969" tIns="46985" rIns="93969" bIns="46985" rtlCol="0" anchor="ctr"/>
          <a:lstStyle/>
          <a:p>
            <a:endParaRPr/>
          </a:p>
        </p:txBody>
      </p:sp>
      <p:sp>
        <p:nvSpPr>
          <p:cNvPr id="5" name="Notes Placeholder 4"/>
          <p:cNvSpPr>
            <a:spLocks noGrp="1"/>
          </p:cNvSpPr>
          <p:nvPr>
            <p:ph type="body" sz="quarter" idx="3"/>
          </p:nvPr>
        </p:nvSpPr>
        <p:spPr>
          <a:xfrm>
            <a:off x="702311" y="4421824"/>
            <a:ext cx="5618480" cy="4189095"/>
          </a:xfrm>
          <a:prstGeom prst="rect">
            <a:avLst/>
          </a:prstGeom>
        </p:spPr>
        <p:txBody>
          <a:bodyPr vert="horz" lIns="93969" tIns="46985" rIns="93969" bIns="46985"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7" name="Slide Number Placeholder 6"/>
          <p:cNvSpPr>
            <a:spLocks noGrp="1"/>
          </p:cNvSpPr>
          <p:nvPr>
            <p:ph type="sldNum" sz="quarter" idx="5"/>
          </p:nvPr>
        </p:nvSpPr>
        <p:spPr>
          <a:xfrm>
            <a:off x="3978136" y="8842031"/>
            <a:ext cx="3043342" cy="465455"/>
          </a:xfrm>
          <a:prstGeom prst="rect">
            <a:avLst/>
          </a:prstGeom>
        </p:spPr>
        <p:txBody>
          <a:bodyPr vert="horz" lIns="93969" tIns="46985" rIns="93969" bIns="4698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679450"/>
            <a:ext cx="4510087" cy="33845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79501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801232" y="5715000"/>
            <a:ext cx="5541537" cy="533400"/>
          </a:xfrm>
          <a:noFill/>
        </p:spPr>
        <p:txBody>
          <a:bodyPr>
            <a:normAutofit/>
          </a:bodyPr>
          <a:lstStyle>
            <a:lvl1pPr marL="0" indent="0" algn="ctr">
              <a:spcBef>
                <a:spcPts val="0"/>
              </a:spcBef>
              <a:buNone/>
              <a:defRPr sz="1800" i="0">
                <a:solidFill>
                  <a:schemeClr val="tx1"/>
                </a:solidFill>
                <a:latin typeface="Avenir Next LT Pro" panose="020B0504020202020204" pitchFamily="34" charset="0"/>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a:p>
        </p:txBody>
      </p:sp>
      <p:sp>
        <p:nvSpPr>
          <p:cNvPr id="8" name="Title 6"/>
          <p:cNvSpPr>
            <a:spLocks noGrp="1"/>
          </p:cNvSpPr>
          <p:nvPr>
            <p:ph type="title"/>
          </p:nvPr>
        </p:nvSpPr>
        <p:spPr>
          <a:xfrm>
            <a:off x="1800003" y="4714977"/>
            <a:ext cx="5543995" cy="923823"/>
          </a:xfrm>
          <a:prstGeom prst="rect">
            <a:avLst/>
          </a:prstGeom>
          <a:noFill/>
        </p:spPr>
        <p:txBody>
          <a:bodyPr anchor="b" anchorCtr="0">
            <a:normAutofit/>
          </a:bodyPr>
          <a:lstStyle>
            <a:lvl1pPr marL="0" algn="ctr" defTabSz="914400" rtl="0" eaLnBrk="1" latinLnBrk="0" hangingPunct="1">
              <a:lnSpc>
                <a:spcPct val="90000"/>
              </a:lnSpc>
              <a:defRPr lang="en-US" sz="2600" kern="1200" cap="none" baseline="0" dirty="0">
                <a:ln w="0"/>
                <a:solidFill>
                  <a:schemeClr val="tx1"/>
                </a:solidFill>
                <a:effectLst/>
                <a:latin typeface="Avenir Next LT Pro" panose="020B0504020202020204" pitchFamily="34" charset="0"/>
                <a:ea typeface="+mn-ea"/>
                <a:cs typeface="+mn-cs"/>
              </a:defRPr>
            </a:lvl1pPr>
          </a:lstStyle>
          <a:p>
            <a:r>
              <a:rPr lang="en-US"/>
              <a:t>Click to edit Master title style</a:t>
            </a:r>
          </a:p>
        </p:txBody>
      </p:sp>
      <p:sp>
        <p:nvSpPr>
          <p:cNvPr id="10" name="Rectangle 9"/>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897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2"/>
          <p:cNvSpPr>
            <a:spLocks noGrp="1"/>
          </p:cNvSpPr>
          <p:nvPr>
            <p:ph idx="1"/>
          </p:nvPr>
        </p:nvSpPr>
        <p:spPr>
          <a:xfrm>
            <a:off x="228600" y="838200"/>
            <a:ext cx="8679365" cy="5562600"/>
          </a:xfrm>
        </p:spPr>
        <p:txBody>
          <a:bodyPr>
            <a:normAutofit/>
          </a:bodyPr>
          <a:lstStyle>
            <a:lvl1pPr marL="205795" indent="-171496">
              <a:buClr>
                <a:schemeClr val="bg1">
                  <a:lumMod val="50000"/>
                </a:schemeClr>
              </a:buClr>
              <a:buSzPct val="105000"/>
              <a:buFont typeface="Wingdings" panose="05000000000000000000" pitchFamily="2" charset="2"/>
              <a:buChar char="§"/>
              <a:defRPr sz="1200">
                <a:latin typeface="Avenir Next LT Pro" panose="020B0504020202020204" pitchFamily="34" charset="0"/>
              </a:defRPr>
            </a:lvl1pPr>
            <a:lvl2pPr marL="377291"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2pPr>
            <a:lvl3pPr marL="548786"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Title 1"/>
          <p:cNvSpPr>
            <a:spLocks noGrp="1"/>
          </p:cNvSpPr>
          <p:nvPr>
            <p:ph type="title"/>
          </p:nvPr>
        </p:nvSpPr>
        <p:spPr>
          <a:xfrm>
            <a:off x="228600" y="228600"/>
            <a:ext cx="8679366" cy="478756"/>
          </a:xfrm>
          <a:prstGeom prst="rect">
            <a:avLst/>
          </a:prstGeom>
        </p:spPr>
        <p:txBody>
          <a:bodyPr anchor="b" anchorCtr="0">
            <a:normAutofit/>
          </a:bodyPr>
          <a:lstStyle>
            <a:lvl1pPr algn="r">
              <a:defRPr lang="en-GB" sz="1300" b="0" kern="1200" cap="all" baseline="0" dirty="0">
                <a:solidFill>
                  <a:schemeClr val="tx1"/>
                </a:solidFill>
                <a:latin typeface="Avenir Next LT Pro Demi" panose="020B0704020202020204" pitchFamily="34" charset="0"/>
                <a:ea typeface="+mj-ea"/>
                <a:cs typeface="+mj-cs"/>
              </a:defRPr>
            </a:lvl1pPr>
          </a:lstStyle>
          <a:p>
            <a:r>
              <a:rPr lang="en-US"/>
              <a:t>Click to edit Master title style</a:t>
            </a:r>
            <a:endParaRPr lang="en-GB"/>
          </a:p>
        </p:txBody>
      </p:sp>
      <p:cxnSp>
        <p:nvCxnSpPr>
          <p:cNvPr id="15" name="Straight Connector 14"/>
          <p:cNvCxnSpPr/>
          <p:nvPr/>
        </p:nvCxnSpPr>
        <p:spPr>
          <a:xfrm>
            <a:off x="233172" y="762000"/>
            <a:ext cx="867765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Avenir Next LT Pro" panose="020B0504020202020204" pitchFamily="34" charset="0"/>
            </a:endParaRPr>
          </a:p>
        </p:txBody>
      </p:sp>
      <p:cxnSp>
        <p:nvCxnSpPr>
          <p:cNvPr id="22" name="Straight Connector 21"/>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3" name="Slide Number Placeholder 9"/>
          <p:cNvSpPr txBox="1">
            <a:spLocks/>
          </p:cNvSpPr>
          <p:nvPr userDrawn="1"/>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4"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Tree>
    <p:extLst>
      <p:ext uri="{BB962C8B-B14F-4D97-AF65-F5344CB8AC3E}">
        <p14:creationId xmlns:p14="http://schemas.microsoft.com/office/powerpoint/2010/main" val="1918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13448" y="3135710"/>
            <a:ext cx="7317105" cy="586581"/>
          </a:xfrm>
        </p:spPr>
        <p:txBody>
          <a:bodyPr anchor="ctr">
            <a:noAutofit/>
          </a:bodyPr>
          <a:lstStyle>
            <a:lvl1pPr algn="ctr" defTabSz="685983" rtl="0" eaLnBrk="1" latinLnBrk="0" hangingPunct="1">
              <a:lnSpc>
                <a:spcPct val="90000"/>
              </a:lnSpc>
              <a:spcBef>
                <a:spcPct val="0"/>
              </a:spcBef>
              <a:buNone/>
              <a:defRPr lang="en-GB" sz="2400" b="0" kern="1200" cap="all" baseline="0" dirty="0">
                <a:solidFill>
                  <a:srgbClr val="AF8C49"/>
                </a:solidFill>
                <a:latin typeface="Avenir Next LT Pro" panose="020B0504020202020204" pitchFamily="34" charset="0"/>
                <a:ea typeface="+mj-ea"/>
                <a:cs typeface="+mj-cs"/>
              </a:defRPr>
            </a:lvl1pPr>
          </a:lstStyle>
          <a:p>
            <a:r>
              <a:rPr lang="en-US"/>
              <a:t>Click to edit Master title style</a:t>
            </a:r>
            <a:endParaRPr/>
          </a:p>
        </p:txBody>
      </p:sp>
      <p:sp>
        <p:nvSpPr>
          <p:cNvPr id="12"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3" name="Rectangle 12"/>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cxnSp>
        <p:nvCxnSpPr>
          <p:cNvPr id="14" name="Straight Connector 13"/>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userDrawn="1"/>
        </p:nvCxnSpPr>
        <p:spPr>
          <a:xfrm>
            <a:off x="420752" y="845820"/>
            <a:ext cx="830249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10"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2" name="Rectangle 1">
            <a:extLst>
              <a:ext uri="{FF2B5EF4-FFF2-40B4-BE49-F238E27FC236}">
                <a16:creationId xmlns:a16="http://schemas.microsoft.com/office/drawing/2014/main" id="{C3C3C381-A40D-8C46-E61E-BFF1FE6905FC}"/>
              </a:ext>
            </a:extLst>
          </p:cNvPr>
          <p:cNvSpPr/>
          <p:nvPr userDrawn="1"/>
        </p:nvSpPr>
        <p:spPr>
          <a:xfrm>
            <a:off x="304800" y="609600"/>
            <a:ext cx="8534400" cy="533399"/>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84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pic>
        <p:nvPicPr>
          <p:cNvPr id="13" name="Picture 1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a:noFill/>
        </p:spPr>
      </p:pic>
      <p:sp>
        <p:nvSpPr>
          <p:cNvPr id="14" name="Content Placeholder 2"/>
          <p:cNvSpPr>
            <a:spLocks noGrp="1"/>
          </p:cNvSpPr>
          <p:nvPr>
            <p:ph idx="1"/>
          </p:nvPr>
        </p:nvSpPr>
        <p:spPr>
          <a:xfrm>
            <a:off x="4400508" y="685800"/>
            <a:ext cx="4230202" cy="5486400"/>
          </a:xfrm>
        </p:spPr>
        <p:txBody>
          <a:bodyPr>
            <a:normAutofit/>
          </a:bodyPr>
          <a:lstStyle>
            <a:lvl1pPr>
              <a:defRPr sz="1800">
                <a:latin typeface="Avenir Next LT Pro" panose="020B0504020202020204" pitchFamily="34" charset="0"/>
              </a:defRPr>
            </a:lvl1pPr>
            <a:lvl2pPr marL="377291" marR="0" indent="-171496" algn="l" defTabSz="685983" rtl="0" eaLnBrk="1" fontAlgn="auto" latinLnBrk="0" hangingPunct="1">
              <a:lnSpc>
                <a:spcPct val="90000"/>
              </a:lnSpc>
              <a:spcBef>
                <a:spcPts val="450"/>
              </a:spcBef>
              <a:spcAft>
                <a:spcPts val="0"/>
              </a:spcAft>
              <a:buClr>
                <a:schemeClr val="bg1">
                  <a:lumMod val="50000"/>
                </a:schemeClr>
              </a:buClr>
              <a:buSzPct val="105000"/>
              <a:buFont typeface="Cambria" panose="02040503050406030204" pitchFamily="18" charset="0"/>
              <a:buChar char="–"/>
              <a:tabLst/>
              <a:defRPr sz="1200">
                <a:latin typeface="Avenir Next LT Pro" panose="020B0504020202020204" pitchFamily="34" charset="0"/>
              </a:defRPr>
            </a:lvl2pPr>
            <a:lvl3pPr marL="548786"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sz="1200"/>
            </a:lvl6pPr>
            <a:lvl7pPr>
              <a:defRPr sz="1200"/>
            </a:lvl7pPr>
            <a:lvl8pPr>
              <a:defRPr sz="1200"/>
            </a:lvl8pPr>
            <a:lvl9pPr>
              <a:defRPr sz="1200"/>
            </a:lvl9pPr>
          </a:lstStyle>
          <a:p>
            <a:pPr marL="155335" marR="0" lvl="0"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Click to edit Master text styles</a:t>
            </a:r>
          </a:p>
          <a:p>
            <a:pPr marL="155335" marR="0" lvl="1"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Second level</a:t>
            </a:r>
          </a:p>
          <a:p>
            <a:pPr marL="155335" marR="0" lvl="2"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Third level</a:t>
            </a:r>
          </a:p>
          <a:p>
            <a:pPr marL="155335" marR="0" lvl="3"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Fourth level</a:t>
            </a:r>
          </a:p>
          <a:p>
            <a:pPr marL="155335" marR="0" lvl="4"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Fifth level</a:t>
            </a:r>
          </a:p>
        </p:txBody>
      </p:sp>
      <p:sp>
        <p:nvSpPr>
          <p:cNvPr id="15"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16"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153696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12" name="Picture 1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p:spPr>
      </p:pic>
      <p:sp>
        <p:nvSpPr>
          <p:cNvPr id="13" name="Picture Placeholder 2"/>
          <p:cNvSpPr>
            <a:spLocks noGrp="1"/>
          </p:cNvSpPr>
          <p:nvPr>
            <p:ph type="pic" idx="1"/>
          </p:nvPr>
        </p:nvSpPr>
        <p:spPr>
          <a:xfrm>
            <a:off x="4400508" y="685800"/>
            <a:ext cx="4230202"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1800">
                <a:latin typeface="Avenir Next LT Pro" panose="020B0504020202020204" pitchFamily="34" charset="0"/>
              </a:defRPr>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14"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sp>
        <p:nvSpPr>
          <p:cNvPr id="16"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34070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100000"/>
              </a:schemeClr>
            </a:gs>
            <a:gs pos="100000">
              <a:schemeClr val="bg1">
                <a:lumMod val="85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451" y="274638"/>
            <a:ext cx="7317105"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13451" y="1828800"/>
            <a:ext cx="7317105"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115455" y="6448427"/>
            <a:ext cx="894946"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endParaRPr lang="en-US"/>
          </a:p>
        </p:txBody>
      </p:sp>
      <p:sp>
        <p:nvSpPr>
          <p:cNvPr id="5" name="Footer Placeholder 4"/>
          <p:cNvSpPr>
            <a:spLocks noGrp="1"/>
          </p:cNvSpPr>
          <p:nvPr>
            <p:ph type="ftr" sz="quarter" idx="3"/>
          </p:nvPr>
        </p:nvSpPr>
        <p:spPr>
          <a:xfrm>
            <a:off x="906865" y="6448427"/>
            <a:ext cx="4979929" cy="180974"/>
          </a:xfrm>
          <a:prstGeom prst="rect">
            <a:avLst/>
          </a:prstGeom>
        </p:spPr>
        <p:txBody>
          <a:bodyPr vert="horz" lIns="91440" tIns="45720" rIns="91440" bIns="45720" rtlCol="0" anchor="ctr"/>
          <a:lstStyle>
            <a:lvl1pPr algn="l">
              <a:defRPr sz="750" cap="all" baseline="0">
                <a:solidFill>
                  <a:schemeClr val="tx1"/>
                </a:solidFill>
                <a:latin typeface="Avenir Next LT Pro" panose="020B0504020202020204" pitchFamily="34" charset="0"/>
              </a:defRPr>
            </a:lvl1pPr>
          </a:lstStyle>
          <a:p>
            <a:r>
              <a:rPr lang="en-US"/>
              <a:t>KILDARE PARTNERS</a:t>
            </a:r>
          </a:p>
        </p:txBody>
      </p:sp>
      <p:sp>
        <p:nvSpPr>
          <p:cNvPr id="6" name="Slide Number Placeholder 5"/>
          <p:cNvSpPr>
            <a:spLocks noGrp="1"/>
          </p:cNvSpPr>
          <p:nvPr>
            <p:ph type="sldNum" sz="quarter" idx="4"/>
          </p:nvPr>
        </p:nvSpPr>
        <p:spPr>
          <a:xfrm>
            <a:off x="7239000" y="6448427"/>
            <a:ext cx="991554"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r>
              <a:rPr lang="en-US"/>
              <a:t>Confidential | </a:t>
            </a:r>
            <a:fld id="{F36C87F6-986D-49E6-AF40-1B3A1EE8064D}" type="slidenum">
              <a:rPr lang="en-US" smtClean="0"/>
              <a:pPr/>
              <a:t>‹#›</a:t>
            </a:fld>
            <a:endParaRPr lang="en-US"/>
          </a:p>
        </p:txBody>
      </p:sp>
      <p:sp>
        <p:nvSpPr>
          <p:cNvPr id="7" name="TextBox 6"/>
          <p:cNvSpPr txBox="1"/>
          <p:nvPr userDrawn="1"/>
        </p:nvSpPr>
        <p:spPr>
          <a:xfrm>
            <a:off x="-888521" y="0"/>
            <a:ext cx="838200" cy="203133"/>
          </a:xfrm>
          <a:prstGeom prst="rect">
            <a:avLst/>
          </a:prstGeom>
          <a:solidFill>
            <a:srgbClr val="AF8C49"/>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AF8C49</a:t>
            </a:r>
          </a:p>
        </p:txBody>
      </p:sp>
      <p:sp>
        <p:nvSpPr>
          <p:cNvPr id="10" name="TextBox 9">
            <a:extLst>
              <a:ext uri="{FF2B5EF4-FFF2-40B4-BE49-F238E27FC236}">
                <a16:creationId xmlns:a16="http://schemas.microsoft.com/office/drawing/2014/main" id="{215E4D0A-4535-9DCC-30EC-115F63F87340}"/>
              </a:ext>
            </a:extLst>
          </p:cNvPr>
          <p:cNvSpPr txBox="1"/>
          <p:nvPr userDrawn="1"/>
        </p:nvSpPr>
        <p:spPr>
          <a:xfrm>
            <a:off x="-888521" y="253072"/>
            <a:ext cx="838200" cy="203133"/>
          </a:xfrm>
          <a:prstGeom prst="rect">
            <a:avLst/>
          </a:prstGeom>
          <a:solidFill>
            <a:srgbClr val="1442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14425D</a:t>
            </a:r>
          </a:p>
        </p:txBody>
      </p:sp>
      <p:sp>
        <p:nvSpPr>
          <p:cNvPr id="11" name="TextBox 10">
            <a:extLst>
              <a:ext uri="{FF2B5EF4-FFF2-40B4-BE49-F238E27FC236}">
                <a16:creationId xmlns:a16="http://schemas.microsoft.com/office/drawing/2014/main" id="{A0ADA7A3-4A4C-2191-5488-71A26B234E8D}"/>
              </a:ext>
            </a:extLst>
          </p:cNvPr>
          <p:cNvSpPr txBox="1"/>
          <p:nvPr userDrawn="1"/>
        </p:nvSpPr>
        <p:spPr>
          <a:xfrm>
            <a:off x="-888521" y="506144"/>
            <a:ext cx="838200" cy="203133"/>
          </a:xfrm>
          <a:prstGeom prst="rect">
            <a:avLst/>
          </a:prstGeom>
          <a:solidFill>
            <a:srgbClr val="280003"/>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280003</a:t>
            </a:r>
          </a:p>
        </p:txBody>
      </p:sp>
      <p:sp>
        <p:nvSpPr>
          <p:cNvPr id="12" name="TextBox 11">
            <a:extLst>
              <a:ext uri="{FF2B5EF4-FFF2-40B4-BE49-F238E27FC236}">
                <a16:creationId xmlns:a16="http://schemas.microsoft.com/office/drawing/2014/main" id="{F704D1EF-97DC-7BC5-3A14-30C0D04058D6}"/>
              </a:ext>
            </a:extLst>
          </p:cNvPr>
          <p:cNvSpPr txBox="1"/>
          <p:nvPr userDrawn="1"/>
        </p:nvSpPr>
        <p:spPr>
          <a:xfrm>
            <a:off x="-888521" y="757886"/>
            <a:ext cx="838200" cy="203133"/>
          </a:xfrm>
          <a:prstGeom prst="rect">
            <a:avLst/>
          </a:prstGeom>
          <a:solidFill>
            <a:srgbClr val="4F50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4F505D</a:t>
            </a:r>
          </a:p>
        </p:txBody>
      </p:sp>
      <p:sp>
        <p:nvSpPr>
          <p:cNvPr id="13" name="TextBox 12">
            <a:extLst>
              <a:ext uri="{FF2B5EF4-FFF2-40B4-BE49-F238E27FC236}">
                <a16:creationId xmlns:a16="http://schemas.microsoft.com/office/drawing/2014/main" id="{3405E372-FAEB-E166-F39E-B06223EE3FFD}"/>
              </a:ext>
            </a:extLst>
          </p:cNvPr>
          <p:cNvSpPr txBox="1"/>
          <p:nvPr userDrawn="1"/>
        </p:nvSpPr>
        <p:spPr>
          <a:xfrm>
            <a:off x="-888521" y="1009628"/>
            <a:ext cx="838200" cy="203133"/>
          </a:xfrm>
          <a:prstGeom prst="rect">
            <a:avLst/>
          </a:prstGeom>
          <a:solidFill>
            <a:srgbClr val="769FB6"/>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769FB6</a:t>
            </a:r>
          </a:p>
        </p:txBody>
      </p:sp>
      <p:sp>
        <p:nvSpPr>
          <p:cNvPr id="14" name="TextBox 13">
            <a:extLst>
              <a:ext uri="{FF2B5EF4-FFF2-40B4-BE49-F238E27FC236}">
                <a16:creationId xmlns:a16="http://schemas.microsoft.com/office/drawing/2014/main" id="{1E4BBA53-6D09-8782-B5B9-E9A5BECF8AD0}"/>
              </a:ext>
            </a:extLst>
          </p:cNvPr>
          <p:cNvSpPr txBox="1"/>
          <p:nvPr userDrawn="1"/>
        </p:nvSpPr>
        <p:spPr>
          <a:xfrm>
            <a:off x="-888521" y="1261370"/>
            <a:ext cx="838200" cy="203133"/>
          </a:xfrm>
          <a:prstGeom prst="rect">
            <a:avLst/>
          </a:prstGeom>
          <a:solidFill>
            <a:srgbClr val="FFCFD2"/>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FFCFD2</a:t>
            </a:r>
          </a:p>
        </p:txBody>
      </p:sp>
      <p:sp>
        <p:nvSpPr>
          <p:cNvPr id="15" name="TextBox 14">
            <a:extLst>
              <a:ext uri="{FF2B5EF4-FFF2-40B4-BE49-F238E27FC236}">
                <a16:creationId xmlns:a16="http://schemas.microsoft.com/office/drawing/2014/main" id="{01F61B67-6E0E-07C7-E37E-D7FC9728B8B6}"/>
              </a:ext>
            </a:extLst>
          </p:cNvPr>
          <p:cNvSpPr txBox="1"/>
          <p:nvPr userDrawn="1"/>
        </p:nvSpPr>
        <p:spPr>
          <a:xfrm>
            <a:off x="-888521" y="1513112"/>
            <a:ext cx="838200" cy="203133"/>
          </a:xfrm>
          <a:prstGeom prst="rect">
            <a:avLst/>
          </a:prstGeom>
          <a:solidFill>
            <a:srgbClr val="EC9A07"/>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EC9A07</a:t>
            </a:r>
          </a:p>
        </p:txBody>
      </p:sp>
      <p:sp>
        <p:nvSpPr>
          <p:cNvPr id="16" name="TextBox 15">
            <a:extLst>
              <a:ext uri="{FF2B5EF4-FFF2-40B4-BE49-F238E27FC236}">
                <a16:creationId xmlns:a16="http://schemas.microsoft.com/office/drawing/2014/main" id="{EA51C9DA-77AA-6EB7-9BE0-9B4FF8AC0A98}"/>
              </a:ext>
            </a:extLst>
          </p:cNvPr>
          <p:cNvSpPr txBox="1"/>
          <p:nvPr userDrawn="1"/>
        </p:nvSpPr>
        <p:spPr>
          <a:xfrm>
            <a:off x="-888521" y="1764854"/>
            <a:ext cx="838200" cy="203133"/>
          </a:xfrm>
          <a:prstGeom prst="rect">
            <a:avLst/>
          </a:prstGeom>
          <a:solidFill>
            <a:srgbClr val="00B050"/>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00B050</a:t>
            </a:r>
          </a:p>
        </p:txBody>
      </p:sp>
    </p:spTree>
    <p:extLst>
      <p:ext uri="{BB962C8B-B14F-4D97-AF65-F5344CB8AC3E}">
        <p14:creationId xmlns:p14="http://schemas.microsoft.com/office/powerpoint/2010/main" val="148923485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9" r:id="rId4"/>
    <p:sldLayoutId id="2147483670"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983" rtl="0" eaLnBrk="1" latinLnBrk="0" hangingPunct="1">
        <a:lnSpc>
          <a:spcPct val="90000"/>
        </a:lnSpc>
        <a:spcBef>
          <a:spcPct val="0"/>
        </a:spcBef>
        <a:buNone/>
        <a:defRPr sz="3001" kern="1200" cap="all" baseline="0">
          <a:solidFill>
            <a:schemeClr val="tx1">
              <a:lumMod val="50000"/>
            </a:schemeClr>
          </a:solidFill>
          <a:latin typeface="Avenir Next LT Pro" panose="020B0504020202020204" pitchFamily="34" charset="0"/>
          <a:ea typeface="+mj-ea"/>
          <a:cs typeface="+mj-cs"/>
        </a:defRPr>
      </a:lvl1pPr>
    </p:titleStyle>
    <p:bodyStyle>
      <a:lvl1pPr marL="205795" indent="-171496" algn="l" defTabSz="685983" rtl="0" eaLnBrk="1" latinLnBrk="0" hangingPunct="1">
        <a:lnSpc>
          <a:spcPct val="90000"/>
        </a:lnSpc>
        <a:spcBef>
          <a:spcPts val="1350"/>
        </a:spcBef>
        <a:buClr>
          <a:schemeClr val="tx1"/>
        </a:buClr>
        <a:buSzPct val="80000"/>
        <a:buFont typeface="Arial" pitchFamily="34" charset="0"/>
        <a:buChar char="•"/>
        <a:defRPr sz="1800" kern="1200">
          <a:solidFill>
            <a:schemeClr val="tx1"/>
          </a:solidFill>
          <a:latin typeface="Avenir Next LT Pro" panose="020B0504020202020204" pitchFamily="34" charset="0"/>
          <a:ea typeface="+mn-ea"/>
          <a:cs typeface="+mn-cs"/>
        </a:defRPr>
      </a:lvl1pPr>
      <a:lvl2pPr marL="377291" indent="-171496" algn="l" defTabSz="685983" rtl="0" eaLnBrk="1" latinLnBrk="0" hangingPunct="1">
        <a:lnSpc>
          <a:spcPct val="90000"/>
        </a:lnSpc>
        <a:spcBef>
          <a:spcPts val="450"/>
        </a:spcBef>
        <a:buClr>
          <a:schemeClr val="tx1"/>
        </a:buClr>
        <a:buSzPct val="80000"/>
        <a:buFont typeface="Arial" pitchFamily="34" charset="0"/>
        <a:buChar char="•"/>
        <a:defRPr sz="1500" kern="1200">
          <a:solidFill>
            <a:schemeClr val="tx1"/>
          </a:solidFill>
          <a:latin typeface="Avenir Next LT Pro" panose="020B0504020202020204" pitchFamily="34" charset="0"/>
          <a:ea typeface="+mn-ea"/>
          <a:cs typeface="+mn-cs"/>
        </a:defRPr>
      </a:lvl2pPr>
      <a:lvl3pPr marL="548786" indent="-171496" algn="l" defTabSz="685983" rtl="0" eaLnBrk="1" latinLnBrk="0" hangingPunct="1">
        <a:lnSpc>
          <a:spcPct val="90000"/>
        </a:lnSpc>
        <a:spcBef>
          <a:spcPts val="450"/>
        </a:spcBef>
        <a:buClr>
          <a:schemeClr val="tx1"/>
        </a:buClr>
        <a:buSzPct val="80000"/>
        <a:buFont typeface="Arial" pitchFamily="34" charset="0"/>
        <a:buChar char="•"/>
        <a:defRPr sz="1350" kern="1200">
          <a:solidFill>
            <a:schemeClr val="tx1"/>
          </a:solidFill>
          <a:latin typeface="Avenir Next LT Pro" panose="020B0504020202020204" pitchFamily="34" charset="0"/>
          <a:ea typeface="+mn-ea"/>
          <a:cs typeface="+mn-cs"/>
        </a:defRPr>
      </a:lvl3pPr>
      <a:lvl4pPr marL="720282"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4pPr>
      <a:lvl5pPr marL="891778"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5pPr>
      <a:lvl6pPr marL="1063273"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6pPr>
      <a:lvl7pPr marL="1234769"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7pPr>
      <a:lvl8pPr marL="1406265"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8pPr>
      <a:lvl9pPr marL="1577761" indent="-171496" algn="l" defTabSz="685983" rtl="0" eaLnBrk="1" latinLnBrk="0" hangingPunct="1">
        <a:spcBef>
          <a:spcPts val="450"/>
        </a:spcBef>
        <a:buSzPct val="80000"/>
        <a:buFont typeface="Arial" pitchFamily="34" charset="0"/>
        <a:buChar char="•"/>
        <a:defRPr sz="120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A37A1-7D8A-6F00-8812-7226595E3D4B}"/>
              </a:ext>
            </a:extLst>
          </p:cNvPr>
          <p:cNvSpPr/>
          <p:nvPr/>
        </p:nvSpPr>
        <p:spPr>
          <a:xfrm>
            <a:off x="147856" y="5619750"/>
            <a:ext cx="8839200" cy="1043876"/>
          </a:xfrm>
          <a:prstGeom prst="rect">
            <a:avLst/>
          </a:prstGeom>
          <a:ln>
            <a:solidFill/>
          </a:ln>
        </p:spPr>
        <p:txBody>
          <a:bodyPr wrap="square">
            <a:spAutoFit/>
          </a:bodyPr>
          <a:lstStyle/>
          <a:p>
            <a:pPr algn="just" eaLnBrk="0" hangingPunct="0">
              <a:spcAft>
                <a:spcPts val="400"/>
              </a:spcAft>
            </a:pPr>
            <a:r>
              <a:rPr lang="en-US" sz="650" i="1">
                <a:solidFill/>
                <a:latin typeface="Avenir Next LT Pro" panose="020B0504020202020204" pitchFamily="34" charset="0"/>
              </a:rPr>
              <a:t>The contents of this presentation are confidential and for discussion purposes only. The delivery of this presentation and its contents do not constitute an offer of securities in any existing or to-be-formed issuer or a solicitation of an offer to purchase any such securities by any person.  Offers of securities will only be made by delivery of a Confidential Private Placement Memorandum.  </a:t>
            </a:r>
          </a:p>
          <a:p>
            <a:pPr algn="just" eaLnBrk="0" hangingPunct="0"/>
            <a:r>
              <a:rPr lang="en-US" sz="650" i="1">
                <a:solidFill/>
                <a:latin typeface="Avenir Next LT Pro" panose="020B0504020202020204" pitchFamily="34" charset="0"/>
              </a:rPr>
              <a:t>The materials herein are confidential and proprietary.  Accordingly, this presentation is to be treated as strictly confidential and not disclosed, directly or indirectly, to any party other than the person to whom it has been delivered and such person’s professional advisors.  Any distribution of this presentation, in whole or in part, or the divulgence of any of its contents, is unauthorized. Past performance is not an indication of future results, and no representation or warranty is made as to the returns which may be experienced by an investor.</a:t>
            </a:r>
          </a:p>
          <a:p>
            <a:pPr algn="just" eaLnBrk="0" hangingPunct="0"/>
            <a:endParaRPr lang="en-US" sz="650" i="1">
              <a:latin typeface="Avenir Next LT Pro" panose="020B0504020202020204" pitchFamily="34" charset="0"/>
            </a:endParaRPr>
          </a:p>
          <a:p>
            <a:pPr algn="just" eaLnBrk="0" hangingPunct="0"/>
            <a:r>
              <a:rPr lang="en-US" sz="650" i="1">
                <a:solidFill/>
                <a:latin typeface="Avenir Next LT Pro" panose="020B0504020202020204" pitchFamily="34" charset="0"/>
              </a:rPr>
              <a:t>The information in this presentation contains forward-looking statements regarding future events, targets or expectations. The commercial real estate market is volatile and unpredictable. There are no guarantees that the historical performance of an investment, Portfolio, or asset class will have a direct correlation with its future performance. The information in this presentation is based on current market conditions, which will fluctuate and may be superseded by subsequent market events or for other reasons.</a:t>
            </a:r>
          </a:p>
        </p:txBody>
      </p:sp>
      <p:sp>
        <p:nvSpPr>
          <p:cNvPr id="5" name="Subtitle 4"/>
          <p:cNvSpPr>
            <a:spLocks noGrp="1"/>
          </p:cNvSpPr>
          <p:nvPr>
            <p:ph type="subTitle" idx="1"/>
          </p:nvPr>
        </p:nvSpPr>
        <p:spPr>
          <a:xfrm>
            <a:off x="158338" y="4735007"/>
            <a:ext cx="8839200" cy="533400"/>
          </a:xfrm>
          <a:ln>
            <a:solidFill/>
          </a:ln>
        </p:spPr>
        <p:txBody>
          <a:bodyPr>
            <a:normAutofit/>
          </a:bodyPr>
          <a:lstStyle/>
          <a:p>
            <a:endParaRPr lang="en-US" sz="1600">
              <a:latin typeface="Avenir Next LT Pro" panose="020B0504020202020204" pitchFamily="34" charset="0"/>
            </a:endParaRPr>
          </a:p>
        </p:txBody>
      </p:sp>
      <p:sp>
        <p:nvSpPr>
          <p:cNvPr id="3" name="TextBox 2">
            <a:extLst>
              <a:ext uri="{FF2B5EF4-FFF2-40B4-BE49-F238E27FC236}">
                <a16:creationId xmlns:a16="http://schemas.microsoft.com/office/drawing/2014/main" id="{59638BFF-4FC7-3F12-DDB4-5547AEC40B4E}"/>
              </a:ext>
            </a:extLst>
          </p:cNvPr>
          <p:cNvSpPr txBox="1"/>
          <p:nvPr/>
        </p:nvSpPr>
        <p:spPr>
          <a:xfrm>
            <a:off x="153794" y="3949859"/>
            <a:ext cx="8848288" cy="609600"/>
          </a:xfrm>
          <a:prstGeom prst="rect">
            <a:avLst/>
          </a:prstGeom>
          <a:noFill/>
          <a:ln w="6350">
            <a:noFill/>
          </a:ln>
          <a:effectLst/>
        </p:spPr>
        <p:txBody>
          <a:bodyPr vert="horz" wrap="square" lIns="73152" tIns="42203" rIns="73152" bIns="42203" rtlCol="0" anchor="ctr" anchorCtr="0">
            <a:noAutofit/>
          </a:bodyPr>
          <a:lstStyle/>
          <a:p>
            <a:pPr algn="ctr"/>
            <a:r>
              <a:rPr lang="en-US" sz="2400" dirty="0">
                <a:solidFill/>
                <a:latin typeface="Avenir Next LT Pro Demi" panose="020B0704020202020204" pitchFamily="34" charset="0"/>
              </a:rPr>
              <a:t>Restoration Hardware </a:t>
            </a:r>
            <a:r>
              <a:rPr lang="en-US" sz="2400">
                <a:solidFill/>
                <a:latin typeface="Avenir Next LT Pro Demi" panose="020B0704020202020204" pitchFamily="34" charset="0"/>
              </a:rPr>
              <a:t>(RH) Stock </a:t>
            </a:r>
            <a:r>
              <a:rPr lang="en-US" sz="2400" dirty="0">
                <a:solidFill/>
                <a:latin typeface="Avenir Next LT Pro Demi" panose="020B0704020202020204" pitchFamily="34" charset="0"/>
              </a:rPr>
              <a:t>Pitch</a:t>
            </a:r>
          </a:p>
        </p:txBody>
      </p:sp>
      <p:pic>
        <p:nvPicPr>
          <p:cNvPr id="4" name="Picture 3">
            <a:extLst>
              <a:ext uri="{FF2B5EF4-FFF2-40B4-BE49-F238E27FC236}">
                <a16:creationId xmlns:a16="http://schemas.microsoft.com/office/drawing/2014/main" id="{18A7F065-9AC5-5E17-3645-8A09D7A7A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5920" y="911357"/>
            <a:ext cx="5852160" cy="1539915"/>
          </a:xfrm>
          <a:prstGeom prst="rect">
            <a:avLst/>
          </a:prstGeom>
          <a:ln>
            <a:solidFill/>
          </a:ln>
        </p:spPr>
      </p:pic>
    </p:spTree>
    <p:extLst>
      <p:ext uri="{BB962C8B-B14F-4D97-AF65-F5344CB8AC3E}">
        <p14:creationId xmlns:p14="http://schemas.microsoft.com/office/powerpoint/2010/main" val="26276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A3F6-56BE-9745-691F-5DDCD589A1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B421E-9E49-3211-883A-EDF9D07FE1F5}"/>
              </a:ext>
            </a:extLst>
          </p:cNvPr>
          <p:cNvSpPr>
            <a:spLocks noGrp="1"/>
          </p:cNvSpPr>
          <p:nvPr>
            <p:ph type="title"/>
          </p:nvPr>
        </p:nvSpPr>
        <p:spPr>
          <a:ln>
            <a:solidFill/>
          </a:ln>
        </p:spPr>
        <p:txBody>
          <a:bodyPr/>
          <a:lstStyle/>
          <a:p>
            <a:r>
              <a:rPr lang="en-US">
                <a:solidFill/>
              </a:rPr>
              <a:t>Table of Contents</a:t>
            </a:r>
          </a:p>
        </p:txBody>
      </p:sp>
      <p:graphicFrame>
        <p:nvGraphicFramePr>
          <p:cNvPr id="2" name="Table 1">
            <a:extLst>
              <a:ext uri="{FF2B5EF4-FFF2-40B4-BE49-F238E27FC236}">
                <a16:creationId xmlns:a16="http://schemas.microsoft.com/office/drawing/2014/main" id="{B661FD0E-1B52-5132-0BF5-35BE33B1205E}"/>
              </a:ext>
            </a:extLst>
          </p:cNvPr>
          <p:cNvGraphicFramePr>
            <a:graphicFrameLocks noGrp="1"/>
          </p:cNvGraphicFramePr>
          <p:nvPr>
            <p:extLst>
              <p:ext uri="{D42A27DB-BD31-4B8C-83A1-F6EECF244321}">
                <p14:modId xmlns:p14="http://schemas.microsoft.com/office/powerpoint/2010/main" val="4186093786"/>
              </p:ext>
            </p:extLst>
          </p:nvPr>
        </p:nvGraphicFramePr>
        <p:xfrm>
          <a:off x="361461" y="1270173"/>
          <a:ext cx="5164015" cy="3942688"/>
        </p:xfrm>
        <a:graphic>
          <a:graphicData uri="http://schemas.openxmlformats.org/drawingml/2006/table">
            <a:tbl>
              <a:tblPr firstRow="1" bandRow="1">
                <a:tableStyleId>{5940675A-B579-460E-94D1-54222C63F5DA}</a:tableStyleId>
              </a:tblPr>
              <a:tblGrid>
                <a:gridCol w="4258048">
                  <a:extLst>
                    <a:ext uri="{9D8B030D-6E8A-4147-A177-3AD203B41FA5}">
                      <a16:colId xmlns:a16="http://schemas.microsoft.com/office/drawing/2014/main" val="3371369022"/>
                    </a:ext>
                  </a:extLst>
                </a:gridCol>
                <a:gridCol w="905967">
                  <a:extLst>
                    <a:ext uri="{9D8B030D-6E8A-4147-A177-3AD203B41FA5}">
                      <a16:colId xmlns:a16="http://schemas.microsoft.com/office/drawing/2014/main" val="3756833042"/>
                    </a:ext>
                  </a:extLst>
                </a:gridCol>
              </a:tblGrid>
              <a:tr h="829499">
                <a:tc>
                  <a:txBody>
                    <a:bodyPr/>
                    <a:lstStyle/>
                    <a:p>
                      <a:r>
                        <a:rPr lang="en-US" sz="1400" b="1">
                          <a:solidFill>
                            <a:srgbClr val="FFFFFF"/>
                          </a:solidFill>
                        </a:rPr>
                        <a:t>Section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9A7B44"/>
                    </a:solidFill>
                  </a:tcPr>
                </a:tc>
                <a:tc>
                  <a:txBody>
                    <a:bodyPr/>
                    <a:lstStyle/>
                    <a:p>
                      <a:pPr algn="ctr"/>
                      <a:r>
                        <a:rPr lang="en-US" sz="1400" b="1">
                          <a:solidFill>
                            <a:srgbClr val="FFFFFF"/>
                          </a:solidFill>
                        </a:rPr>
                        <a:t>Page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9A7B44"/>
                    </a:solidFill>
                  </a:tcPr>
                </a:tc>
                <a:extLst>
                  <a:ext uri="{0D108BD9-81ED-4DB2-BD59-A6C34878D82A}">
                    <a16:rowId xmlns:a16="http://schemas.microsoft.com/office/drawing/2014/main" val="2623660340"/>
                  </a:ext>
                </a:extLst>
              </a:tr>
              <a:tr h="829499">
                <a:tc>
                  <a:txBody>
                    <a:bodyPr/>
                    <a:lstStyle/>
                    <a:p>
                      <a:r>
                        <a:rPr lang="en-US" sz="1400">
                          <a:solidFill>
                            <a:schemeClr val="bg1">
                              <a:lumMod val="50000"/>
                            </a:schemeClr>
                          </a:solidFill>
                        </a:rPr>
                        <a:t>1.  Investment Thesis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8414655"/>
                  </a:ext>
                </a:extLst>
              </a:tr>
              <a:tr h="829499">
                <a:tc>
                  <a:txBody>
                    <a:bodyPr/>
                    <a:lstStyle/>
                    <a:p>
                      <a:r>
                        <a:rPr lang="en-US" sz="1400">
                          <a:solidFill>
                            <a:schemeClr val="bg1">
                              <a:lumMod val="50000"/>
                            </a:schemeClr>
                          </a:solidFill>
                        </a:rPr>
                        <a:t>2.  Stock Overview</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0369599"/>
                  </a:ext>
                </a:extLst>
              </a:tr>
              <a:tr h="1454191">
                <a:tc>
                  <a:txBody>
                    <a:bodyPr/>
                    <a:lstStyle/>
                    <a:p>
                      <a:pPr marL="228600" indent="-228600">
                        <a:buAutoNum type="arabicPeriod" startAt="3"/>
                      </a:pPr>
                      <a:r>
                        <a:rPr lang="en-US" sz="1400">
                          <a:solidFill>
                            <a:schemeClr val="bg1">
                              <a:lumMod val="50000"/>
                            </a:schemeClr>
                          </a:solidFill>
                        </a:rPr>
                        <a:t>Valuation &amp; Returns</a:t>
                      </a: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r>
                        <a:rPr lang="en-US" sz="1400">
                          <a:solidFill>
                            <a:schemeClr val="bg1">
                              <a:lumMod val="50000"/>
                            </a:schemeClr>
                          </a:solidFill>
                        </a:rPr>
                        <a:t>Competitors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13</a:t>
                      </a: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5359035"/>
                  </a:ext>
                </a:extLst>
              </a:tr>
            </a:tbl>
          </a:graphicData>
        </a:graphic>
      </p:graphicFrame>
    </p:spTree>
    <p:extLst>
      <p:ext uri="{BB962C8B-B14F-4D97-AF65-F5344CB8AC3E}">
        <p14:creationId xmlns:p14="http://schemas.microsoft.com/office/powerpoint/2010/main" val="391471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2F2-7CB4-C805-D8CF-2A95F47E6D33}"/>
              </a:ext>
            </a:extLst>
          </p:cNvPr>
          <p:cNvSpPr>
            <a:spLocks noGrp="1"/>
          </p:cNvSpPr>
          <p:nvPr>
            <p:ph type="title"/>
          </p:nvPr>
        </p:nvSpPr>
        <p:spPr>
          <a:ln>
            <a:solidFill/>
          </a:ln>
        </p:spPr>
        <p:txBody>
          <a:bodyPr/>
          <a:lstStyle/>
          <a:p>
            <a:r>
              <a:rPr lang="en-US">
                <a:solidFill/>
              </a:rPr>
              <a:t>Investment thesis</a:t>
            </a:r>
          </a:p>
        </p:txBody>
      </p:sp>
    </p:spTree>
    <p:extLst>
      <p:ext uri="{BB962C8B-B14F-4D97-AF65-F5344CB8AC3E}">
        <p14:creationId xmlns:p14="http://schemas.microsoft.com/office/powerpoint/2010/main" val="34562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92443"/>
          </a:xfrm>
          <a:prstGeom prst="rect">
            <a:avLst/>
          </a:prstGeom>
          <a:noFill/>
          <a:ln>
            <a:noFill/>
          </a:ln>
        </p:spPr>
        <p:txBody>
          <a:bodyPr wrap="square">
            <a:spAutoFit/>
          </a:bodyPr>
          <a:lstStyle/>
          <a:p>
            <a:r>
              <a:rPr sz="2600" b="0" dirty="0">
                <a:solidFill/>
                <a:latin typeface="Avenir Next LT Pro Demi"/>
              </a:rPr>
              <a:t>Recommendation: Hold</a:t>
            </a:r>
          </a:p>
        </p:txBody>
      </p:sp>
      <p:sp>
        <p:nvSpPr>
          <p:cNvPr id="4" name="Rectangle 3"/>
          <p:cNvSpPr/>
          <p:nvPr/>
        </p:nvSpPr>
        <p:spPr>
          <a:xfrm>
            <a:off x="457200" y="995363"/>
            <a:ext cx="8229600" cy="868680"/>
          </a:xfrm>
          <a:prstGeom prst="rect">
            <a:avLst/>
          </a:prstGeom>
          <a:solidFill>
            <a:srgbClr val="AF8C49"/>
          </a:solidFill>
          <a:ln>
            <a:solidFill/>
          </a:ln>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1500" b="0" dirty="0">
                <a:solidFill>
                  <a:srgbClr val="FFFFFF"/>
                </a:solidFill>
                <a:latin typeface="Avenir Next LT Pro"/>
              </a:rPr>
              <a:t>Current ~$</a:t>
            </a:r>
            <a:r>
              <a:rPr lang="en-US" sz="1500" dirty="0">
                <a:solidFill>
                  <a:srgbClr val="FFFFFF"/>
                </a:solidFill>
                <a:latin typeface="Avenir Next LT Pro"/>
              </a:rPr>
              <a:t>166</a:t>
            </a:r>
            <a:r>
              <a:rPr sz="1500" b="0" dirty="0">
                <a:solidFill>
                  <a:srgbClr val="9AB0C4"/>
                </a:solidFill>
                <a:latin typeface="Avenir Next LT Pro"/>
              </a:rPr>
              <a:t>     ·     </a:t>
            </a:r>
            <a:r>
              <a:rPr sz="1700" b="1" dirty="0">
                <a:solidFill>
                  <a:srgbClr val="FFFFFF"/>
                </a:solidFill>
                <a:latin typeface="Avenir Next LT Pro Demi"/>
              </a:rPr>
              <a:t>Fair value today ~$165 (proven fundamentals)</a:t>
            </a:r>
            <a:r>
              <a:rPr sz="1200" b="0" dirty="0">
                <a:solidFill>
                  <a:srgbClr val="9AB0C4"/>
                </a:solidFill>
                <a:latin typeface="Avenir Next LT Pro"/>
              </a:rPr>
              <a:t>  →  </a:t>
            </a:r>
            <a:r>
              <a:rPr sz="1200" b="0" dirty="0">
                <a:solidFill>
                  <a:schemeClr val="bg1"/>
                </a:solidFill>
                <a:latin typeface="Avenir Next LT Pro"/>
              </a:rPr>
              <a:t>fairly valued</a:t>
            </a:r>
          </a:p>
          <a:p>
            <a:pPr algn="l"/>
            <a:r>
              <a:rPr sz="1100" b="0" dirty="0">
                <a:solidFill>
                  <a:schemeClr val="bg1"/>
                </a:solidFill>
                <a:latin typeface="Avenir Next LT Pro"/>
              </a:rPr>
              <a:t/>
            </a:r>
            <a:r>
              <a:rPr lang="en-US" sz="1100" b="0" dirty="0">
                <a:solidFill>
                  <a:schemeClr val="bg1"/>
                </a:solidFill>
                <a:latin typeface="Avenir Next LT Pro"/>
              </a:rPr>
              <a:t/>
            </a:r>
            <a:r>
              <a:rPr sz="1100" b="0" dirty="0">
                <a:solidFill>
                  <a:schemeClr val="bg1"/>
                </a:solidFill>
                <a:latin typeface="Avenir Next LT Pro"/>
              </a:rPr>
              <a:t>Upside if the thesis de-risks: ~$240 FV / ~$310 target (~45–90%). Not yet actionable — Estates unproven, ~4× levered. Buy on proof.</a:t>
            </a:r>
            <a:r>
              <a:rPr lang="en-US" sz="1100" b="0" dirty="0">
                <a:solidFill>
                  <a:schemeClr val="bg1"/>
                </a:solidFill>
                <a:latin typeface="Avenir Next LT Pro"/>
              </a:rPr>
              <a:t/>
            </a:r>
            <a:endParaRPr sz="1100" b="0" dirty="0">
              <a:solidFill>
                <a:schemeClr val="bg1"/>
              </a:solidFill>
              <a:latin typeface="Avenir Next LT Pro"/>
            </a:endParaRPr>
          </a:p>
        </p:txBody>
      </p:sp>
      <p:sp>
        <p:nvSpPr>
          <p:cNvPr id="5" name="Rectangle 4"/>
          <p:cNvSpPr/>
          <p:nvPr/>
        </p:nvSpPr>
        <p:spPr>
          <a:xfrm>
            <a:off x="457200" y="2240280"/>
            <a:ext cx="2651760" cy="914400"/>
          </a:xfrm>
          <a:prstGeom prst="rect">
            <a:avLst/>
          </a:prstGeom>
          <a:solidFill>
            <a:srgbClr val="E8E8E8"/>
          </a:solidFill>
          <a:ln w="19050">
            <a:solidFill>
              <a:srgbClr val="E971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BEAR · </a:t>
            </a:r>
            <a:r>
              <a:rPr lang="en-US" sz="1000" b="1" dirty="0">
                <a:solidFill>
                  <a:srgbClr val="5A5A5A"/>
                </a:solidFill>
                <a:latin typeface="Avenir Next LT Pro Demi"/>
              </a:rPr>
              <a:t>30</a:t>
            </a:r>
            <a:r>
              <a:rPr sz="1000" b="1" dirty="0">
                <a:solidFill>
                  <a:srgbClr val="5A5A5A"/>
                </a:solidFill>
                <a:latin typeface="Avenir Next LT Pro Demi"/>
              </a:rPr>
              <a:t>%</a:t>
            </a:r>
          </a:p>
          <a:p>
            <a:pPr algn="ctr"/>
            <a:r>
              <a:rPr sz="2400" b="1" dirty="0">
                <a:solidFill>
                  <a:srgbClr val="E97132"/>
                </a:solidFill>
                <a:latin typeface="Avenir Next LT Pro Demi"/>
              </a:rPr>
              <a:t>~$100</a:t>
            </a:r>
          </a:p>
        </p:txBody>
      </p:sp>
      <p:sp>
        <p:nvSpPr>
          <p:cNvPr id="6" name="Rectangle 5"/>
          <p:cNvSpPr/>
          <p:nvPr/>
        </p:nvSpPr>
        <p:spPr>
          <a:xfrm>
            <a:off x="3246120" y="2240280"/>
            <a:ext cx="2651760" cy="914400"/>
          </a:xfrm>
          <a:prstGeom prst="rect">
            <a:avLst/>
          </a:prstGeom>
          <a:solidFill>
            <a:srgbClr val="E8E8E8"/>
          </a:solidFill>
          <a:ln w="19050">
            <a:solidFill>
              <a:srgbClr val="1560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BASE · 5</a:t>
            </a:r>
            <a:r>
              <a:rPr lang="en-US" sz="1000" b="1" dirty="0">
                <a:solidFill>
                  <a:srgbClr val="5A5A5A"/>
                </a:solidFill>
                <a:latin typeface="Avenir Next LT Pro Demi"/>
              </a:rPr>
              <a:t>5</a:t>
            </a:r>
            <a:r>
              <a:rPr sz="1000" b="1" dirty="0">
                <a:solidFill>
                  <a:srgbClr val="5A5A5A"/>
                </a:solidFill>
                <a:latin typeface="Avenir Next LT Pro Demi"/>
              </a:rPr>
              <a:t>%</a:t>
            </a:r>
          </a:p>
          <a:p>
            <a:pPr algn="ctr"/>
            <a:r>
              <a:rPr sz="2400" b="1" dirty="0">
                <a:solidFill>
                  <a:srgbClr val="000000"/>
                </a:solidFill>
                <a:latin typeface="Avenir Next LT Pro Demi"/>
              </a:rPr>
              <a:t>~$310</a:t>
            </a:r>
            <a:r>
              <a:rPr lang="en-US" sz="2400" b="1" dirty="0">
                <a:solidFill>
                  <a:srgbClr val="000000"/>
                </a:solidFill>
                <a:latin typeface="Avenir Next LT Pro Demi"/>
              </a:rPr>
              <a:t/>
            </a:r>
            <a:endParaRPr sz="2400" b="1" dirty="0">
              <a:solidFill>
                <a:srgbClr val="156082"/>
              </a:solidFill>
              <a:latin typeface="Avenir Next LT Pro Demi"/>
            </a:endParaRPr>
          </a:p>
        </p:txBody>
      </p:sp>
      <p:sp>
        <p:nvSpPr>
          <p:cNvPr id="7" name="Rectangle 6"/>
          <p:cNvSpPr/>
          <p:nvPr/>
        </p:nvSpPr>
        <p:spPr>
          <a:xfrm>
            <a:off x="6035040" y="2240280"/>
            <a:ext cx="2651760" cy="914400"/>
          </a:xfrm>
          <a:prstGeom prst="rect">
            <a:avLst/>
          </a:prstGeom>
          <a:solidFill>
            <a:srgbClr val="E8E8E8"/>
          </a:solidFill>
          <a:ln w="19050">
            <a:solidFill>
              <a:srgbClr val="196B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5A5A5A"/>
                </a:solidFill>
                <a:latin typeface="Avenir Next LT Pro Demi"/>
              </a:rPr>
              <a:t>BULL · </a:t>
            </a:r>
            <a:r>
              <a:rPr lang="en-US" sz="1000" b="1" dirty="0">
                <a:solidFill>
                  <a:srgbClr val="5A5A5A"/>
                </a:solidFill>
                <a:latin typeface="Avenir Next LT Pro Demi"/>
              </a:rPr>
              <a:t>15</a:t>
            </a:r>
            <a:r>
              <a:rPr sz="1000" b="1" dirty="0">
                <a:solidFill>
                  <a:srgbClr val="5A5A5A"/>
                </a:solidFill>
                <a:latin typeface="Avenir Next LT Pro Demi"/>
              </a:rPr>
              <a:t>%</a:t>
            </a:r>
          </a:p>
          <a:p>
            <a:pPr algn="ctr"/>
            <a:r>
              <a:rPr sz="2400" b="1">
                <a:solidFill>
                  <a:srgbClr val="196B24"/>
                </a:solidFill>
                <a:latin typeface="Avenir Next LT Pro Demi"/>
              </a:rPr>
              <a:t>~$562</a:t>
            </a:r>
            <a:r>
              <a:rPr lang="en-US" sz="2400" b="1">
                <a:solidFill>
                  <a:srgbClr val="196B24"/>
                </a:solidFill>
                <a:latin typeface="Avenir Next LT Pro Demi"/>
              </a:rPr>
              <a:t/>
            </a:r>
            <a:endParaRPr sz="2400" b="1" dirty="0">
              <a:solidFill>
                <a:srgbClr val="196B24"/>
              </a:solidFill>
              <a:latin typeface="Avenir Next LT Pro Demi"/>
            </a:endParaRPr>
          </a:p>
        </p:txBody>
      </p:sp>
      <p:sp>
        <p:nvSpPr>
          <p:cNvPr id="8" name="Rectangle 7"/>
          <p:cNvSpPr/>
          <p:nvPr/>
        </p:nvSpPr>
        <p:spPr>
          <a:xfrm>
            <a:off x="457200" y="3429000"/>
            <a:ext cx="82296" cy="224028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429000"/>
            <a:ext cx="3794760" cy="2240280"/>
          </a:xfrm>
          <a:prstGeom prst="rect">
            <a:avLst/>
          </a:prstGeom>
          <a:noFill/>
          <a:ln>
            <a:noFill/>
          </a:ln>
        </p:spPr>
        <p:txBody>
          <a:bodyPr wrap="square">
            <a:spAutoFit/>
          </a:bodyPr>
          <a:lstStyle/>
          <a:p>
            <a:r>
              <a:rPr sz="1300" b="1">
                <a:solidFill>
                  <a:srgbClr val="000000"/>
                </a:solidFill>
                <a:latin typeface="Avenir Next LT Pro Demi"/>
              </a:rPr>
              <a:t>Why it's interesting</a:t>
            </a:r>
          </a:p>
          <a:p>
            <a:pPr>
              <a:spcBef>
                <a:spcPts val="600"/>
              </a:spcBef>
            </a:pPr>
            <a:r>
              <a:rPr sz="1100">
                <a:solidFill>
                  <a:srgbClr val="000000"/>
                </a:solidFill>
                <a:latin typeface="Avenir Next LT Pro"/>
              </a:rPr>
              <a:t>•  </a:t>
            </a:r>
            <a:r>
              <a:rPr sz="1100">
                <a:solidFill>
                  <a:srgbClr val="000000"/>
                </a:solidFill>
                <a:latin typeface="Avenir Next LT Pro"/>
              </a:rPr>
              <a:t>Proven operator — Friedman (~18–25% owner) rebuilt RH from near-bankruptcy</a:t>
            </a:r>
          </a:p>
          <a:p>
            <a:pPr>
              <a:spcBef>
                <a:spcPts val="600"/>
              </a:spcBef>
            </a:pPr>
            <a:r>
              <a:rPr sz="1100">
                <a:solidFill>
                  <a:srgbClr val="000000"/>
                </a:solidFill>
                <a:latin typeface="Avenir Next LT Pro"/>
              </a:rPr>
              <a:t>•  </a:t>
            </a:r>
            <a:r>
              <a:rPr sz="1100">
                <a:solidFill>
                  <a:srgbClr val="000000"/>
                </a:solidFill>
                <a:latin typeface="Avenir Next LT Pro"/>
              </a:rPr>
              <a:t>Differentiated, fully-DTC luxury brand with real pricing power</a:t>
            </a:r>
          </a:p>
          <a:p>
            <a:pPr>
              <a:spcBef>
                <a:spcPts val="600"/>
              </a:spcBef>
            </a:pPr>
            <a:r>
              <a:rPr sz="1100">
                <a:solidFill>
                  <a:srgbClr val="000000"/>
                </a:solidFill>
                <a:latin typeface="Avenir Next LT Pro"/>
              </a:rPr>
              <a:t>•  </a:t>
            </a:r>
            <a:r>
              <a:rPr sz="1100">
                <a:solidFill>
                  <a:srgbClr val="000000"/>
                </a:solidFill>
                <a:latin typeface="Avenir Next LT Pro"/>
              </a:rPr>
              <a:t>Large optionality — ~45–90% upside if Estates + margins prove out</a:t>
            </a:r>
          </a:p>
        </p:txBody>
      </p:sp>
      <p:sp>
        <p:nvSpPr>
          <p:cNvPr id="10" name="Rectangle 9"/>
          <p:cNvSpPr/>
          <p:nvPr/>
        </p:nvSpPr>
        <p:spPr>
          <a:xfrm>
            <a:off x="4709160" y="3429000"/>
            <a:ext cx="82296" cy="224028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3429000"/>
            <a:ext cx="3794760" cy="2240280"/>
          </a:xfrm>
          <a:prstGeom prst="rect">
            <a:avLst/>
          </a:prstGeom>
          <a:noFill/>
          <a:ln>
            <a:noFill/>
          </a:ln>
        </p:spPr>
        <p:txBody>
          <a:bodyPr wrap="square">
            <a:spAutoFit/>
          </a:bodyPr>
          <a:lstStyle/>
          <a:p>
            <a:r>
              <a:rPr sz="1300" b="1">
                <a:solidFill>
                  <a:srgbClr val="B03030"/>
                </a:solidFill>
                <a:latin typeface="Avenir Next LT Pro Demi"/>
              </a:rPr>
              <a:t>Why I'm holding — not yet</a:t>
            </a:r>
          </a:p>
          <a:p>
            <a:pPr>
              <a:spcBef>
                <a:spcPts val="600"/>
              </a:spcBef>
            </a:pPr>
            <a:r>
              <a:rPr sz="1100">
                <a:solidFill>
                  <a:srgbClr val="B03030"/>
                </a:solidFill>
                <a:latin typeface="Avenir Next LT Pro"/>
              </a:rPr>
              <a:t>•  </a:t>
            </a:r>
            <a:r>
              <a:rPr sz="1100">
                <a:solidFill>
                  <a:srgbClr val="000000"/>
                </a:solidFill>
                <a:latin typeface="Avenir Next LT Pro"/>
              </a:rPr>
              <a:t>Estates unproven — zero results data (launched Jun 2026)</a:t>
            </a:r>
          </a:p>
          <a:p>
            <a:pPr>
              <a:spcBef>
                <a:spcPts val="600"/>
              </a:spcBef>
            </a:pPr>
            <a:r>
              <a:rPr sz="1100">
                <a:solidFill>
                  <a:srgbClr val="B03030"/>
                </a:solidFill>
                <a:latin typeface="Avenir Next LT Pro"/>
              </a:rPr>
              <a:t>•  </a:t>
            </a:r>
            <a:r>
              <a:rPr sz="1100">
                <a:solidFill>
                  <a:srgbClr val="000000"/>
                </a:solidFill>
                <a:latin typeface="Avenir Next LT Pro"/>
              </a:rPr>
              <a:t>Core still soft — Q1 net loss; Q2 guides just +0.5–2.5%</a:t>
            </a:r>
          </a:p>
          <a:p>
            <a:pPr>
              <a:spcBef>
                <a:spcPts val="600"/>
              </a:spcBef>
            </a:pPr>
            <a:r>
              <a:rPr sz="1100">
                <a:solidFill>
                  <a:srgbClr val="B03030"/>
                </a:solidFill>
                <a:latin typeface="Avenir Next LT Pro"/>
              </a:rPr>
              <a:t>•  </a:t>
            </a:r>
            <a:r>
              <a:rPr sz="1100">
                <a:solidFill>
                  <a:srgbClr val="000000"/>
                </a:solidFill>
                <a:latin typeface="Avenir Next LT Pro"/>
              </a:rPr>
              <a:t>~4× levered; debt reduction one-time (inventory) and stalling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a:solidFill>
                  <a:srgbClr val="000000"/>
                </a:solidFill>
                <a:latin typeface="Avenir Next LT Pro Demi"/>
              </a:rPr>
              <a:t>Where the Street Values RH — vs. My Verdict</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8229600" cy="2743200"/>
        </p:xfrm>
        <a:graphic>
          <a:graphicData uri="http://schemas.openxmlformats.org/drawingml/2006/table">
            <a:tbl>
              <a:tblPr>
                <a:tableStyleId>{5C22544A-7EE6-4342-B048-85BDC9FD1C3A}</a:tableStyleId>
              </a:tblPr>
              <a:tblGrid>
                <a:gridCol w="3291840"/>
                <a:gridCol w="2011680"/>
                <a:gridCol w="2926080"/>
              </a:tblGrid>
              <a:tr h="457200">
                <a:tc>
                  <a:txBody>
                    <a:bodyPr/>
                    <a:lstStyle/>
                    <a:p>
                      <a:pPr algn="l"/>
                      <a:r>
                        <a:rPr sz="1100" b="1">
                          <a:solidFill>
                            <a:srgbClr val="FFFFFF"/>
                          </a:solidFill>
                          <a:latin typeface="Avenir Next LT Pro Demi"/>
                        </a:rPr>
                        <a:t>Benchmark</a:t>
                      </a:r>
                    </a:p>
                  </a:txBody>
                  <a:tcPr marL="91440" marT="27432" marB="27432" anchor="ctr">
                    <a:solidFill>
                      <a:srgbClr val="9A7B44"/>
                    </a:solidFill>
                  </a:tcPr>
                </a:tc>
                <a:tc>
                  <a:txBody>
                    <a:bodyPr/>
                    <a:lstStyle/>
                    <a:p>
                      <a:pPr algn="ctr"/>
                      <a:r>
                        <a:rPr sz="1100" b="1">
                          <a:solidFill>
                            <a:srgbClr val="FFFFFF"/>
                          </a:solidFill>
                          <a:latin typeface="Avenir Next LT Pro Demi"/>
                        </a:rPr>
                        <a:t>Value</a:t>
                      </a:r>
                    </a:p>
                  </a:txBody>
                  <a:tcPr marL="91440" marT="27432" marB="27432" anchor="ctr">
                    <a:solidFill>
                      <a:srgbClr val="9A7B44"/>
                    </a:solidFill>
                  </a:tcPr>
                </a:tc>
                <a:tc>
                  <a:txBody>
                    <a:bodyPr/>
                    <a:lstStyle/>
                    <a:p>
                      <a:pPr algn="l"/>
                      <a:r>
                        <a:rPr sz="1100" b="1">
                          <a:solidFill>
                            <a:srgbClr val="FFFFFF"/>
                          </a:solidFill>
                          <a:latin typeface="Avenir Next LT Pro Demi"/>
                        </a:rPr>
                        <a:t>Implied read</a:t>
                      </a:r>
                    </a:p>
                  </a:txBody>
                  <a:tcPr marL="91440" marT="27432" marB="27432" anchor="ctr">
                    <a:solidFill>
                      <a:srgbClr val="9A7B44"/>
                    </a:solidFill>
                  </a:tcPr>
                </a:tc>
              </a:tr>
              <a:tr h="457200">
                <a:tc>
                  <a:txBody>
                    <a:bodyPr/>
                    <a:lstStyle/>
                    <a:p>
                      <a:pPr algn="l"/>
                      <a:r>
                        <a:rPr sz="1100" b="1">
                          <a:solidFill>
                            <a:srgbClr val="000000"/>
                          </a:solidFill>
                          <a:latin typeface="Avenir Next LT Pro"/>
                        </a:rPr>
                        <a:t>Current price</a:t>
                      </a:r>
                    </a:p>
                  </a:txBody>
                  <a:tcPr marL="91440" marT="27432" marB="27432" anchor="ctr">
                    <a:solidFill>
                      <a:srgbClr val="FFFFFF"/>
                    </a:solidFill>
                  </a:tcPr>
                </a:tc>
                <a:tc>
                  <a:txBody>
                    <a:bodyPr/>
                    <a:lstStyle/>
                    <a:p>
                      <a:pPr algn="ctr"/>
                      <a:r>
                        <a:rPr sz="1100" b="0">
                          <a:solidFill>
                            <a:srgbClr val="000000"/>
                          </a:solidFill>
                          <a:latin typeface="Avenir Next LT Pro"/>
                        </a:rPr>
                        <a:t>~$166</a:t>
                      </a:r>
                    </a:p>
                  </a:txBody>
                  <a:tcPr marL="91440" marT="27432" marB="27432" anchor="ctr">
                    <a:solidFill>
                      <a:srgbClr val="FFFFFF"/>
                    </a:solidFill>
                  </a:tcPr>
                </a:tc>
                <a:tc>
                  <a:txBody>
                    <a:bodyPr/>
                    <a:lstStyle/>
                    <a:p>
                      <a:pPr algn="l"/>
                      <a:r>
                        <a:rPr sz="1100" b="0">
                          <a:solidFill>
                            <a:srgbClr val="000000"/>
                          </a:solidFill>
                          <a:latin typeface="Avenir Next LT Pro"/>
                        </a:rPr>
                        <a:t>—</a:t>
                      </a:r>
                    </a:p>
                  </a:txBody>
                  <a:tcPr marL="91440" marT="27432" marB="27432" anchor="ctr">
                    <a:solidFill>
                      <a:srgbClr val="FFFFFF"/>
                    </a:solidFill>
                  </a:tcPr>
                </a:tc>
              </a:tr>
              <a:tr h="457200">
                <a:tc>
                  <a:txBody>
                    <a:bodyPr/>
                    <a:lstStyle/>
                    <a:p>
                      <a:pPr algn="l"/>
                      <a:r>
                        <a:rPr sz="1100" b="1">
                          <a:solidFill>
                            <a:srgbClr val="000000"/>
                          </a:solidFill>
                          <a:latin typeface="Avenir Next LT Pro"/>
                        </a:rPr>
                        <a:t>Sell-side price targets</a:t>
                      </a:r>
                    </a:p>
                  </a:txBody>
                  <a:tcPr marL="91440" marT="27432" marB="27432" anchor="ctr">
                    <a:solidFill>
                      <a:srgbClr val="F4F6F8"/>
                    </a:solidFill>
                  </a:tcPr>
                </a:tc>
                <a:tc>
                  <a:txBody>
                    <a:bodyPr/>
                    <a:lstStyle/>
                    <a:p>
                      <a:pPr algn="ctr"/>
                      <a:r>
                        <a:rPr sz="1100" b="0">
                          <a:solidFill>
                            <a:srgbClr val="000000"/>
                          </a:solidFill>
                          <a:latin typeface="Avenir Next LT Pro"/>
                        </a:rPr>
                        <a:t>$130–175</a:t>
                      </a:r>
                    </a:p>
                  </a:txBody>
                  <a:tcPr marL="91440" marT="27432" marB="27432" anchor="ctr">
                    <a:solidFill>
                      <a:srgbClr val="F4F6F8"/>
                    </a:solidFill>
                  </a:tcPr>
                </a:tc>
                <a:tc>
                  <a:txBody>
                    <a:bodyPr/>
                    <a:lstStyle/>
                    <a:p>
                      <a:pPr algn="l"/>
                      <a:r>
                        <a:rPr sz="1100" b="0">
                          <a:solidFill>
                            <a:srgbClr val="000000"/>
                          </a:solidFill>
                          <a:latin typeface="Avenir Next LT Pro"/>
                        </a:rPr>
                        <a:t>Limited upside; ~fairly valued</a:t>
                      </a:r>
                    </a:p>
                  </a:txBody>
                  <a:tcPr marL="91440" marT="27432" marB="27432" anchor="ctr">
                    <a:solidFill>
                      <a:srgbClr val="F4F6F8"/>
                    </a:solidFill>
                  </a:tcPr>
                </a:tc>
              </a:tr>
              <a:tr h="457200">
                <a:tc>
                  <a:txBody>
                    <a:bodyPr/>
                    <a:lstStyle/>
                    <a:p>
                      <a:pPr algn="l"/>
                      <a:r>
                        <a:rPr sz="1100" b="1">
                          <a:solidFill>
                            <a:srgbClr val="000000"/>
                          </a:solidFill>
                          <a:latin typeface="Avenir Next LT Pro"/>
                        </a:rPr>
                        <a:t>Simply Wall St models</a:t>
                      </a:r>
                    </a:p>
                  </a:txBody>
                  <a:tcPr marL="91440" marT="27432" marB="27432" anchor="ctr">
                    <a:solidFill>
                      <a:srgbClr val="FFFFFF"/>
                    </a:solidFill>
                  </a:tcPr>
                </a:tc>
                <a:tc>
                  <a:txBody>
                    <a:bodyPr/>
                    <a:lstStyle/>
                    <a:p>
                      <a:pPr algn="ctr"/>
                      <a:r>
                        <a:rPr sz="1100" b="0">
                          <a:solidFill>
                            <a:srgbClr val="000000"/>
                          </a:solidFill>
                          <a:latin typeface="Avenir Next LT Pro"/>
                        </a:rPr>
                        <a:t>~$165–264</a:t>
                      </a:r>
                    </a:p>
                  </a:txBody>
                  <a:tcPr marL="91440" marT="27432" marB="27432" anchor="ctr">
                    <a:solidFill>
                      <a:srgbClr val="FFFFFF"/>
                    </a:solidFill>
                  </a:tcPr>
                </a:tc>
                <a:tc>
                  <a:txBody>
                    <a:bodyPr/>
                    <a:lstStyle/>
                    <a:p>
                      <a:pPr algn="l"/>
                      <a:r>
                        <a:rPr sz="1100" b="0">
                          <a:solidFill>
                            <a:srgbClr val="000000"/>
                          </a:solidFill>
                          <a:latin typeface="Avenir Next LT Pro"/>
                        </a:rPr>
                        <a:t>Fairly valued to bullish</a:t>
                      </a:r>
                    </a:p>
                  </a:txBody>
                  <a:tcPr marL="91440" marT="27432" marB="27432" anchor="ctr">
                    <a:solidFill>
                      <a:srgbClr val="FFFFFF"/>
                    </a:solidFill>
                  </a:tcPr>
                </a:tc>
              </a:tr>
              <a:tr h="457200">
                <a:tc>
                  <a:txBody>
                    <a:bodyPr/>
                    <a:lstStyle/>
                    <a:p>
                      <a:pPr algn="l"/>
                      <a:r>
                        <a:rPr sz="1100" b="1">
                          <a:solidFill>
                            <a:srgbClr val="000000"/>
                          </a:solidFill>
                          <a:latin typeface="Avenir Next LT Pro Demi"/>
                        </a:rPr>
                        <a:t>My fair value — proven today</a:t>
                      </a:r>
                    </a:p>
                  </a:txBody>
                  <a:tcPr marL="91440" marT="27432" marB="27432" anchor="ctr">
                    <a:solidFill>
                      <a:srgbClr val="F4F6F8"/>
                    </a:solidFill>
                  </a:tcPr>
                </a:tc>
                <a:tc>
                  <a:txBody>
                    <a:bodyPr/>
                    <a:lstStyle/>
                    <a:p>
                      <a:pPr algn="ctr"/>
                      <a:r>
                        <a:rPr sz="1100" b="1">
                          <a:solidFill>
                            <a:srgbClr val="000000"/>
                          </a:solidFill>
                          <a:latin typeface="Avenir Next LT Pro"/>
                        </a:rPr>
                        <a:t>~$165</a:t>
                      </a:r>
                    </a:p>
                  </a:txBody>
                  <a:tcPr marL="91440" marT="27432" marB="27432" anchor="ctr">
                    <a:solidFill>
                      <a:srgbClr val="F4F6F8"/>
                    </a:solidFill>
                  </a:tcPr>
                </a:tc>
                <a:tc>
                  <a:txBody>
                    <a:bodyPr/>
                    <a:lstStyle/>
                    <a:p>
                      <a:pPr algn="l"/>
                      <a:r>
                        <a:rPr sz="1100" b="1">
                          <a:solidFill>
                            <a:srgbClr val="000000"/>
                          </a:solidFill>
                          <a:latin typeface="Avenir Next LT Pro"/>
                        </a:rPr>
                        <a:t>In line with Street → Hold</a:t>
                      </a:r>
                    </a:p>
                  </a:txBody>
                  <a:tcPr marL="91440" marT="27432" marB="27432" anchor="ctr">
                    <a:solidFill>
                      <a:srgbClr val="F4F6F8"/>
                    </a:solidFill>
                  </a:tcPr>
                </a:tc>
              </a:tr>
              <a:tr h="457200">
                <a:tc>
                  <a:txBody>
                    <a:bodyPr/>
                    <a:lstStyle/>
                    <a:p>
                      <a:pPr algn="l"/>
                      <a:r>
                        <a:rPr sz="1100" b="1">
                          <a:solidFill>
                            <a:srgbClr val="000000"/>
                          </a:solidFill>
                          <a:latin typeface="Avenir Next LT Pro Demi"/>
                        </a:rPr>
                        <a:t>My upside case — if de-risked</a:t>
                      </a:r>
                    </a:p>
                  </a:txBody>
                  <a:tcPr marL="91440" marT="27432" marB="27432" anchor="ctr">
                    <a:solidFill>
                      <a:srgbClr val="FFFFFF"/>
                    </a:solidFill>
                  </a:tcPr>
                </a:tc>
                <a:tc>
                  <a:txBody>
                    <a:bodyPr/>
                    <a:lstStyle/>
                    <a:p>
                      <a:pPr algn="ctr"/>
                      <a:r>
                        <a:rPr sz="1100" b="1">
                          <a:solidFill>
                            <a:srgbClr val="000000"/>
                          </a:solidFill>
                          <a:latin typeface="Avenir Next LT Pro"/>
                        </a:rPr>
                        <a:t>~$240 FV / ~$310 tgt</a:t>
                      </a:r>
                    </a:p>
                  </a:txBody>
                  <a:tcPr marL="91440" marT="27432" marB="27432" anchor="ctr">
                    <a:solidFill>
                      <a:srgbClr val="FFFFFF"/>
                    </a:solidFill>
                  </a:tcPr>
                </a:tc>
                <a:tc>
                  <a:txBody>
                    <a:bodyPr/>
                    <a:lstStyle/>
                    <a:p>
                      <a:pPr algn="l"/>
                      <a:r>
                        <a:rPr sz="1100" b="1">
                          <a:solidFill>
                            <a:srgbClr val="000000"/>
                          </a:solidFill>
                          <a:latin typeface="Avenir Next LT Pro"/>
                        </a:rPr>
                        <a:t>The prize (~45–90%) if triggers hit</a:t>
                      </a:r>
                    </a:p>
                  </a:txBody>
                  <a:tcPr marL="91440" marT="27432" marB="27432" anchor="ctr">
                    <a:solidFill>
                      <a:srgbClr val="FFFFFF"/>
                    </a:solidFill>
                  </a:tcPr>
                </a:tc>
              </a:tr>
            </a:tbl>
          </a:graphicData>
        </a:graphic>
      </p:graphicFrame>
      <p:sp>
        <p:nvSpPr>
          <p:cNvPr id="5" name="TextBox 4"/>
          <p:cNvSpPr txBox="1"/>
          <p:nvPr/>
        </p:nvSpPr>
        <p:spPr>
          <a:xfrm>
            <a:off x="457200" y="4572000"/>
            <a:ext cx="8229600" cy="1005840"/>
          </a:xfrm>
          <a:prstGeom prst="rect">
            <a:avLst/>
          </a:prstGeom>
          <a:noFill/>
          <a:ln>
            <a:noFill/>
          </a:ln>
        </p:spPr>
        <p:txBody>
          <a:bodyPr wrap="square">
            <a:spAutoFit/>
          </a:bodyPr>
          <a:lstStyle/>
          <a:p>
            <a:r>
              <a:rPr sz="1200">
                <a:solidFill>
                  <a:srgbClr val="000000"/>
                </a:solidFill>
                <a:latin typeface="Avenir Next LT Pro"/>
              </a:rPr>
              <a:t>Takeaway: I match the Street on proven value (~$165 ≈ price).</a:t>
            </a:r>
          </a:p>
          <a:p>
            <a:pPr>
              <a:spcBef>
                <a:spcPts val="800"/>
              </a:spcBef>
            </a:pPr>
            <a:r>
              <a:rPr sz="1200" b="1">
                <a:solidFill>
                  <a:srgbClr val="000000"/>
                </a:solidFill>
                <a:latin typeface="Avenir Next LT Pro Demi"/>
              </a:rPr>
              <a:t>My edge is the conditional upside (~$240–310) — and the discipline to wait for proof before paying for it.</a:t>
            </a:r>
          </a:p>
        </p:txBody>
      </p:sp>
      <p:sp>
        <p:nvSpPr>
          <p:cNvPr id="6" name="TextBox 5"/>
          <p:cNvSpPr txBox="1"/>
          <p:nvPr/>
        </p:nvSpPr>
        <p:spPr>
          <a:xfrm>
            <a:off x="457200" y="6172200"/>
            <a:ext cx="8229600" cy="274320"/>
          </a:xfrm>
          <a:prstGeom prst="rect">
            <a:avLst/>
          </a:prstGeom>
          <a:noFill/>
          <a:ln>
            <a:noFill/>
          </a:ln>
        </p:spPr>
        <p:txBody>
          <a:bodyPr wrap="none">
            <a:spAutoFit/>
          </a:bodyPr>
          <a:lstStyle/>
          <a:p>
            <a:r>
              <a:rPr sz="750" i="1">
                <a:solidFill>
                  <a:srgbClr val="707070"/>
                </a:solidFill>
                <a:latin typeface="Avenir Next LT Pro"/>
              </a:rPr>
              <a:t>Sources: sell-side price-target range &amp; Simply Wall St narrative fair values (per recent research); author's estimates.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a:solidFill>
                  <a:srgbClr val="000000"/>
                </a:solidFill>
                <a:latin typeface="Avenir Next LT Pro Demi"/>
              </a:rPr>
              <a:t>What Would Make Me a Buyer</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457200"/>
          </a:xfrm>
          <a:prstGeom prst="rect">
            <a:avLst/>
          </a:prstGeom>
          <a:noFill/>
          <a:ln>
            <a:noFill/>
          </a:ln>
        </p:spPr>
        <p:txBody>
          <a:bodyPr wrap="square">
            <a:spAutoFit/>
          </a:bodyPr>
          <a:lstStyle/>
          <a:p>
            <a:r>
              <a:rPr sz="1200" i="1">
                <a:solidFill>
                  <a:srgbClr val="707070"/>
                </a:solidFill>
                <a:latin typeface="Avenir Next LT Pro"/>
              </a:rPr>
              <a:t>Hold today. Three proofs would flip it to Buy — even at a higher price, because the risk would be lower.</a:t>
            </a:r>
          </a:p>
        </p:txBody>
      </p:sp>
      <p:sp>
        <p:nvSpPr>
          <p:cNvPr id="5" name="Rectangle 4"/>
          <p:cNvSpPr/>
          <p:nvPr/>
        </p:nvSpPr>
        <p:spPr>
          <a:xfrm>
            <a:off x="457200" y="1691640"/>
            <a:ext cx="82296" cy="114300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691640"/>
            <a:ext cx="2331720" cy="1143000"/>
          </a:xfrm>
          <a:prstGeom prst="rect">
            <a:avLst/>
          </a:prstGeom>
          <a:noFill/>
          <a:ln>
            <a:noFill/>
          </a:ln>
        </p:spPr>
        <p:txBody>
          <a:bodyPr wrap="square" anchor="ctr">
            <a:spAutoFit/>
          </a:bodyPr>
          <a:lstStyle/>
          <a:p>
            <a:r>
              <a:rPr sz="1300" b="1">
                <a:solidFill>
                  <a:srgbClr val="000000"/>
                </a:solidFill>
                <a:latin typeface="Avenir Next LT Pro Demi"/>
              </a:rPr>
              <a:t>1 — Core recovery</a:t>
            </a:r>
          </a:p>
        </p:txBody>
      </p:sp>
      <p:sp>
        <p:nvSpPr>
          <p:cNvPr id="7" name="TextBox 6"/>
          <p:cNvSpPr txBox="1"/>
          <p:nvPr/>
        </p:nvSpPr>
        <p:spPr>
          <a:xfrm>
            <a:off x="3063240" y="1691640"/>
            <a:ext cx="5623560" cy="1143000"/>
          </a:xfrm>
          <a:prstGeom prst="rect">
            <a:avLst/>
          </a:prstGeom>
          <a:noFill/>
          <a:ln>
            <a:noFill/>
          </a:ln>
        </p:spPr>
        <p:txBody>
          <a:bodyPr wrap="square" anchor="ctr">
            <a:spAutoFit/>
          </a:bodyPr>
          <a:lstStyle/>
          <a:p>
            <a:r>
              <a:rPr sz="1150">
                <a:solidFill>
                  <a:srgbClr val="000000"/>
                </a:solidFill>
                <a:latin typeface="Avenir Next LT Pro"/>
              </a:rPr>
              <a:t>Revenue back in/above the 4.5–8% guide and a return to profit — a trend, not one quarter.</a:t>
            </a:r>
          </a:p>
        </p:txBody>
      </p:sp>
      <p:sp>
        <p:nvSpPr>
          <p:cNvPr id="8" name="Rectangle 7"/>
          <p:cNvSpPr/>
          <p:nvPr/>
        </p:nvSpPr>
        <p:spPr>
          <a:xfrm>
            <a:off x="457200" y="2999232"/>
            <a:ext cx="82296" cy="1143000"/>
          </a:xfrm>
          <a:prstGeom prst="rect">
            <a:avLst/>
          </a:prstGeom>
          <a:solidFill>
            <a:srgbClr val="E9713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999232"/>
            <a:ext cx="2331720" cy="1143000"/>
          </a:xfrm>
          <a:prstGeom prst="rect">
            <a:avLst/>
          </a:prstGeom>
          <a:noFill/>
          <a:ln>
            <a:noFill/>
          </a:ln>
        </p:spPr>
        <p:txBody>
          <a:bodyPr wrap="square" anchor="ctr">
            <a:spAutoFit/>
          </a:bodyPr>
          <a:lstStyle/>
          <a:p>
            <a:r>
              <a:rPr sz="1300" b="1">
                <a:solidFill>
                  <a:srgbClr val="000000"/>
                </a:solidFill>
                <a:latin typeface="Avenir Next LT Pro Demi"/>
              </a:rPr>
              <a:t>2 — Evidence Estates is working</a:t>
            </a:r>
          </a:p>
        </p:txBody>
      </p:sp>
      <p:sp>
        <p:nvSpPr>
          <p:cNvPr id="10" name="TextBox 9"/>
          <p:cNvSpPr txBox="1"/>
          <p:nvPr/>
        </p:nvSpPr>
        <p:spPr>
          <a:xfrm>
            <a:off x="3063240" y="2999232"/>
            <a:ext cx="5623560" cy="1143000"/>
          </a:xfrm>
          <a:prstGeom prst="rect">
            <a:avLst/>
          </a:prstGeom>
          <a:noFill/>
          <a:ln>
            <a:noFill/>
          </a:ln>
        </p:spPr>
        <p:txBody>
          <a:bodyPr wrap="square" anchor="ctr">
            <a:spAutoFit/>
          </a:bodyPr>
          <a:lstStyle/>
          <a:p>
            <a:r>
              <a:rPr sz="1150">
                <a:solidFill>
                  <a:srgbClr val="000000"/>
                </a:solidFill>
                <a:latin typeface="Avenir Next LT Pro"/>
              </a:rPr>
              <a:t>Real revenue and gallery traction. Launched Jun 2026 — no data yet; first read Q2 FY2026.</a:t>
            </a:r>
          </a:p>
        </p:txBody>
      </p:sp>
      <p:sp>
        <p:nvSpPr>
          <p:cNvPr id="11" name="Rectangle 10"/>
          <p:cNvSpPr/>
          <p:nvPr/>
        </p:nvSpPr>
        <p:spPr>
          <a:xfrm>
            <a:off x="457200" y="4306824"/>
            <a:ext cx="82296" cy="1143000"/>
          </a:xfrm>
          <a:prstGeom prst="rect">
            <a:avLst/>
          </a:prstGeom>
          <a:solidFill>
            <a:srgbClr val="196B2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306824"/>
            <a:ext cx="2331720" cy="1143000"/>
          </a:xfrm>
          <a:prstGeom prst="rect">
            <a:avLst/>
          </a:prstGeom>
          <a:noFill/>
          <a:ln>
            <a:noFill/>
          </a:ln>
        </p:spPr>
        <p:txBody>
          <a:bodyPr wrap="square" anchor="ctr">
            <a:spAutoFit/>
          </a:bodyPr>
          <a:lstStyle/>
          <a:p>
            <a:r>
              <a:rPr sz="1300" b="1">
                <a:solidFill>
                  <a:srgbClr val="000000"/>
                </a:solidFill>
                <a:latin typeface="Avenir Next LT Pro Demi"/>
              </a:rPr>
              <a:t>3 — Durable debt reduction</a:t>
            </a:r>
          </a:p>
        </p:txBody>
      </p:sp>
      <p:sp>
        <p:nvSpPr>
          <p:cNvPr id="13" name="TextBox 12"/>
          <p:cNvSpPr txBox="1"/>
          <p:nvPr/>
        </p:nvSpPr>
        <p:spPr>
          <a:xfrm>
            <a:off x="3063240" y="4306824"/>
            <a:ext cx="5623560" cy="1143000"/>
          </a:xfrm>
          <a:prstGeom prst="rect">
            <a:avLst/>
          </a:prstGeom>
          <a:noFill/>
          <a:ln>
            <a:noFill/>
          </a:ln>
        </p:spPr>
        <p:txBody>
          <a:bodyPr wrap="square" anchor="ctr">
            <a:spAutoFit/>
          </a:bodyPr>
          <a:lstStyle/>
          <a:p>
            <a:r>
              <a:rPr sz="1150">
                <a:solidFill>
                  <a:srgbClr val="000000"/>
                </a:solidFill>
                <a:latin typeface="Avenir Next LT Pro"/>
              </a:rPr>
              <a:t>Net debt falling on real FCF — not the one-time inventory unwind. Leverage toward ~3×.</a:t>
            </a:r>
          </a:p>
        </p:txBody>
      </p:sp>
      <p:sp>
        <p:nvSpPr>
          <p:cNvPr id="14" name="TextBox 13"/>
          <p:cNvSpPr txBox="1"/>
          <p:nvPr/>
        </p:nvSpPr>
        <p:spPr>
          <a:xfrm>
            <a:off x="457200" y="5532120"/>
            <a:ext cx="8229600" cy="457200"/>
          </a:xfrm>
          <a:prstGeom prst="rect">
            <a:avLst/>
          </a:prstGeom>
          <a:noFill/>
          <a:ln>
            <a:noFill/>
          </a:ln>
        </p:spPr>
        <p:txBody>
          <a:bodyPr wrap="square">
            <a:spAutoFit/>
          </a:bodyPr>
          <a:lstStyle/>
          <a:p>
            <a:r>
              <a:rPr sz="1200" b="1">
                <a:solidFill>
                  <a:srgbClr val="000000"/>
                </a:solidFill>
                <a:latin typeface="Avenir Next LT Pro Demi"/>
              </a:rPr>
              <a:t>First real read: Q2 FY2026 results (Estates' debut quarter). Until then — watch, don't own.</a:t>
            </a:r>
          </a:p>
        </p:txBody>
      </p:sp>
      <p:sp>
        <p:nvSpPr>
          <p:cNvPr id="15" name="TextBox 14"/>
          <p:cNvSpPr txBox="1"/>
          <p:nvPr/>
        </p:nvSpPr>
        <p:spPr>
          <a:xfrm>
            <a:off x="457200" y="6172200"/>
            <a:ext cx="8229600" cy="274320"/>
          </a:xfrm>
          <a:prstGeom prst="rect">
            <a:avLst/>
          </a:prstGeom>
          <a:noFill/>
          <a:ln>
            <a:noFill/>
          </a:ln>
        </p:spPr>
        <p:txBody>
          <a:bodyPr wrap="none">
            <a:spAutoFit/>
          </a:bodyPr>
          <a:lstStyle/>
          <a:p>
            <a:r>
              <a:rPr sz="750" i="1">
                <a:solidFill>
                  <a:srgbClr val="707070"/>
                </a:solidFill>
                <a:latin typeface="Avenir Next LT Pro"/>
              </a:rPr>
              <a:t>Source: RH FY2025 10-K, Q1 FY2026 10-Q, company guidance.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AC4-5F7C-A2D7-D6B4-5016F0DA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5ACC6-6C7A-527D-E401-ADAD448F3BB9}"/>
              </a:ext>
            </a:extLst>
          </p:cNvPr>
          <p:cNvSpPr>
            <a:spLocks noGrp="1"/>
          </p:cNvSpPr>
          <p:nvPr>
            <p:ph type="title"/>
          </p:nvPr>
        </p:nvSpPr>
        <p:spPr>
          <a:ln>
            <a:solidFill/>
          </a:ln>
        </p:spPr>
        <p:txBody>
          <a:bodyPr/>
          <a:lstStyle/>
          <a:p>
            <a:r>
              <a:rPr lang="en-US">
                <a:solidFill/>
              </a:rPr>
              <a:t>Stock</a:t>
            </a:r>
            <a:br>
              <a:rPr lang="en-US"/>
            </a:br>
            <a:r>
              <a:rPr lang="en-US" sz="1800">
                <a:solidFill/>
              </a:rPr>
              <a:t>Overview</a:t>
            </a:r>
          </a:p>
        </p:txBody>
      </p:sp>
    </p:spTree>
    <p:extLst>
      <p:ext uri="{BB962C8B-B14F-4D97-AF65-F5344CB8AC3E}">
        <p14:creationId xmlns:p14="http://schemas.microsoft.com/office/powerpoint/2010/main" val="38623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b="0">
                <a:solidFill>
                  <a:srgbClr val="000000"/>
                </a:solidFill>
                <a:latin typeface="Avenir Next LT Pro Demi"/>
              </a:rPr>
              <a:t>How RH Got Here</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114300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920240" cy="1143000"/>
          </a:xfrm>
          <a:prstGeom prst="rect">
            <a:avLst/>
          </a:prstGeom>
          <a:noFill/>
          <a:ln>
            <a:noFill/>
          </a:ln>
        </p:spPr>
        <p:txBody>
          <a:bodyPr wrap="square" anchor="ctr">
            <a:spAutoFit/>
          </a:bodyPr>
          <a:lstStyle/>
          <a:p>
            <a:r>
              <a:rPr sz="1400" b="1">
                <a:solidFill>
                  <a:srgbClr val="000000"/>
                </a:solidFill>
                <a:latin typeface="Avenir Next LT Pro Demi"/>
              </a:rPr>
              <a:t>The Build</a:t>
            </a:r>
          </a:p>
          <a:p>
            <a:r>
              <a:rPr sz="1000" b="0">
                <a:solidFill>
                  <a:srgbClr val="707070"/>
                </a:solidFill>
                <a:latin typeface="Avenir Next LT Pro"/>
              </a:rPr>
              <a:t>Pre-2020</a:t>
            </a:r>
          </a:p>
        </p:txBody>
      </p:sp>
      <p:sp>
        <p:nvSpPr>
          <p:cNvPr id="6" name="TextBox 5"/>
          <p:cNvSpPr txBox="1"/>
          <p:nvPr/>
        </p:nvSpPr>
        <p:spPr>
          <a:xfrm>
            <a:off x="2743200" y="1371600"/>
            <a:ext cx="5943600" cy="1143000"/>
          </a:xfrm>
          <a:prstGeom prst="rect">
            <a:avLst/>
          </a:prstGeom>
          <a:noFill/>
          <a:ln>
            <a:noFill/>
          </a:ln>
        </p:spPr>
        <p:txBody>
          <a:bodyPr wrap="square" anchor="ctr">
            <a:spAutoFit/>
          </a:bodyPr>
          <a:lstStyle/>
          <a:p>
            <a:r>
              <a:rPr sz="1250" b="0">
                <a:solidFill>
                  <a:srgbClr val="000000"/>
                </a:solidFill>
                <a:latin typeface="Avenir Next LT Pro"/>
              </a:rPr>
              <a:t>Friedman turns RH into a luxury Gallery brand.</a:t>
            </a:r>
          </a:p>
        </p:txBody>
      </p:sp>
      <p:sp>
        <p:nvSpPr>
          <p:cNvPr id="7" name="Rectangle 6"/>
          <p:cNvSpPr/>
          <p:nvPr/>
        </p:nvSpPr>
        <p:spPr>
          <a:xfrm>
            <a:off x="457200" y="2679191"/>
            <a:ext cx="82296" cy="1143000"/>
          </a:xfrm>
          <a:prstGeom prst="rect">
            <a:avLst/>
          </a:prstGeom>
          <a:solidFill>
            <a:srgbClr val="E9713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9191"/>
            <a:ext cx="1920240" cy="1143000"/>
          </a:xfrm>
          <a:prstGeom prst="rect">
            <a:avLst/>
          </a:prstGeom>
          <a:noFill/>
          <a:ln>
            <a:noFill/>
          </a:ln>
        </p:spPr>
        <p:txBody>
          <a:bodyPr wrap="square" anchor="ctr">
            <a:spAutoFit/>
          </a:bodyPr>
          <a:lstStyle/>
          <a:p>
            <a:r>
              <a:rPr sz="1400" b="1">
                <a:solidFill>
                  <a:srgbClr val="000000"/>
                </a:solidFill>
                <a:latin typeface="Avenir Next LT Pro Demi"/>
              </a:rPr>
              <a:t>The Peak</a:t>
            </a:r>
          </a:p>
          <a:p>
            <a:r>
              <a:rPr sz="1000" b="0">
                <a:solidFill>
                  <a:srgbClr val="707070"/>
                </a:solidFill>
                <a:latin typeface="Avenir Next LT Pro"/>
              </a:rPr>
              <a:t>FY2022</a:t>
            </a:r>
          </a:p>
        </p:txBody>
      </p:sp>
      <p:sp>
        <p:nvSpPr>
          <p:cNvPr id="9" name="TextBox 8"/>
          <p:cNvSpPr txBox="1"/>
          <p:nvPr/>
        </p:nvSpPr>
        <p:spPr>
          <a:xfrm>
            <a:off x="2743200" y="2679191"/>
            <a:ext cx="5943600" cy="1143000"/>
          </a:xfrm>
          <a:prstGeom prst="rect">
            <a:avLst/>
          </a:prstGeom>
          <a:noFill/>
          <a:ln>
            <a:noFill/>
          </a:ln>
        </p:spPr>
        <p:txBody>
          <a:bodyPr wrap="square" anchor="ctr">
            <a:spAutoFit/>
          </a:bodyPr>
          <a:lstStyle/>
          <a:p>
            <a:r>
              <a:rPr sz="1250" b="0">
                <a:solidFill>
                  <a:srgbClr val="000000"/>
                </a:solidFill>
                <a:latin typeface="Avenir Next LT Pro"/>
              </a:rPr>
              <a:t>~$3.6B revenue — then buys back ~7.6M shares at ~$269–321, debt-funded.</a:t>
            </a:r>
          </a:p>
        </p:txBody>
      </p:sp>
      <p:sp>
        <p:nvSpPr>
          <p:cNvPr id="10" name="Rectangle 9"/>
          <p:cNvSpPr/>
          <p:nvPr/>
        </p:nvSpPr>
        <p:spPr>
          <a:xfrm>
            <a:off x="457200" y="3986783"/>
            <a:ext cx="82296" cy="114300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986783"/>
            <a:ext cx="1920240" cy="1143000"/>
          </a:xfrm>
          <a:prstGeom prst="rect">
            <a:avLst/>
          </a:prstGeom>
          <a:noFill/>
          <a:ln>
            <a:noFill/>
          </a:ln>
        </p:spPr>
        <p:txBody>
          <a:bodyPr wrap="square" anchor="ctr">
            <a:spAutoFit/>
          </a:bodyPr>
          <a:lstStyle/>
          <a:p>
            <a:r>
              <a:rPr sz="1400" b="1">
                <a:solidFill>
                  <a:srgbClr val="000000"/>
                </a:solidFill>
                <a:latin typeface="Avenir Next LT Pro Demi"/>
              </a:rPr>
              <a:t>The Fall</a:t>
            </a:r>
          </a:p>
          <a:p>
            <a:r>
              <a:rPr sz="1000" b="0">
                <a:solidFill>
                  <a:srgbClr val="707070"/>
                </a:solidFill>
                <a:latin typeface="Avenir Next LT Pro"/>
              </a:rPr>
              <a:t>FY23–24</a:t>
            </a:r>
          </a:p>
        </p:txBody>
      </p:sp>
      <p:sp>
        <p:nvSpPr>
          <p:cNvPr id="12" name="TextBox 11"/>
          <p:cNvSpPr txBox="1"/>
          <p:nvPr/>
        </p:nvSpPr>
        <p:spPr>
          <a:xfrm>
            <a:off x="2743200" y="3986783"/>
            <a:ext cx="5943600" cy="1143000"/>
          </a:xfrm>
          <a:prstGeom prst="rect">
            <a:avLst/>
          </a:prstGeom>
          <a:noFill/>
          <a:ln>
            <a:noFill/>
          </a:ln>
        </p:spPr>
        <p:txBody>
          <a:bodyPr wrap="square" anchor="ctr">
            <a:spAutoFit/>
          </a:bodyPr>
          <a:lstStyle/>
          <a:p>
            <a:r>
              <a:rPr sz="1250" b="0">
                <a:solidFill>
                  <a:srgbClr val="000000"/>
                </a:solidFill>
                <a:latin typeface="Avenir Next LT Pro"/>
              </a:rPr>
              <a:t>Housing freezes; revenue falls to ~$3.03B. Debt now ~$2.4B, ~4× levered.</a:t>
            </a:r>
          </a:p>
        </p:txBody>
      </p:sp>
      <p:sp>
        <p:nvSpPr>
          <p:cNvPr id="13" name="TextBox 12"/>
          <p:cNvSpPr txBox="1"/>
          <p:nvPr/>
        </p:nvSpPr>
        <p:spPr>
          <a:xfrm>
            <a:off x="457200" y="5532120"/>
            <a:ext cx="8229600" cy="411480"/>
          </a:xfrm>
          <a:prstGeom prst="rect">
            <a:avLst/>
          </a:prstGeom>
          <a:noFill/>
          <a:ln>
            <a:noFill/>
          </a:ln>
        </p:spPr>
        <p:txBody>
          <a:bodyPr wrap="square">
            <a:spAutoFit/>
          </a:bodyPr>
          <a:lstStyle/>
          <a:p>
            <a:r>
              <a:rPr sz="1100" b="1">
                <a:solidFill>
                  <a:srgbClr val="000000"/>
                </a:solidFill>
                <a:latin typeface="Avenir Next LT Pro Demi"/>
              </a:rPr>
              <a:t>Partly self-inflicted: leveraged buybacks at the top, then the cycle turned.</a:t>
            </a:r>
          </a:p>
        </p:txBody>
      </p:sp>
      <p:sp>
        <p:nvSpPr>
          <p:cNvPr id="14" name="TextBox 13"/>
          <p:cNvSpPr txBox="1"/>
          <p:nvPr/>
        </p:nvSpPr>
        <p:spPr>
          <a:xfrm>
            <a:off x="457200" y="6172200"/>
            <a:ext cx="8229600" cy="274320"/>
          </a:xfrm>
          <a:prstGeom prst="rect">
            <a:avLst/>
          </a:prstGeom>
          <a:noFill/>
          <a:ln>
            <a:noFill/>
          </a:ln>
        </p:spPr>
        <p:txBody>
          <a:bodyPr wrap="none">
            <a:spAutoFit/>
          </a:bodyPr>
          <a:lstStyle/>
          <a:p>
            <a:r>
              <a:rPr sz="750" b="0" i="1">
                <a:solidFill>
                  <a:srgbClr val="707070"/>
                </a:solidFill>
                <a:latin typeface="Avenir Next LT Pro"/>
              </a:rPr>
              <a:t>Source: RH FY2025 Form 10-K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b="0">
                <a:solidFill>
                  <a:srgbClr val="000000"/>
                </a:solidFill>
                <a:latin typeface="Avenir Next LT Pro Demi"/>
              </a:rPr>
              <a:t>The Recovery Plan</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96012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7955279" cy="960120"/>
          </a:xfrm>
          <a:prstGeom prst="rect">
            <a:avLst/>
          </a:prstGeom>
          <a:noFill/>
          <a:ln>
            <a:noFill/>
          </a:ln>
        </p:spPr>
        <p:txBody>
          <a:bodyPr wrap="square" anchor="ctr">
            <a:spAutoFit/>
          </a:bodyPr>
          <a:lstStyle/>
          <a:p>
            <a:r>
              <a:rPr sz="1350" b="1">
                <a:solidFill>
                  <a:srgbClr val="000000"/>
                </a:solidFill>
                <a:latin typeface="Avenir Next LT Pro Demi"/>
              </a:rPr>
              <a:t>Product transformation  —  </a:t>
            </a:r>
            <a:r>
              <a:rPr sz="1250" b="0">
                <a:solidFill>
                  <a:srgbClr val="000000"/>
                </a:solidFill>
                <a:latin typeface="Avenir Next LT Pro"/>
              </a:rPr>
              <a:t>New collections and refreshed Sourcebooks.</a:t>
            </a:r>
          </a:p>
        </p:txBody>
      </p:sp>
      <p:sp>
        <p:nvSpPr>
          <p:cNvPr id="6" name="Rectangle 5"/>
          <p:cNvSpPr/>
          <p:nvPr/>
        </p:nvSpPr>
        <p:spPr>
          <a:xfrm>
            <a:off x="457200" y="2496312"/>
            <a:ext cx="82296" cy="960120"/>
          </a:xfrm>
          <a:prstGeom prst="rect">
            <a:avLst/>
          </a:prstGeom>
          <a:solidFill>
            <a:srgbClr val="196B2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496312"/>
            <a:ext cx="7955279" cy="960120"/>
          </a:xfrm>
          <a:prstGeom prst="rect">
            <a:avLst/>
          </a:prstGeom>
          <a:noFill/>
          <a:ln>
            <a:noFill/>
          </a:ln>
        </p:spPr>
        <p:txBody>
          <a:bodyPr wrap="square" anchor="ctr">
            <a:spAutoFit/>
          </a:bodyPr>
          <a:lstStyle/>
          <a:p>
            <a:r>
              <a:rPr sz="1350" b="1">
                <a:solidFill>
                  <a:srgbClr val="000000"/>
                </a:solidFill>
                <a:latin typeface="Avenir Next LT Pro Demi"/>
              </a:rPr>
              <a:t>Gallery expansion  —  </a:t>
            </a:r>
            <a:r>
              <a:rPr sz="1250" b="0">
                <a:solidFill>
                  <a:srgbClr val="000000"/>
                </a:solidFill>
                <a:latin typeface="Avenir Next LT Pro"/>
              </a:rPr>
              <a:t>Every major U.S./Canada market — RH's ~$5–6B opportunity.</a:t>
            </a:r>
          </a:p>
        </p:txBody>
      </p:sp>
      <p:sp>
        <p:nvSpPr>
          <p:cNvPr id="8" name="Rectangle 7"/>
          <p:cNvSpPr/>
          <p:nvPr/>
        </p:nvSpPr>
        <p:spPr>
          <a:xfrm>
            <a:off x="457200" y="3621024"/>
            <a:ext cx="82296" cy="960120"/>
          </a:xfrm>
          <a:prstGeom prst="rect">
            <a:avLst/>
          </a:prstGeom>
          <a:solidFill>
            <a:srgbClr val="E9713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21024"/>
            <a:ext cx="7955279" cy="960120"/>
          </a:xfrm>
          <a:prstGeom prst="rect">
            <a:avLst/>
          </a:prstGeom>
          <a:noFill/>
          <a:ln>
            <a:noFill/>
          </a:ln>
        </p:spPr>
        <p:txBody>
          <a:bodyPr wrap="square" anchor="ctr">
            <a:spAutoFit/>
          </a:bodyPr>
          <a:lstStyle/>
          <a:p>
            <a:r>
              <a:rPr sz="1350" b="1">
                <a:solidFill>
                  <a:srgbClr val="000000"/>
                </a:solidFill>
                <a:latin typeface="Avenir Next LT Pro Demi"/>
              </a:rPr>
              <a:t>Move upmarket  —  </a:t>
            </a:r>
            <a:r>
              <a:rPr sz="1250" b="0">
                <a:solidFill>
                  <a:srgbClr val="000000"/>
                </a:solidFill>
                <a:latin typeface="Avenir Next LT Pro"/>
              </a:rPr>
              <a:t>Estates targets the rate-immune cash buyer.</a:t>
            </a:r>
          </a:p>
        </p:txBody>
      </p:sp>
      <p:sp>
        <p:nvSpPr>
          <p:cNvPr id="10" name="Rectangle 9"/>
          <p:cNvSpPr/>
          <p:nvPr/>
        </p:nvSpPr>
        <p:spPr>
          <a:xfrm>
            <a:off x="457200" y="4745736"/>
            <a:ext cx="82296" cy="96012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745736"/>
            <a:ext cx="7955279" cy="960120"/>
          </a:xfrm>
          <a:prstGeom prst="rect">
            <a:avLst/>
          </a:prstGeom>
          <a:noFill/>
          <a:ln>
            <a:noFill/>
          </a:ln>
        </p:spPr>
        <p:txBody>
          <a:bodyPr wrap="square" anchor="ctr">
            <a:spAutoFit/>
          </a:bodyPr>
          <a:lstStyle/>
          <a:p>
            <a:r>
              <a:rPr sz="1350" b="1">
                <a:solidFill>
                  <a:srgbClr val="000000"/>
                </a:solidFill>
                <a:latin typeface="Avenir Next LT Pro Demi"/>
              </a:rPr>
              <a:t>Global + platform  —  </a:t>
            </a:r>
            <a:r>
              <a:rPr sz="1250" b="0">
                <a:solidFill>
                  <a:srgbClr val="000000"/>
                </a:solidFill>
                <a:latin typeface="Avenir Next LT Pro"/>
              </a:rPr>
              <a:t>RH England, Guesthouses, hospitality &amp; F&amp;B.</a:t>
            </a:r>
          </a:p>
        </p:txBody>
      </p:sp>
      <p:sp>
        <p:nvSpPr>
          <p:cNvPr id="12" name="TextBox 11"/>
          <p:cNvSpPr txBox="1"/>
          <p:nvPr/>
        </p:nvSpPr>
        <p:spPr>
          <a:xfrm>
            <a:off x="457200" y="6172200"/>
            <a:ext cx="8229600" cy="274320"/>
          </a:xfrm>
          <a:prstGeom prst="rect">
            <a:avLst/>
          </a:prstGeom>
          <a:noFill/>
          <a:ln>
            <a:noFill/>
          </a:ln>
        </p:spPr>
        <p:txBody>
          <a:bodyPr wrap="none">
            <a:spAutoFit/>
          </a:bodyPr>
          <a:lstStyle/>
          <a:p>
            <a:r>
              <a:rPr sz="750" b="0" i="1">
                <a:solidFill>
                  <a:srgbClr val="707070"/>
                </a:solidFill>
                <a:latin typeface="Avenir Next LT Pro"/>
              </a:rPr>
              <a:t>Source: RH FY2025 Form 10-K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000">
                <a:solidFill>
                  <a:srgbClr val="000000"/>
                </a:solidFill>
                <a:latin typeface="Avenir Next LT Pro Demi"/>
              </a:rPr>
              <a:t>Recent Developments — Strategy in Action (and What to Watch)</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82296" cy="132588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80160"/>
            <a:ext cx="8001000" cy="1325880"/>
          </a:xfrm>
          <a:prstGeom prst="rect">
            <a:avLst/>
          </a:prstGeom>
          <a:noFill/>
          <a:ln>
            <a:noFill/>
          </a:ln>
        </p:spPr>
        <p:txBody>
          <a:bodyPr wrap="square" anchor="ctr">
            <a:spAutoFit/>
          </a:bodyPr>
          <a:lstStyle/>
          <a:p>
            <a:r>
              <a:rPr sz="1350" b="1">
                <a:solidFill>
                  <a:srgbClr val="000000"/>
                </a:solidFill>
                <a:latin typeface="Avenir Next LT Pro Demi"/>
              </a:rPr>
              <a:t>RH Estates — unveiled</a:t>
            </a:r>
          </a:p>
          <a:p>
            <a:pPr>
              <a:spcBef>
                <a:spcPts val="300"/>
              </a:spcBef>
            </a:pPr>
            <a:r>
              <a:rPr sz="1100">
                <a:solidFill>
                  <a:srgbClr val="000000"/>
                </a:solidFill>
                <a:latin typeface="Avenir Next LT Pro"/>
              </a:rPr>
              <a:t>Acquired legendary ateliers — Michael Taylor, Dennis &amp; Leen, Dmitriy &amp; Co., Formations.</a:t>
            </a:r>
          </a:p>
          <a:p>
            <a:pPr>
              <a:spcBef>
                <a:spcPts val="200"/>
              </a:spcBef>
            </a:pPr>
            <a:r>
              <a:rPr sz="1050" i="1">
                <a:solidFill>
                  <a:srgbClr val="000000"/>
                </a:solidFill>
                <a:latin typeface="Avenir Next LT Pro"/>
              </a:rPr>
              <a:t>Watch: Owned exclusivity rivals can't copy — a real moat. Commercially unproven; first read Q2 FY2026.</a:t>
            </a:r>
          </a:p>
        </p:txBody>
      </p:sp>
      <p:sp>
        <p:nvSpPr>
          <p:cNvPr id="6" name="Rectangle 5"/>
          <p:cNvSpPr/>
          <p:nvPr/>
        </p:nvSpPr>
        <p:spPr>
          <a:xfrm>
            <a:off x="457200" y="2743200"/>
            <a:ext cx="82296" cy="132588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43200"/>
            <a:ext cx="8001000" cy="1325880"/>
          </a:xfrm>
          <a:prstGeom prst="rect">
            <a:avLst/>
          </a:prstGeom>
          <a:noFill/>
          <a:ln>
            <a:noFill/>
          </a:ln>
        </p:spPr>
        <p:txBody>
          <a:bodyPr wrap="square" anchor="ctr">
            <a:spAutoFit/>
          </a:bodyPr>
          <a:lstStyle/>
          <a:p>
            <a:r>
              <a:rPr sz="1350" b="1">
                <a:solidFill>
                  <a:srgbClr val="000000"/>
                </a:solidFill>
                <a:latin typeface="Avenir Next LT Pro Demi"/>
              </a:rPr>
              <a:t>Mercedes-AMG F1 partnership</a:t>
            </a:r>
          </a:p>
          <a:p>
            <a:pPr>
              <a:spcBef>
                <a:spcPts val="300"/>
              </a:spcBef>
            </a:pPr>
            <a:r>
              <a:rPr sz="1100">
                <a:solidFill>
                  <a:srgbClr val="000000"/>
                </a:solidFill>
                <a:latin typeface="Avenir Next LT Pro"/>
              </a:rPr>
              <a:t>RH to design the team's global hospitality (Abu Dhabi, Miami, Monaco, Silverstone) from late 2026.</a:t>
            </a:r>
          </a:p>
          <a:p>
            <a:pPr>
              <a:spcBef>
                <a:spcPts val="200"/>
              </a:spcBef>
            </a:pPr>
            <a:r>
              <a:rPr sz="1050" i="1">
                <a:solidFill>
                  <a:srgbClr val="000000"/>
                </a:solidFill>
                <a:latin typeface="Avenir Next LT Pro"/>
              </a:rPr>
              <a:t>Watch: Elite brand halo, on-strategy — but immaterial to near-term financials.</a:t>
            </a:r>
          </a:p>
        </p:txBody>
      </p:sp>
      <p:sp>
        <p:nvSpPr>
          <p:cNvPr id="8" name="Rectangle 7"/>
          <p:cNvSpPr/>
          <p:nvPr/>
        </p:nvSpPr>
        <p:spPr>
          <a:xfrm>
            <a:off x="457200" y="4206240"/>
            <a:ext cx="82296" cy="132588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206240"/>
            <a:ext cx="8001000" cy="1325880"/>
          </a:xfrm>
          <a:prstGeom prst="rect">
            <a:avLst/>
          </a:prstGeom>
          <a:noFill/>
          <a:ln>
            <a:noFill/>
          </a:ln>
        </p:spPr>
        <p:txBody>
          <a:bodyPr wrap="square" anchor="ctr">
            <a:spAutoFit/>
          </a:bodyPr>
          <a:lstStyle/>
          <a:p>
            <a:r>
              <a:rPr sz="1350" b="1">
                <a:solidFill>
                  <a:srgbClr val="000000"/>
                </a:solidFill>
                <a:latin typeface="Avenir Next LT Pro Demi"/>
              </a:rPr>
              <a:t>RH London — Mayfair flagship</a:t>
            </a:r>
          </a:p>
          <a:p>
            <a:pPr>
              <a:spcBef>
                <a:spcPts val="300"/>
              </a:spcBef>
            </a:pPr>
            <a:r>
              <a:rPr sz="1100">
                <a:solidFill>
                  <a:srgbClr val="000000"/>
                </a:solidFill>
                <a:latin typeface="Avenir Next LT Pro"/>
              </a:rPr>
              <a:t>Five-level gallery in London's luxury core (New Bond St / Savile Row).</a:t>
            </a:r>
          </a:p>
          <a:p>
            <a:pPr>
              <a:spcBef>
                <a:spcPts val="200"/>
              </a:spcBef>
            </a:pPr>
            <a:r>
              <a:rPr sz="1050" i="1">
                <a:solidFill>
                  <a:srgbClr val="000000"/>
                </a:solidFill>
                <a:latin typeface="Avenir Next LT Pro"/>
              </a:rPr>
              <a:t>Watch: Doubles down on Europe — capital-intensive and unproven. Watch productivity vs. margin drag.</a:t>
            </a:r>
          </a:p>
        </p:txBody>
      </p:sp>
      <p:sp>
        <p:nvSpPr>
          <p:cNvPr id="10" name="TextBox 9"/>
          <p:cNvSpPr txBox="1"/>
          <p:nvPr/>
        </p:nvSpPr>
        <p:spPr>
          <a:xfrm>
            <a:off x="457200" y="5532120"/>
            <a:ext cx="8229600" cy="457200"/>
          </a:xfrm>
          <a:prstGeom prst="rect">
            <a:avLst/>
          </a:prstGeom>
          <a:noFill/>
          <a:ln>
            <a:noFill/>
          </a:ln>
        </p:spPr>
        <p:txBody>
          <a:bodyPr wrap="square">
            <a:spAutoFit/>
          </a:bodyPr>
          <a:lstStyle/>
          <a:p>
            <a:r>
              <a:rPr sz="1100" b="1">
                <a:solidFill>
                  <a:srgbClr val="000000"/>
                </a:solidFill>
                <a:latin typeface="Avenir Next LT Pro Demi"/>
              </a:rPr>
              <a:t>Expanding on all fronts — differentiated (Estates) and brand-elevating (F1, Mayfair) — but unproven and/or capital-intensive during a levered stretch. Watch items, not yet catalysts.</a:t>
            </a:r>
          </a:p>
        </p:txBody>
      </p:sp>
      <p:sp>
        <p:nvSpPr>
          <p:cNvPr id="11" name="TextBox 10"/>
          <p:cNvSpPr txBox="1"/>
          <p:nvPr/>
        </p:nvSpPr>
        <p:spPr>
          <a:xfrm>
            <a:off x="457200" y="6172200"/>
            <a:ext cx="8229600" cy="274320"/>
          </a:xfrm>
          <a:prstGeom prst="rect">
            <a:avLst/>
          </a:prstGeom>
          <a:noFill/>
          <a:ln>
            <a:noFill/>
          </a:ln>
        </p:spPr>
        <p:txBody>
          <a:bodyPr wrap="none">
            <a:spAutoFit/>
          </a:bodyPr>
          <a:lstStyle/>
          <a:p>
            <a:r>
              <a:rPr sz="750" i="1">
                <a:solidFill>
                  <a:srgbClr val="707070"/>
                </a:solidFill>
                <a:latin typeface="Avenir Next LT Pro"/>
              </a:rPr>
              <a:t>Sources: RH company announcements (Business Wire),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b="0">
                <a:solidFill>
                  <a:srgbClr val="000000"/>
                </a:solidFill>
                <a:latin typeface="Avenir Next LT Pro Demi"/>
              </a:rPr>
              <a:t>The Operator — Gary Friedman</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82296" cy="1051560"/>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965960" cy="1051560"/>
          </a:xfrm>
          <a:prstGeom prst="rect">
            <a:avLst/>
          </a:prstGeom>
          <a:noFill/>
          <a:ln>
            <a:noFill/>
          </a:ln>
        </p:spPr>
        <p:txBody>
          <a:bodyPr wrap="square" anchor="ctr">
            <a:spAutoFit/>
          </a:bodyPr>
          <a:lstStyle/>
          <a:p>
            <a:r>
              <a:rPr sz="1250" b="1">
                <a:solidFill>
                  <a:srgbClr val="000000"/>
                </a:solidFill>
                <a:latin typeface="Avenir Next LT Pro Demi"/>
              </a:rPr>
              <a:t>Role</a:t>
            </a:r>
          </a:p>
        </p:txBody>
      </p:sp>
      <p:sp>
        <p:nvSpPr>
          <p:cNvPr id="6" name="TextBox 5"/>
          <p:cNvSpPr txBox="1"/>
          <p:nvPr/>
        </p:nvSpPr>
        <p:spPr>
          <a:xfrm>
            <a:off x="2697480" y="1371600"/>
            <a:ext cx="5989320" cy="1051560"/>
          </a:xfrm>
          <a:prstGeom prst="rect">
            <a:avLst/>
          </a:prstGeom>
          <a:noFill/>
          <a:ln>
            <a:noFill/>
          </a:ln>
        </p:spPr>
        <p:txBody>
          <a:bodyPr wrap="square" anchor="ctr">
            <a:spAutoFit/>
          </a:bodyPr>
          <a:lstStyle/>
          <a:p>
            <a:r>
              <a:rPr sz="1200" b="0">
                <a:solidFill>
                  <a:srgbClr val="000000"/>
                </a:solidFill>
                <a:latin typeface="Avenir Next LT Pro"/>
              </a:rPr>
              <a:t>Chairman &amp; CEO and the brand's creative force (10-K key-man).</a:t>
            </a:r>
          </a:p>
        </p:txBody>
      </p:sp>
      <p:sp>
        <p:nvSpPr>
          <p:cNvPr id="7" name="Rectangle 6"/>
          <p:cNvSpPr/>
          <p:nvPr/>
        </p:nvSpPr>
        <p:spPr>
          <a:xfrm>
            <a:off x="457200" y="2514600"/>
            <a:ext cx="82296" cy="1051560"/>
          </a:xfrm>
          <a:prstGeom prst="rect">
            <a:avLst/>
          </a:prstGeom>
          <a:solidFill>
            <a:srgbClr val="196B24"/>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14600"/>
            <a:ext cx="1965960" cy="1051560"/>
          </a:xfrm>
          <a:prstGeom prst="rect">
            <a:avLst/>
          </a:prstGeom>
          <a:noFill/>
          <a:ln>
            <a:noFill/>
          </a:ln>
        </p:spPr>
        <p:txBody>
          <a:bodyPr wrap="square" anchor="ctr">
            <a:spAutoFit/>
          </a:bodyPr>
          <a:lstStyle/>
          <a:p>
            <a:r>
              <a:rPr sz="1250" b="1">
                <a:solidFill>
                  <a:srgbClr val="000000"/>
                </a:solidFill>
                <a:latin typeface="Avenir Next LT Pro Demi"/>
              </a:rPr>
              <a:t>Track record</a:t>
            </a:r>
          </a:p>
        </p:txBody>
      </p:sp>
      <p:sp>
        <p:nvSpPr>
          <p:cNvPr id="9" name="TextBox 8"/>
          <p:cNvSpPr txBox="1"/>
          <p:nvPr/>
        </p:nvSpPr>
        <p:spPr>
          <a:xfrm>
            <a:off x="2697480" y="2514600"/>
            <a:ext cx="5989320" cy="1051560"/>
          </a:xfrm>
          <a:prstGeom prst="rect">
            <a:avLst/>
          </a:prstGeom>
          <a:noFill/>
          <a:ln>
            <a:noFill/>
          </a:ln>
        </p:spPr>
        <p:txBody>
          <a:bodyPr wrap="square" anchor="ctr">
            <a:spAutoFit/>
          </a:bodyPr>
          <a:lstStyle/>
          <a:p>
            <a:r>
              <a:rPr sz="1200" b="0">
                <a:solidFill>
                  <a:srgbClr val="000000"/>
                </a:solidFill>
                <a:latin typeface="Avenir Next LT Pro"/>
              </a:rPr>
              <a:t>Grew Pottery Barn $50M → $1B+; joined RH in 2001 near bankruptcy.</a:t>
            </a:r>
          </a:p>
        </p:txBody>
      </p:sp>
      <p:sp>
        <p:nvSpPr>
          <p:cNvPr id="10" name="Rectangle 9"/>
          <p:cNvSpPr/>
          <p:nvPr/>
        </p:nvSpPr>
        <p:spPr>
          <a:xfrm>
            <a:off x="457200" y="3657600"/>
            <a:ext cx="82296" cy="1051560"/>
          </a:xfrm>
          <a:prstGeom prst="rect">
            <a:avLst/>
          </a:prstGeom>
          <a:solidFill>
            <a:srgbClr val="E9713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57600"/>
            <a:ext cx="1965960" cy="1051560"/>
          </a:xfrm>
          <a:prstGeom prst="rect">
            <a:avLst/>
          </a:prstGeom>
          <a:noFill/>
          <a:ln>
            <a:noFill/>
          </a:ln>
        </p:spPr>
        <p:txBody>
          <a:bodyPr wrap="square" anchor="ctr">
            <a:spAutoFit/>
          </a:bodyPr>
          <a:lstStyle/>
          <a:p>
            <a:r>
              <a:rPr sz="1250" b="1">
                <a:solidFill>
                  <a:srgbClr val="000000"/>
                </a:solidFill>
                <a:latin typeface="Avenir Next LT Pro Demi"/>
              </a:rPr>
              <a:t>Skin in the game</a:t>
            </a:r>
          </a:p>
        </p:txBody>
      </p:sp>
      <p:sp>
        <p:nvSpPr>
          <p:cNvPr id="12" name="TextBox 11"/>
          <p:cNvSpPr txBox="1"/>
          <p:nvPr/>
        </p:nvSpPr>
        <p:spPr>
          <a:xfrm>
            <a:off x="2697480" y="3657600"/>
            <a:ext cx="5989320" cy="1051560"/>
          </a:xfrm>
          <a:prstGeom prst="rect">
            <a:avLst/>
          </a:prstGeom>
          <a:noFill/>
          <a:ln>
            <a:noFill/>
          </a:ln>
        </p:spPr>
        <p:txBody>
          <a:bodyPr wrap="square" anchor="ctr">
            <a:spAutoFit/>
          </a:bodyPr>
          <a:lstStyle/>
          <a:p>
            <a:r>
              <a:rPr sz="1200" b="0">
                <a:solidFill>
                  <a:srgbClr val="000000"/>
                </a:solidFill>
                <a:latin typeface="Avenir Next LT Pro"/>
              </a:rPr>
              <a:t>Owns ~18% outright (~25% incl. options); bought ~$10M at ~$216 in June 2024.</a:t>
            </a:r>
          </a:p>
        </p:txBody>
      </p:sp>
      <p:sp>
        <p:nvSpPr>
          <p:cNvPr id="13" name="Rectangle 12"/>
          <p:cNvSpPr/>
          <p:nvPr/>
        </p:nvSpPr>
        <p:spPr>
          <a:xfrm>
            <a:off x="457200" y="4800600"/>
            <a:ext cx="82296" cy="105156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00600"/>
            <a:ext cx="1965960" cy="1051560"/>
          </a:xfrm>
          <a:prstGeom prst="rect">
            <a:avLst/>
          </a:prstGeom>
          <a:noFill/>
          <a:ln>
            <a:noFill/>
          </a:ln>
        </p:spPr>
        <p:txBody>
          <a:bodyPr wrap="square" anchor="ctr">
            <a:spAutoFit/>
          </a:bodyPr>
          <a:lstStyle/>
          <a:p>
            <a:r>
              <a:rPr sz="1250" b="1">
                <a:solidFill>
                  <a:srgbClr val="000000"/>
                </a:solidFill>
                <a:latin typeface="Avenir Next LT Pro Demi"/>
              </a:rPr>
              <a:t>The double edge</a:t>
            </a:r>
          </a:p>
        </p:txBody>
      </p:sp>
      <p:sp>
        <p:nvSpPr>
          <p:cNvPr id="15" name="TextBox 14"/>
          <p:cNvSpPr txBox="1"/>
          <p:nvPr/>
        </p:nvSpPr>
        <p:spPr>
          <a:xfrm>
            <a:off x="2697480" y="4800600"/>
            <a:ext cx="5989320" cy="1051560"/>
          </a:xfrm>
          <a:prstGeom prst="rect">
            <a:avLst/>
          </a:prstGeom>
          <a:noFill/>
          <a:ln>
            <a:noFill/>
          </a:ln>
        </p:spPr>
        <p:txBody>
          <a:bodyPr wrap="square" anchor="ctr">
            <a:spAutoFit/>
          </a:bodyPr>
          <a:lstStyle/>
          <a:p>
            <a:r>
              <a:rPr sz="1200" b="0">
                <a:solidFill>
                  <a:srgbClr val="000000"/>
                </a:solidFill>
                <a:latin typeface="Avenir Next LT Pro"/>
              </a:rPr>
              <a:t>Bold allocator — same conviction drove the buybacks and Estates.</a:t>
            </a:r>
          </a:p>
        </p:txBody>
      </p:sp>
      <p:sp>
        <p:nvSpPr>
          <p:cNvPr id="16" name="TextBox 15"/>
          <p:cNvSpPr txBox="1"/>
          <p:nvPr/>
        </p:nvSpPr>
        <p:spPr>
          <a:xfrm>
            <a:off x="457200" y="6172200"/>
            <a:ext cx="8229600" cy="274320"/>
          </a:xfrm>
          <a:prstGeom prst="rect">
            <a:avLst/>
          </a:prstGeom>
          <a:noFill/>
          <a:ln>
            <a:noFill/>
          </a:ln>
        </p:spPr>
        <p:txBody>
          <a:bodyPr wrap="none">
            <a:spAutoFit/>
          </a:bodyPr>
          <a:lstStyle/>
          <a:p>
            <a:r>
              <a:rPr sz="750" b="0" i="1">
                <a:solidFill>
                  <a:srgbClr val="707070"/>
                </a:solidFill>
                <a:latin typeface="Avenir Next LT Pro"/>
              </a:rPr>
              <a:t>Source: RH FY2025 10-K; RH IR &amp; SEC Form 4 (Jun 26, 2024); company bios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a:solidFill>
                  <a:srgbClr val="000000"/>
                </a:solidFill>
                <a:latin typeface="Avenir Next LT Pro Demi"/>
              </a:rPr>
              <a:t>Insider &amp; Governance Signals</a:t>
            </a:r>
          </a:p>
        </p:txBody>
      </p:sp>
      <p:sp>
        <p:nvSpPr>
          <p:cNvPr id="3" name="Rectangle 2"/>
          <p:cNvSpPr/>
          <p:nvPr/>
        </p:nvSpPr>
        <p:spPr>
          <a:xfrm>
            <a:off x="457200" y="960120"/>
            <a:ext cx="8229600" cy="25603"/>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25880"/>
          <a:ext cx="8229600" cy="4114800"/>
        </p:xfrm>
        <a:graphic>
          <a:graphicData uri="http://schemas.openxmlformats.org/drawingml/2006/table">
            <a:tbl>
              <a:tblPr>
                <a:tableStyleId>{5C22544A-7EE6-4342-B048-85BDC9FD1C3A}</a:tableStyleId>
              </a:tblPr>
              <a:tblGrid>
                <a:gridCol w="2148840"/>
                <a:gridCol w="3703320"/>
                <a:gridCol w="2377440"/>
              </a:tblGrid>
              <a:tr h="822960">
                <a:tc>
                  <a:txBody>
                    <a:bodyPr/>
                    <a:lstStyle/>
                    <a:p>
                      <a:pPr algn="l"/>
                      <a:r>
                        <a:rPr sz="1100" b="1">
                          <a:solidFill>
                            <a:srgbClr val="FFFFFF"/>
                          </a:solidFill>
                          <a:latin typeface="Avenir Next LT Pro Demi"/>
                        </a:rPr>
                        <a:t>Signal</a:t>
                      </a:r>
                    </a:p>
                  </a:txBody>
                  <a:tcPr marL="82296" marT="36576" marB="36576" anchor="ctr">
                    <a:solidFill>
                      <a:srgbClr val="9A7B44"/>
                    </a:solidFill>
                  </a:tcPr>
                </a:tc>
                <a:tc>
                  <a:txBody>
                    <a:bodyPr/>
                    <a:lstStyle/>
                    <a:p>
                      <a:pPr algn="l"/>
                      <a:r>
                        <a:rPr sz="1100" b="1">
                          <a:solidFill>
                            <a:srgbClr val="FFFFFF"/>
                          </a:solidFill>
                          <a:latin typeface="Avenir Next LT Pro Demi"/>
                        </a:rPr>
                        <a:t>What we see</a:t>
                      </a:r>
                    </a:p>
                  </a:txBody>
                  <a:tcPr marL="82296" marT="36576" marB="36576" anchor="ctr">
                    <a:solidFill>
                      <a:srgbClr val="9A7B44"/>
                    </a:solidFill>
                  </a:tcPr>
                </a:tc>
                <a:tc>
                  <a:txBody>
                    <a:bodyPr/>
                    <a:lstStyle/>
                    <a:p>
                      <a:pPr algn="l"/>
                      <a:r>
                        <a:rPr sz="1100" b="1">
                          <a:solidFill>
                            <a:srgbClr val="FFFFFF"/>
                          </a:solidFill>
                          <a:latin typeface="Avenir Next LT Pro Demi"/>
                        </a:rPr>
                        <a:t>Read</a:t>
                      </a:r>
                    </a:p>
                  </a:txBody>
                  <a:tcPr marL="82296" marT="36576" marB="36576" anchor="ctr">
                    <a:solidFill>
                      <a:srgbClr val="9A7B44"/>
                    </a:solidFill>
                  </a:tcPr>
                </a:tc>
              </a:tr>
              <a:tr h="822960">
                <a:tc>
                  <a:txBody>
                    <a:bodyPr/>
                    <a:lstStyle/>
                    <a:p>
                      <a:pPr algn="l"/>
                      <a:r>
                        <a:rPr sz="1050" b="1">
                          <a:solidFill>
                            <a:srgbClr val="000000"/>
                          </a:solidFill>
                          <a:latin typeface="Avenir Next LT Pro Demi"/>
                        </a:rPr>
                        <a:t>Founder ownership</a:t>
                      </a:r>
                    </a:p>
                  </a:txBody>
                  <a:tcPr marL="82296" marT="36576" marB="36576" anchor="ctr">
                    <a:solidFill>
                      <a:srgbClr val="FFFFFF"/>
                    </a:solidFill>
                  </a:tcPr>
                </a:tc>
                <a:tc>
                  <a:txBody>
                    <a:bodyPr/>
                    <a:lstStyle/>
                    <a:p>
                      <a:pPr algn="l"/>
                      <a:r>
                        <a:rPr sz="1050" b="0">
                          <a:solidFill>
                            <a:srgbClr val="000000"/>
                          </a:solidFill>
                          <a:latin typeface="Avenir Next LT Pro"/>
                        </a:rPr>
                        <a:t>Friedman owns ~18% outright (~25% incl. options); bought ~$10M at ~$216 (Jun 2024)</a:t>
                      </a:r>
                    </a:p>
                  </a:txBody>
                  <a:tcPr marL="82296" marT="36576" marB="36576" anchor="ctr">
                    <a:solidFill>
                      <a:srgbClr val="FFFFFF"/>
                    </a:solidFill>
                  </a:tcPr>
                </a:tc>
                <a:tc>
                  <a:txBody>
                    <a:bodyPr/>
                    <a:lstStyle/>
                    <a:p>
                      <a:pPr algn="l"/>
                      <a:r>
                        <a:rPr sz="1050" b="0">
                          <a:solidFill>
                            <a:srgbClr val="000000"/>
                          </a:solidFill>
                          <a:latin typeface="Avenir Next LT Pro"/>
                        </a:rPr>
                        <a:t>Deep alignment</a:t>
                      </a:r>
                    </a:p>
                  </a:txBody>
                  <a:tcPr marL="82296" marT="36576" marB="36576" anchor="ctr">
                    <a:solidFill>
                      <a:srgbClr val="FFFFFF"/>
                    </a:solidFill>
                  </a:tcPr>
                </a:tc>
              </a:tr>
              <a:tr h="822960">
                <a:tc>
                  <a:txBody>
                    <a:bodyPr/>
                    <a:lstStyle/>
                    <a:p>
                      <a:pPr algn="l"/>
                      <a:r>
                        <a:rPr sz="1050" b="1">
                          <a:solidFill>
                            <a:srgbClr val="000000"/>
                          </a:solidFill>
                          <a:latin typeface="Avenir Next LT Pro Demi"/>
                        </a:rPr>
                        <a:t>Recent insider activity</a:t>
                      </a:r>
                    </a:p>
                  </a:txBody>
                  <a:tcPr marL="82296" marT="36576" marB="36576" anchor="ctr">
                    <a:solidFill>
                      <a:srgbClr val="F4F6F8"/>
                    </a:solidFill>
                  </a:tcPr>
                </a:tc>
                <a:tc>
                  <a:txBody>
                    <a:bodyPr/>
                    <a:lstStyle/>
                    <a:p>
                      <a:pPr algn="l"/>
                      <a:r>
                        <a:rPr sz="1050" b="0">
                          <a:solidFill>
                            <a:srgbClr val="000000"/>
                          </a:solidFill>
                          <a:latin typeface="Avenir Next LT Pro"/>
                        </a:rPr>
                        <a:t>Mixed — mostly sales (partly option/tax-driven), plus a recent director open-market buy (~$1.8M, Jul 2026)</a:t>
                      </a:r>
                    </a:p>
                  </a:txBody>
                  <a:tcPr marL="82296" marT="36576" marB="36576" anchor="ctr">
                    <a:solidFill>
                      <a:srgbClr val="F4F6F8"/>
                    </a:solidFill>
                  </a:tcPr>
                </a:tc>
                <a:tc>
                  <a:txBody>
                    <a:bodyPr/>
                    <a:lstStyle/>
                    <a:p>
                      <a:pPr algn="l"/>
                      <a:r>
                        <a:rPr sz="1050" b="0">
                          <a:solidFill>
                            <a:srgbClr val="000000"/>
                          </a:solidFill>
                          <a:latin typeface="Avenir Next LT Pro"/>
                        </a:rPr>
                        <a:t>No strong insider signal either way</a:t>
                      </a:r>
                    </a:p>
                  </a:txBody>
                  <a:tcPr marL="82296" marT="36576" marB="36576" anchor="ctr">
                    <a:solidFill>
                      <a:srgbClr val="F4F6F8"/>
                    </a:solidFill>
                  </a:tcPr>
                </a:tc>
              </a:tr>
              <a:tr h="822960">
                <a:tc>
                  <a:txBody>
                    <a:bodyPr/>
                    <a:lstStyle/>
                    <a:p>
                      <a:pPr algn="l"/>
                      <a:r>
                        <a:rPr sz="1050" b="1">
                          <a:solidFill>
                            <a:srgbClr val="000000"/>
                          </a:solidFill>
                          <a:latin typeface="Avenir Next LT Pro Demi"/>
                        </a:rPr>
                        <a:t>Board &amp; governance</a:t>
                      </a:r>
                    </a:p>
                  </a:txBody>
                  <a:tcPr marL="82296" marT="36576" marB="36576" anchor="ctr">
                    <a:solidFill>
                      <a:srgbClr val="FFFFFF"/>
                    </a:solidFill>
                  </a:tcPr>
                </a:tc>
                <a:tc>
                  <a:txBody>
                    <a:bodyPr/>
                    <a:lstStyle/>
                    <a:p>
                      <a:pPr algn="l"/>
                      <a:r>
                        <a:rPr sz="1050" b="0">
                          <a:solidFill>
                            <a:srgbClr val="000000"/>
                          </a:solidFill>
                          <a:latin typeface="Avenir Next LT Pro"/>
                        </a:rPr>
                        <a:t>Jun 2026 annual meeting: directors re-elected; say-on-pay &amp; PwC ratified</a:t>
                      </a:r>
                    </a:p>
                  </a:txBody>
                  <a:tcPr marL="82296" marT="36576" marB="36576" anchor="ctr">
                    <a:solidFill>
                      <a:srgbClr val="FFFFFF"/>
                    </a:solidFill>
                  </a:tcPr>
                </a:tc>
                <a:tc>
                  <a:txBody>
                    <a:bodyPr/>
                    <a:lstStyle/>
                    <a:p>
                      <a:pPr algn="l"/>
                      <a:r>
                        <a:rPr sz="1050" b="0">
                          <a:solidFill>
                            <a:srgbClr val="000000"/>
                          </a:solidFill>
                          <a:latin typeface="Avenir Next LT Pro"/>
                        </a:rPr>
                        <a:t>Stable, founder-led; no activist involvement</a:t>
                      </a:r>
                    </a:p>
                  </a:txBody>
                  <a:tcPr marL="82296" marT="36576" marB="36576" anchor="ctr">
                    <a:solidFill>
                      <a:srgbClr val="FFFFFF"/>
                    </a:solidFill>
                  </a:tcPr>
                </a:tc>
              </a:tr>
              <a:tr h="822960">
                <a:tc>
                  <a:txBody>
                    <a:bodyPr/>
                    <a:lstStyle/>
                    <a:p>
                      <a:pPr algn="l"/>
                      <a:r>
                        <a:rPr sz="1050" b="1">
                          <a:solidFill>
                            <a:srgbClr val="000000"/>
                          </a:solidFill>
                          <a:latin typeface="Avenir Next LT Pro Demi"/>
                        </a:rPr>
                        <a:t>Management intent</a:t>
                      </a:r>
                    </a:p>
                  </a:txBody>
                  <a:tcPr marL="82296" marT="36576" marB="36576" anchor="ctr">
                    <a:solidFill>
                      <a:srgbClr val="F4F6F8"/>
                    </a:solidFill>
                  </a:tcPr>
                </a:tc>
                <a:tc>
                  <a:txBody>
                    <a:bodyPr/>
                    <a:lstStyle/>
                    <a:p>
                      <a:pPr algn="l"/>
                      <a:r>
                        <a:rPr sz="1050" b="0">
                          <a:solidFill>
                            <a:srgbClr val="000000"/>
                          </a:solidFill>
                          <a:latin typeface="Avenir Next LT Pro"/>
                        </a:rPr>
                        <a:t>Stated goal: debt-free by 2029 (FCF + asset sales); Estates upmarket push</a:t>
                      </a:r>
                    </a:p>
                  </a:txBody>
                  <a:tcPr marL="82296" marT="36576" marB="36576" anchor="ctr">
                    <a:solidFill>
                      <a:srgbClr val="F4F6F8"/>
                    </a:solidFill>
                  </a:tcPr>
                </a:tc>
                <a:tc>
                  <a:txBody>
                    <a:bodyPr/>
                    <a:lstStyle/>
                    <a:p>
                      <a:pPr algn="l"/>
                      <a:r>
                        <a:rPr sz="1050" b="0">
                          <a:solidFill>
                            <a:srgbClr val="000000"/>
                          </a:solidFill>
                          <a:latin typeface="Avenir Next LT Pro"/>
                        </a:rPr>
                        <a:t>Addressing leverage, but expansion spend continues</a:t>
                      </a:r>
                    </a:p>
                  </a:txBody>
                  <a:tcPr marL="82296" marT="36576" marB="36576" anchor="ctr">
                    <a:solidFill>
                      <a:srgbClr val="F4F6F8"/>
                    </a:solidFill>
                  </a:tcPr>
                </a:tc>
              </a:tr>
            </a:tbl>
          </a:graphicData>
        </a:graphic>
      </p:graphicFrame>
      <p:sp>
        <p:nvSpPr>
          <p:cNvPr id="5" name="TextBox 4"/>
          <p:cNvSpPr txBox="1"/>
          <p:nvPr/>
        </p:nvSpPr>
        <p:spPr>
          <a:xfrm>
            <a:off x="457200" y="5623560"/>
            <a:ext cx="8229600" cy="457200"/>
          </a:xfrm>
          <a:prstGeom prst="rect">
            <a:avLst/>
          </a:prstGeom>
          <a:noFill/>
          <a:ln>
            <a:noFill/>
          </a:ln>
        </p:spPr>
        <p:txBody>
          <a:bodyPr wrap="square">
            <a:spAutoFit/>
          </a:bodyPr>
          <a:lstStyle/>
          <a:p>
            <a:r>
              <a:rPr sz="1100" b="1">
                <a:solidFill>
                  <a:srgbClr val="000000"/>
                </a:solidFill>
                <a:latin typeface="Avenir Next LT Pro Demi"/>
              </a:rPr>
              <a:t>Net: founder alignment is real, but recent insider activity is mixed (mostly sales, one recent director buy) — no strong signal either way. Governance is stable and founder-controlled (no activist catalyst). Consistent with Hold.</a:t>
            </a:r>
          </a:p>
        </p:txBody>
      </p:sp>
      <p:sp>
        <p:nvSpPr>
          <p:cNvPr id="6" name="TextBox 5"/>
          <p:cNvSpPr txBox="1"/>
          <p:nvPr/>
        </p:nvSpPr>
        <p:spPr>
          <a:xfrm>
            <a:off x="457200" y="6309360"/>
            <a:ext cx="8229600" cy="320040"/>
          </a:xfrm>
          <a:prstGeom prst="rect">
            <a:avLst/>
          </a:prstGeom>
          <a:noFill/>
          <a:ln>
            <a:noFill/>
          </a:ln>
        </p:spPr>
        <p:txBody>
          <a:bodyPr wrap="none">
            <a:spAutoFit/>
          </a:bodyPr>
          <a:lstStyle/>
          <a:p>
            <a:r>
              <a:rPr sz="750" i="1">
                <a:solidFill>
                  <a:srgbClr val="707070"/>
                </a:solidFill>
                <a:latin typeface="Avenir Next LT Pro"/>
              </a:rPr>
              <a:t>Sources: RH DEF 14A proxy; SEC Form 4 filings; RH 8-K (Jun 2026 annual meeting); company guidance.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a:ln>
            <a:noFill/>
          </a:ln>
        </p:spPr>
        <p:txBody>
          <a:bodyPr wrap="square">
            <a:spAutoFit/>
          </a:bodyPr>
          <a:lstStyle/>
          <a:p>
            <a:r>
              <a:rPr sz="2200" b="0">
                <a:solidFill>
                  <a:srgbClr val="000000"/>
                </a:solidFill>
                <a:latin typeface="Avenir Next LT Pro Demi"/>
              </a:rPr>
              <a:t>Is It Working?</a:t>
            </a:r>
          </a:p>
        </p:txBody>
      </p:sp>
      <p:sp>
        <p:nvSpPr>
          <p:cNvPr id="3" name="Rectangle 2"/>
          <p:cNvSpPr/>
          <p:nvPr/>
        </p:nvSpPr>
        <p:spPr>
          <a:xfrm>
            <a:off x="457200" y="960120"/>
            <a:ext cx="8229600" cy="25603"/>
          </a:xfrm>
          <a:prstGeom prst="rect">
            <a:avLst/>
          </a:prstGeom>
          <a:solidFill>
            <a:srgbClr val="0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34440"/>
            <a:ext cx="3977639" cy="384048"/>
          </a:xfrm>
          <a:prstGeom prst="rect">
            <a:avLst/>
          </a:prstGeom>
          <a:solidFill>
            <a:srgbClr val="196B24"/>
          </a:solidFill>
          <a:ln>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250" b="1">
                <a:solidFill>
                  <a:srgbClr val="FFFFFF"/>
                </a:solidFill>
                <a:latin typeface="Avenir Next LT Pro Demi"/>
              </a:rPr>
              <a:t>WORKING</a:t>
            </a:r>
          </a:p>
        </p:txBody>
      </p:sp>
      <p:sp>
        <p:nvSpPr>
          <p:cNvPr id="5" name="Rectangle 4"/>
          <p:cNvSpPr/>
          <p:nvPr/>
        </p:nvSpPr>
        <p:spPr>
          <a:xfrm>
            <a:off x="4709160" y="1234440"/>
            <a:ext cx="3977639" cy="384048"/>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250" b="1">
                <a:solidFill>
                  <a:srgbClr val="FFFFFF"/>
                </a:solidFill>
                <a:latin typeface="Avenir Next LT Pro Demi"/>
              </a:rPr>
              <a:t>WATCH</a:t>
            </a:r>
          </a:p>
        </p:txBody>
      </p:sp>
      <p:sp>
        <p:nvSpPr>
          <p:cNvPr id="6" name="TextBox 5"/>
          <p:cNvSpPr txBox="1"/>
          <p:nvPr/>
        </p:nvSpPr>
        <p:spPr>
          <a:xfrm>
            <a:off x="457200" y="1828800"/>
            <a:ext cx="3977639" cy="777240"/>
          </a:xfrm>
          <a:prstGeom prst="rect">
            <a:avLst/>
          </a:prstGeom>
          <a:noFill/>
          <a:ln>
            <a:noFill/>
          </a:ln>
        </p:spPr>
        <p:txBody>
          <a:bodyPr wrap="square">
            <a:spAutoFit/>
          </a:bodyPr>
          <a:lstStyle/>
          <a:p>
            <a:r>
              <a:rPr sz="1200" b="1">
                <a:solidFill>
                  <a:srgbClr val="196B24"/>
                </a:solidFill>
                <a:latin typeface="Avenir Next LT Pro Demi"/>
              </a:rPr>
              <a:t>✓  </a:t>
            </a:r>
            <a:r>
              <a:rPr sz="1150" b="0">
                <a:solidFill>
                  <a:srgbClr val="000000"/>
                </a:solidFill>
                <a:latin typeface="Avenir Next LT Pro"/>
              </a:rPr>
              <a:t>FCF inflected to +$252M (from −$214M)</a:t>
            </a:r>
          </a:p>
        </p:txBody>
      </p:sp>
      <p:sp>
        <p:nvSpPr>
          <p:cNvPr id="7" name="TextBox 6"/>
          <p:cNvSpPr txBox="1"/>
          <p:nvPr/>
        </p:nvSpPr>
        <p:spPr>
          <a:xfrm>
            <a:off x="457200" y="2651760"/>
            <a:ext cx="3977639" cy="777240"/>
          </a:xfrm>
          <a:prstGeom prst="rect">
            <a:avLst/>
          </a:prstGeom>
          <a:noFill/>
          <a:ln>
            <a:noFill/>
          </a:ln>
        </p:spPr>
        <p:txBody>
          <a:bodyPr wrap="square">
            <a:spAutoFit/>
          </a:bodyPr>
          <a:lstStyle/>
          <a:p>
            <a:r>
              <a:rPr sz="1200" b="1">
                <a:solidFill>
                  <a:srgbClr val="196B24"/>
                </a:solidFill>
                <a:latin typeface="Avenir Next LT Pro Demi"/>
              </a:rPr>
              <a:t>✓  </a:t>
            </a:r>
            <a:r>
              <a:rPr sz="1150" b="0">
                <a:solidFill>
                  <a:srgbClr val="000000"/>
                </a:solidFill>
                <a:latin typeface="Avenir Next LT Pro"/>
              </a:rPr>
              <a:t>Inventory normalized $1.02B → $819M</a:t>
            </a:r>
          </a:p>
        </p:txBody>
      </p:sp>
      <p:sp>
        <p:nvSpPr>
          <p:cNvPr id="8" name="TextBox 7"/>
          <p:cNvSpPr txBox="1"/>
          <p:nvPr/>
        </p:nvSpPr>
        <p:spPr>
          <a:xfrm>
            <a:off x="457200" y="3474720"/>
            <a:ext cx="3977639" cy="777240"/>
          </a:xfrm>
          <a:prstGeom prst="rect">
            <a:avLst/>
          </a:prstGeom>
          <a:noFill/>
          <a:ln>
            <a:noFill/>
          </a:ln>
        </p:spPr>
        <p:txBody>
          <a:bodyPr wrap="square">
            <a:spAutoFit/>
          </a:bodyPr>
          <a:lstStyle/>
          <a:p>
            <a:r>
              <a:rPr sz="1200" b="1">
                <a:solidFill>
                  <a:srgbClr val="196B24"/>
                </a:solidFill>
                <a:latin typeface="Avenir Next LT Pro Demi"/>
              </a:rPr>
              <a:t>✓  </a:t>
            </a:r>
            <a:r>
              <a:rPr sz="1150" b="0">
                <a:solidFill>
                  <a:srgbClr val="000000"/>
                </a:solidFill>
                <a:latin typeface="Avenir Next LT Pro"/>
              </a:rPr>
              <a:t>Revenue re-accelerated +8.1% in FY25</a:t>
            </a:r>
          </a:p>
        </p:txBody>
      </p:sp>
      <p:sp>
        <p:nvSpPr>
          <p:cNvPr id="9" name="TextBox 8"/>
          <p:cNvSpPr txBox="1"/>
          <p:nvPr/>
        </p:nvSpPr>
        <p:spPr>
          <a:xfrm>
            <a:off x="4709160" y="1828800"/>
            <a:ext cx="3977639" cy="777240"/>
          </a:xfrm>
          <a:prstGeom prst="rect">
            <a:avLst/>
          </a:prstGeom>
          <a:noFill/>
          <a:ln>
            <a:noFill/>
          </a:ln>
        </p:spPr>
        <p:txBody>
          <a:bodyPr wrap="square">
            <a:spAutoFit/>
          </a:bodyPr>
          <a:lstStyle/>
          <a:p>
            <a:r>
              <a:rPr sz="1200" b="1">
                <a:solidFill>
                  <a:srgbClr val="B03030"/>
                </a:solidFill>
                <a:latin typeface="Avenir Next LT Pro Demi"/>
              </a:rPr>
              <a:t>!  </a:t>
            </a:r>
            <a:r>
              <a:rPr sz="1150" b="0">
                <a:solidFill>
                  <a:srgbClr val="000000"/>
                </a:solidFill>
                <a:latin typeface="Avenir Next LT Pro"/>
              </a:rPr>
              <a:t>Q1 FY26: revenue −1.7%, net loss −$14M</a:t>
            </a:r>
          </a:p>
        </p:txBody>
      </p:sp>
      <p:sp>
        <p:nvSpPr>
          <p:cNvPr id="10" name="TextBox 9"/>
          <p:cNvSpPr txBox="1"/>
          <p:nvPr/>
        </p:nvSpPr>
        <p:spPr>
          <a:xfrm>
            <a:off x="4709160" y="2651760"/>
            <a:ext cx="3977639" cy="777240"/>
          </a:xfrm>
          <a:prstGeom prst="rect">
            <a:avLst/>
          </a:prstGeom>
          <a:noFill/>
          <a:ln>
            <a:noFill/>
          </a:ln>
        </p:spPr>
        <p:txBody>
          <a:bodyPr wrap="square">
            <a:spAutoFit/>
          </a:bodyPr>
          <a:lstStyle/>
          <a:p>
            <a:r>
              <a:rPr sz="1200" b="1">
                <a:solidFill>
                  <a:srgbClr val="B03030"/>
                </a:solidFill>
                <a:latin typeface="Avenir Next LT Pro Demi"/>
              </a:rPr>
              <a:t>!  </a:t>
            </a:r>
            <a:r>
              <a:rPr sz="1150" b="0">
                <a:solidFill>
                  <a:srgbClr val="000000"/>
                </a:solidFill>
                <a:latin typeface="Avenir Next LT Pro"/>
              </a:rPr>
              <a:t>~$225M/yr interest keeps coverage thin</a:t>
            </a:r>
          </a:p>
        </p:txBody>
      </p:sp>
      <p:sp>
        <p:nvSpPr>
          <p:cNvPr id="11" name="TextBox 10"/>
          <p:cNvSpPr txBox="1"/>
          <p:nvPr/>
        </p:nvSpPr>
        <p:spPr>
          <a:xfrm>
            <a:off x="4709160" y="3474720"/>
            <a:ext cx="3977639" cy="777240"/>
          </a:xfrm>
          <a:prstGeom prst="rect">
            <a:avLst/>
          </a:prstGeom>
          <a:noFill/>
          <a:ln>
            <a:noFill/>
          </a:ln>
        </p:spPr>
        <p:txBody>
          <a:bodyPr wrap="square">
            <a:spAutoFit/>
          </a:bodyPr>
          <a:lstStyle/>
          <a:p>
            <a:r>
              <a:rPr sz="1200" b="1">
                <a:solidFill>
                  <a:srgbClr val="B03030"/>
                </a:solidFill>
                <a:latin typeface="Avenir Next LT Pro Demi"/>
              </a:rPr>
              <a:t>!  </a:t>
            </a:r>
            <a:r>
              <a:rPr sz="1150" b="0">
                <a:solidFill>
                  <a:srgbClr val="000000"/>
                </a:solidFill>
                <a:latin typeface="Avenir Next LT Pro"/>
              </a:rPr>
              <a:t>Guidance is back-half loaded</a:t>
            </a:r>
          </a:p>
        </p:txBody>
      </p:sp>
      <p:sp>
        <p:nvSpPr>
          <p:cNvPr id="12" name="TextBox 11"/>
          <p:cNvSpPr txBox="1"/>
          <p:nvPr/>
        </p:nvSpPr>
        <p:spPr>
          <a:xfrm>
            <a:off x="457200" y="4663440"/>
            <a:ext cx="8229600" cy="365760"/>
          </a:xfrm>
          <a:prstGeom prst="rect">
            <a:avLst/>
          </a:prstGeom>
          <a:noFill/>
          <a:ln>
            <a:noFill/>
          </a:ln>
        </p:spPr>
        <p:txBody>
          <a:bodyPr wrap="square">
            <a:spAutoFit/>
          </a:bodyPr>
          <a:lstStyle/>
          <a:p>
            <a:r>
              <a:rPr sz="1150" b="1">
                <a:solidFill>
                  <a:srgbClr val="000000"/>
                </a:solidFill>
                <a:latin typeface="Avenir Next LT Pro Demi"/>
              </a:rPr>
              <a:t>Verdict: real but early — the next two quarters are the tell.</a:t>
            </a:r>
          </a:p>
        </p:txBody>
      </p:sp>
      <p:sp>
        <p:nvSpPr>
          <p:cNvPr id="13" name="TextBox 12"/>
          <p:cNvSpPr txBox="1"/>
          <p:nvPr/>
        </p:nvSpPr>
        <p:spPr>
          <a:xfrm>
            <a:off x="457200" y="6172200"/>
            <a:ext cx="8229600" cy="274320"/>
          </a:xfrm>
          <a:prstGeom prst="rect">
            <a:avLst/>
          </a:prstGeom>
          <a:noFill/>
          <a:ln>
            <a:noFill/>
          </a:ln>
        </p:spPr>
        <p:txBody>
          <a:bodyPr wrap="none">
            <a:spAutoFit/>
          </a:bodyPr>
          <a:lstStyle/>
          <a:p>
            <a:r>
              <a:rPr sz="750" b="0" i="1">
                <a:solidFill>
                  <a:srgbClr val="707070"/>
                </a:solidFill>
                <a:latin typeface="Avenir Next LT Pro"/>
              </a:rPr>
              <a:t>Source: RH FY2025 10-K; Q1 FY2026 10-Q</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a:ln>
            <a:noFill/>
          </a:ln>
        </p:spPr>
        <p:txBody>
          <a:bodyPr wrap="square">
            <a:spAutoFit/>
          </a:bodyPr>
          <a:lstStyle/>
          <a:p>
            <a:r>
              <a:rPr sz="2300" b="0" i="0" dirty="0">
                <a:solidFill/>
                <a:latin typeface="Avenir Next LT Pro Demi"/>
              </a:rPr>
              <a:t>Financial Performance — Trough to Recovery</a:t>
            </a:r>
          </a:p>
        </p:txBody>
      </p:sp>
      <p:sp>
        <p:nvSpPr>
          <p:cNvPr id="5" name="TextBox 4"/>
          <p:cNvSpPr txBox="1"/>
          <p:nvPr/>
        </p:nvSpPr>
        <p:spPr>
          <a:xfrm>
            <a:off x="457200" y="1051560"/>
            <a:ext cx="8229600" cy="274320"/>
          </a:xfrm>
          <a:prstGeom prst="rect">
            <a:avLst/>
          </a:prstGeom>
          <a:noFill/>
          <a:ln>
            <a:noFill/>
          </a:ln>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4094982956"/>
              </p:ext>
            </p:extLst>
          </p:nvPr>
        </p:nvGraphicFramePr>
        <p:xfrm>
          <a:off x="457200" y="1417320"/>
          <a:ext cx="8229600" cy="3456432"/>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gridCol w="1170432">
                  <a:extLst>
                    <a:ext uri="{9D8B030D-6E8A-4147-A177-3AD203B41FA5}">
                      <a16:colId xmlns:a16="http://schemas.microsoft.com/office/drawing/2014/main" val="20005"/>
                    </a:ext>
                  </a:extLst>
                </a:gridCol>
              </a:tblGrid>
              <a:tr h="384048">
                <a:tc>
                  <a:txBody>
                    <a:bodyPr/>
                    <a:lstStyle/>
                    <a:p>
                      <a:pPr algn="l"/>
                      <a:r>
                        <a:rPr sz="1050" b="1" i="0" dirty="0">
                          <a:solidFill>
                            <a:srgbClr val="FFFFFF"/>
                          </a:solidFill>
                          <a:latin typeface="Avenir Next LT Pro Demi"/>
                        </a:rPr>
                        <a:t>Metric ($M unless noted)</a:t>
                      </a:r>
                    </a:p>
                  </a:txBody>
                  <a:tcPr marL="73152" marR="73152" marT="18288" marB="18288" anchor="ctr">
                    <a:solidFill>
                      <a:srgbClr val="9A7B44"/>
                    </a:solidFill>
                  </a:tcPr>
                </a:tc>
                <a:tc>
                  <a:txBody>
                    <a:bodyPr/>
                    <a:lstStyle/>
                    <a:p>
                      <a:pPr algn="ctr"/>
                      <a:r>
                        <a:rPr sz="1050" b="1" i="0" dirty="0">
                          <a:solidFill>
                            <a:srgbClr val="FFFFFF"/>
                          </a:solidFill>
                          <a:latin typeface="Avenir Next LT Pro Demi"/>
                        </a:rPr>
                        <a:t>FY23</a:t>
                      </a:r>
                    </a:p>
                  </a:txBody>
                  <a:tcPr marL="73152" marR="73152" marT="18288" marB="18288" anchor="ctr">
                    <a:solidFill>
                      <a:srgbClr val="9A7B44"/>
                    </a:solidFill>
                  </a:tcPr>
                </a:tc>
                <a:tc>
                  <a:txBody>
                    <a:bodyPr/>
                    <a:lstStyle/>
                    <a:p>
                      <a:pPr algn="ctr"/>
                      <a:r>
                        <a:rPr sz="1050" b="1" i="0" dirty="0">
                          <a:solidFill>
                            <a:srgbClr val="FFFFFF"/>
                          </a:solidFill>
                          <a:latin typeface="Avenir Next LT Pro Demi"/>
                        </a:rPr>
                        <a:t>FY24</a:t>
                      </a:r>
                    </a:p>
                  </a:txBody>
                  <a:tcPr marL="73152" marR="73152" marT="18288" marB="18288" anchor="ctr">
                    <a:solidFill>
                      <a:srgbClr val="9A7B44"/>
                    </a:solidFill>
                  </a:tcPr>
                </a:tc>
                <a:tc>
                  <a:txBody>
                    <a:bodyPr/>
                    <a:lstStyle/>
                    <a:p>
                      <a:pPr algn="ctr"/>
                      <a:r>
                        <a:rPr sz="1050" b="1" i="0" dirty="0">
                          <a:solidFill>
                            <a:srgbClr val="FFFFFF"/>
                          </a:solidFill>
                          <a:latin typeface="Avenir Next LT Pro Demi"/>
                        </a:rPr>
                        <a:t>FY25</a:t>
                      </a:r>
                    </a:p>
                  </a:txBody>
                  <a:tcPr marL="73152" marR="73152" marT="18288" marB="18288" anchor="ctr">
                    <a:solidFill>
                      <a:srgbClr val="9A7B44"/>
                    </a:solidFill>
                  </a:tcPr>
                </a:tc>
                <a:tc>
                  <a:txBody>
                    <a:bodyPr/>
                    <a:lstStyle/>
                    <a:p>
                      <a:pPr algn="ctr"/>
                      <a:r>
                        <a:rPr sz="1050" b="1" i="0" dirty="0">
                          <a:solidFill>
                            <a:srgbClr val="FFFFFF"/>
                          </a:solidFill>
                          <a:latin typeface="Avenir Next LT Pro Demi"/>
                        </a:rPr>
                        <a:t>FY26E</a:t>
                      </a:r>
                    </a:p>
                  </a:txBody>
                  <a:tcPr marL="73152" marR="73152" marT="18288" marB="18288" anchor="ctr">
                    <a:solidFill>
                      <a:srgbClr val="9A7B44"/>
                    </a:solidFill>
                  </a:tcPr>
                </a:tc>
                <a:tc>
                  <a:txBody>
                    <a:bodyPr/>
                    <a:lstStyle/>
                    <a:p>
                      <a:pPr algn="ctr"/>
                      <a:r>
                        <a:rPr sz="1050" b="1" i="0" dirty="0">
                          <a:solidFill>
                            <a:srgbClr val="FFFFFF"/>
                          </a:solidFill>
                          <a:latin typeface="Avenir Next LT Pro Demi"/>
                        </a:rPr>
                        <a:t>FY27E</a:t>
                      </a:r>
                    </a:p>
                  </a:txBody>
                  <a:tcPr marL="73152" marR="73152" marT="18288" marB="18288" anchor="ctr">
                    <a:solidFill>
                      <a:srgbClr val="9A7B44"/>
                    </a:solidFill>
                  </a:tcPr>
                </a:tc>
                <a:extLst>
                  <a:ext uri="{0D108BD9-81ED-4DB2-BD59-A6C34878D82A}">
                    <a16:rowId xmlns:a16="http://schemas.microsoft.com/office/drawing/2014/main" val="10000"/>
                  </a:ext>
                </a:extLst>
              </a:tr>
              <a:tr h="384048">
                <a:tc>
                  <a:txBody>
                    <a:bodyPr/>
                    <a:lstStyle/>
                    <a:p>
                      <a:pPr algn="l"/>
                      <a:r>
                        <a:rPr sz="1100" b="1" i="0" dirty="0">
                          <a:solidFill>
                            <a:schemeClr val="tx1"/>
                          </a:solidFill>
                          <a:latin typeface="Avenir Next LT Pro Demi"/>
                        </a:rPr>
                        <a:t>Revenue</a:t>
                      </a:r>
                    </a:p>
                  </a:txBody>
                  <a:tcPr marL="73152" marR="73152" marT="18288" marB="18288" anchor="ctr">
                    <a:solidFill>
                      <a:srgbClr val="FFFFFF"/>
                    </a:solidFill>
                  </a:tcPr>
                </a:tc>
                <a:tc>
                  <a:txBody>
                    <a:bodyPr/>
                    <a:lstStyle/>
                    <a:p>
                      <a:pPr algn="ctr"/>
                      <a:r>
                        <a:rPr sz="1100" b="0" i="0">
                          <a:solidFill>
                            <a:schemeClr val="tx1"/>
                          </a:solidFill>
                          <a:latin typeface="Avenir Next LT Pro"/>
                        </a:rPr>
                        <a:t>3,029</a:t>
                      </a:r>
                    </a:p>
                  </a:txBody>
                  <a:tcPr marL="73152" marR="73152" marT="18288" marB="18288" anchor="ctr">
                    <a:solidFill>
                      <a:srgbClr val="FFFFFF"/>
                    </a:solidFill>
                  </a:tcPr>
                </a:tc>
                <a:tc>
                  <a:txBody>
                    <a:bodyPr/>
                    <a:lstStyle/>
                    <a:p>
                      <a:pPr algn="ctr"/>
                      <a:r>
                        <a:rPr sz="1100" b="0" i="0">
                          <a:solidFill>
                            <a:schemeClr val="tx1"/>
                          </a:solidFill>
                          <a:latin typeface="Avenir Next LT Pro"/>
                        </a:rPr>
                        <a:t>3,181</a:t>
                      </a:r>
                    </a:p>
                  </a:txBody>
                  <a:tcPr marL="73152" marR="73152" marT="18288" marB="18288" anchor="ctr">
                    <a:solidFill>
                      <a:srgbClr val="FFFFFF"/>
                    </a:solidFill>
                  </a:tcPr>
                </a:tc>
                <a:tc>
                  <a:txBody>
                    <a:bodyPr/>
                    <a:lstStyle/>
                    <a:p>
                      <a:pPr algn="ctr"/>
                      <a:r>
                        <a:rPr sz="1100" b="0" i="0">
                          <a:solidFill>
                            <a:schemeClr val="tx1"/>
                          </a:solidFill>
                          <a:latin typeface="Avenir Next LT Pro"/>
                        </a:rPr>
                        <a:t>3,440</a:t>
                      </a:r>
                    </a:p>
                  </a:txBody>
                  <a:tcPr marL="73152" marR="73152" marT="18288" marB="18288" anchor="ctr">
                    <a:solidFill>
                      <a:srgbClr val="FFFFFF"/>
                    </a:solidFill>
                  </a:tcPr>
                </a:tc>
                <a:tc>
                  <a:txBody>
                    <a:bodyPr/>
                    <a:lstStyle/>
                    <a:p>
                      <a:pPr algn="ctr"/>
                      <a:r>
                        <a:rPr sz="1100" b="0" i="0">
                          <a:solidFill>
                            <a:schemeClr val="tx1"/>
                          </a:solidFill>
                          <a:latin typeface="Avenir Next LT Pro"/>
                        </a:rPr>
                        <a:t>3,680</a:t>
                      </a:r>
                    </a:p>
                  </a:txBody>
                  <a:tcPr marL="73152" marR="73152" marT="18288" marB="18288" anchor="ctr">
                    <a:solidFill>
                      <a:srgbClr val="FFFFFF"/>
                    </a:solidFill>
                  </a:tcPr>
                </a:tc>
                <a:tc>
                  <a:txBody>
                    <a:bodyPr/>
                    <a:lstStyle/>
                    <a:p>
                      <a:pPr algn="ctr"/>
                      <a:r>
                        <a:rPr sz="1100" b="0" i="0">
                          <a:solidFill>
                            <a:schemeClr val="tx1"/>
                          </a:solidFill>
                          <a:latin typeface="Avenir Next LT Pro"/>
                        </a:rPr>
                        <a:t>4,165</a:t>
                      </a:r>
                    </a:p>
                  </a:txBody>
                  <a:tcPr marL="73152" marR="73152"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1" i="0" dirty="0">
                          <a:solidFill>
                            <a:schemeClr val="tx1"/>
                          </a:solidFill>
                          <a:latin typeface="Avenir Next LT Pro Demi"/>
                        </a:rPr>
                        <a:t>YoY Growth</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a:t>
                      </a:r>
                      <a:r>
                        <a:rPr lang="en-US" sz="1100" b="0" i="0" dirty="0">
                          <a:solidFill>
                            <a:schemeClr val="tx1"/>
                          </a:solidFill>
                          <a:latin typeface="Avenir Next LT Pro"/>
                        </a:rPr>
                        <a:t>5.6</a:t>
                      </a:r>
                      <a:r>
                        <a:rPr sz="1100" b="0" i="0" dirty="0">
                          <a:solidFill>
                            <a:schemeClr val="tx1"/>
                          </a:solidFill>
                          <a:latin typeface="Avenir Next LT Pro"/>
                        </a:rPr>
                        <a:t>%</a:t>
                      </a:r>
                    </a:p>
                  </a:txBody>
                  <a:tcPr marL="73152" marR="73152" marT="18288" marB="18288" anchor="ctr">
                    <a:solidFill>
                      <a:srgbClr val="F4F6F8"/>
                    </a:solidFill>
                  </a:tcPr>
                </a:tc>
                <a:tc>
                  <a:txBody>
                    <a:bodyPr/>
                    <a:lstStyle/>
                    <a:p>
                      <a:pPr algn="ctr"/>
                      <a:r>
                        <a:rPr sz="1100" b="0" i="0">
                          <a:solidFill>
                            <a:schemeClr val="tx1"/>
                          </a:solidFill>
                          <a:latin typeface="Avenir Next LT Pro"/>
                        </a:rPr>
                        <a:t>+5.0%</a:t>
                      </a:r>
                    </a:p>
                  </a:txBody>
                  <a:tcPr marL="73152" marR="73152" marT="18288" marB="18288" anchor="ctr">
                    <a:solidFill>
                      <a:srgbClr val="F4F6F8"/>
                    </a:solidFill>
                  </a:tcPr>
                </a:tc>
                <a:tc>
                  <a:txBody>
                    <a:bodyPr/>
                    <a:lstStyle/>
                    <a:p>
                      <a:pPr algn="ctr"/>
                      <a:r>
                        <a:rPr sz="1100" b="0" i="0">
                          <a:solidFill>
                            <a:schemeClr val="tx1"/>
                          </a:solidFill>
                          <a:latin typeface="Avenir Next LT Pro"/>
                        </a:rPr>
                        <a:t>+8.1%</a:t>
                      </a:r>
                    </a:p>
                  </a:txBody>
                  <a:tcPr marL="73152" marR="73152" marT="18288" marB="18288" anchor="ctr">
                    <a:solidFill>
                      <a:srgbClr val="F4F6F8"/>
                    </a:solidFill>
                  </a:tcPr>
                </a:tc>
                <a:tc>
                  <a:txBody>
                    <a:bodyPr/>
                    <a:lstStyle/>
                    <a:p>
                      <a:pPr algn="ctr"/>
                      <a:r>
                        <a:rPr sz="1100" b="0" i="0">
                          <a:solidFill>
                            <a:schemeClr val="tx1"/>
                          </a:solidFill>
                          <a:latin typeface="Avenir Next LT Pro"/>
                        </a:rPr>
                        <a:t>+7.0%</a:t>
                      </a:r>
                    </a:p>
                  </a:txBody>
                  <a:tcPr marL="73152" marR="73152" marT="18288" marB="18288" anchor="ctr">
                    <a:solidFill>
                      <a:srgbClr val="F4F6F8"/>
                    </a:solidFill>
                  </a:tcPr>
                </a:tc>
                <a:tc>
                  <a:txBody>
                    <a:bodyPr/>
                    <a:lstStyle/>
                    <a:p>
                      <a:pPr algn="ctr"/>
                      <a:r>
                        <a:rPr sz="1100" b="0" i="0">
                          <a:solidFill>
                            <a:schemeClr val="tx1"/>
                          </a:solidFill>
                          <a:latin typeface="Avenir Next LT Pro"/>
                        </a:rPr>
                        <a:t>+13.2%</a:t>
                      </a:r>
                    </a:p>
                  </a:txBody>
                  <a:tcPr marL="73152" marR="73152" marT="18288" marB="18288" anchor="ctr">
                    <a:solidFill>
                      <a:srgbClr val="F4F6F8"/>
                    </a:solidFill>
                  </a:tcPr>
                </a:tc>
                <a:extLst>
                  <a:ext uri="{0D108BD9-81ED-4DB2-BD59-A6C34878D82A}">
                    <a16:rowId xmlns:a16="http://schemas.microsoft.com/office/drawing/2014/main" val="10002"/>
                  </a:ext>
                </a:extLst>
              </a:tr>
              <a:tr h="384048">
                <a:tc>
                  <a:txBody>
                    <a:bodyPr/>
                    <a:lstStyle/>
                    <a:p>
                      <a:pPr algn="l"/>
                      <a:r>
                        <a:rPr sz="1100" b="1" i="0" dirty="0">
                          <a:solidFill>
                            <a:schemeClr val="tx1"/>
                          </a:solidFill>
                          <a:latin typeface="Avenir Next LT Pro Demi"/>
                        </a:rPr>
                        <a:t>Gross Margin</a:t>
                      </a:r>
                    </a:p>
                  </a:txBody>
                  <a:tcPr marL="73152" marR="73152" marT="18288" marB="18288" anchor="ctr">
                    <a:solidFill>
                      <a:srgbClr val="FFFFFF"/>
                    </a:solidFill>
                  </a:tcPr>
                </a:tc>
                <a:tc>
                  <a:txBody>
                    <a:bodyPr/>
                    <a:lstStyle/>
                    <a:p>
                      <a:pPr algn="ctr"/>
                      <a:r>
                        <a:rPr sz="1100" b="0" i="0">
                          <a:solidFill>
                            <a:schemeClr val="tx1"/>
                          </a:solidFill>
                          <a:latin typeface="Avenir Next LT Pro"/>
                        </a:rPr>
                        <a:t>45.9%</a:t>
                      </a:r>
                    </a:p>
                  </a:txBody>
                  <a:tcPr marL="73152" marR="73152" marT="18288" marB="18288" anchor="ctr">
                    <a:solidFill>
                      <a:srgbClr val="FFFFFF"/>
                    </a:solidFill>
                  </a:tcPr>
                </a:tc>
                <a:tc>
                  <a:txBody>
                    <a:bodyPr/>
                    <a:lstStyle/>
                    <a:p>
                      <a:pPr algn="ctr"/>
                      <a:r>
                        <a:rPr sz="1100" b="0" i="0">
                          <a:solidFill>
                            <a:schemeClr val="tx1"/>
                          </a:solidFill>
                          <a:latin typeface="Avenir Next LT Pro"/>
                        </a:rPr>
                        <a:t>44.5%</a:t>
                      </a:r>
                    </a:p>
                  </a:txBody>
                  <a:tcPr marL="73152" marR="73152" marT="18288" marB="18288" anchor="ctr">
                    <a:solidFill>
                      <a:srgbClr val="FFFFFF"/>
                    </a:solidFill>
                  </a:tcPr>
                </a:tc>
                <a:tc>
                  <a:txBody>
                    <a:bodyPr/>
                    <a:lstStyle/>
                    <a:p>
                      <a:pPr algn="ctr"/>
                      <a:r>
                        <a:rPr sz="1100" b="0" i="0">
                          <a:solidFill>
                            <a:schemeClr val="tx1"/>
                          </a:solidFill>
                          <a:latin typeface="Avenir Next LT Pro"/>
                        </a:rPr>
                        <a:t>44.1%</a:t>
                      </a:r>
                    </a:p>
                  </a:txBody>
                  <a:tcPr marL="73152" marR="73152" marT="18288" marB="18288" anchor="ctr">
                    <a:solidFill>
                      <a:srgbClr val="FFFFFF"/>
                    </a:solidFill>
                  </a:tcPr>
                </a:tc>
                <a:tc>
                  <a:txBody>
                    <a:bodyPr/>
                    <a:lstStyle/>
                    <a:p>
                      <a:pPr algn="ctr"/>
                      <a:r>
                        <a:rPr sz="1100" b="0" i="0">
                          <a:solidFill>
                            <a:schemeClr val="tx1"/>
                          </a:solidFill>
                          <a:latin typeface="Avenir Next LT Pro"/>
                        </a:rPr>
                        <a:t>~45%</a:t>
                      </a:r>
                    </a:p>
                  </a:txBody>
                  <a:tcPr marL="73152" marR="73152" marT="18288" marB="18288" anchor="ctr">
                    <a:solidFill>
                      <a:srgbClr val="FFFFFF"/>
                    </a:solidFill>
                  </a:tcPr>
                </a:tc>
                <a:tc>
                  <a:txBody>
                    <a:bodyPr/>
                    <a:lstStyle/>
                    <a:p>
                      <a:pPr algn="ctr"/>
                      <a:r>
                        <a:rPr sz="1100" b="0" i="0">
                          <a:solidFill>
                            <a:schemeClr val="tx1"/>
                          </a:solidFill>
                          <a:latin typeface="Avenir Next LT Pro"/>
                        </a:rPr>
                        <a:t>~46%</a:t>
                      </a:r>
                    </a:p>
                  </a:txBody>
                  <a:tcPr marL="73152" marR="73152"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100" b="1" i="0" dirty="0">
                          <a:solidFill>
                            <a:schemeClr val="tx1"/>
                          </a:solidFill>
                          <a:latin typeface="Avenir Next LT Pro Demi"/>
                        </a:rPr>
                        <a:t>Adj. EBITDA</a:t>
                      </a:r>
                    </a:p>
                  </a:txBody>
                  <a:tcPr marL="73152" marR="73152" marT="18288" marB="18288" anchor="ctr">
                    <a:solidFill>
                      <a:srgbClr val="F4F6F8"/>
                    </a:solidFill>
                  </a:tcPr>
                </a:tc>
                <a:tc>
                  <a:txBody>
                    <a:bodyPr/>
                    <a:lstStyle/>
                    <a:p>
                      <a:pPr algn="ctr"/>
                      <a:r>
                        <a:rPr sz="1100" b="0" i="0" dirty="0">
                          <a:solidFill>
                            <a:schemeClr val="tx1"/>
                          </a:solidFill>
                          <a:latin typeface="Avenir Next LT Pro"/>
                        </a:rPr>
                        <a:t>551</a:t>
                      </a:r>
                    </a:p>
                  </a:txBody>
                  <a:tcPr marL="73152" marR="73152" marT="18288" marB="18288" anchor="ctr">
                    <a:solidFill>
                      <a:srgbClr val="F4F6F8"/>
                    </a:solidFill>
                  </a:tcPr>
                </a:tc>
                <a:tc>
                  <a:txBody>
                    <a:bodyPr/>
                    <a:lstStyle/>
                    <a:p>
                      <a:pPr algn="ctr"/>
                      <a:r>
                        <a:rPr sz="1100" b="0" i="0">
                          <a:solidFill>
                            <a:schemeClr val="tx1"/>
                          </a:solidFill>
                          <a:latin typeface="Avenir Next LT Pro"/>
                        </a:rPr>
                        <a:t>539</a:t>
                      </a:r>
                    </a:p>
                  </a:txBody>
                  <a:tcPr marL="73152" marR="73152" marT="18288" marB="18288" anchor="ctr">
                    <a:solidFill>
                      <a:srgbClr val="F4F6F8"/>
                    </a:solidFill>
                  </a:tcPr>
                </a:tc>
                <a:tc>
                  <a:txBody>
                    <a:bodyPr/>
                    <a:lstStyle/>
                    <a:p>
                      <a:pPr algn="ctr"/>
                      <a:r>
                        <a:rPr sz="1100" b="0" i="0">
                          <a:solidFill>
                            <a:schemeClr val="tx1"/>
                          </a:solidFill>
                          <a:latin typeface="Avenir Next LT Pro"/>
                        </a:rPr>
                        <a:t>597</a:t>
                      </a:r>
                    </a:p>
                  </a:txBody>
                  <a:tcPr marL="73152" marR="73152" marT="18288" marB="18288" anchor="ctr">
                    <a:solidFill>
                      <a:srgbClr val="F4F6F8"/>
                    </a:solidFill>
                  </a:tcPr>
                </a:tc>
                <a:tc>
                  <a:txBody>
                    <a:bodyPr/>
                    <a:lstStyle/>
                    <a:p>
                      <a:pPr algn="ctr"/>
                      <a:r>
                        <a:rPr sz="1100" b="0" i="0">
                          <a:solidFill>
                            <a:schemeClr val="tx1"/>
                          </a:solidFill>
                          <a:latin typeface="Avenir Next LT Pro"/>
                        </a:rPr>
                        <a:t>589</a:t>
                      </a:r>
                    </a:p>
                  </a:txBody>
                  <a:tcPr marL="73152" marR="73152" marT="18288" marB="18288" anchor="ctr">
                    <a:solidFill>
                      <a:srgbClr val="F4F6F8"/>
                    </a:solidFill>
                  </a:tcPr>
                </a:tc>
                <a:tc>
                  <a:txBody>
                    <a:bodyPr/>
                    <a:lstStyle/>
                    <a:p>
                      <a:pPr algn="ctr"/>
                      <a:r>
                        <a:rPr sz="1100" b="0" i="0">
                          <a:solidFill>
                            <a:schemeClr val="tx1"/>
                          </a:solidFill>
                          <a:latin typeface="Avenir Next LT Pro"/>
                        </a:rPr>
                        <a:t>708</a:t>
                      </a:r>
                    </a:p>
                  </a:txBody>
                  <a:tcPr marL="73152" marR="73152" marT="18288" marB="18288" anchor="ctr">
                    <a:solidFill>
                      <a:srgbClr val="F4F6F8"/>
                    </a:solidFill>
                  </a:tcPr>
                </a:tc>
                <a:extLst>
                  <a:ext uri="{0D108BD9-81ED-4DB2-BD59-A6C34878D82A}">
                    <a16:rowId xmlns:a16="http://schemas.microsoft.com/office/drawing/2014/main" val="10004"/>
                  </a:ext>
                </a:extLst>
              </a:tr>
              <a:tr h="384048">
                <a:tc>
                  <a:txBody>
                    <a:bodyPr/>
                    <a:lstStyle/>
                    <a:p>
                      <a:pPr algn="l"/>
                      <a:r>
                        <a:rPr sz="1100" b="1" i="0">
                          <a:solidFill>
                            <a:schemeClr val="tx1"/>
                          </a:solidFill>
                          <a:latin typeface="Avenir Next LT Pro Demi"/>
                        </a:rPr>
                        <a:t>EBITDA Margin</a:t>
                      </a:r>
                    </a:p>
                  </a:txBody>
                  <a:tcPr marL="73152" marR="73152" marT="18288" marB="18288" anchor="ctr">
                    <a:solidFill>
                      <a:srgbClr val="FFFFFF"/>
                    </a:solidFill>
                  </a:tcPr>
                </a:tc>
                <a:tc>
                  <a:txBody>
                    <a:bodyPr/>
                    <a:lstStyle/>
                    <a:p>
                      <a:pPr algn="ctr"/>
                      <a:r>
                        <a:rPr sz="1100" b="0" i="0" dirty="0">
                          <a:solidFill>
                            <a:schemeClr val="tx1"/>
                          </a:solidFill>
                          <a:latin typeface="Avenir Next LT Pro"/>
                        </a:rPr>
                        <a:t>18.2%</a:t>
                      </a:r>
                    </a:p>
                  </a:txBody>
                  <a:tcPr marL="73152" marR="73152" marT="18288" marB="18288" anchor="ctr">
                    <a:solidFill>
                      <a:srgbClr val="FFFFFF"/>
                    </a:solidFill>
                  </a:tcPr>
                </a:tc>
                <a:tc>
                  <a:txBody>
                    <a:bodyPr/>
                    <a:lstStyle/>
                    <a:p>
                      <a:pPr algn="ctr"/>
                      <a:r>
                        <a:rPr sz="1100" b="0" i="0">
                          <a:solidFill>
                            <a:schemeClr val="tx1"/>
                          </a:solidFill>
                          <a:latin typeface="Avenir Next LT Pro"/>
                        </a:rPr>
                        <a:t>16.9%</a:t>
                      </a:r>
                    </a:p>
                  </a:txBody>
                  <a:tcPr marL="73152" marR="73152" marT="18288" marB="18288" anchor="ctr">
                    <a:solidFill>
                      <a:srgbClr val="FFFFFF"/>
                    </a:solidFill>
                  </a:tcPr>
                </a:tc>
                <a:tc>
                  <a:txBody>
                    <a:bodyPr/>
                    <a:lstStyle/>
                    <a:p>
                      <a:pPr algn="ctr"/>
                      <a:r>
                        <a:rPr sz="1100" b="0" i="0">
                          <a:solidFill>
                            <a:schemeClr val="tx1"/>
                          </a:solidFill>
                          <a:latin typeface="Avenir Next LT Pro"/>
                        </a:rPr>
                        <a:t>17.3%</a:t>
                      </a:r>
                    </a:p>
                  </a:txBody>
                  <a:tcPr marL="73152" marR="73152" marT="18288" marB="18288" anchor="ctr">
                    <a:solidFill>
                      <a:srgbClr val="FFFFFF"/>
                    </a:solidFill>
                  </a:tcPr>
                </a:tc>
                <a:tc>
                  <a:txBody>
                    <a:bodyPr/>
                    <a:lstStyle/>
                    <a:p>
                      <a:pPr algn="ctr"/>
                      <a:r>
                        <a:rPr sz="1100" b="0" i="0">
                          <a:solidFill>
                            <a:schemeClr val="tx1"/>
                          </a:solidFill>
                          <a:latin typeface="Avenir Next LT Pro"/>
                        </a:rPr>
                        <a:t>16.0%</a:t>
                      </a:r>
                    </a:p>
                  </a:txBody>
                  <a:tcPr marL="73152" marR="73152" marT="18288" marB="18288" anchor="ctr">
                    <a:solidFill>
                      <a:srgbClr val="FFFFFF"/>
                    </a:solidFill>
                  </a:tcPr>
                </a:tc>
                <a:tc>
                  <a:txBody>
                    <a:bodyPr/>
                    <a:lstStyle/>
                    <a:p>
                      <a:pPr algn="ctr"/>
                      <a:r>
                        <a:rPr sz="1100" b="0" i="0">
                          <a:solidFill>
                            <a:schemeClr val="tx1"/>
                          </a:solidFill>
                          <a:latin typeface="Avenir Next LT Pro"/>
                        </a:rPr>
                        <a:t>17.0%</a:t>
                      </a:r>
                    </a:p>
                  </a:txBody>
                  <a:tcPr marL="73152" marR="73152" marT="18288" marB="18288" anchor="ctr">
                    <a:solidFill>
                      <a:srgbClr val="FFFFFF"/>
                    </a:solidFill>
                  </a:tcPr>
                </a:tc>
                <a:extLst>
                  <a:ext uri="{0D108BD9-81ED-4DB2-BD59-A6C34878D82A}">
                    <a16:rowId xmlns:a16="http://schemas.microsoft.com/office/drawing/2014/main" val="10005"/>
                  </a:ext>
                </a:extLst>
              </a:tr>
              <a:tr h="384048">
                <a:tc>
                  <a:txBody>
                    <a:bodyPr/>
                    <a:lstStyle/>
                    <a:p>
                      <a:pPr algn="l"/>
                      <a:r>
                        <a:rPr sz="1100" b="1" i="0">
                          <a:solidFill>
                            <a:schemeClr val="tx1"/>
                          </a:solidFill>
                          <a:latin typeface="Avenir Next LT Pro Demi"/>
                        </a:rPr>
                        <a:t>Diluted EPS (GAAP)</a:t>
                      </a:r>
                    </a:p>
                  </a:txBody>
                  <a:tcPr marL="73152" marR="73152" marT="18288" marB="18288" anchor="ctr">
                    <a:solidFill>
                      <a:srgbClr val="F4F6F8"/>
                    </a:solidFill>
                  </a:tcPr>
                </a:tc>
                <a:tc>
                  <a:txBody>
                    <a:bodyPr/>
                    <a:lstStyle/>
                    <a:p>
                      <a:pPr algn="ctr"/>
                      <a:r>
                        <a:rPr sz="1100" b="0" i="0">
                          <a:solidFill>
                            <a:schemeClr val="tx1"/>
                          </a:solidFill>
                          <a:latin typeface="Avenir Next LT Pro"/>
                        </a:rPr>
                        <a:t>$5.91</a:t>
                      </a:r>
                    </a:p>
                  </a:txBody>
                  <a:tcPr marL="73152" marR="73152" marT="18288" marB="18288" anchor="ctr">
                    <a:solidFill>
                      <a:srgbClr val="F4F6F8"/>
                    </a:solidFill>
                  </a:tcPr>
                </a:tc>
                <a:tc>
                  <a:txBody>
                    <a:bodyPr/>
                    <a:lstStyle/>
                    <a:p>
                      <a:pPr algn="ctr"/>
                      <a:r>
                        <a:rPr sz="1100" b="0" i="0" dirty="0">
                          <a:solidFill>
                            <a:schemeClr val="tx1"/>
                          </a:solidFill>
                          <a:latin typeface="Avenir Next LT Pro"/>
                        </a:rPr>
                        <a:t>$3.62</a:t>
                      </a:r>
                    </a:p>
                  </a:txBody>
                  <a:tcPr marL="73152" marR="73152" marT="18288" marB="18288" anchor="ctr">
                    <a:solidFill>
                      <a:srgbClr val="F4F6F8"/>
                    </a:solidFill>
                  </a:tcPr>
                </a:tc>
                <a:tc>
                  <a:txBody>
                    <a:bodyPr/>
                    <a:lstStyle/>
                    <a:p>
                      <a:pPr algn="ctr"/>
                      <a:r>
                        <a:rPr sz="1100" b="0" i="0">
                          <a:solidFill>
                            <a:schemeClr val="tx1"/>
                          </a:solidFill>
                          <a:latin typeface="Avenir Next LT Pro"/>
                        </a:rPr>
                        <a:t>$6.31</a:t>
                      </a:r>
                    </a:p>
                  </a:txBody>
                  <a:tcPr marL="73152" marR="73152" marT="18288" marB="18288" anchor="ctr">
                    <a:solidFill>
                      <a:srgbClr val="F4F6F8"/>
                    </a:solidFill>
                  </a:tcPr>
                </a:tc>
                <a:tc>
                  <a:txBody>
                    <a:bodyPr/>
                    <a:lstStyle/>
                    <a:p>
                      <a:pPr algn="ctr"/>
                      <a:r>
                        <a:rPr sz="1100" b="0" i="0">
                          <a:solidFill>
                            <a:schemeClr val="tx1"/>
                          </a:solidFill>
                          <a:latin typeface="Avenir Next LT Pro"/>
                        </a:rPr>
                        <a:t>~$9</a:t>
                      </a:r>
                    </a:p>
                  </a:txBody>
                  <a:tcPr marL="73152" marR="73152" marT="18288" marB="18288" anchor="ctr">
                    <a:solidFill>
                      <a:srgbClr val="F4F6F8"/>
                    </a:solidFill>
                  </a:tcPr>
                </a:tc>
                <a:tc>
                  <a:txBody>
                    <a:bodyPr/>
                    <a:lstStyle/>
                    <a:p>
                      <a:pPr algn="ctr"/>
                      <a:r>
                        <a:rPr sz="1100" b="0" i="0">
                          <a:solidFill>
                            <a:schemeClr val="tx1"/>
                          </a:solidFill>
                          <a:latin typeface="Avenir Next LT Pro"/>
                        </a:rPr>
                        <a:t>~$14</a:t>
                      </a:r>
                    </a:p>
                  </a:txBody>
                  <a:tcPr marL="73152" marR="73152" marT="18288" marB="18288" anchor="ctr">
                    <a:solidFill>
                      <a:srgbClr val="F4F6F8"/>
                    </a:solidFill>
                  </a:tcPr>
                </a:tc>
                <a:extLst>
                  <a:ext uri="{0D108BD9-81ED-4DB2-BD59-A6C34878D82A}">
                    <a16:rowId xmlns:a16="http://schemas.microsoft.com/office/drawing/2014/main" val="10006"/>
                  </a:ext>
                </a:extLst>
              </a:tr>
              <a:tr h="384048">
                <a:tc>
                  <a:txBody>
                    <a:bodyPr/>
                    <a:lstStyle/>
                    <a:p>
                      <a:pPr algn="l"/>
                      <a:r>
                        <a:rPr sz="1100" b="1" i="0">
                          <a:solidFill>
                            <a:schemeClr val="tx1"/>
                          </a:solidFill>
                          <a:latin typeface="Avenir Next LT Pro Demi"/>
                        </a:rPr>
                        <a:t>Free Cash Flow</a:t>
                      </a:r>
                    </a:p>
                  </a:txBody>
                  <a:tcPr marL="73152" marR="73152" marT="18288" marB="18288" anchor="ctr">
                    <a:solidFill>
                      <a:srgbClr val="FFFFFF"/>
                    </a:solidFill>
                  </a:tcPr>
                </a:tc>
                <a:tc>
                  <a:txBody>
                    <a:bodyPr/>
                    <a:lstStyle/>
                    <a:p>
                      <a:pPr algn="ctr"/>
                      <a:r>
                        <a:rPr sz="1100" b="0" i="0">
                          <a:solidFill>
                            <a:schemeClr val="tx1"/>
                          </a:solidFill>
                          <a:latin typeface="Avenir Next LT Pro"/>
                        </a:rPr>
                        <a:t>-67</a:t>
                      </a:r>
                    </a:p>
                  </a:txBody>
                  <a:tcPr marL="73152" marR="73152" marT="18288" marB="18288" anchor="ctr">
                    <a:solidFill>
                      <a:srgbClr val="FFFFFF"/>
                    </a:solidFill>
                  </a:tcPr>
                </a:tc>
                <a:tc>
                  <a:txBody>
                    <a:bodyPr/>
                    <a:lstStyle/>
                    <a:p>
                      <a:pPr algn="ctr"/>
                      <a:r>
                        <a:rPr sz="1100" b="0" i="0">
                          <a:solidFill>
                            <a:schemeClr val="tx1"/>
                          </a:solidFill>
                          <a:latin typeface="Avenir Next LT Pro"/>
                        </a:rPr>
                        <a:t>-214</a:t>
                      </a:r>
                    </a:p>
                  </a:txBody>
                  <a:tcPr marL="73152" marR="73152" marT="18288" marB="18288" anchor="ctr">
                    <a:solidFill>
                      <a:srgbClr val="FFFFFF"/>
                    </a:solidFill>
                  </a:tcPr>
                </a:tc>
                <a:tc>
                  <a:txBody>
                    <a:bodyPr/>
                    <a:lstStyle/>
                    <a:p>
                      <a:pPr algn="ctr"/>
                      <a:r>
                        <a:rPr sz="1100" b="0" i="0" dirty="0">
                          <a:solidFill>
                            <a:schemeClr val="tx1"/>
                          </a:solidFill>
                          <a:latin typeface="Avenir Next LT Pro"/>
                        </a:rPr>
                        <a:t>252</a:t>
                      </a:r>
                    </a:p>
                  </a:txBody>
                  <a:tcPr marL="73152" marR="73152" marT="18288" marB="18288" anchor="ctr">
                    <a:solidFill>
                      <a:srgbClr val="FFFFFF"/>
                    </a:solidFill>
                  </a:tcPr>
                </a:tc>
                <a:tc>
                  <a:txBody>
                    <a:bodyPr/>
                    <a:lstStyle/>
                    <a:p>
                      <a:pPr algn="ctr"/>
                      <a:r>
                        <a:rPr sz="1100" b="0" i="0">
                          <a:solidFill>
                            <a:schemeClr val="tx1"/>
                          </a:solidFill>
                          <a:latin typeface="Avenir Next LT Pro"/>
                        </a:rPr>
                        <a:t>~350</a:t>
                      </a:r>
                    </a:p>
                  </a:txBody>
                  <a:tcPr marL="73152" marR="73152" marT="18288" marB="18288" anchor="ctr">
                    <a:solidFill>
                      <a:srgbClr val="FFFFFF"/>
                    </a:solidFill>
                  </a:tcPr>
                </a:tc>
                <a:tc>
                  <a:txBody>
                    <a:bodyPr/>
                    <a:lstStyle/>
                    <a:p>
                      <a:pPr algn="ctr"/>
                      <a:r>
                        <a:rPr sz="1100" b="0" i="0">
                          <a:solidFill>
                            <a:schemeClr val="tx1"/>
                          </a:solidFill>
                          <a:latin typeface="Avenir Next LT Pro"/>
                        </a:rPr>
                        <a:t>~450</a:t>
                      </a:r>
                    </a:p>
                  </a:txBody>
                  <a:tcPr marL="73152" marR="73152" marT="18288" marB="18288" anchor="ctr">
                    <a:solidFill>
                      <a:srgbClr val="FFFFFF"/>
                    </a:solidFill>
                  </a:tcPr>
                </a:tc>
                <a:extLst>
                  <a:ext uri="{0D108BD9-81ED-4DB2-BD59-A6C34878D82A}">
                    <a16:rowId xmlns:a16="http://schemas.microsoft.com/office/drawing/2014/main" val="10007"/>
                  </a:ext>
                </a:extLst>
              </a:tr>
              <a:tr h="384048">
                <a:tc>
                  <a:txBody>
                    <a:bodyPr/>
                    <a:lstStyle/>
                    <a:p>
                      <a:pPr algn="l"/>
                      <a:r>
                        <a:rPr sz="1100" b="1" i="0">
                          <a:solidFill>
                            <a:schemeClr val="tx1"/>
                          </a:solidFill>
                          <a:latin typeface="Avenir Next LT Pro Demi"/>
                        </a:rPr>
                        <a:t>Net Debt</a:t>
                      </a:r>
                    </a:p>
                  </a:txBody>
                  <a:tcPr marL="73152" marR="73152" marT="18288" marB="18288" anchor="ctr">
                    <a:solidFill>
                      <a:srgbClr val="F4F6F8"/>
                    </a:solidFill>
                  </a:tcPr>
                </a:tc>
                <a:tc>
                  <a:txBody>
                    <a:bodyPr/>
                    <a:lstStyle/>
                    <a:p>
                      <a:pPr algn="ctr"/>
                      <a:r>
                        <a:rPr sz="1100" b="0" i="0">
                          <a:solidFill>
                            <a:schemeClr val="tx1"/>
                          </a:solidFill>
                          <a:latin typeface="Avenir Next LT Pro"/>
                        </a:rPr>
                        <a:t>~2,600</a:t>
                      </a:r>
                    </a:p>
                  </a:txBody>
                  <a:tcPr marL="73152" marR="73152" marT="18288" marB="18288" anchor="ctr">
                    <a:solidFill>
                      <a:srgbClr val="F4F6F8"/>
                    </a:solidFill>
                  </a:tcPr>
                </a:tc>
                <a:tc>
                  <a:txBody>
                    <a:bodyPr/>
                    <a:lstStyle/>
                    <a:p>
                      <a:pPr algn="ctr"/>
                      <a:r>
                        <a:rPr sz="1100" b="0" i="0">
                          <a:solidFill>
                            <a:schemeClr val="tx1"/>
                          </a:solidFill>
                          <a:latin typeface="Avenir Next LT Pro"/>
                        </a:rPr>
                        <a:t>2,594</a:t>
                      </a:r>
                    </a:p>
                  </a:txBody>
                  <a:tcPr marL="73152" marR="73152" marT="18288" marB="18288" anchor="ctr">
                    <a:solidFill>
                      <a:srgbClr val="F4F6F8"/>
                    </a:solidFill>
                  </a:tcPr>
                </a:tc>
                <a:tc>
                  <a:txBody>
                    <a:bodyPr/>
                    <a:lstStyle/>
                    <a:p>
                      <a:pPr algn="ctr"/>
                      <a:r>
                        <a:rPr sz="1100" b="0" i="0">
                          <a:solidFill>
                            <a:schemeClr val="tx1"/>
                          </a:solidFill>
                          <a:latin typeface="Avenir Next LT Pro"/>
                        </a:rPr>
                        <a:t>2,378</a:t>
                      </a:r>
                    </a:p>
                  </a:txBody>
                  <a:tcPr marL="73152" marR="73152" marT="18288" marB="18288" anchor="ctr">
                    <a:solidFill>
                      <a:srgbClr val="F4F6F8"/>
                    </a:solidFill>
                  </a:tcPr>
                </a:tc>
                <a:tc>
                  <a:txBody>
                    <a:bodyPr/>
                    <a:lstStyle/>
                    <a:p>
                      <a:pPr algn="ctr"/>
                      <a:r>
                        <a:rPr sz="1100" b="0" i="0" dirty="0">
                          <a:solidFill>
                            <a:schemeClr val="tx1"/>
                          </a:solidFill>
                          <a:latin typeface="Avenir Next LT Pro"/>
                        </a:rPr>
                        <a:t>~2,180</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~1,900</a:t>
                      </a:r>
                    </a:p>
                  </a:txBody>
                  <a:tcPr marL="73152" marR="73152" marT="18288" marB="18288" anchor="ctr">
                    <a:solidFill>
                      <a:srgbClr val="F4F6F8"/>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218660" y="5041127"/>
            <a:ext cx="8653669" cy="400110"/>
          </a:xfrm>
          <a:prstGeom prst="rect">
            <a:avLst/>
          </a:prstGeom>
          <a:noFill/>
          <a:ln>
            <a:noFill/>
          </a:ln>
        </p:spPr>
        <p:txBody>
          <a:bodyPr wrap="square">
            <a:spAutoFit/>
          </a:bodyPr>
          <a:lstStyle/>
          <a:p>
            <a:r>
              <a:rPr sz="1000" b="1" i="0" dirty="0">
                <a:solidFill>
                  <a:srgbClr val="000000"/>
                </a:solidFill>
                <a:latin typeface="Avenir Next LT Pro"/>
              </a:rPr>
              <a:t>Story: margins dip near-term (FY26 guide 14–16%) then recover toward ~17%; FCF inflected to +$252M in FY25 — but ~$2.4B net debt (~4× EBITDA) and ~$225M/yr interest make it a leveraged bet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AD30-CEA1-8508-C4C6-5800B2CA8846}"/>
              </a:ext>
            </a:extLst>
          </p:cNvPr>
          <p:cNvSpPr>
            <a:spLocks noGrp="1"/>
          </p:cNvSpPr>
          <p:nvPr>
            <p:ph type="title"/>
          </p:nvPr>
        </p:nvSpPr>
        <p:spPr>
          <a:ln>
            <a:solidFill/>
          </a:ln>
        </p:spPr>
        <p:txBody>
          <a:bodyPr/>
          <a:lstStyle/>
          <a:p>
            <a:r>
              <a:rPr lang="en-US">
                <a:solidFill/>
              </a:rPr>
              <a:t>Valuation &amp; returns</a:t>
            </a:r>
          </a:p>
        </p:txBody>
      </p:sp>
    </p:spTree>
    <p:extLst>
      <p:ext uri="{BB962C8B-B14F-4D97-AF65-F5344CB8AC3E}">
        <p14:creationId xmlns:p14="http://schemas.microsoft.com/office/powerpoint/2010/main" val="12029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a:ln>
            <a:noFill/>
          </a:ln>
        </p:spPr>
        <p:txBody>
          <a:bodyPr wrap="square">
            <a:spAutoFit/>
          </a:bodyPr>
          <a:lstStyle/>
          <a:p>
            <a:r>
              <a:rPr sz="2300" b="0" i="0" dirty="0">
                <a:solidFill/>
                <a:latin typeface="Avenir Next LT Pro Demi"/>
              </a:rPr>
              <a:t>Valuation — EV/EBITDA, FY2027E</a:t>
            </a:r>
          </a:p>
        </p:txBody>
      </p:sp>
      <p:sp>
        <p:nvSpPr>
          <p:cNvPr id="5" name="TextBox 4"/>
          <p:cNvSpPr txBox="1"/>
          <p:nvPr/>
        </p:nvSpPr>
        <p:spPr>
          <a:xfrm>
            <a:off x="457200" y="1051560"/>
            <a:ext cx="8229600" cy="274320"/>
          </a:xfrm>
          <a:prstGeom prst="rect">
            <a:avLst/>
          </a:prstGeom>
          <a:noFill/>
          <a:ln>
            <a:noFill/>
          </a:ln>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FY27E EBITDA</a:t>
            </a:r>
          </a:p>
          <a:p>
            <a:pPr algn="ctr"/>
            <a:r>
              <a:rPr sz="1700" b="1" i="0">
                <a:solidFill>
                  <a:srgbClr val="0E2841"/>
                </a:solidFill>
                <a:latin typeface="Avenir Next LT Pro Demi"/>
              </a:rPr>
              <a:t>$708M</a:t>
            </a:r>
          </a:p>
        </p:txBody>
      </p:sp>
      <p:sp>
        <p:nvSpPr>
          <p:cNvPr id="7" name="Rectangle 6"/>
          <p:cNvSpPr/>
          <p:nvPr/>
        </p:nvSpPr>
        <p:spPr>
          <a:xfrm>
            <a:off x="2084832" y="1508760"/>
            <a:ext cx="1572768" cy="914400"/>
          </a:xfrm>
          <a:prstGeom prst="rect">
            <a:avLst/>
          </a:prstGeom>
          <a:solidFill>
            <a:srgbClr val="E8E8E8"/>
          </a:solidFill>
          <a:ln w="15875">
            <a:solidFill>
              <a:srgbClr val="1560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Exit Multiple</a:t>
            </a:r>
          </a:p>
          <a:p>
            <a:pPr algn="ctr"/>
            <a:r>
              <a:rPr sz="1700" b="1" i="0">
                <a:solidFill>
                  <a:srgbClr val="000000"/>
                </a:solidFill>
                <a:latin typeface="Avenir Next LT Pro Demi"/>
              </a:rPr>
              <a:t>11×</a:t>
            </a:r>
          </a:p>
        </p:txBody>
      </p:sp>
      <p:sp>
        <p:nvSpPr>
          <p:cNvPr id="8" name="Rectangle 7"/>
          <p:cNvSpPr/>
          <p:nvPr/>
        </p:nvSpPr>
        <p:spPr>
          <a:xfrm>
            <a:off x="3712464"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Enterprise Value</a:t>
            </a:r>
          </a:p>
          <a:p>
            <a:pPr algn="ctr"/>
            <a:r>
              <a:rPr sz="1700" b="1" i="0">
                <a:solidFill>
                  <a:srgbClr val="0E2841"/>
                </a:solidFill>
                <a:latin typeface="Avenir Next LT Pro Demi"/>
              </a:rPr>
              <a:t>~$7.8B</a:t>
            </a:r>
          </a:p>
        </p:txBody>
      </p:sp>
      <p:sp>
        <p:nvSpPr>
          <p:cNvPr id="9" name="Rectangle 8"/>
          <p:cNvSpPr/>
          <p:nvPr/>
        </p:nvSpPr>
        <p:spPr>
          <a:xfrm>
            <a:off x="5340096" y="1508760"/>
            <a:ext cx="1572768" cy="914400"/>
          </a:xfrm>
          <a:prstGeom prst="rect">
            <a:avLst/>
          </a:prstGeom>
          <a:solidFill>
            <a:srgbClr val="E8E8E8"/>
          </a:solidFill>
          <a:ln w="15875">
            <a:solidFill>
              <a:srgbClr val="E971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Net Debt</a:t>
            </a:r>
          </a:p>
          <a:p>
            <a:pPr algn="ctr"/>
            <a:r>
              <a:rPr sz="1700" b="1" i="0">
                <a:solidFill>
                  <a:srgbClr val="E97132"/>
                </a:solidFill>
                <a:latin typeface="Avenir Next LT Pro Demi"/>
              </a:rPr>
              <a:t>$1.9B</a:t>
            </a:r>
          </a:p>
        </p:txBody>
      </p:sp>
      <p:sp>
        <p:nvSpPr>
          <p:cNvPr id="10" name="Rectangle 9"/>
          <p:cNvSpPr/>
          <p:nvPr/>
        </p:nvSpPr>
        <p:spPr>
          <a:xfrm>
            <a:off x="6967728" y="1508760"/>
            <a:ext cx="1572768" cy="914400"/>
          </a:xfrm>
          <a:prstGeom prst="rect">
            <a:avLst/>
          </a:prstGeom>
          <a:solidFill>
            <a:srgbClr val="E8E8E8"/>
          </a:solidFill>
          <a:ln w="15875">
            <a:solidFill>
              <a:srgbClr val="196B2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5A5A5A"/>
                </a:solidFill>
                <a:latin typeface="Avenir Next LT Pro Demi"/>
              </a:rPr>
              <a:t>÷ Shares (19M)</a:t>
            </a:r>
          </a:p>
          <a:p>
            <a:pPr algn="ctr"/>
            <a:r>
              <a:rPr sz="1700" b="1" i="0">
                <a:solidFill>
                  <a:srgbClr val="196B24"/>
                </a:solidFill>
                <a:latin typeface="Avenir Next LT Pro Demi"/>
              </a:rPr>
              <a:t>= ~$310</a:t>
            </a:r>
          </a:p>
        </p:txBody>
      </p:sp>
      <p:graphicFrame>
        <p:nvGraphicFramePr>
          <p:cNvPr id="11" name="Table 10"/>
          <p:cNvGraphicFramePr>
            <a:graphicFrameLocks noGrp="1"/>
          </p:cNvGraphicFramePr>
          <p:nvPr>
            <p:extLst>
              <p:ext uri="{D42A27DB-BD31-4B8C-83A1-F6EECF244321}">
                <p14:modId xmlns:p14="http://schemas.microsoft.com/office/powerpoint/2010/main" val="3973473890"/>
              </p:ext>
            </p:extLst>
          </p:nvPr>
        </p:nvGraphicFramePr>
        <p:xfrm>
          <a:off x="457200" y="2880360"/>
          <a:ext cx="8229600" cy="1536192"/>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1335024">
                  <a:extLst>
                    <a:ext uri="{9D8B030D-6E8A-4147-A177-3AD203B41FA5}">
                      <a16:colId xmlns:a16="http://schemas.microsoft.com/office/drawing/2014/main" val="20001"/>
                    </a:ext>
                  </a:extLst>
                </a:gridCol>
                <a:gridCol w="1335024">
                  <a:extLst>
                    <a:ext uri="{9D8B030D-6E8A-4147-A177-3AD203B41FA5}">
                      <a16:colId xmlns:a16="http://schemas.microsoft.com/office/drawing/2014/main" val="20002"/>
                    </a:ext>
                  </a:extLst>
                </a:gridCol>
                <a:gridCol w="1335024">
                  <a:extLst>
                    <a:ext uri="{9D8B030D-6E8A-4147-A177-3AD203B41FA5}">
                      <a16:colId xmlns:a16="http://schemas.microsoft.com/office/drawing/2014/main" val="20003"/>
                    </a:ext>
                  </a:extLst>
                </a:gridCol>
                <a:gridCol w="1335024">
                  <a:extLst>
                    <a:ext uri="{9D8B030D-6E8A-4147-A177-3AD203B41FA5}">
                      <a16:colId xmlns:a16="http://schemas.microsoft.com/office/drawing/2014/main" val="20004"/>
                    </a:ext>
                  </a:extLst>
                </a:gridCol>
                <a:gridCol w="1335024">
                  <a:extLst>
                    <a:ext uri="{9D8B030D-6E8A-4147-A177-3AD203B41FA5}">
                      <a16:colId xmlns:a16="http://schemas.microsoft.com/office/drawing/2014/main" val="20005"/>
                    </a:ext>
                  </a:extLst>
                </a:gridCol>
              </a:tblGrid>
              <a:tr h="384048">
                <a:tc>
                  <a:txBody>
                    <a:bodyPr/>
                    <a:lstStyle/>
                    <a:p>
                      <a:pPr algn="l"/>
                      <a:r>
                        <a:rPr sz="1000" b="1" i="0" dirty="0">
                          <a:solidFill>
                            <a:srgbClr val="FFFFFF"/>
                          </a:solidFill>
                          <a:latin typeface="Avenir Next LT Pro Demi"/>
                        </a:rPr>
                        <a:t>Scenario</a:t>
                      </a:r>
                    </a:p>
                  </a:txBody>
                  <a:tcPr marL="73152" marR="73152" marT="18288" marB="18288" anchor="ctr">
                    <a:solidFill>
                      <a:srgbClr val="9A7B44"/>
                    </a:solidFill>
                  </a:tcPr>
                </a:tc>
                <a:tc>
                  <a:txBody>
                    <a:bodyPr/>
                    <a:lstStyle/>
                    <a:p>
                      <a:pPr algn="ctr"/>
                      <a:r>
                        <a:rPr sz="1000" b="1" i="0" dirty="0">
                          <a:solidFill>
                            <a:srgbClr val="FFFFFF"/>
                          </a:solidFill>
                          <a:latin typeface="Avenir Next LT Pro Demi"/>
                        </a:rPr>
                        <a:t>Rev CAGR</a:t>
                      </a:r>
                    </a:p>
                  </a:txBody>
                  <a:tcPr marL="73152" marR="73152" marT="18288" marB="18288" anchor="ctr">
                    <a:solidFill>
                      <a:srgbClr val="9A7B44"/>
                    </a:solidFill>
                  </a:tcPr>
                </a:tc>
                <a:tc>
                  <a:txBody>
                    <a:bodyPr/>
                    <a:lstStyle/>
                    <a:p>
                      <a:pPr algn="ctr"/>
                      <a:r>
                        <a:rPr sz="1000" b="1" i="0" dirty="0">
                          <a:solidFill>
                            <a:srgbClr val="FFFFFF"/>
                          </a:solidFill>
                          <a:latin typeface="Avenir Next LT Pro Demi"/>
                        </a:rPr>
                        <a:t>EBITDA </a:t>
                      </a:r>
                      <a:r>
                        <a:rPr sz="1000" b="1" i="0" dirty="0" err="1">
                          <a:solidFill>
                            <a:srgbClr val="FFFFFF"/>
                          </a:solidFill>
                          <a:latin typeface="Avenir Next LT Pro Demi"/>
                        </a:rPr>
                        <a:t>Mgn</a:t>
                      </a:r>
                      <a:endParaRPr sz="1000" b="1" i="0" dirty="0">
                        <a:solidFill>
                          <a:srgbClr val="FFFFFF"/>
                        </a:solidFill>
                        <a:latin typeface="Avenir Next LT Pro Demi"/>
                      </a:endParaRPr>
                    </a:p>
                  </a:txBody>
                  <a:tcPr marL="73152" marR="73152" marT="18288" marB="18288" anchor="ctr">
                    <a:solidFill>
                      <a:srgbClr val="9A7B44"/>
                    </a:solidFill>
                  </a:tcPr>
                </a:tc>
                <a:tc>
                  <a:txBody>
                    <a:bodyPr/>
                    <a:lstStyle/>
                    <a:p>
                      <a:pPr algn="ctr"/>
                      <a:r>
                        <a:rPr sz="1000" b="1" i="0" dirty="0">
                          <a:solidFill>
                            <a:srgbClr val="FFFFFF"/>
                          </a:solidFill>
                          <a:latin typeface="Avenir Next LT Pro Demi"/>
                        </a:rPr>
                        <a:t>Exit Mult</a:t>
                      </a:r>
                    </a:p>
                  </a:txBody>
                  <a:tcPr marL="73152" marR="73152" marT="18288" marB="18288" anchor="ctr">
                    <a:solidFill>
                      <a:srgbClr val="9A7B44"/>
                    </a:solidFill>
                  </a:tcPr>
                </a:tc>
                <a:tc>
                  <a:txBody>
                    <a:bodyPr/>
                    <a:lstStyle/>
                    <a:p>
                      <a:pPr algn="ctr"/>
                      <a:r>
                        <a:rPr sz="1000" b="1" i="0" dirty="0">
                          <a:solidFill>
                            <a:srgbClr val="FFFFFF"/>
                          </a:solidFill>
                          <a:latin typeface="Avenir Next LT Pro Demi"/>
                        </a:rPr>
                        <a:t>Implied Price</a:t>
                      </a:r>
                    </a:p>
                  </a:txBody>
                  <a:tcPr marL="73152" marR="73152" marT="18288" marB="18288" anchor="ctr">
                    <a:solidFill>
                      <a:srgbClr val="9A7B44"/>
                    </a:solidFill>
                  </a:tcPr>
                </a:tc>
                <a:tc>
                  <a:txBody>
                    <a:bodyPr/>
                    <a:lstStyle/>
                    <a:p>
                      <a:pPr algn="ctr"/>
                      <a:r>
                        <a:rPr sz="1000" b="1" i="0" dirty="0">
                          <a:solidFill>
                            <a:srgbClr val="FFFFFF"/>
                          </a:solidFill>
                          <a:latin typeface="Avenir Next LT Pro Demi"/>
                        </a:rPr>
                        <a:t>Prob.</a:t>
                      </a:r>
                    </a:p>
                  </a:txBody>
                  <a:tcPr marL="73152" marR="73152" marT="18288" marB="18288" anchor="ctr">
                    <a:solidFill>
                      <a:srgbClr val="9A7B44"/>
                    </a:solidFill>
                  </a:tcPr>
                </a:tc>
                <a:extLst>
                  <a:ext uri="{0D108BD9-81ED-4DB2-BD59-A6C34878D82A}">
                    <a16:rowId xmlns:a16="http://schemas.microsoft.com/office/drawing/2014/main" val="10000"/>
                  </a:ext>
                </a:extLst>
              </a:tr>
              <a:tr h="384048">
                <a:tc>
                  <a:txBody>
                    <a:bodyPr/>
                    <a:lstStyle/>
                    <a:p>
                      <a:pPr algn="l"/>
                      <a:r>
                        <a:rPr sz="1100" b="1" i="0" dirty="0">
                          <a:solidFill>
                            <a:schemeClr val="tx1"/>
                          </a:solidFill>
                          <a:latin typeface="Avenir Next LT Pro Demi"/>
                        </a:rPr>
                        <a:t>Bull</a:t>
                      </a:r>
                    </a:p>
                  </a:txBody>
                  <a:tcPr marL="73152" marR="73152" marT="18288" marB="18288" anchor="ctr">
                    <a:solidFill>
                      <a:srgbClr val="FFFFFF"/>
                    </a:solidFill>
                  </a:tcPr>
                </a:tc>
                <a:tc>
                  <a:txBody>
                    <a:bodyPr/>
                    <a:lstStyle/>
                    <a:p>
                      <a:pPr algn="ctr"/>
                      <a:r>
                        <a:rPr sz="1100" b="0" i="0" dirty="0">
                          <a:solidFill>
                            <a:schemeClr val="tx1"/>
                          </a:solidFill>
                          <a:latin typeface="Avenir Next LT Pro"/>
                        </a:rPr>
                        <a:t>10%</a:t>
                      </a:r>
                    </a:p>
                  </a:txBody>
                  <a:tcPr marL="73152" marR="73152" marT="18288" marB="18288" anchor="ctr">
                    <a:solidFill>
                      <a:srgbClr val="FFFFFF"/>
                    </a:solidFill>
                  </a:tcPr>
                </a:tc>
                <a:tc>
                  <a:txBody>
                    <a:bodyPr/>
                    <a:lstStyle/>
                    <a:p>
                      <a:pPr algn="ctr"/>
                      <a:r>
                        <a:rPr sz="1100" b="0" i="0">
                          <a:solidFill>
                            <a:schemeClr val="tx1"/>
                          </a:solidFill>
                          <a:latin typeface="Avenir Next LT Pro"/>
                        </a:rPr>
                        <a:t>20%</a:t>
                      </a:r>
                    </a:p>
                  </a:txBody>
                  <a:tcPr marL="73152" marR="73152" marT="18288" marB="18288" anchor="ctr">
                    <a:solidFill>
                      <a:srgbClr val="FFFFFF"/>
                    </a:solidFill>
                  </a:tcPr>
                </a:tc>
                <a:tc>
                  <a:txBody>
                    <a:bodyPr/>
                    <a:lstStyle/>
                    <a:p>
                      <a:pPr algn="ctr"/>
                      <a:r>
                        <a:rPr sz="1100" b="0" i="0">
                          <a:solidFill>
                            <a:schemeClr val="tx1"/>
                          </a:solidFill>
                          <a:latin typeface="Avenir Next LT Pro"/>
                        </a:rPr>
                        <a:t>13×</a:t>
                      </a:r>
                    </a:p>
                  </a:txBody>
                  <a:tcPr marL="73152" marR="73152" marT="18288" marB="18288" anchor="ctr">
                    <a:solidFill>
                      <a:srgbClr val="FFFFFF"/>
                    </a:solidFill>
                  </a:tcPr>
                </a:tc>
                <a:tc>
                  <a:txBody>
                    <a:bodyPr/>
                    <a:lstStyle/>
                    <a:p>
                      <a:pPr algn="ctr"/>
                      <a:r>
                        <a:rPr sz="1100" b="0" i="0">
                          <a:solidFill>
                            <a:schemeClr val="tx1"/>
                          </a:solidFill>
                          <a:latin typeface="Avenir Next LT Pro"/>
                        </a:rPr>
                        <a:t>~$562</a:t>
                      </a:r>
                    </a:p>
                  </a:txBody>
                  <a:tcPr marL="73152" marR="73152" marT="18288" marB="18288" anchor="ctr">
                    <a:solidFill>
                      <a:srgbClr val="FFFFFF"/>
                    </a:solidFill>
                  </a:tcPr>
                </a:tc>
                <a:tc>
                  <a:txBody>
                    <a:bodyPr/>
                    <a:lstStyle/>
                    <a:p>
                      <a:pPr algn="ctr"/>
                      <a:r>
                        <a:rPr sz="1100" b="0" i="0">
                          <a:solidFill>
                            <a:schemeClr val="tx1"/>
                          </a:solidFill>
                          <a:latin typeface="Avenir Next LT Pro"/>
                        </a:rPr>
                        <a:t>15%</a:t>
                      </a:r>
                    </a:p>
                  </a:txBody>
                  <a:tcPr marL="73152" marR="73152"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1" i="0">
                          <a:solidFill>
                            <a:schemeClr val="tx1"/>
                          </a:solidFill>
                          <a:latin typeface="Avenir Next LT Pro Demi"/>
                        </a:rPr>
                        <a:t>Base</a:t>
                      </a:r>
                    </a:p>
                  </a:txBody>
                  <a:tcPr marL="73152" marR="73152" marT="18288" marB="18288" anchor="ctr">
                    <a:solidFill>
                      <a:srgbClr val="F4F6F8"/>
                    </a:solidFill>
                  </a:tcPr>
                </a:tc>
                <a:tc>
                  <a:txBody>
                    <a:bodyPr/>
                    <a:lstStyle/>
                    <a:p>
                      <a:pPr algn="ctr"/>
                      <a:r>
                        <a:rPr sz="1100" b="0" i="0" dirty="0">
                          <a:solidFill>
                            <a:schemeClr val="tx1"/>
                          </a:solidFill>
                          <a:latin typeface="Avenir Next LT Pro"/>
                        </a:rPr>
                        <a:t>6%</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17%</a:t>
                      </a:r>
                    </a:p>
                  </a:txBody>
                  <a:tcPr marL="73152" marR="73152" marT="18288" marB="18288" anchor="ctr">
                    <a:solidFill>
                      <a:srgbClr val="F4F6F8"/>
                    </a:solidFill>
                  </a:tcPr>
                </a:tc>
                <a:tc>
                  <a:txBody>
                    <a:bodyPr/>
                    <a:lstStyle/>
                    <a:p>
                      <a:pPr algn="ctr"/>
                      <a:r>
                        <a:rPr sz="1100" b="0" i="0" dirty="0">
                          <a:solidFill>
                            <a:schemeClr val="tx1"/>
                          </a:solidFill>
                          <a:latin typeface="Avenir Next LT Pro"/>
                        </a:rPr>
                        <a:t>11×</a:t>
                      </a:r>
                    </a:p>
                  </a:txBody>
                  <a:tcPr marL="73152" marR="73152" marT="18288" marB="18288" anchor="ctr">
                    <a:solidFill>
                      <a:srgbClr val="F4F6F8"/>
                    </a:solidFill>
                  </a:tcPr>
                </a:tc>
                <a:tc>
                  <a:txBody>
                    <a:bodyPr/>
                    <a:lstStyle/>
                    <a:p>
                      <a:pPr algn="ctr"/>
                      <a:r>
                        <a:rPr sz="1100" b="0" i="0" dirty="0">
                          <a:solidFill>
                            <a:schemeClr val="tx1"/>
                          </a:solidFill>
                          <a:latin typeface="Avenir Next LT Pro"/>
                        </a:rPr>
                        <a:t>~$310</a:t>
                      </a:r>
                    </a:p>
                  </a:txBody>
                  <a:tcPr marL="73152" marR="73152" marT="18288" marB="18288" anchor="ctr">
                    <a:solidFill>
                      <a:srgbClr val="F4F6F8"/>
                    </a:solidFill>
                  </a:tcPr>
                </a:tc>
                <a:tc>
                  <a:txBody>
                    <a:bodyPr/>
                    <a:lstStyle/>
                    <a:p>
                      <a:pPr algn="ctr"/>
                      <a:r>
                        <a:rPr sz="1100" b="0" i="0">
                          <a:solidFill>
                            <a:schemeClr val="tx1"/>
                          </a:solidFill>
                          <a:latin typeface="Avenir Next LT Pro"/>
                        </a:rPr>
                        <a:t>55%</a:t>
                      </a:r>
                    </a:p>
                  </a:txBody>
                  <a:tcPr marL="73152" marR="73152" marT="18288" marB="18288" anchor="ctr">
                    <a:solidFill>
                      <a:srgbClr val="F4F6F8"/>
                    </a:solidFill>
                  </a:tcPr>
                </a:tc>
                <a:extLst>
                  <a:ext uri="{0D108BD9-81ED-4DB2-BD59-A6C34878D82A}">
                    <a16:rowId xmlns:a16="http://schemas.microsoft.com/office/drawing/2014/main" val="10002"/>
                  </a:ext>
                </a:extLst>
              </a:tr>
              <a:tr h="384048">
                <a:tc>
                  <a:txBody>
                    <a:bodyPr/>
                    <a:lstStyle/>
                    <a:p>
                      <a:pPr algn="l"/>
                      <a:r>
                        <a:rPr sz="1100" b="1" i="0">
                          <a:solidFill>
                            <a:schemeClr val="tx1"/>
                          </a:solidFill>
                          <a:latin typeface="Avenir Next LT Pro Demi"/>
                        </a:rPr>
                        <a:t>Bear</a:t>
                      </a:r>
                    </a:p>
                  </a:txBody>
                  <a:tcPr marL="73152" marR="73152" marT="18288" marB="18288" anchor="ctr">
                    <a:solidFill>
                      <a:srgbClr val="FFFFFF"/>
                    </a:solidFill>
                  </a:tcPr>
                </a:tc>
                <a:tc>
                  <a:txBody>
                    <a:bodyPr/>
                    <a:lstStyle/>
                    <a:p>
                      <a:pPr algn="ctr"/>
                      <a:r>
                        <a:rPr sz="1100" b="0" i="0">
                          <a:solidFill>
                            <a:schemeClr val="tx1"/>
                          </a:solidFill>
                          <a:latin typeface="Avenir Next LT Pro"/>
                        </a:rPr>
                        <a:t>2%</a:t>
                      </a:r>
                    </a:p>
                  </a:txBody>
                  <a:tcPr marL="73152" marR="73152" marT="18288" marB="18288" anchor="ctr">
                    <a:solidFill>
                      <a:srgbClr val="FFFFFF"/>
                    </a:solidFill>
                  </a:tcPr>
                </a:tc>
                <a:tc>
                  <a:txBody>
                    <a:bodyPr/>
                    <a:lstStyle/>
                    <a:p>
                      <a:pPr algn="ctr"/>
                      <a:r>
                        <a:rPr sz="1100" b="0" i="0">
                          <a:solidFill>
                            <a:schemeClr val="tx1"/>
                          </a:solidFill>
                          <a:latin typeface="Avenir Next LT Pro"/>
                        </a:rPr>
                        <a:t>14%</a:t>
                      </a:r>
                    </a:p>
                  </a:txBody>
                  <a:tcPr marL="73152" marR="73152" marT="18288" marB="18288" anchor="ctr">
                    <a:solidFill>
                      <a:srgbClr val="FFFFFF"/>
                    </a:solidFill>
                  </a:tcPr>
                </a:tc>
                <a:tc>
                  <a:txBody>
                    <a:bodyPr/>
                    <a:lstStyle/>
                    <a:p>
                      <a:pPr algn="ctr"/>
                      <a:r>
                        <a:rPr sz="1100" b="0" i="0">
                          <a:solidFill>
                            <a:schemeClr val="tx1"/>
                          </a:solidFill>
                          <a:latin typeface="Avenir Next LT Pro"/>
                        </a:rPr>
                        <a:t>8×</a:t>
                      </a:r>
                    </a:p>
                  </a:txBody>
                  <a:tcPr marL="73152" marR="73152" marT="18288" marB="18288" anchor="ctr">
                    <a:solidFill>
                      <a:srgbClr val="FFFFFF"/>
                    </a:solidFill>
                  </a:tcPr>
                </a:tc>
                <a:tc>
                  <a:txBody>
                    <a:bodyPr/>
                    <a:lstStyle/>
                    <a:p>
                      <a:pPr algn="ctr"/>
                      <a:r>
                        <a:rPr sz="1100" b="0" i="0">
                          <a:solidFill>
                            <a:schemeClr val="tx1"/>
                          </a:solidFill>
                          <a:latin typeface="Avenir Next LT Pro"/>
                        </a:rPr>
                        <a:t>~$100</a:t>
                      </a:r>
                    </a:p>
                  </a:txBody>
                  <a:tcPr marL="73152" marR="73152" marT="18288" marB="18288" anchor="ctr">
                    <a:solidFill>
                      <a:srgbClr val="FFFFFF"/>
                    </a:solidFill>
                  </a:tcPr>
                </a:tc>
                <a:tc>
                  <a:txBody>
                    <a:bodyPr/>
                    <a:lstStyle/>
                    <a:p>
                      <a:pPr algn="ctr"/>
                      <a:r>
                        <a:rPr sz="1100" b="0" i="0" dirty="0">
                          <a:solidFill>
                            <a:schemeClr val="tx1"/>
                          </a:solidFill>
                          <a:latin typeface="Avenir Next LT Pro"/>
                        </a:rPr>
                        <a:t>30%</a:t>
                      </a:r>
                    </a:p>
                  </a:txBody>
                  <a:tcPr marL="73152" marR="73152"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4572000"/>
            <a:ext cx="8229600" cy="365760"/>
          </a:xfrm>
          <a:prstGeom prst="rect">
            <a:avLst/>
          </a:prstGeom>
          <a:noFill/>
          <a:ln>
            <a:noFill/>
          </a:ln>
        </p:spPr>
        <p:txBody>
          <a:bodyPr wrap="none">
            <a:spAutoFit/>
          </a:bodyPr>
          <a:lstStyle/>
          <a:p>
            <a:r>
              <a:rPr sz="1300" b="1" i="0">
                <a:solidFill>
                  <a:srgbClr val="000000"/>
                </a:solidFill>
                <a:latin typeface="Avenir Next LT Pro Demi"/>
              </a:rPr>
              <a:t>Probability-weighted target: ~$285   (~72% upside from ~$166)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8229600" cy="446276"/>
          </a:xfrm>
          <a:prstGeom prst="rect">
            <a:avLst/>
          </a:prstGeom>
          <a:noFill/>
          <a:ln>
            <a:noFill/>
          </a:ln>
        </p:spPr>
        <p:txBody>
          <a:bodyPr wrap="square">
            <a:spAutoFit/>
          </a:bodyPr>
          <a:lstStyle/>
          <a:p>
            <a:r>
              <a:rPr sz="2300" b="0" i="0" dirty="0">
                <a:solidFill/>
                <a:latin typeface="Avenir Next LT Pro Demi"/>
              </a:rPr>
              <a:t>Macro Sensitivity — Housing Is Option Value</a:t>
            </a:r>
          </a:p>
        </p:txBody>
      </p:sp>
      <p:sp>
        <p:nvSpPr>
          <p:cNvPr id="5" name="TextBox 4"/>
          <p:cNvSpPr txBox="1"/>
          <p:nvPr/>
        </p:nvSpPr>
        <p:spPr>
          <a:xfrm>
            <a:off x="457200" y="1051560"/>
            <a:ext cx="8229600" cy="274320"/>
          </a:xfrm>
          <a:prstGeom prst="rect">
            <a:avLst/>
          </a:prstGeom>
          <a:noFill/>
          <a:ln>
            <a:noFill/>
          </a:ln>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4054062618"/>
              </p:ext>
            </p:extLst>
          </p:nvPr>
        </p:nvGraphicFramePr>
        <p:xfrm>
          <a:off x="228600" y="1577340"/>
          <a:ext cx="8686800" cy="182880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57200">
                <a:tc>
                  <a:txBody>
                    <a:bodyPr/>
                    <a:lstStyle/>
                    <a:p>
                      <a:pPr algn="l"/>
                      <a:r>
                        <a:rPr sz="880" b="1" i="0" dirty="0">
                          <a:solidFill>
                            <a:srgbClr val="FFFFFF"/>
                          </a:solidFill>
                          <a:latin typeface="Avenir Next LT Pro Demi"/>
                        </a:rPr>
                        <a:t>Scenario</a:t>
                      </a:r>
                    </a:p>
                  </a:txBody>
                  <a:tcPr marL="73152" marR="73152" marT="18288" marB="18288" anchor="ctr">
                    <a:solidFill>
                      <a:srgbClr val="9A7B44"/>
                    </a:solidFill>
                  </a:tcPr>
                </a:tc>
                <a:tc>
                  <a:txBody>
                    <a:bodyPr/>
                    <a:lstStyle/>
                    <a:p>
                      <a:pPr algn="ctr"/>
                      <a:r>
                        <a:rPr sz="880" b="1" i="0" dirty="0">
                          <a:solidFill>
                            <a:srgbClr val="FFFFFF"/>
                          </a:solidFill>
                          <a:latin typeface="Avenir Next LT Pro Demi"/>
                        </a:rPr>
                        <a:t>30Y Mortgage</a:t>
                      </a:r>
                    </a:p>
                  </a:txBody>
                  <a:tcPr marL="73152" marR="73152" marT="18288" marB="18288" anchor="ctr">
                    <a:solidFill>
                      <a:srgbClr val="9A7B44"/>
                    </a:solidFill>
                  </a:tcPr>
                </a:tc>
                <a:tc>
                  <a:txBody>
                    <a:bodyPr/>
                    <a:lstStyle/>
                    <a:p>
                      <a:pPr algn="ctr"/>
                      <a:r>
                        <a:rPr sz="880" b="1" i="0" dirty="0">
                          <a:solidFill>
                            <a:srgbClr val="FFFFFF"/>
                          </a:solidFill>
                          <a:latin typeface="Avenir Next LT Pro Demi"/>
                        </a:rPr>
                        <a:t>Existing Home Sales</a:t>
                      </a:r>
                    </a:p>
                  </a:txBody>
                  <a:tcPr marL="73152" marR="73152" marT="18288" marB="18288" anchor="ctr">
                    <a:solidFill>
                      <a:srgbClr val="9A7B44"/>
                    </a:solidFill>
                  </a:tcPr>
                </a:tc>
                <a:tc>
                  <a:txBody>
                    <a:bodyPr/>
                    <a:lstStyle/>
                    <a:p>
                      <a:pPr algn="ctr"/>
                      <a:r>
                        <a:rPr sz="880" b="1" i="0" dirty="0">
                          <a:solidFill>
                            <a:srgbClr val="FFFFFF"/>
                          </a:solidFill>
                          <a:latin typeface="Avenir Next LT Pro Demi"/>
                        </a:rPr>
                        <a:t>RH Revenue</a:t>
                      </a:r>
                    </a:p>
                  </a:txBody>
                  <a:tcPr marL="73152" marR="73152" marT="18288" marB="18288" anchor="ctr">
                    <a:solidFill>
                      <a:srgbClr val="9A7B44"/>
                    </a:solidFill>
                  </a:tcPr>
                </a:tc>
                <a:tc>
                  <a:txBody>
                    <a:bodyPr/>
                    <a:lstStyle/>
                    <a:p>
                      <a:pPr algn="ctr"/>
                      <a:r>
                        <a:rPr sz="880" b="1" i="0">
                          <a:solidFill>
                            <a:srgbClr val="FFFFFF"/>
                          </a:solidFill>
                          <a:latin typeface="Avenir Next LT Pro Demi"/>
                        </a:rPr>
                        <a:t>EBITDA Mgn</a:t>
                      </a:r>
                    </a:p>
                  </a:txBody>
                  <a:tcPr marL="73152" marR="73152" marT="18288" marB="18288" anchor="ctr">
                    <a:solidFill>
                      <a:srgbClr val="9A7B44"/>
                    </a:solidFill>
                  </a:tcPr>
                </a:tc>
                <a:tc>
                  <a:txBody>
                    <a:bodyPr/>
                    <a:lstStyle/>
                    <a:p>
                      <a:pPr algn="ctr"/>
                      <a:r>
                        <a:rPr sz="880" b="1" i="0" dirty="0">
                          <a:solidFill>
                            <a:srgbClr val="FFFFFF"/>
                          </a:solidFill>
                          <a:latin typeface="Avenir Next LT Pro Demi"/>
                        </a:rPr>
                        <a:t>Est. EPS (fwd)</a:t>
                      </a:r>
                    </a:p>
                  </a:txBody>
                  <a:tcPr marL="73152" marR="73152" marT="18288" marB="18288" anchor="ctr">
                    <a:solidFill>
                      <a:srgbClr val="9A7B44"/>
                    </a:solidFill>
                  </a:tcPr>
                </a:tc>
                <a:tc>
                  <a:txBody>
                    <a:bodyPr/>
                    <a:lstStyle/>
                    <a:p>
                      <a:pPr algn="ctr"/>
                      <a:r>
                        <a:rPr sz="880" b="1" i="0" dirty="0">
                          <a:solidFill>
                            <a:srgbClr val="FFFFFF"/>
                          </a:solidFill>
                          <a:latin typeface="Avenir Next LT Pro Demi"/>
                        </a:rPr>
                        <a:t>Implied P/E @ $166</a:t>
                      </a:r>
                    </a:p>
                  </a:txBody>
                  <a:tcPr marL="73152" marR="73152" marT="18288" marB="18288" anchor="ctr">
                    <a:solidFill>
                      <a:srgbClr val="9A7B44"/>
                    </a:solidFill>
                  </a:tcPr>
                </a:tc>
                <a:extLst>
                  <a:ext uri="{0D108BD9-81ED-4DB2-BD59-A6C34878D82A}">
                    <a16:rowId xmlns:a16="http://schemas.microsoft.com/office/drawing/2014/main" val="10000"/>
                  </a:ext>
                </a:extLst>
              </a:tr>
              <a:tr h="457200">
                <a:tc>
                  <a:txBody>
                    <a:bodyPr/>
                    <a:lstStyle/>
                    <a:p>
                      <a:pPr algn="l"/>
                      <a:r>
                        <a:rPr sz="950" b="1" i="0" dirty="0">
                          <a:solidFill>
                            <a:schemeClr val="tx1"/>
                          </a:solidFill>
                          <a:latin typeface="Avenir Next LT Pro Demi"/>
                        </a:rPr>
                        <a:t>Bull — rate relief</a:t>
                      </a:r>
                    </a:p>
                  </a:txBody>
                  <a:tcPr marL="73152" marR="73152" marT="18288" marB="18288" anchor="ctr">
                    <a:solidFill>
                      <a:srgbClr val="FFFFFF"/>
                    </a:solidFill>
                  </a:tcPr>
                </a:tc>
                <a:tc>
                  <a:txBody>
                    <a:bodyPr/>
                    <a:lstStyle/>
                    <a:p>
                      <a:pPr algn="ctr"/>
                      <a:r>
                        <a:rPr sz="950" b="0" i="0">
                          <a:solidFill>
                            <a:schemeClr val="tx1"/>
                          </a:solidFill>
                          <a:latin typeface="Avenir Next LT Pro"/>
                        </a:rPr>
                        <a:t>&lt;5.5%</a:t>
                      </a:r>
                    </a:p>
                  </a:txBody>
                  <a:tcPr marL="73152" marR="73152" marT="18288" marB="18288" anchor="ctr">
                    <a:solidFill>
                      <a:srgbClr val="FFFFFF"/>
                    </a:solidFill>
                  </a:tcPr>
                </a:tc>
                <a:tc>
                  <a:txBody>
                    <a:bodyPr/>
                    <a:lstStyle/>
                    <a:p>
                      <a:pPr algn="ctr"/>
                      <a:r>
                        <a:rPr sz="950" b="0" i="0">
                          <a:solidFill>
                            <a:schemeClr val="tx1"/>
                          </a:solidFill>
                          <a:latin typeface="Avenir Next LT Pro"/>
                        </a:rPr>
                        <a:t>~5.2–5.8M</a:t>
                      </a:r>
                    </a:p>
                  </a:txBody>
                  <a:tcPr marL="73152" marR="73152" marT="18288" marB="18288" anchor="ctr">
                    <a:solidFill>
                      <a:srgbClr val="FFFFFF"/>
                    </a:solidFill>
                  </a:tcPr>
                </a:tc>
                <a:tc>
                  <a:txBody>
                    <a:bodyPr/>
                    <a:lstStyle/>
                    <a:p>
                      <a:pPr algn="ctr"/>
                      <a:r>
                        <a:rPr sz="950" b="0" i="0">
                          <a:solidFill>
                            <a:schemeClr val="tx1"/>
                          </a:solidFill>
                          <a:latin typeface="Avenir Next LT Pro"/>
                        </a:rPr>
                        <a:t>~$4.2–4.8B</a:t>
                      </a:r>
                    </a:p>
                  </a:txBody>
                  <a:tcPr marL="73152" marR="73152" marT="18288" marB="18288" anchor="ctr">
                    <a:solidFill>
                      <a:srgbClr val="FFFFFF"/>
                    </a:solidFill>
                  </a:tcPr>
                </a:tc>
                <a:tc>
                  <a:txBody>
                    <a:bodyPr/>
                    <a:lstStyle/>
                    <a:p>
                      <a:pPr algn="ctr"/>
                      <a:r>
                        <a:rPr sz="950" b="0" i="0" dirty="0">
                          <a:solidFill>
                            <a:schemeClr val="tx1"/>
                          </a:solidFill>
                          <a:latin typeface="Avenir Next LT Pro"/>
                        </a:rPr>
                        <a:t>22–26%</a:t>
                      </a:r>
                    </a:p>
                  </a:txBody>
                  <a:tcPr marL="73152" marR="73152" marT="18288" marB="18288" anchor="ctr">
                    <a:solidFill>
                      <a:srgbClr val="FFFFFF"/>
                    </a:solidFill>
                  </a:tcPr>
                </a:tc>
                <a:tc>
                  <a:txBody>
                    <a:bodyPr/>
                    <a:lstStyle/>
                    <a:p>
                      <a:pPr algn="ctr"/>
                      <a:r>
                        <a:rPr sz="950" b="0" i="0">
                          <a:solidFill>
                            <a:schemeClr val="tx1"/>
                          </a:solidFill>
                          <a:latin typeface="Avenir Next LT Pro"/>
                        </a:rPr>
                        <a:t>~$22–35</a:t>
                      </a:r>
                    </a:p>
                  </a:txBody>
                  <a:tcPr marL="73152" marR="73152" marT="18288" marB="18288" anchor="ctr">
                    <a:solidFill>
                      <a:srgbClr val="FFFFFF"/>
                    </a:solidFill>
                  </a:tcPr>
                </a:tc>
                <a:tc>
                  <a:txBody>
                    <a:bodyPr/>
                    <a:lstStyle/>
                    <a:p>
                      <a:pPr algn="ctr"/>
                      <a:r>
                        <a:rPr sz="950" b="0" i="0">
                          <a:solidFill>
                            <a:schemeClr val="tx1"/>
                          </a:solidFill>
                          <a:latin typeface="Avenir Next LT Pro"/>
                        </a:rPr>
                        <a:t>~5–7×</a:t>
                      </a:r>
                    </a:p>
                  </a:txBody>
                  <a:tcPr marL="73152" marR="73152"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950" b="1" i="0">
                          <a:solidFill>
                            <a:schemeClr val="tx1"/>
                          </a:solidFill>
                          <a:latin typeface="Avenir Next LT Pro Demi"/>
                        </a:rPr>
                        <a:t>Base — modest easing</a:t>
                      </a:r>
                    </a:p>
                  </a:txBody>
                  <a:tcPr marL="73152" marR="73152" marT="18288" marB="18288" anchor="ctr">
                    <a:solidFill>
                      <a:srgbClr val="F4F6F8"/>
                    </a:solidFill>
                  </a:tcPr>
                </a:tc>
                <a:tc>
                  <a:txBody>
                    <a:bodyPr/>
                    <a:lstStyle/>
                    <a:p>
                      <a:pPr algn="ctr"/>
                      <a:r>
                        <a:rPr sz="950" b="0" i="0" dirty="0">
                          <a:solidFill>
                            <a:schemeClr val="tx1"/>
                          </a:solidFill>
                          <a:latin typeface="Avenir Next LT Pro"/>
                        </a:rPr>
                        <a:t>5.75–6.25%</a:t>
                      </a:r>
                    </a:p>
                  </a:txBody>
                  <a:tcPr marL="73152" marR="73152" marT="18288" marB="18288" anchor="ctr">
                    <a:solidFill>
                      <a:srgbClr val="F4F6F8"/>
                    </a:solidFill>
                  </a:tcPr>
                </a:tc>
                <a:tc>
                  <a:txBody>
                    <a:bodyPr/>
                    <a:lstStyle/>
                    <a:p>
                      <a:pPr algn="ctr"/>
                      <a:r>
                        <a:rPr sz="950" b="0" i="0">
                          <a:solidFill>
                            <a:schemeClr val="tx1"/>
                          </a:solidFill>
                          <a:latin typeface="Avenir Next LT Pro"/>
                        </a:rPr>
                        <a:t>~4.5–5.0M</a:t>
                      </a:r>
                    </a:p>
                  </a:txBody>
                  <a:tcPr marL="73152" marR="73152" marT="18288" marB="18288" anchor="ctr">
                    <a:solidFill>
                      <a:srgbClr val="F4F6F8"/>
                    </a:solidFill>
                  </a:tcPr>
                </a:tc>
                <a:tc>
                  <a:txBody>
                    <a:bodyPr/>
                    <a:lstStyle/>
                    <a:p>
                      <a:pPr algn="ctr"/>
                      <a:r>
                        <a:rPr sz="950" b="0" i="0">
                          <a:solidFill>
                            <a:schemeClr val="tx1"/>
                          </a:solidFill>
                          <a:latin typeface="Avenir Next LT Pro"/>
                        </a:rPr>
                        <a:t>~$3.6–4.0B</a:t>
                      </a:r>
                    </a:p>
                  </a:txBody>
                  <a:tcPr marL="73152" marR="73152" marT="18288" marB="18288" anchor="ctr">
                    <a:solidFill>
                      <a:srgbClr val="F4F6F8"/>
                    </a:solidFill>
                  </a:tcPr>
                </a:tc>
                <a:tc>
                  <a:txBody>
                    <a:bodyPr/>
                    <a:lstStyle/>
                    <a:p>
                      <a:pPr algn="ctr"/>
                      <a:r>
                        <a:rPr sz="950" b="0" i="0" dirty="0">
                          <a:solidFill>
                            <a:schemeClr val="tx1"/>
                          </a:solidFill>
                          <a:latin typeface="Avenir Next LT Pro"/>
                        </a:rPr>
                        <a:t>18–21%</a:t>
                      </a:r>
                    </a:p>
                  </a:txBody>
                  <a:tcPr marL="73152" marR="73152" marT="18288" marB="18288" anchor="ctr">
                    <a:solidFill>
                      <a:srgbClr val="F4F6F8"/>
                    </a:solidFill>
                  </a:tcPr>
                </a:tc>
                <a:tc>
                  <a:txBody>
                    <a:bodyPr/>
                    <a:lstStyle/>
                    <a:p>
                      <a:pPr algn="ctr"/>
                      <a:r>
                        <a:rPr sz="950" b="0" i="0">
                          <a:solidFill>
                            <a:schemeClr val="tx1"/>
                          </a:solidFill>
                          <a:latin typeface="Avenir Next LT Pro"/>
                        </a:rPr>
                        <a:t>~$11–19</a:t>
                      </a:r>
                    </a:p>
                  </a:txBody>
                  <a:tcPr marL="73152" marR="73152" marT="18288" marB="18288" anchor="ctr">
                    <a:solidFill>
                      <a:srgbClr val="F4F6F8"/>
                    </a:solidFill>
                  </a:tcPr>
                </a:tc>
                <a:tc>
                  <a:txBody>
                    <a:bodyPr/>
                    <a:lstStyle/>
                    <a:p>
                      <a:pPr algn="ctr"/>
                      <a:r>
                        <a:rPr sz="950" b="0" i="0">
                          <a:solidFill>
                            <a:schemeClr val="tx1"/>
                          </a:solidFill>
                          <a:latin typeface="Avenir Next LT Pro"/>
                        </a:rPr>
                        <a:t>~9–15×</a:t>
                      </a:r>
                    </a:p>
                  </a:txBody>
                  <a:tcPr marL="73152" marR="73152" marT="18288" marB="18288" anchor="ctr">
                    <a:solidFill>
                      <a:srgbClr val="F4F6F8"/>
                    </a:solidFill>
                  </a:tcPr>
                </a:tc>
                <a:extLst>
                  <a:ext uri="{0D108BD9-81ED-4DB2-BD59-A6C34878D82A}">
                    <a16:rowId xmlns:a16="http://schemas.microsoft.com/office/drawing/2014/main" val="10002"/>
                  </a:ext>
                </a:extLst>
              </a:tr>
              <a:tr h="457200">
                <a:tc>
                  <a:txBody>
                    <a:bodyPr/>
                    <a:lstStyle/>
                    <a:p>
                      <a:pPr algn="l"/>
                      <a:r>
                        <a:rPr sz="950" b="1" i="0">
                          <a:solidFill>
                            <a:schemeClr val="tx1"/>
                          </a:solidFill>
                          <a:latin typeface="Avenir Next LT Pro Demi"/>
                        </a:rPr>
                        <a:t>Bear — rates stay high</a:t>
                      </a:r>
                    </a:p>
                  </a:txBody>
                  <a:tcPr marL="73152" marR="73152" marT="18288" marB="18288" anchor="ctr">
                    <a:solidFill>
                      <a:srgbClr val="FFFFFF"/>
                    </a:solidFill>
                  </a:tcPr>
                </a:tc>
                <a:tc>
                  <a:txBody>
                    <a:bodyPr/>
                    <a:lstStyle/>
                    <a:p>
                      <a:pPr algn="ctr"/>
                      <a:r>
                        <a:rPr sz="950" b="0" i="0" dirty="0">
                          <a:solidFill>
                            <a:schemeClr val="tx1"/>
                          </a:solidFill>
                          <a:latin typeface="Avenir Next LT Pro"/>
                        </a:rPr>
                        <a:t>6.75–7.25%</a:t>
                      </a:r>
                    </a:p>
                  </a:txBody>
                  <a:tcPr marL="73152" marR="73152" marT="18288" marB="18288" anchor="ctr">
                    <a:solidFill>
                      <a:srgbClr val="FFFFFF"/>
                    </a:solidFill>
                  </a:tcPr>
                </a:tc>
                <a:tc>
                  <a:txBody>
                    <a:bodyPr/>
                    <a:lstStyle/>
                    <a:p>
                      <a:pPr algn="ctr"/>
                      <a:r>
                        <a:rPr sz="950" b="0" i="0" dirty="0">
                          <a:solidFill>
                            <a:schemeClr val="tx1"/>
                          </a:solidFill>
                          <a:latin typeface="Avenir Next LT Pro"/>
                        </a:rPr>
                        <a:t>~3.8–4.0M</a:t>
                      </a:r>
                    </a:p>
                  </a:txBody>
                  <a:tcPr marL="73152" marR="73152" marT="18288" marB="18288" anchor="ctr">
                    <a:solidFill>
                      <a:srgbClr val="FFFFFF"/>
                    </a:solidFill>
                  </a:tcPr>
                </a:tc>
                <a:tc>
                  <a:txBody>
                    <a:bodyPr/>
                    <a:lstStyle/>
                    <a:p>
                      <a:pPr algn="ctr"/>
                      <a:r>
                        <a:rPr sz="950" b="0" i="0" dirty="0">
                          <a:solidFill>
                            <a:schemeClr val="tx1"/>
                          </a:solidFill>
                          <a:latin typeface="Avenir Next LT Pro"/>
                        </a:rPr>
                        <a:t>~$3.1–3.3B</a:t>
                      </a:r>
                    </a:p>
                  </a:txBody>
                  <a:tcPr marL="73152" marR="73152" marT="18288" marB="18288" anchor="ctr">
                    <a:solidFill>
                      <a:srgbClr val="FFFFFF"/>
                    </a:solidFill>
                  </a:tcPr>
                </a:tc>
                <a:tc>
                  <a:txBody>
                    <a:bodyPr/>
                    <a:lstStyle/>
                    <a:p>
                      <a:pPr algn="ctr"/>
                      <a:r>
                        <a:rPr sz="950" b="0" i="0" dirty="0">
                          <a:solidFill>
                            <a:schemeClr val="tx1"/>
                          </a:solidFill>
                          <a:latin typeface="Avenir Next LT Pro"/>
                        </a:rPr>
                        <a:t>14–16%</a:t>
                      </a:r>
                    </a:p>
                  </a:txBody>
                  <a:tcPr marL="73152" marR="73152" marT="18288" marB="18288" anchor="ctr">
                    <a:solidFill>
                      <a:srgbClr val="FFFFFF"/>
                    </a:solidFill>
                  </a:tcPr>
                </a:tc>
                <a:tc>
                  <a:txBody>
                    <a:bodyPr/>
                    <a:lstStyle/>
                    <a:p>
                      <a:pPr algn="ctr"/>
                      <a:r>
                        <a:rPr sz="950" b="0" i="0" dirty="0">
                          <a:solidFill>
                            <a:schemeClr val="tx1"/>
                          </a:solidFill>
                          <a:latin typeface="Avenir Next LT Pro"/>
                        </a:rPr>
                        <a:t>~$3–6</a:t>
                      </a:r>
                    </a:p>
                  </a:txBody>
                  <a:tcPr marL="73152" marR="73152" marT="18288" marB="18288" anchor="ctr">
                    <a:solidFill>
                      <a:srgbClr val="FFFFFF"/>
                    </a:solidFill>
                  </a:tcPr>
                </a:tc>
                <a:tc>
                  <a:txBody>
                    <a:bodyPr/>
                    <a:lstStyle/>
                    <a:p>
                      <a:pPr algn="ctr"/>
                      <a:r>
                        <a:rPr sz="950" b="0" i="0" dirty="0">
                          <a:solidFill>
                            <a:schemeClr val="tx1"/>
                          </a:solidFill>
                          <a:latin typeface="Avenir Next LT Pro"/>
                        </a:rPr>
                        <a:t>~25–55×</a:t>
                      </a:r>
                    </a:p>
                  </a:txBody>
                  <a:tcPr marL="73152" marR="73152"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457200" y="3657600"/>
            <a:ext cx="8229600" cy="415498"/>
          </a:xfrm>
          <a:prstGeom prst="rect">
            <a:avLst/>
          </a:prstGeom>
          <a:noFill/>
          <a:ln>
            <a:noFill/>
          </a:ln>
        </p:spPr>
        <p:txBody>
          <a:bodyPr wrap="square">
            <a:spAutoFit/>
          </a:bodyPr>
          <a:lstStyle/>
          <a:p>
            <a:r>
              <a:rPr sz="1100" b="1" i="0" dirty="0">
                <a:solidFill/>
                <a:latin typeface="Avenir Next LT Pro Demi"/>
              </a:rPr>
              <a:t>Key distinction: RH tracks housing TRANSACTIONS (turnover), not prices</a:t>
            </a:r>
          </a:p>
          <a:p>
            <a:r>
              <a:rPr sz="1000" b="0" i="0" dirty="0">
                <a:solidFill>
                  <a:srgbClr val="5A5A5A"/>
                </a:solidFill>
                <a:latin typeface="Avenir Next LT Pro"/>
              </a:rPr>
              <a:t>Base case assumes NO recovery — a rate-driven turn is upside, not a requirement</a:t>
            </a:r>
          </a:p>
        </p:txBody>
      </p:sp>
      <p:sp>
        <p:nvSpPr>
          <p:cNvPr id="8" name="TextBox 7"/>
          <p:cNvSpPr txBox="1"/>
          <p:nvPr/>
        </p:nvSpPr>
        <p:spPr>
          <a:xfrm>
            <a:off x="457200" y="5989320"/>
            <a:ext cx="8229600" cy="365760"/>
          </a:xfrm>
          <a:prstGeom prst="rect">
            <a:avLst/>
          </a:prstGeom>
          <a:noFill/>
          <a:ln>
            <a:noFill/>
          </a:ln>
        </p:spPr>
        <p:txBody>
          <a:bodyPr wrap="square">
            <a:spAutoFit/>
          </a:bodyPr>
          <a:lstStyle/>
          <a:p>
            <a:r>
              <a:rPr sz="800" i="1">
                <a:solidFill>
                  <a:srgbClr val="707070"/>
                </a:solidFill>
                <a:latin typeface="Avenir Next LT Pro"/>
              </a:rPr>
              <a:t>EPS ≈ (EBITDA − ~$150M D&amp;A − ~$215M interest) × (1 − 25% tax) ÷ ~19M shares. Illustrative, not a forecast.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880E-3485-E4DD-E794-98A7729742E7}"/>
              </a:ext>
            </a:extLst>
          </p:cNvPr>
          <p:cNvSpPr>
            <a:spLocks noGrp="1"/>
          </p:cNvSpPr>
          <p:nvPr>
            <p:ph type="title"/>
          </p:nvPr>
        </p:nvSpPr>
        <p:spPr>
          <a:ln>
            <a:solidFill/>
          </a:ln>
        </p:spPr>
        <p:txBody>
          <a:bodyPr/>
          <a:lstStyle/>
          <a:p>
            <a:r>
              <a:rPr lang="en-US">
                <a:solidFill/>
              </a:rPr>
              <a:t>Competitive landscape</a:t>
            </a:r>
          </a:p>
        </p:txBody>
      </p:sp>
    </p:spTree>
    <p:extLst>
      <p:ext uri="{BB962C8B-B14F-4D97-AF65-F5344CB8AC3E}">
        <p14:creationId xmlns:p14="http://schemas.microsoft.com/office/powerpoint/2010/main" val="182952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8229600" cy="446276"/>
          </a:xfrm>
          <a:prstGeom prst="rect">
            <a:avLst/>
          </a:prstGeom>
          <a:noFill/>
          <a:ln>
            <a:noFill/>
          </a:ln>
        </p:spPr>
        <p:txBody>
          <a:bodyPr wrap="square">
            <a:spAutoFit/>
          </a:bodyPr>
          <a:lstStyle/>
          <a:p>
            <a:r>
              <a:rPr sz="2300" b="0" i="0" dirty="0">
                <a:solidFill/>
                <a:latin typeface="Avenir Next LT Pro Demi"/>
              </a:rPr>
              <a:t>Competitive Landscape</a:t>
            </a:r>
          </a:p>
        </p:txBody>
      </p:sp>
      <p:sp>
        <p:nvSpPr>
          <p:cNvPr id="5" name="TextBox 4"/>
          <p:cNvSpPr txBox="1"/>
          <p:nvPr/>
        </p:nvSpPr>
        <p:spPr>
          <a:xfrm>
            <a:off x="457200" y="1051560"/>
            <a:ext cx="8229600" cy="274320"/>
          </a:xfrm>
          <a:prstGeom prst="rect">
            <a:avLst/>
          </a:prstGeom>
          <a:noFill/>
          <a:ln>
            <a:noFill/>
          </a:ln>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extLst>
              <p:ext uri="{D42A27DB-BD31-4B8C-83A1-F6EECF244321}">
                <p14:modId xmlns:p14="http://schemas.microsoft.com/office/powerpoint/2010/main" val="3484064200"/>
              </p:ext>
            </p:extLst>
          </p:nvPr>
        </p:nvGraphicFramePr>
        <p:xfrm>
          <a:off x="457200" y="1547854"/>
          <a:ext cx="8229599" cy="2103120"/>
        </p:xfrm>
        <a:graphic>
          <a:graphicData uri="http://schemas.openxmlformats.org/drawingml/2006/table">
            <a:tbl>
              <a:tblPr>
                <a:tableStyleId>{5C22544A-7EE6-4342-B048-85BDC9FD1C3A}</a:tableStyleId>
              </a:tblPr>
              <a:tblGrid>
                <a:gridCol w="952901">
                  <a:extLst>
                    <a:ext uri="{9D8B030D-6E8A-4147-A177-3AD203B41FA5}">
                      <a16:colId xmlns:a16="http://schemas.microsoft.com/office/drawing/2014/main" val="20000"/>
                    </a:ext>
                  </a:extLst>
                </a:gridCol>
                <a:gridCol w="2165684">
                  <a:extLst>
                    <a:ext uri="{9D8B030D-6E8A-4147-A177-3AD203B41FA5}">
                      <a16:colId xmlns:a16="http://schemas.microsoft.com/office/drawing/2014/main" val="20001"/>
                    </a:ext>
                  </a:extLst>
                </a:gridCol>
                <a:gridCol w="1386038">
                  <a:extLst>
                    <a:ext uri="{9D8B030D-6E8A-4147-A177-3AD203B41FA5}">
                      <a16:colId xmlns:a16="http://schemas.microsoft.com/office/drawing/2014/main" val="20002"/>
                    </a:ext>
                  </a:extLst>
                </a:gridCol>
                <a:gridCol w="1169469">
                  <a:extLst>
                    <a:ext uri="{9D8B030D-6E8A-4147-A177-3AD203B41FA5}">
                      <a16:colId xmlns:a16="http://schemas.microsoft.com/office/drawing/2014/main" val="20003"/>
                    </a:ext>
                  </a:extLst>
                </a:gridCol>
                <a:gridCol w="1169469">
                  <a:extLst>
                    <a:ext uri="{9D8B030D-6E8A-4147-A177-3AD203B41FA5}">
                      <a16:colId xmlns:a16="http://schemas.microsoft.com/office/drawing/2014/main" val="20004"/>
                    </a:ext>
                  </a:extLst>
                </a:gridCol>
                <a:gridCol w="1386038">
                  <a:extLst>
                    <a:ext uri="{9D8B030D-6E8A-4147-A177-3AD203B41FA5}">
                      <a16:colId xmlns:a16="http://schemas.microsoft.com/office/drawing/2014/main" val="20005"/>
                    </a:ext>
                  </a:extLst>
                </a:gridCol>
              </a:tblGrid>
              <a:tr h="420624">
                <a:tc>
                  <a:txBody>
                    <a:bodyPr/>
                    <a:lstStyle/>
                    <a:p>
                      <a:pPr algn="l"/>
                      <a:r>
                        <a:rPr sz="950" b="1" i="0" dirty="0">
                          <a:solidFill>
                            <a:srgbClr val="FFFFFF"/>
                          </a:solidFill>
                          <a:latin typeface="Avenir Next LT Pro Demi"/>
                        </a:rPr>
                        <a:t>Ticker</a:t>
                      </a:r>
                    </a:p>
                  </a:txBody>
                  <a:tcPr marL="73152" marR="73152" marT="18288" marB="18288" anchor="ctr">
                    <a:solidFill>
                      <a:srgbClr val="9A7B44"/>
                    </a:solidFill>
                  </a:tcPr>
                </a:tc>
                <a:tc>
                  <a:txBody>
                    <a:bodyPr/>
                    <a:lstStyle/>
                    <a:p>
                      <a:pPr algn="ctr"/>
                      <a:r>
                        <a:rPr sz="950" b="1" i="0" dirty="0">
                          <a:solidFill>
                            <a:srgbClr val="FFFFFF"/>
                          </a:solidFill>
                          <a:latin typeface="Avenir Next LT Pro Demi"/>
                        </a:rPr>
                        <a:t>Company</a:t>
                      </a:r>
                    </a:p>
                  </a:txBody>
                  <a:tcPr marL="73152" marR="73152" marT="18288" marB="18288" anchor="ctr">
                    <a:solidFill>
                      <a:srgbClr val="9A7B44"/>
                    </a:solidFill>
                  </a:tcPr>
                </a:tc>
                <a:tc>
                  <a:txBody>
                    <a:bodyPr/>
                    <a:lstStyle/>
                    <a:p>
                      <a:pPr algn="ctr"/>
                      <a:r>
                        <a:rPr sz="950" b="1" i="0" dirty="0">
                          <a:solidFill>
                            <a:srgbClr val="FFFFFF"/>
                          </a:solidFill>
                          <a:latin typeface="Avenir Next LT Pro Demi"/>
                        </a:rPr>
                        <a:t>Rev CAGR (3y)</a:t>
                      </a:r>
                    </a:p>
                  </a:txBody>
                  <a:tcPr marL="73152" marR="73152" marT="18288" marB="18288" anchor="ctr">
                    <a:solidFill>
                      <a:srgbClr val="9A7B44"/>
                    </a:solidFill>
                  </a:tcPr>
                </a:tc>
                <a:tc>
                  <a:txBody>
                    <a:bodyPr/>
                    <a:lstStyle/>
                    <a:p>
                      <a:pPr algn="ctr"/>
                      <a:r>
                        <a:rPr sz="950" b="1" i="0" dirty="0">
                          <a:solidFill>
                            <a:srgbClr val="FFFFFF"/>
                          </a:solidFill>
                          <a:latin typeface="Avenir Next LT Pro Demi"/>
                        </a:rPr>
                        <a:t>EBITDA </a:t>
                      </a:r>
                      <a:r>
                        <a:rPr sz="950" b="1" i="0" dirty="0" err="1">
                          <a:solidFill>
                            <a:srgbClr val="FFFFFF"/>
                          </a:solidFill>
                          <a:latin typeface="Avenir Next LT Pro Demi"/>
                        </a:rPr>
                        <a:t>Mgn</a:t>
                      </a:r>
                      <a:endParaRPr sz="950" b="1" i="0" dirty="0">
                        <a:solidFill>
                          <a:srgbClr val="FFFFFF"/>
                        </a:solidFill>
                        <a:latin typeface="Avenir Next LT Pro Demi"/>
                      </a:endParaRPr>
                    </a:p>
                  </a:txBody>
                  <a:tcPr marL="73152" marR="73152" marT="18288" marB="18288" anchor="ctr">
                    <a:solidFill>
                      <a:srgbClr val="9A7B44"/>
                    </a:solidFill>
                  </a:tcPr>
                </a:tc>
                <a:tc>
                  <a:txBody>
                    <a:bodyPr/>
                    <a:lstStyle/>
                    <a:p>
                      <a:pPr algn="ctr"/>
                      <a:r>
                        <a:rPr sz="950" b="1" i="0" dirty="0">
                          <a:solidFill>
                            <a:srgbClr val="FFFFFF"/>
                          </a:solidFill>
                          <a:latin typeface="Avenir Next LT Pro Demi"/>
                        </a:rPr>
                        <a:t>EV/EBITDA</a:t>
                      </a:r>
                    </a:p>
                  </a:txBody>
                  <a:tcPr marL="73152" marR="73152" marT="18288" marB="18288" anchor="ctr">
                    <a:solidFill>
                      <a:srgbClr val="9A7B44"/>
                    </a:solidFill>
                  </a:tcPr>
                </a:tc>
                <a:tc>
                  <a:txBody>
                    <a:bodyPr/>
                    <a:lstStyle/>
                    <a:p>
                      <a:pPr algn="ctr"/>
                      <a:r>
                        <a:rPr sz="950" b="1" i="0" dirty="0">
                          <a:solidFill>
                            <a:srgbClr val="FFFFFF"/>
                          </a:solidFill>
                          <a:latin typeface="Avenir Next LT Pro Demi"/>
                        </a:rPr>
                        <a:t>Status</a:t>
                      </a:r>
                    </a:p>
                  </a:txBody>
                  <a:tcPr marL="73152" marR="73152" marT="18288" marB="18288" anchor="ctr">
                    <a:solidFill>
                      <a:srgbClr val="9A7B44"/>
                    </a:solidFill>
                  </a:tcPr>
                </a:tc>
                <a:extLst>
                  <a:ext uri="{0D108BD9-81ED-4DB2-BD59-A6C34878D82A}">
                    <a16:rowId xmlns:a16="http://schemas.microsoft.com/office/drawing/2014/main" val="10000"/>
                  </a:ext>
                </a:extLst>
              </a:tr>
              <a:tr h="420624">
                <a:tc>
                  <a:txBody>
                    <a:bodyPr/>
                    <a:lstStyle/>
                    <a:p>
                      <a:pPr algn="l"/>
                      <a:r>
                        <a:rPr sz="1050" b="1" i="0" dirty="0">
                          <a:solidFill>
                            <a:schemeClr val="tx1"/>
                          </a:solidFill>
                          <a:latin typeface="Avenir Next LT Pro Demi"/>
                        </a:rPr>
                        <a:t>ARHS</a:t>
                      </a:r>
                    </a:p>
                  </a:txBody>
                  <a:tcPr marL="73152" marR="73152" marT="18288" marB="18288" anchor="ctr">
                    <a:solidFill>
                      <a:srgbClr val="FFFFFF"/>
                    </a:solidFill>
                  </a:tcPr>
                </a:tc>
                <a:tc>
                  <a:txBody>
                    <a:bodyPr/>
                    <a:lstStyle/>
                    <a:p>
                      <a:pPr algn="ctr"/>
                      <a:r>
                        <a:rPr sz="1050" b="0" i="0" dirty="0">
                          <a:solidFill>
                            <a:schemeClr val="tx1"/>
                          </a:solidFill>
                          <a:latin typeface="Avenir Next LT Pro"/>
                        </a:rPr>
                        <a:t>Arhaus</a:t>
                      </a:r>
                    </a:p>
                  </a:txBody>
                  <a:tcPr marL="73152" marR="73152" marT="18288" marB="18288" anchor="ctr">
                    <a:solidFill>
                      <a:srgbClr val="FFFFFF"/>
                    </a:solidFill>
                  </a:tcPr>
                </a:tc>
                <a:tc>
                  <a:txBody>
                    <a:bodyPr/>
                    <a:lstStyle/>
                    <a:p>
                      <a:pPr algn="ctr"/>
                      <a:r>
                        <a:rPr sz="1050" b="0" i="0">
                          <a:solidFill>
                            <a:schemeClr val="tx1"/>
                          </a:solidFill>
                          <a:latin typeface="Avenir Next LT Pro"/>
                        </a:rPr>
                        <a:t>+11.4%</a:t>
                      </a:r>
                    </a:p>
                  </a:txBody>
                  <a:tcPr marL="73152" marR="73152" marT="18288" marB="18288" anchor="ctr">
                    <a:solidFill>
                      <a:srgbClr val="FFFFFF"/>
                    </a:solidFill>
                  </a:tcPr>
                </a:tc>
                <a:tc>
                  <a:txBody>
                    <a:bodyPr/>
                    <a:lstStyle/>
                    <a:p>
                      <a:pPr algn="ctr"/>
                      <a:r>
                        <a:rPr sz="1050" b="0" i="0">
                          <a:solidFill>
                            <a:schemeClr val="tx1"/>
                          </a:solidFill>
                          <a:latin typeface="Avenir Next LT Pro"/>
                        </a:rPr>
                        <a:t>~14%</a:t>
                      </a:r>
                    </a:p>
                  </a:txBody>
                  <a:tcPr marL="73152" marR="73152" marT="18288" marB="18288" anchor="ctr">
                    <a:solidFill>
                      <a:srgbClr val="FFFFFF"/>
                    </a:solidFill>
                  </a:tcPr>
                </a:tc>
                <a:tc>
                  <a:txBody>
                    <a:bodyPr/>
                    <a:lstStyle/>
                    <a:p>
                      <a:pPr algn="ctr"/>
                      <a:r>
                        <a:rPr sz="1050" b="0" i="0">
                          <a:solidFill>
                            <a:schemeClr val="tx1"/>
                          </a:solidFill>
                          <a:latin typeface="Avenir Next LT Pro"/>
                        </a:rPr>
                        <a:t>~11×</a:t>
                      </a:r>
                    </a:p>
                  </a:txBody>
                  <a:tcPr marL="73152" marR="73152" marT="18288" marB="18288" anchor="ctr">
                    <a:solidFill>
                      <a:srgbClr val="FFFFFF"/>
                    </a:solidFill>
                  </a:tcPr>
                </a:tc>
                <a:tc>
                  <a:txBody>
                    <a:bodyPr/>
                    <a:lstStyle/>
                    <a:p>
                      <a:pPr algn="ctr"/>
                      <a:r>
                        <a:rPr sz="1050" b="0" i="0">
                          <a:solidFill>
                            <a:schemeClr val="tx1"/>
                          </a:solidFill>
                          <a:latin typeface="Avenir Next LT Pro"/>
                        </a:rPr>
                        <a:t>Outperforming</a:t>
                      </a:r>
                    </a:p>
                  </a:txBody>
                  <a:tcPr marL="73152" marR="73152" marT="18288" marB="18288" anchor="ctr">
                    <a:solidFill>
                      <a:srgbClr val="FFFFFF"/>
                    </a:solidFill>
                  </a:tcPr>
                </a:tc>
                <a:extLst>
                  <a:ext uri="{0D108BD9-81ED-4DB2-BD59-A6C34878D82A}">
                    <a16:rowId xmlns:a16="http://schemas.microsoft.com/office/drawing/2014/main" val="10001"/>
                  </a:ext>
                </a:extLst>
              </a:tr>
              <a:tr h="420624">
                <a:tc>
                  <a:txBody>
                    <a:bodyPr/>
                    <a:lstStyle/>
                    <a:p>
                      <a:pPr algn="l"/>
                      <a:r>
                        <a:rPr sz="1050" b="1" i="0">
                          <a:solidFill>
                            <a:schemeClr val="tx1"/>
                          </a:solidFill>
                          <a:latin typeface="Avenir Next LT Pro Demi"/>
                        </a:rPr>
                        <a:t>WSM</a:t>
                      </a:r>
                    </a:p>
                  </a:txBody>
                  <a:tcPr marL="73152" marR="73152" marT="18288" marB="18288" anchor="ctr">
                    <a:solidFill>
                      <a:srgbClr val="F4F6F8"/>
                    </a:solidFill>
                  </a:tcPr>
                </a:tc>
                <a:tc>
                  <a:txBody>
                    <a:bodyPr/>
                    <a:lstStyle/>
                    <a:p>
                      <a:pPr algn="ctr"/>
                      <a:r>
                        <a:rPr sz="1050" b="0" i="0" dirty="0">
                          <a:solidFill>
                            <a:schemeClr val="tx1"/>
                          </a:solidFill>
                          <a:latin typeface="Avenir Next LT Pro"/>
                        </a:rPr>
                        <a:t>Williams-Sonoma</a:t>
                      </a:r>
                    </a:p>
                  </a:txBody>
                  <a:tcPr marL="73152" marR="73152" marT="18288" marB="18288" anchor="ctr">
                    <a:solidFill>
                      <a:srgbClr val="F4F6F8"/>
                    </a:solidFill>
                  </a:tcPr>
                </a:tc>
                <a:tc>
                  <a:txBody>
                    <a:bodyPr/>
                    <a:lstStyle/>
                    <a:p>
                      <a:pPr algn="ctr"/>
                      <a:r>
                        <a:rPr sz="1050" b="0" i="0" dirty="0">
                          <a:solidFill>
                            <a:schemeClr val="tx1"/>
                          </a:solidFill>
                          <a:latin typeface="Avenir Next LT Pro"/>
                        </a:rPr>
                        <a:t>+7.2%</a:t>
                      </a:r>
                    </a:p>
                  </a:txBody>
                  <a:tcPr marL="73152" marR="73152" marT="18288" marB="18288" anchor="ctr">
                    <a:solidFill>
                      <a:srgbClr val="F4F6F8"/>
                    </a:solidFill>
                  </a:tcPr>
                </a:tc>
                <a:tc>
                  <a:txBody>
                    <a:bodyPr/>
                    <a:lstStyle/>
                    <a:p>
                      <a:pPr algn="ctr"/>
                      <a:r>
                        <a:rPr sz="1050" b="0" i="0">
                          <a:solidFill>
                            <a:schemeClr val="tx1"/>
                          </a:solidFill>
                          <a:latin typeface="Avenir Next LT Pro"/>
                        </a:rPr>
                        <a:t>~18%</a:t>
                      </a:r>
                    </a:p>
                  </a:txBody>
                  <a:tcPr marL="73152" marR="73152" marT="18288" marB="18288" anchor="ctr">
                    <a:solidFill>
                      <a:srgbClr val="F4F6F8"/>
                    </a:solidFill>
                  </a:tcPr>
                </a:tc>
                <a:tc>
                  <a:txBody>
                    <a:bodyPr/>
                    <a:lstStyle/>
                    <a:p>
                      <a:pPr algn="ctr"/>
                      <a:r>
                        <a:rPr sz="1050" b="0" i="0">
                          <a:solidFill>
                            <a:schemeClr val="tx1"/>
                          </a:solidFill>
                          <a:latin typeface="Avenir Next LT Pro"/>
                        </a:rPr>
                        <a:t>~15×</a:t>
                      </a:r>
                    </a:p>
                  </a:txBody>
                  <a:tcPr marL="73152" marR="73152" marT="18288" marB="18288" anchor="ctr">
                    <a:solidFill>
                      <a:srgbClr val="F4F6F8"/>
                    </a:solidFill>
                  </a:tcPr>
                </a:tc>
                <a:tc>
                  <a:txBody>
                    <a:bodyPr/>
                    <a:lstStyle/>
                    <a:p>
                      <a:pPr algn="ctr"/>
                      <a:r>
                        <a:rPr sz="1050" b="0" i="0">
                          <a:solidFill>
                            <a:schemeClr val="tx1"/>
                          </a:solidFill>
                          <a:latin typeface="Avenir Next LT Pro"/>
                        </a:rPr>
                        <a:t>Outperforming</a:t>
                      </a:r>
                    </a:p>
                  </a:txBody>
                  <a:tcPr marL="73152" marR="73152" marT="18288" marB="18288" anchor="ctr">
                    <a:solidFill>
                      <a:srgbClr val="F4F6F8"/>
                    </a:solidFill>
                  </a:tcPr>
                </a:tc>
                <a:extLst>
                  <a:ext uri="{0D108BD9-81ED-4DB2-BD59-A6C34878D82A}">
                    <a16:rowId xmlns:a16="http://schemas.microsoft.com/office/drawing/2014/main" val="10002"/>
                  </a:ext>
                </a:extLst>
              </a:tr>
              <a:tr h="420624">
                <a:tc>
                  <a:txBody>
                    <a:bodyPr/>
                    <a:lstStyle/>
                    <a:p>
                      <a:pPr algn="l"/>
                      <a:r>
                        <a:rPr sz="1050" b="1" i="0">
                          <a:solidFill>
                            <a:schemeClr val="tx1"/>
                          </a:solidFill>
                          <a:latin typeface="Avenir Next LT Pro Demi"/>
                        </a:rPr>
                        <a:t>RH</a:t>
                      </a:r>
                    </a:p>
                  </a:txBody>
                  <a:tcPr marL="73152" marR="73152" marT="18288" marB="18288" anchor="ctr">
                    <a:solidFill>
                      <a:srgbClr val="FFFFFF"/>
                    </a:solidFill>
                  </a:tcPr>
                </a:tc>
                <a:tc>
                  <a:txBody>
                    <a:bodyPr/>
                    <a:lstStyle/>
                    <a:p>
                      <a:pPr algn="ctr"/>
                      <a:r>
                        <a:rPr sz="1050" b="0" i="0">
                          <a:solidFill>
                            <a:schemeClr val="tx1"/>
                          </a:solidFill>
                          <a:latin typeface="Avenir Next LT Pro"/>
                        </a:rPr>
                        <a:t>Restoration Hardware</a:t>
                      </a:r>
                    </a:p>
                  </a:txBody>
                  <a:tcPr marL="73152" marR="73152" marT="18288" marB="18288" anchor="ctr">
                    <a:solidFill>
                      <a:srgbClr val="FFFFFF"/>
                    </a:solidFill>
                  </a:tcPr>
                </a:tc>
                <a:tc>
                  <a:txBody>
                    <a:bodyPr/>
                    <a:lstStyle/>
                    <a:p>
                      <a:pPr algn="ctr"/>
                      <a:r>
                        <a:rPr sz="1050" b="0" i="0" dirty="0">
                          <a:solidFill>
                            <a:schemeClr val="tx1"/>
                          </a:solidFill>
                          <a:latin typeface="Avenir Next LT Pro"/>
                        </a:rPr>
                        <a:t>-1.4%</a:t>
                      </a:r>
                    </a:p>
                  </a:txBody>
                  <a:tcPr marL="73152" marR="73152" marT="18288" marB="18288" anchor="ctr">
                    <a:solidFill>
                      <a:srgbClr val="FFFFFF"/>
                    </a:solidFill>
                  </a:tcPr>
                </a:tc>
                <a:tc>
                  <a:txBody>
                    <a:bodyPr/>
                    <a:lstStyle/>
                    <a:p>
                      <a:pPr algn="ctr"/>
                      <a:r>
                        <a:rPr sz="1050" b="0" i="0" dirty="0">
                          <a:solidFill>
                            <a:schemeClr val="tx1"/>
                          </a:solidFill>
                          <a:latin typeface="Avenir Next LT Pro"/>
                        </a:rPr>
                        <a:t>~17%</a:t>
                      </a:r>
                    </a:p>
                  </a:txBody>
                  <a:tcPr marL="73152" marR="73152" marT="18288" marB="18288" anchor="ctr">
                    <a:solidFill>
                      <a:srgbClr val="FFFFFF"/>
                    </a:solidFill>
                  </a:tcPr>
                </a:tc>
                <a:tc>
                  <a:txBody>
                    <a:bodyPr/>
                    <a:lstStyle/>
                    <a:p>
                      <a:pPr algn="ctr"/>
                      <a:r>
                        <a:rPr sz="1050" b="0" i="0">
                          <a:solidFill>
                            <a:schemeClr val="tx1"/>
                          </a:solidFill>
                          <a:latin typeface="Avenir Next LT Pro"/>
                        </a:rPr>
                        <a:t>~9.3×</a:t>
                      </a:r>
                    </a:p>
                  </a:txBody>
                  <a:tcPr marL="73152" marR="73152" marT="18288" marB="18288" anchor="ctr">
                    <a:solidFill>
                      <a:srgbClr val="FFFFFF"/>
                    </a:solidFill>
                  </a:tcPr>
                </a:tc>
                <a:tc>
                  <a:txBody>
                    <a:bodyPr/>
                    <a:lstStyle/>
                    <a:p>
                      <a:pPr algn="ctr"/>
                      <a:r>
                        <a:rPr sz="1050" b="0" i="0">
                          <a:solidFill>
                            <a:schemeClr val="tx1"/>
                          </a:solidFill>
                          <a:latin typeface="Avenir Next LT Pro"/>
                        </a:rPr>
                        <a:t>At Trough</a:t>
                      </a:r>
                    </a:p>
                  </a:txBody>
                  <a:tcPr marL="73152" marR="73152" marT="18288" marB="18288" anchor="ctr">
                    <a:solidFill>
                      <a:srgbClr val="FFFFFF"/>
                    </a:solidFill>
                  </a:tcPr>
                </a:tc>
                <a:extLst>
                  <a:ext uri="{0D108BD9-81ED-4DB2-BD59-A6C34878D82A}">
                    <a16:rowId xmlns:a16="http://schemas.microsoft.com/office/drawing/2014/main" val="10003"/>
                  </a:ext>
                </a:extLst>
              </a:tr>
              <a:tr h="420624">
                <a:tc>
                  <a:txBody>
                    <a:bodyPr/>
                    <a:lstStyle/>
                    <a:p>
                      <a:pPr algn="l"/>
                      <a:r>
                        <a:rPr sz="1050" b="1" i="0">
                          <a:solidFill>
                            <a:schemeClr val="tx1"/>
                          </a:solidFill>
                          <a:latin typeface="Avenir Next LT Pro Demi"/>
                        </a:rPr>
                        <a:t>W</a:t>
                      </a:r>
                    </a:p>
                  </a:txBody>
                  <a:tcPr marL="73152" marR="73152" marT="18288" marB="18288" anchor="ctr">
                    <a:solidFill>
                      <a:srgbClr val="F4F6F8"/>
                    </a:solidFill>
                  </a:tcPr>
                </a:tc>
                <a:tc>
                  <a:txBody>
                    <a:bodyPr/>
                    <a:lstStyle/>
                    <a:p>
                      <a:pPr algn="ctr"/>
                      <a:r>
                        <a:rPr sz="1050" b="0" i="0">
                          <a:solidFill>
                            <a:schemeClr val="tx1"/>
                          </a:solidFill>
                          <a:latin typeface="Avenir Next LT Pro"/>
                        </a:rPr>
                        <a:t>Wayfair</a:t>
                      </a:r>
                    </a:p>
                  </a:txBody>
                  <a:tcPr marL="73152" marR="73152" marT="18288" marB="18288" anchor="ctr">
                    <a:solidFill>
                      <a:srgbClr val="F4F6F8"/>
                    </a:solidFill>
                  </a:tcPr>
                </a:tc>
                <a:tc>
                  <a:txBody>
                    <a:bodyPr/>
                    <a:lstStyle/>
                    <a:p>
                      <a:pPr algn="ctr"/>
                      <a:r>
                        <a:rPr sz="1050" b="0" i="0">
                          <a:solidFill>
                            <a:schemeClr val="tx1"/>
                          </a:solidFill>
                          <a:latin typeface="Avenir Next LT Pro"/>
                        </a:rPr>
                        <a:t>-8.3%</a:t>
                      </a:r>
                    </a:p>
                  </a:txBody>
                  <a:tcPr marL="73152" marR="73152" marT="18288" marB="18288" anchor="ctr">
                    <a:solidFill>
                      <a:srgbClr val="F4F6F8"/>
                    </a:solidFill>
                  </a:tcPr>
                </a:tc>
                <a:tc>
                  <a:txBody>
                    <a:bodyPr/>
                    <a:lstStyle/>
                    <a:p>
                      <a:pPr algn="ctr"/>
                      <a:r>
                        <a:rPr sz="1050" b="0" i="0">
                          <a:solidFill>
                            <a:schemeClr val="tx1"/>
                          </a:solidFill>
                          <a:latin typeface="Avenir Next LT Pro"/>
                        </a:rPr>
                        <a:t>~1%</a:t>
                      </a:r>
                    </a:p>
                  </a:txBody>
                  <a:tcPr marL="73152" marR="73152" marT="18288" marB="18288" anchor="ctr">
                    <a:solidFill>
                      <a:srgbClr val="F4F6F8"/>
                    </a:solidFill>
                  </a:tcPr>
                </a:tc>
                <a:tc>
                  <a:txBody>
                    <a:bodyPr/>
                    <a:lstStyle/>
                    <a:p>
                      <a:pPr algn="ctr"/>
                      <a:r>
                        <a:rPr sz="1050" b="0" i="0" dirty="0">
                          <a:solidFill>
                            <a:schemeClr val="tx1"/>
                          </a:solidFill>
                          <a:latin typeface="Avenir Next LT Pro"/>
                        </a:rPr>
                        <a:t>NM</a:t>
                      </a:r>
                    </a:p>
                  </a:txBody>
                  <a:tcPr marL="73152" marR="73152" marT="18288" marB="18288" anchor="ctr">
                    <a:solidFill>
                      <a:srgbClr val="F4F6F8"/>
                    </a:solidFill>
                  </a:tcPr>
                </a:tc>
                <a:tc>
                  <a:txBody>
                    <a:bodyPr/>
                    <a:lstStyle/>
                    <a:p>
                      <a:pPr algn="ctr"/>
                      <a:r>
                        <a:rPr sz="1050" b="0" i="0" dirty="0">
                          <a:solidFill>
                            <a:schemeClr val="tx1"/>
                          </a:solidFill>
                          <a:latin typeface="Avenir Next LT Pro"/>
                        </a:rPr>
                        <a:t>Underperforming</a:t>
                      </a:r>
                    </a:p>
                  </a:txBody>
                  <a:tcPr marL="73152" marR="73152" marT="18288" marB="18288" anchor="ctr">
                    <a:solidFill>
                      <a:srgbClr val="F4F6F8"/>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3749039"/>
            <a:ext cx="8229600" cy="415498"/>
          </a:xfrm>
          <a:prstGeom prst="rect">
            <a:avLst/>
          </a:prstGeom>
          <a:noFill/>
          <a:ln>
            <a:noFill/>
          </a:ln>
        </p:spPr>
        <p:txBody>
          <a:bodyPr wrap="square">
            <a:spAutoFit/>
          </a:bodyPr>
          <a:lstStyle/>
          <a:p>
            <a:r>
              <a:rPr sz="1100" b="1" i="0" dirty="0">
                <a:solidFill/>
                <a:latin typeface="Avenir Next LT Pro Demi"/>
              </a:rPr>
              <a:t>The real competitor is Arhaus, not European luxury.</a:t>
            </a:r>
          </a:p>
          <a:p>
            <a:r>
              <a:rPr sz="1000" b="0" i="0" dirty="0">
                <a:solidFill/>
                <a:latin typeface="Avenir Next LT Pro"/>
              </a:rPr>
              <a:t>RH's negative CAGR is self-inflicted + housing — not lost share. Estates moves RH up, out of Arhaus's tier</a:t>
            </a:r>
            <a:endParaRPr sz="1000" b="0" i="0" dirty="0">
              <a:solidFill>
                <a:srgbClr val="5A5A5A"/>
              </a:solidFill>
              <a:latin typeface="Avenir Next LT Pr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198" y="274320"/>
            <a:ext cx="8229600" cy="446276"/>
          </a:xfrm>
          <a:prstGeom prst="rect">
            <a:avLst/>
          </a:prstGeom>
          <a:noFill/>
          <a:ln>
            <a:noFill/>
          </a:ln>
        </p:spPr>
        <p:txBody>
          <a:bodyPr wrap="square">
            <a:spAutoFit/>
          </a:bodyPr>
          <a:lstStyle/>
          <a:p>
            <a:r>
              <a:rPr sz="2300" b="0" i="0" dirty="0">
                <a:solidFill/>
                <a:latin typeface="Avenir Next LT Pro Demi"/>
              </a:rPr>
              <a:t>Key Risks — What Has to Go Wrong</a:t>
            </a:r>
          </a:p>
        </p:txBody>
      </p:sp>
      <p:sp>
        <p:nvSpPr>
          <p:cNvPr id="5" name="TextBox 4"/>
          <p:cNvSpPr txBox="1"/>
          <p:nvPr/>
        </p:nvSpPr>
        <p:spPr>
          <a:xfrm>
            <a:off x="457200" y="1051560"/>
            <a:ext cx="8229600" cy="274320"/>
          </a:xfrm>
          <a:prstGeom prst="rect">
            <a:avLst/>
          </a:prstGeom>
          <a:noFill/>
          <a:ln>
            <a:noFill/>
          </a:ln>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Housing stays depressed through 2027</a:t>
            </a:r>
          </a:p>
          <a:p>
            <a:r>
              <a:rPr sz="950" b="1" i="0" dirty="0">
                <a:solidFill>
                  <a:srgbClr val="B03030"/>
                </a:solidFill>
                <a:latin typeface="Avenir Next LT Pro"/>
              </a:rPr>
              <a:t>Severity: HIGH   ·   Probability:</a:t>
            </a:r>
          </a:p>
        </p:txBody>
      </p:sp>
      <p:sp>
        <p:nvSpPr>
          <p:cNvPr id="7" name="Rectangle 6"/>
          <p:cNvSpPr/>
          <p:nvPr/>
        </p:nvSpPr>
        <p:spPr>
          <a:xfrm>
            <a:off x="457200" y="1554480"/>
            <a:ext cx="73152" cy="96012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09159"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Balance-sheet stress — ~4.0× levered, ~$225M/yr interest</a:t>
            </a:r>
          </a:p>
          <a:p>
            <a:r>
              <a:rPr sz="950" b="1" i="0" dirty="0">
                <a:solidFill>
                  <a:srgbClr val="B03030"/>
                </a:solidFill>
                <a:latin typeface="Avenir Next LT Pro"/>
              </a:rPr>
              <a:t>Severity: HIGH   ·   Probability:</a:t>
            </a:r>
          </a:p>
        </p:txBody>
      </p:sp>
      <p:sp>
        <p:nvSpPr>
          <p:cNvPr id="9" name="Rectangle 8"/>
          <p:cNvSpPr/>
          <p:nvPr/>
        </p:nvSpPr>
        <p:spPr>
          <a:xfrm>
            <a:off x="4709159" y="1554480"/>
            <a:ext cx="73152" cy="96012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International execution failure</a:t>
            </a:r>
          </a:p>
          <a:p>
            <a:r>
              <a:rPr sz="950" b="1" i="0" dirty="0">
                <a:solidFill>
                  <a:srgbClr val="C88A12"/>
                </a:solidFill>
                <a:latin typeface="Avenir Next LT Pro"/>
              </a:rPr>
              <a:t>Severity: MED   ·   Probability:</a:t>
            </a:r>
          </a:p>
        </p:txBody>
      </p:sp>
      <p:sp>
        <p:nvSpPr>
          <p:cNvPr id="11" name="Rectangle 10"/>
          <p:cNvSpPr/>
          <p:nvPr/>
        </p:nvSpPr>
        <p:spPr>
          <a:xfrm>
            <a:off x="457200" y="2679191"/>
            <a:ext cx="73152" cy="960120"/>
          </a:xfrm>
          <a:prstGeom prst="rect">
            <a:avLst/>
          </a:prstGeom>
          <a:solidFill>
            <a:srgbClr val="C88A1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09159"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Tariff / supply-chain disruption</a:t>
            </a:r>
          </a:p>
          <a:p>
            <a:r>
              <a:rPr sz="950" b="1" i="0" dirty="0">
                <a:solidFill>
                  <a:srgbClr val="C88A12"/>
                </a:solidFill>
                <a:latin typeface="Avenir Next LT Pro"/>
              </a:rPr>
              <a:t>Severity: MED   ·   Probability:</a:t>
            </a:r>
          </a:p>
        </p:txBody>
      </p:sp>
      <p:sp>
        <p:nvSpPr>
          <p:cNvPr id="13" name="Rectangle 12"/>
          <p:cNvSpPr/>
          <p:nvPr/>
        </p:nvSpPr>
        <p:spPr>
          <a:xfrm>
            <a:off x="4709159" y="2679191"/>
            <a:ext cx="73152" cy="960120"/>
          </a:xfrm>
          <a:prstGeom prst="rect">
            <a:avLst/>
          </a:prstGeom>
          <a:solidFill>
            <a:srgbClr val="C88A1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Friedman key-man dependency</a:t>
            </a:r>
          </a:p>
          <a:p>
            <a:r>
              <a:rPr sz="950" b="1" i="0" dirty="0">
                <a:solidFill>
                  <a:srgbClr val="B03030"/>
                </a:solidFill>
                <a:latin typeface="Avenir Next LT Pro"/>
              </a:rPr>
              <a:t>Severity: HIGH   ·   Probability:</a:t>
            </a:r>
          </a:p>
        </p:txBody>
      </p:sp>
      <p:sp>
        <p:nvSpPr>
          <p:cNvPr id="15" name="Rectangle 14"/>
          <p:cNvSpPr/>
          <p:nvPr/>
        </p:nvSpPr>
        <p:spPr>
          <a:xfrm>
            <a:off x="457200" y="3803904"/>
            <a:ext cx="73152" cy="960120"/>
          </a:xfrm>
          <a:prstGeom prst="rect">
            <a:avLst/>
          </a:prstGeom>
          <a:solidFill>
            <a:srgbClr val="B0303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709159"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i="0" dirty="0">
                <a:solidFill>
                  <a:srgbClr val="0E2841"/>
                </a:solidFill>
                <a:latin typeface="Avenir Next LT Pro Demi"/>
              </a:rPr>
              <a:t>Broad consumer / discretionary recession</a:t>
            </a:r>
          </a:p>
          <a:p>
            <a:r>
              <a:rPr sz="950" b="1" i="0" dirty="0">
                <a:solidFill>
                  <a:srgbClr val="C88A12"/>
                </a:solidFill>
                <a:latin typeface="Avenir Next LT Pro"/>
              </a:rPr>
              <a:t>Severity: MED   ·   Probability:</a:t>
            </a:r>
          </a:p>
        </p:txBody>
      </p:sp>
      <p:sp>
        <p:nvSpPr>
          <p:cNvPr id="17" name="Rectangle 16"/>
          <p:cNvSpPr/>
          <p:nvPr/>
        </p:nvSpPr>
        <p:spPr>
          <a:xfrm>
            <a:off x="4709159" y="3803904"/>
            <a:ext cx="73152" cy="960120"/>
          </a:xfrm>
          <a:prstGeom prst="rect">
            <a:avLst/>
          </a:prstGeom>
          <a:solidFill>
            <a:srgbClr val="C88A1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4928616"/>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a:solidFill>
                  <a:srgbClr val="0E2841"/>
                </a:solidFill>
                <a:latin typeface="Avenir Next LT Pro Demi"/>
              </a:rPr>
              <a:t>Fulfillment / delivery execution (moat risk at Estates tier)</a:t>
            </a:r>
          </a:p>
          <a:p>
            <a:r>
              <a:rPr sz="950" b="1">
                <a:solidFill>
                  <a:srgbClr val="C88A12"/>
                </a:solidFill>
                <a:latin typeface="Avenir Next LT Pro"/>
              </a:rPr>
              <a:t>Severity: MED   ·   Probability: 30%</a:t>
            </a:r>
          </a:p>
        </p:txBody>
      </p:sp>
      <p:sp>
        <p:nvSpPr>
          <p:cNvPr id="19" name="Rectangle 18"/>
          <p:cNvSpPr/>
          <p:nvPr/>
        </p:nvSpPr>
        <p:spPr>
          <a:xfrm>
            <a:off x="457200" y="4928616"/>
            <a:ext cx="73152" cy="960120"/>
          </a:xfrm>
          <a:prstGeom prst="rect">
            <a:avLst/>
          </a:prstGeom>
          <a:solidFill>
            <a:srgbClr val="C88A12"/>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heme1" id="{3BFAA7AE-A268-4826-9D8B-94FA75FEEF0F}" vid="{9E9B2CBF-1CCA-4D2A-AC69-DF77A87F1DC6}"/>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47"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C8420-7163-49FF-8E4A-85261AD340AF}">
  <we:reference id="wa200010001" version="1.0.0.1" store="en-US" storeType="OMEX"/>
  <we:alternateReferences>
    <we:reference id="WA200010001" version="1.0.0.1" store="" storeType="OMEX"/>
  </we:alternateReferences>
  <we:properties>
    <we:property name="claude.fileId" value="&quot;66a6f049-fcc9-46c6-bfc3-b8f1fcac00f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3AA903C02CEB42B8ED53135F8CD172" ma:contentTypeVersion="19" ma:contentTypeDescription="Create a new document." ma:contentTypeScope="" ma:versionID="d26509f8eb1f4bd0cedb37206d7fe58d">
  <xsd:schema xmlns:xsd="http://www.w3.org/2001/XMLSchema" xmlns:xs="http://www.w3.org/2001/XMLSchema" xmlns:p="http://schemas.microsoft.com/office/2006/metadata/properties" xmlns:ns2="97990345-9152-4417-8f04-d1350c114d86" xmlns:ns3="60323a4b-ec8c-4870-a04a-4daeb2e428a0" xmlns:ns4="5684647e-1a6d-4b94-b02a-af0990aec00f" targetNamespace="http://schemas.microsoft.com/office/2006/metadata/properties" ma:root="true" ma:fieldsID="a00cabcfd3e433e5628bc08f43970357" ns2:_="" ns3:_="" ns4:_="">
    <xsd:import namespace="97990345-9152-4417-8f04-d1350c114d86"/>
    <xsd:import namespace="60323a4b-ec8c-4870-a04a-4daeb2e428a0"/>
    <xsd:import namespace="5684647e-1a6d-4b94-b02a-af0990aec00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4:SharedWithUsers" minOccurs="0"/>
                <xsd:element ref="ns4: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990345-9152-4417-8f04-d1350c114d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7491e8-f4ef-4635-9e85-3146e5dcd3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323a4b-ec8c-4870-a04a-4daeb2e428a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b32fd4-b725-4246-ae97-00f2796f2d8b}" ma:internalName="TaxCatchAll" ma:showField="CatchAllData" ma:web="60323a4b-ec8c-4870-a04a-4daeb2e428a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684647e-1a6d-4b94-b02a-af0990aec00f"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lcf76f155ced4ddcb4097134ff3c332f xmlns="97990345-9152-4417-8f04-d1350c114d86">
      <Terms xmlns="http://schemas.microsoft.com/office/infopath/2007/PartnerControls"/>
    </lcf76f155ced4ddcb4097134ff3c332f>
    <TaxCatchAll xmlns="60323a4b-ec8c-4870-a04a-4daeb2e428a0" xsi:nil="true"/>
  </documentManagement>
</p:properties>
</file>

<file path=customXml/itemProps1.xml><?xml version="1.0" encoding="utf-8"?>
<ds:datastoreItem xmlns:ds="http://schemas.openxmlformats.org/officeDocument/2006/customXml" ds:itemID="{595B4667-E460-42B9-B123-AF1C3A04326C}">
  <ds:schemaRefs>
    <ds:schemaRef ds:uri="5684647e-1a6d-4b94-b02a-af0990aec00f"/>
    <ds:schemaRef ds:uri="60323a4b-ec8c-4870-a04a-4daeb2e428a0"/>
    <ds:schemaRef ds:uri="97990345-9152-4417-8f04-d1350c114d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15A05-7974-443B-B2C6-66CA14E10BBE}">
  <ds:schemaRefs>
    <ds:schemaRef ds:uri="http://schemas.microsoft.com/sharepoint/v3/contenttype/forms"/>
  </ds:schemaRefs>
</ds:datastoreItem>
</file>

<file path=customXml/itemProps3.xml><?xml version="1.0" encoding="utf-8"?>
<ds:datastoreItem xmlns:ds="http://schemas.openxmlformats.org/officeDocument/2006/customXml" ds:itemID="{F45B40EE-95C0-4252-9204-87A3C9A26B20}">
  <ds:schemaRefs>
    <ds:schemaRef ds:uri="http://www.w3.org/XML/1998/namespace"/>
    <ds:schemaRef ds:uri="http://purl.org/dc/elements/1.1/"/>
    <ds:schemaRef ds:uri="http://purl.org/dc/terms/"/>
    <ds:schemaRef ds:uri="http://purl.org/dc/dcmitype/"/>
    <ds:schemaRef ds:uri="5684647e-1a6d-4b94-b02a-af0990aec00f"/>
    <ds:schemaRef ds:uri="http://schemas.microsoft.com/office/2006/documentManagement/types"/>
    <ds:schemaRef ds:uri="http://schemas.openxmlformats.org/package/2006/metadata/core-properties"/>
    <ds:schemaRef ds:uri="http://schemas.microsoft.com/office/infopath/2007/PartnerControls"/>
    <ds:schemaRef ds:uri="60323a4b-ec8c-4870-a04a-4daeb2e428a0"/>
    <ds:schemaRef ds:uri="97990345-9152-4417-8f04-d1350c114d86"/>
    <ds:schemaRef ds:uri="http://schemas.microsoft.com/office/2006/metadata/properties"/>
  </ds:schemaRefs>
</ds:datastoreItem>
</file>

<file path=docMetadata/LabelInfo.xml><?xml version="1.0" encoding="utf-8"?>
<clbl:labelList xmlns:clbl="http://schemas.microsoft.com/office/2020/mipLabelMetadata">
  <clbl:label id="{c327fc46-d125-460c-9dec-2276c3cb8bf4}" enabled="0" method="" siteId="{c327fc46-d125-460c-9dec-2276c3cb8bf4}" removed="1"/>
</clbl:labelList>
</file>

<file path=docProps/app.xml><?xml version="1.0" encoding="utf-8"?>
<Properties xmlns="http://schemas.openxmlformats.org/officeDocument/2006/extended-properties" xmlns:vt="http://schemas.openxmlformats.org/officeDocument/2006/docPropsVTypes">
  <Template>Nike Stock Pitch</Template>
  <TotalTime>399</TotalTime>
  <Words>1025</Words>
  <Application>Microsoft Office PowerPoint</Application>
  <PresentationFormat>On-screen Show (4:3)</PresentationFormat>
  <Paragraphs>229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Avenir Next LT Pro</vt:lpstr>
      <vt:lpstr>Avenir Next LT Pro Demi</vt:lpstr>
      <vt:lpstr>Cambria</vt:lpstr>
      <vt:lpstr>Century Gothic</vt:lpstr>
      <vt:lpstr>Wingdings</vt:lpstr>
      <vt:lpstr>Theme1</vt:lpstr>
      <vt:lpstr>PowerPoint Presentation</vt:lpstr>
      <vt:lpstr>Table of Contents</vt:lpstr>
      <vt:lpstr>Investment thesis</vt:lpstr>
      <vt:lpstr>PowerPoint Presentation</vt:lpstr>
      <vt:lpstr>Stock Overview</vt:lpstr>
      <vt:lpstr>PowerPoint Presentation</vt:lpstr>
      <vt:lpstr>Valuation &amp; returns</vt:lpstr>
      <vt:lpstr>PowerPoint Presentation</vt:lpstr>
      <vt:lpstr>PowerPoint Presentation</vt:lpstr>
      <vt:lpstr>Competitive landscape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Derrick Chen</dc:creator>
  <cp:lastModifiedBy>Derrick Chen</cp:lastModifiedBy>
  <cp:revision>3</cp:revision>
  <cp:lastPrinted>2026-06-10T00:07:23Z</cp:lastPrinted>
  <dcterms:created xsi:type="dcterms:W3CDTF">2026-06-26T21:07:49Z</dcterms:created>
  <dcterms:modified xsi:type="dcterms:W3CDTF">2026-07-02T20:59:50Z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TC028048779991</vt:lpwstr>
  </property>
  <property fmtid="{D5CDD505-2E9C-101B-9397-08002B2CF9AE}" pid="3" name="Modified By">
    <vt:lpwstr>i:0#.f|membership|tramirez@kildarepartners.com</vt:lpwstr>
  </property>
  <property fmtid="{D5CDD505-2E9C-101B-9397-08002B2CF9AE}" pid="4" name="Created By">
    <vt:lpwstr>i:0#.f|membership|tramirez@kildarepartners.com</vt:lpwstr>
  </property>
  <property fmtid="{D5CDD505-2E9C-101B-9397-08002B2CF9AE}" pid="5" name="ContentTypeId">
    <vt:lpwstr>0x010100CF3AA903C02CEB42B8ED53135F8CD172</vt:lpwstr>
  </property>
  <property fmtid="{D5CDD505-2E9C-101B-9397-08002B2CF9AE}" pid="6" name="MediaServiceImageTags">
    <vt:lpwstr/>
  </property>
</Properties>
</file>