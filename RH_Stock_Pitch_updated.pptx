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3.xml"/><Relationship Id="rId30" Type="http://schemas.openxmlformats.org/officeDocument/2006/relationships/slide" Target="slides/slide11.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0.xml"/><Relationship Id="rId34" Type="http://schemas.openxmlformats.org/officeDocument/2006/relationships/slide" Target="slides/slide12.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a:ln>
            <a:noFill/>
          </a:ln>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a:ln>
            <a:noFill/>
          </a:ln>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a:ln>
            <a:noFill/>
          </a:ln>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a:ln>
            <a:noFill/>
          </a:ln>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a:ln>
            <a:noFill/>
          </a:ln>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a:ln>
            <a:noFill/>
          </a:ln>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a:ln>
            <a:noFill/>
          </a:ln>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a:ln>
            <a:no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a:ln>
            <a:noFill/>
          </a:ln>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a:ln>
            <a:noFill/>
          </a:ln>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a:ln>
            <a:noFill/>
          </a:ln>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a:ln>
            <a:noFill/>
          </a:ln>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a:ln>
            <a:no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000">
                <a:solidFill>
                  <a:srgbClr val="000000"/>
                </a:solidFill>
                <a:latin typeface="Avenir Next LT Pro Demi"/>
              </a:rPr>
              <a:t>Recent Developments — Strategy in Action (and What to Watch)</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8001000" cy="1325880"/>
          </a:xfrm>
          <a:prstGeom prst="rect">
            <a:avLst/>
          </a:prstGeom>
          <a:noFill/>
          <a:ln>
            <a:noFill/>
          </a:ln>
        </p:spPr>
        <p:txBody>
          <a:bodyPr wrap="square" anchor="ctr">
            <a:spAutoFit/>
          </a:bodyPr>
          <a:lstStyle/>
          <a:p>
            <a:r>
              <a:rPr sz="1350" b="1">
                <a:solidFill>
                  <a:srgbClr val="000000"/>
                </a:solidFill>
                <a:latin typeface="Avenir Next LT Pro Demi"/>
              </a:rPr>
              <a:t>RH Estates — unveiled</a:t>
            </a:r>
          </a:p>
          <a:p>
            <a:pPr>
              <a:spcBef>
                <a:spcPts val="300"/>
              </a:spcBef>
            </a:pPr>
            <a:r>
              <a:rPr sz="1100">
                <a:solidFill>
                  <a:srgbClr val="000000"/>
                </a:solidFill>
                <a:latin typeface="Avenir Next LT Pro"/>
              </a:rPr>
              <a:t>Acquired legendary ateliers — Michael Taylor, Dennis &amp; Leen, Dmitriy &amp; Co., Formations.</a:t>
            </a:r>
          </a:p>
          <a:p>
            <a:pPr>
              <a:spcBef>
                <a:spcPts val="200"/>
              </a:spcBef>
            </a:pPr>
            <a:r>
              <a:rPr sz="1050" i="1">
                <a:solidFill>
                  <a:srgbClr val="000000"/>
                </a:solidFill>
                <a:latin typeface="Avenir Next LT Pro"/>
              </a:rPr>
              <a:t>Watch: Owned exclusivity rivals can't copy — a real moat. Commercially unproven; first read Q2 FY2026.</a:t>
            </a:r>
          </a:p>
        </p:txBody>
      </p:sp>
      <p:sp>
        <p:nvSpPr>
          <p:cNvPr id="6" name="Rectangle 5"/>
          <p:cNvSpPr/>
          <p:nvPr/>
        </p:nvSpPr>
        <p:spPr>
          <a:xfrm>
            <a:off x="457200" y="274320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43200"/>
            <a:ext cx="8001000" cy="1325880"/>
          </a:xfrm>
          <a:prstGeom prst="rect">
            <a:avLst/>
          </a:prstGeom>
          <a:noFill/>
          <a:ln>
            <a:noFill/>
          </a:ln>
        </p:spPr>
        <p:txBody>
          <a:bodyPr wrap="square" anchor="ctr">
            <a:spAutoFit/>
          </a:bodyPr>
          <a:lstStyle/>
          <a:p>
            <a:r>
              <a:rPr sz="1350" b="1">
                <a:solidFill>
                  <a:srgbClr val="000000"/>
                </a:solidFill>
                <a:latin typeface="Avenir Next LT Pro Demi"/>
              </a:rPr>
              <a:t>Mercedes-AMG F1 partnership</a:t>
            </a:r>
          </a:p>
          <a:p>
            <a:pPr>
              <a:spcBef>
                <a:spcPts val="300"/>
              </a:spcBef>
            </a:pPr>
            <a:r>
              <a:rPr sz="1100">
                <a:solidFill>
                  <a:srgbClr val="000000"/>
                </a:solidFill>
                <a:latin typeface="Avenir Next LT Pro"/>
              </a:rPr>
              <a:t>RH to design the team's global hospitality (Abu Dhabi, Miami, Monaco, Silverstone) from late 2026.</a:t>
            </a:r>
          </a:p>
          <a:p>
            <a:pPr>
              <a:spcBef>
                <a:spcPts val="200"/>
              </a:spcBef>
            </a:pPr>
            <a:r>
              <a:rPr sz="1050" i="1">
                <a:solidFill>
                  <a:srgbClr val="000000"/>
                </a:solidFill>
                <a:latin typeface="Avenir Next LT Pro"/>
              </a:rPr>
              <a:t>Watch: Elite brand halo, on-strategy — but immaterial to near-term financials.</a:t>
            </a:r>
          </a:p>
        </p:txBody>
      </p:sp>
      <p:sp>
        <p:nvSpPr>
          <p:cNvPr id="8" name="Rectangle 7"/>
          <p:cNvSpPr/>
          <p:nvPr/>
        </p:nvSpPr>
        <p:spPr>
          <a:xfrm>
            <a:off x="457200" y="420624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206240"/>
            <a:ext cx="8001000" cy="1325880"/>
          </a:xfrm>
          <a:prstGeom prst="rect">
            <a:avLst/>
          </a:prstGeom>
          <a:noFill/>
          <a:ln>
            <a:noFill/>
          </a:ln>
        </p:spPr>
        <p:txBody>
          <a:bodyPr wrap="square" anchor="ctr">
            <a:spAutoFit/>
          </a:bodyPr>
          <a:lstStyle/>
          <a:p>
            <a:r>
              <a:rPr sz="1350" b="1">
                <a:solidFill>
                  <a:srgbClr val="000000"/>
                </a:solidFill>
                <a:latin typeface="Avenir Next LT Pro Demi"/>
              </a:rPr>
              <a:t>RH London — Mayfair flagship</a:t>
            </a:r>
          </a:p>
          <a:p>
            <a:pPr>
              <a:spcBef>
                <a:spcPts val="300"/>
              </a:spcBef>
            </a:pPr>
            <a:r>
              <a:rPr sz="1100">
                <a:solidFill>
                  <a:srgbClr val="000000"/>
                </a:solidFill>
                <a:latin typeface="Avenir Next LT Pro"/>
              </a:rPr>
              <a:t>Five-level gallery in London's luxury core (New Bond St / Savile Row).</a:t>
            </a:r>
          </a:p>
          <a:p>
            <a:pPr>
              <a:spcBef>
                <a:spcPts val="200"/>
              </a:spcBef>
            </a:pPr>
            <a:r>
              <a:rPr sz="1050" i="1">
                <a:solidFill>
                  <a:srgbClr val="000000"/>
                </a:solidFill>
                <a:latin typeface="Avenir Next LT Pro"/>
              </a:rPr>
              <a:t>Watch: Doubles down on Europe — capital-intensive and unproven. Watch productivity vs. margin drag.</a:t>
            </a:r>
          </a:p>
        </p:txBody>
      </p:sp>
      <p:sp>
        <p:nvSpPr>
          <p:cNvPr id="10" name="TextBox 9"/>
          <p:cNvSpPr txBox="1"/>
          <p:nvPr/>
        </p:nvSpPr>
        <p:spPr>
          <a:xfrm>
            <a:off x="457200" y="5532120"/>
            <a:ext cx="8229600" cy="457200"/>
          </a:xfrm>
          <a:prstGeom prst="rect">
            <a:avLst/>
          </a:prstGeom>
          <a:noFill/>
          <a:ln>
            <a:noFill/>
          </a:ln>
        </p:spPr>
        <p:txBody>
          <a:bodyPr wrap="square">
            <a:spAutoFit/>
          </a:bodyPr>
          <a:lstStyle/>
          <a:p>
            <a:r>
              <a:rPr sz="1100" b="1">
                <a:solidFill>
                  <a:srgbClr val="000000"/>
                </a:solidFill>
                <a:latin typeface="Avenir Next LT Pro Demi"/>
              </a:rPr>
              <a:t>Expanding on all fronts — differentiated (Estates) and brand-elevating (F1, Mayfair) — but unproven and/or capital-intensive during a levered stretch. Watch items, not yet catalysts.</a:t>
            </a:r>
          </a:p>
        </p:txBody>
      </p:sp>
      <p:sp>
        <p:nvSpPr>
          <p:cNvPr id="11" name="TextBox 10"/>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RH company announcements (Business Wire),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a:ln>
            <a:noFill/>
          </a:ln>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a:ln>
            <a:noFill/>
          </a:ln>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a:ln>
            <a:noFill/>
          </a:ln>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a:ln>
            <a:noFill/>
          </a:ln>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a:ln>
            <a:noFill/>
          </a:ln>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a:ln>
            <a:noFill/>
          </a:ln>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a:ln>
            <a:noFill/>
          </a:ln>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a:ln>
            <a:noFill/>
          </a:ln>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a:ln>
            <a:noFill/>
          </a:ln>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Insider &amp; Governance Signals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600" cy="4114800"/>
        </p:xfrm>
        <a:graphic>
          <a:graphicData uri="http://schemas.openxmlformats.org/drawingml/2006/table">
            <a:tbl>
              <a:tblPr>
                <a:tableStyleId>{5C22544A-7EE6-4342-B048-85BDC9FD1C3A}</a:tableStyleId>
              </a:tblPr>
              <a:tblGrid>
                <a:gridCol w="2148840"/>
                <a:gridCol w="3703320"/>
                <a:gridCol w="2377440"/>
              </a:tblGrid>
              <a:tr h="822960">
                <a:tc>
                  <a:txBody>
                    <a:bodyPr/>
                    <a:lstStyle/>
                    <a:p>
                      <a:pPr algn="l"/>
                      <a:r>
                        <a:rPr sz="1100" b="1">
                          <a:solidFill>
                            <a:srgbClr val="FFFFFF"/>
                          </a:solidFill>
                          <a:latin typeface="Avenir Next LT Pro Demi"/>
                        </a:rPr>
                        <a:t>Signal</a:t>
                      </a:r>
                    </a:p>
                  </a:txBody>
                  <a:tcPr marL="82296" marT="36576" marB="36576" anchor="ctr">
                    <a:solidFill>
                      <a:srgbClr val="9A7B44"/>
                    </a:solidFill>
                  </a:tcPr>
                </a:tc>
                <a:tc>
                  <a:txBody>
                    <a:bodyPr/>
                    <a:lstStyle/>
                    <a:p>
                      <a:pPr algn="l"/>
                      <a:r>
                        <a:rPr sz="1100" b="1">
                          <a:solidFill>
                            <a:srgbClr val="FFFFFF"/>
                          </a:solidFill>
                          <a:latin typeface="Avenir Next LT Pro Demi"/>
                        </a:rPr>
                        <a:t>What we see</a:t>
                      </a:r>
                    </a:p>
                  </a:txBody>
                  <a:tcPr marL="82296" marT="36576" marB="36576" anchor="ctr">
                    <a:solidFill>
                      <a:srgbClr val="9A7B44"/>
                    </a:solidFill>
                  </a:tcPr>
                </a:tc>
                <a:tc>
                  <a:txBody>
                    <a:bodyPr/>
                    <a:lstStyle/>
                    <a:p>
                      <a:pPr algn="l"/>
                      <a:r>
                        <a:rPr sz="1100" b="1">
                          <a:solidFill>
                            <a:srgbClr val="FFFFFF"/>
                          </a:solidFill>
                          <a:latin typeface="Avenir Next LT Pro Demi"/>
                        </a:rPr>
                        <a:t>Read</a:t>
                      </a:r>
                    </a:p>
                  </a:txBody>
                  <a:tcPr marL="82296" marT="36576" marB="36576" anchor="ctr">
                    <a:solidFill>
                      <a:srgbClr val="9A7B44"/>
                    </a:solidFill>
                  </a:tcPr>
                </a:tc>
              </a:tr>
              <a:tr h="822960">
                <a:tc>
                  <a:txBody>
                    <a:bodyPr/>
                    <a:lstStyle/>
                    <a:p>
                      <a:pPr algn="l"/>
                      <a:r>
                        <a:rPr sz="1050" b="1">
                          <a:solidFill>
                            <a:srgbClr val="000000"/>
                          </a:solidFill>
                          <a:latin typeface="Avenir Next LT Pro Demi"/>
                        </a:rPr>
                        <a:t>Founder ownership</a:t>
                      </a:r>
                    </a:p>
                  </a:txBody>
                  <a:tcPr marL="82296" marT="36576" marB="36576" anchor="ctr">
                    <a:solidFill>
                      <a:srgbClr val="FFFFFF"/>
                    </a:solidFill>
                  </a:tcPr>
                </a:tc>
                <a:tc>
                  <a:txBody>
                    <a:bodyPr/>
                    <a:lstStyle/>
                    <a:p>
                      <a:pPr algn="l"/>
                      <a:r>
                        <a:rPr sz="1050" b="0">
                          <a:solidFill>
                            <a:srgbClr val="000000"/>
                          </a:solidFill>
                          <a:latin typeface="Avenir Next LT Pro"/>
                        </a:rPr>
                        <a:t>Friedman owns ~18% outright (~25% incl. options); bought ~$10M at ~$216 (Jun 2024)</a:t>
                      </a:r>
                    </a:p>
                  </a:txBody>
                  <a:tcPr marL="82296" marT="36576" marB="36576" anchor="ctr">
                    <a:solidFill>
                      <a:srgbClr val="FFFFFF"/>
                    </a:solidFill>
                  </a:tcPr>
                </a:tc>
                <a:tc>
                  <a:txBody>
                    <a:bodyPr/>
                    <a:lstStyle/>
                    <a:p>
                      <a:pPr algn="l"/>
                      <a:r>
                        <a:rPr sz="1050" b="0">
                          <a:solidFill>
                            <a:srgbClr val="000000"/>
                          </a:solidFill>
                          <a:latin typeface="Avenir Next LT Pro"/>
                        </a:rPr>
                        <a:t>Deep alignment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Recent insider activity</a:t>
                      </a:r>
                    </a:p>
                  </a:txBody>
                  <a:tcPr marL="82296" marT="36576" marB="36576" anchor="ctr">
                    <a:solidFill>
                      <a:srgbClr val="F4F6F8"/>
                    </a:solidFill>
                  </a:tcPr>
                </a:tc>
                <a:tc>
                  <a:txBody>
                    <a:bodyPr/>
                    <a:lstStyle/>
                    <a:p>
                      <a:pPr algn="l"/>
                      <a:r>
                        <a:rPr sz="1050" b="0">
                          <a:solidFill>
                            <a:srgbClr val="000000"/>
                          </a:solidFill>
                          <a:latin typeface="Avenir Next LT Pro"/>
                        </a:rPr>
                        <a:t>Mixed — mostly sales (partly option/tax-driven), plus a recent director open-market buy (~$1.8M, Jul 2026)</a:t>
                      </a:r>
                    </a:p>
                  </a:txBody>
                  <a:tcPr marL="82296" marT="36576" marB="36576" anchor="ctr">
                    <a:solidFill>
                      <a:srgbClr val="F4F6F8"/>
                    </a:solidFill>
                  </a:tcPr>
                </a:tc>
                <a:tc>
                  <a:txBody>
                    <a:bodyPr/>
                    <a:lstStyle/>
                    <a:p>
                      <a:pPr algn="l"/>
                      <a:r>
                        <a:rPr sz="1050" b="0">
                          <a:solidFill>
                            <a:srgbClr val="000000"/>
                          </a:solidFill>
                          <a:latin typeface="Avenir Next LT Pro"/>
                        </a:rPr>
                        <a:t>No strong insider signal either way</a:t>
                      </a:r>
                    </a:p>
                  </a:txBody>
                  <a:tcPr marL="82296" marT="36576" marB="36576" anchor="ctr">
                    <a:solidFill>
                      <a:srgbClr val="F4F6F8"/>
                    </a:solidFill>
                  </a:tcPr>
                </a:tc>
              </a:tr>
              <a:tr h="822960">
                <a:tc>
                  <a:txBody>
                    <a:bodyPr/>
                    <a:lstStyle/>
                    <a:p>
                      <a:pPr algn="l"/>
                      <a:r>
                        <a:rPr sz="1050" b="1">
                          <a:solidFill>
                            <a:srgbClr val="000000"/>
                          </a:solidFill>
                          <a:latin typeface="Avenir Next LT Pro Demi"/>
                        </a:rPr>
                        <a:t>Board &amp; governance</a:t>
                      </a:r>
                    </a:p>
                  </a:txBody>
                  <a:tcPr marL="82296" marT="36576" marB="36576" anchor="ctr">
                    <a:solidFill>
                      <a:srgbClr val="FFFFFF"/>
                    </a:solidFill>
                  </a:tcPr>
                </a:tc>
                <a:tc>
                  <a:txBody>
                    <a:bodyPr/>
                    <a:lstStyle/>
                    <a:p>
                      <a:pPr algn="l"/>
                      <a:r>
                        <a:rPr sz="1050" b="0">
                          <a:solidFill>
                            <a:srgbClr val="000000"/>
                          </a:solidFill>
                          <a:latin typeface="Avenir Next LT Pro"/>
                        </a:rPr>
                        <a:t>Jun 2026 annual meeting: directors re-elected; say-on-pay &amp; PwC ratified</a:t>
                      </a:r>
                    </a:p>
                  </a:txBody>
                  <a:tcPr marL="82296" marT="36576" marB="36576" anchor="ctr">
                    <a:solidFill>
                      <a:srgbClr val="FFFFFF"/>
                    </a:solidFill>
                  </a:tcPr>
                </a:tc>
                <a:tc>
                  <a:txBody>
                    <a:bodyPr/>
                    <a:lstStyle/>
                    <a:p>
                      <a:pPr algn="l"/>
                      <a:r>
                        <a:rPr sz="1050" b="0">
                          <a:solidFill>
                            <a:srgbClr val="000000"/>
                          </a:solidFill>
                          <a:latin typeface="Avenir Next LT Pro"/>
                        </a:rPr>
                        <a:t>Stable, founder-led; no activist involvement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Management intent</a:t>
                      </a:r>
                    </a:p>
                  </a:txBody>
                  <a:tcPr marL="82296" marT="36576" marB="36576" anchor="ctr">
                    <a:solidFill>
                      <a:srgbClr val="F4F6F8"/>
                    </a:solidFill>
                  </a:tcPr>
                </a:tc>
                <a:tc>
                  <a:txBody>
                    <a:bodyPr/>
                    <a:lstStyle/>
                    <a:p>
                      <a:pPr algn="l"/>
                      <a:r>
                        <a:rPr sz="1050" b="0">
                          <a:solidFill>
                            <a:srgbClr val="000000"/>
                          </a:solidFill>
                          <a:latin typeface="Avenir Next LT Pro"/>
                        </a:rPr>
                        <a:t>Stated goal: debt-free by 2029 (FCF + asset sales); Estates upmarket push</a:t>
                      </a:r>
                    </a:p>
                  </a:txBody>
                  <a:tcPr marL="82296" marT="36576" marB="36576" anchor="ctr">
                    <a:solidFill>
                      <a:srgbClr val="F4F6F8"/>
                    </a:solidFill>
                  </a:tcPr>
                </a:tc>
                <a:tc>
                  <a:txBody>
                    <a:bodyPr/>
                    <a:lstStyle/>
                    <a:p>
                      <a:pPr algn="l"/>
                      <a:r>
                        <a:rPr sz="1050" b="0">
                          <a:solidFill>
                            <a:srgbClr val="000000"/>
                          </a:solidFill>
                          <a:latin typeface="Avenir Next LT Pro"/>
                        </a:rPr>
                        <a:t>Addressing leverage, but expansion spend continues</a:t>
                      </a:r>
                    </a:p>
                  </a:txBody>
                  <a:tcPr marL="82296" marT="36576" marB="36576" anchor="ctr">
                    <a:solidFill>
                      <a:srgbClr val="F4F6F8"/>
                    </a:solidFill>
                  </a:tcPr>
                </a:tc>
              </a:tr>
            </a:tbl>
          </a:graphicData>
        </a:graphic>
      </p:graphicFrame>
      <p:sp>
        <p:nvSpPr>
          <p:cNvPr id="5" name="TextBox 4"/>
          <p:cNvSpPr txBox="1"/>
          <p:nvPr/>
        </p:nvSpPr>
        <p:spPr>
          <a:xfrm>
            <a:off x="457200" y="5623560"/>
            <a:ext cx="8229600" cy="457200"/>
          </a:xfrm>
          <a:prstGeom prst="rect">
            <a:avLst/>
          </a:prstGeom>
          <a:noFill/>
          <a:ln>
            <a:noFill/>
          </a:ln>
        </p:spPr>
        <p:txBody>
          <a:bodyPr wrap="square">
            <a:spAutoFit/>
          </a:bodyPr>
          <a:lstStyle/>
          <a:p>
            <a:r>
              <a:rPr sz="1100" b="1">
                <a:solidFill>
                  <a:srgbClr val="000000"/>
                </a:solidFill>
                <a:latin typeface="Avenir Next LT Pro Demi"/>
              </a:rPr>
              <a:t>Net: founder alignment is real, but recent insider activity is mixed (mostly sales, one recent director buy) — no strong signal either way. Governance is stable and founder-controlled (no activist catalyst). Consistent with Hold.</a:t>
            </a:r>
          </a:p>
        </p:txBody>
      </p:sp>
      <p:sp>
        <p:nvSpPr>
          <p:cNvPr id="6" name="TextBox 5"/>
          <p:cNvSpPr txBox="1"/>
          <p:nvPr/>
        </p:nvSpPr>
        <p:spPr>
          <a:xfrm>
            <a:off x="457200" y="6309360"/>
            <a:ext cx="8229600" cy="320040"/>
          </a:xfrm>
          <a:prstGeom prst="rect">
            <a:avLst/>
          </a:prstGeom>
          <a:noFill/>
          <a:ln>
            <a:noFill/>
          </a:ln>
        </p:spPr>
        <p:txBody>
          <a:bodyPr wrap="none">
            <a:spAutoFit/>
          </a:bodyPr>
          <a:lstStyle/>
          <a:p>
            <a:r>
              <a:rPr sz="750" i="1">
                <a:solidFill>
                  <a:srgbClr val="707070"/>
                </a:solidFill>
                <a:latin typeface="Avenir Next LT Pro"/>
              </a:rPr>
              <a:t>Sources: RH DEF 14A proxy; SEC Form 4 filings; RH 8-K (Jun 2026 annual meeting); company guidance.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a:ln>
            <a:no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a:ln>
            <a:no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a:ln>
            <a:no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a:ln>
            <a:no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a:ln>
            <a:no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a:ln>
            <a:no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a:ln>
            <a:noFill/>
          </a:ln>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a:ln>
            <a:noFill/>
          </a:ln>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no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Management &amp; Ownership</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599" cy="4114800"/>
        </p:xfrm>
        <a:graphic>
          <a:graphicData uri="http://schemas.openxmlformats.org/drawingml/2006/table">
            <a:tbl>
              <a:tblPr>
                <a:tableStyleId>{5C22544A-7EE6-4342-B048-85BDC9FD1C3A}</a:tableStyleId>
              </a:tblPr>
              <a:tblGrid>
                <a:gridCol w="1920240"/>
                <a:gridCol w="3977639"/>
                <a:gridCol w="2331720"/>
              </a:tblGrid>
              <a:tr h="822960">
                <a:tc>
                  <a:txBody>
                    <a:bodyPr/>
                    <a:lstStyle/>
                    <a:p>
                      <a:r>
                        <a:rPr sz="1050" b="1">
                          <a:solidFill>
                            <a:srgbClr val="FFFFFF"/>
                          </a:solidFill>
                          <a:latin typeface="Avenir Next LT Pro Demi"/>
                        </a:rPr>
                        <a:t>Item</a:t>
                      </a:r>
                    </a:p>
                  </a:txBody>
                  <a:tcPr marL="82296" anchor="ctr">
                    <a:solidFill>
                      <a:srgbClr val="9A7B44"/>
                    </a:solidFill>
                  </a:tcPr>
                </a:tc>
                <a:tc>
                  <a:txBody>
                    <a:bodyPr/>
                    <a:lstStyle/>
                    <a:p>
                      <a:r>
                        <a:rPr sz="1050" b="1">
                          <a:solidFill>
                            <a:srgbClr val="FFFFFF"/>
                          </a:solidFill>
                          <a:latin typeface="Avenir Next LT Pro"/>
                        </a:rPr>
                        <a:t>Detail</a:t>
                      </a:r>
                    </a:p>
                  </a:txBody>
                  <a:tcPr marL="82296" anchor="ctr">
                    <a:solidFill>
                      <a:srgbClr val="9A7B44"/>
                    </a:solidFill>
                  </a:tcPr>
                </a:tc>
                <a:tc>
                  <a:txBody>
                    <a:bodyPr/>
                    <a:lstStyle/>
                    <a:p>
                      <a:r>
                        <a:rPr sz="1050" b="1">
                          <a:solidFill>
                            <a:srgbClr val="FFFFFF"/>
                          </a:solidFill>
                          <a:latin typeface="Avenir Next LT Pro"/>
                        </a:rPr>
                        <a:t>Read</a:t>
                      </a:r>
                    </a:p>
                  </a:txBody>
                  <a:tcPr marL="82296" anchor="ctr">
                    <a:solidFill>
                      <a:srgbClr val="9A7B44"/>
                    </a:solidFill>
                  </a:tcPr>
                </a:tc>
              </a:tr>
              <a:tr h="822960">
                <a:tc>
                  <a:txBody>
                    <a:bodyPr/>
                    <a:lstStyle/>
                    <a:p>
                      <a:r>
                        <a:rPr sz="1050" b="1">
                          <a:solidFill>
                            <a:srgbClr val="000000"/>
                          </a:solidFill>
                          <a:latin typeface="Avenir Next LT Pro Demi"/>
                        </a:rPr>
                        <a:t>Operator</a:t>
                      </a:r>
                    </a:p>
                  </a:txBody>
                  <a:tcPr marL="82296" anchor="ctr">
                    <a:solidFill>
                      <a:srgbClr val="FFFFFF"/>
                    </a:solidFill>
                  </a:tcPr>
                </a:tc>
                <a:tc>
                  <a:txBody>
                    <a:bodyPr/>
                    <a:lstStyle/>
                    <a:p>
                      <a:r>
                        <a:rPr sz="1050" b="0">
                          <a:solidFill>
                            <a:srgbClr val="000000"/>
                          </a:solidFill>
                          <a:latin typeface="Avenir Next LT Pro"/>
                        </a:rPr>
                        <a:t>Friedman (Chair/CEO): grew Pottery Barn $50M→$1B; rebuilt RH from near-bankruptcy (2001)</a:t>
                      </a:r>
                    </a:p>
                  </a:txBody>
                  <a:tcPr marL="82296" anchor="ctr">
                    <a:solidFill>
                      <a:srgbClr val="FFFFFF"/>
                    </a:solidFill>
                  </a:tcPr>
                </a:tc>
                <a:tc>
                  <a:txBody>
                    <a:bodyPr/>
                    <a:lstStyle/>
                    <a:p>
                      <a:r>
                        <a:rPr sz="1050" b="0">
                          <a:solidFill>
                            <a:srgbClr val="000000"/>
                          </a:solidFill>
                          <a:latin typeface="Avenir Next LT Pro"/>
                        </a:rPr>
                        <a:t>Proven; key-man risk</a:t>
                      </a:r>
                    </a:p>
                  </a:txBody>
                  <a:tcPr marL="82296" anchor="ctr">
                    <a:solidFill>
                      <a:srgbClr val="FFFFFF"/>
                    </a:solidFill>
                  </a:tcPr>
                </a:tc>
              </a:tr>
              <a:tr h="822960">
                <a:tc>
                  <a:txBody>
                    <a:bodyPr/>
                    <a:lstStyle/>
                    <a:p>
                      <a:r>
                        <a:rPr sz="1050" b="1">
                          <a:solidFill>
                            <a:srgbClr val="000000"/>
                          </a:solidFill>
                          <a:latin typeface="Avenir Next LT Pro Demi"/>
                        </a:rPr>
                        <a:t>Ownership</a:t>
                      </a:r>
                    </a:p>
                  </a:txBody>
                  <a:tcPr marL="82296" anchor="ctr">
                    <a:solidFill>
                      <a:srgbClr val="F4F6F8"/>
                    </a:solidFill>
                  </a:tcPr>
                </a:tc>
                <a:tc>
                  <a:txBody>
                    <a:bodyPr/>
                    <a:lstStyle/>
                    <a:p>
                      <a:r>
                        <a:rPr sz="1050" b="0">
                          <a:solidFill>
                            <a:srgbClr val="000000"/>
                          </a:solidFill>
                          <a:latin typeface="Avenir Next LT Pro"/>
                        </a:rPr>
                        <a:t>~18% outright (~25% incl. options); bought ~$10M at ~$216 (Jun 2024)</a:t>
                      </a:r>
                    </a:p>
                  </a:txBody>
                  <a:tcPr marL="82296" anchor="ctr">
                    <a:solidFill>
                      <a:srgbClr val="F4F6F8"/>
                    </a:solidFill>
                  </a:tcPr>
                </a:tc>
                <a:tc>
                  <a:txBody>
                    <a:bodyPr/>
                    <a:lstStyle/>
                    <a:p>
                      <a:r>
                        <a:rPr sz="1050" b="0">
                          <a:solidFill>
                            <a:srgbClr val="000000"/>
                          </a:solidFill>
                          <a:latin typeface="Avenir Next LT Pro"/>
                        </a:rPr>
                        <a:t>Deep alignment</a:t>
                      </a:r>
                    </a:p>
                  </a:txBody>
                  <a:tcPr marL="82296" anchor="ctr">
                    <a:solidFill>
                      <a:srgbClr val="F4F6F8"/>
                    </a:solidFill>
                  </a:tcPr>
                </a:tc>
              </a:tr>
              <a:tr h="822960">
                <a:tc>
                  <a:txBody>
                    <a:bodyPr/>
                    <a:lstStyle/>
                    <a:p>
                      <a:r>
                        <a:rPr sz="1050" b="1">
                          <a:solidFill>
                            <a:srgbClr val="000000"/>
                          </a:solidFill>
                          <a:latin typeface="Avenir Next LT Pro Demi"/>
                        </a:rPr>
                        <a:t>Recent insider activity</a:t>
                      </a:r>
                    </a:p>
                  </a:txBody>
                  <a:tcPr marL="82296" anchor="ctr">
                    <a:solidFill>
                      <a:srgbClr val="FFFFFF"/>
                    </a:solidFill>
                  </a:tcPr>
                </a:tc>
                <a:tc>
                  <a:txBody>
                    <a:bodyPr/>
                    <a:lstStyle/>
                    <a:p>
                      <a:r>
                        <a:rPr sz="1050" b="0">
                          <a:solidFill>
                            <a:srgbClr val="000000"/>
                          </a:solidFill>
                          <a:latin typeface="Avenir Next LT Pro"/>
                        </a:rPr>
                        <a:t>Mixed — mostly sales (option/tax) + a recent director open-market buy</a:t>
                      </a:r>
                    </a:p>
                  </a:txBody>
                  <a:tcPr marL="82296" anchor="ctr">
                    <a:solidFill>
                      <a:srgbClr val="FFFFFF"/>
                    </a:solidFill>
                  </a:tcPr>
                </a:tc>
                <a:tc>
                  <a:txBody>
                    <a:bodyPr/>
                    <a:lstStyle/>
                    <a:p>
                      <a:r>
                        <a:rPr sz="1050" b="0">
                          <a:solidFill>
                            <a:srgbClr val="000000"/>
                          </a:solidFill>
                          <a:latin typeface="Avenir Next LT Pro"/>
                        </a:rPr>
                        <a:t>No strong signal</a:t>
                      </a:r>
                    </a:p>
                  </a:txBody>
                  <a:tcPr marL="82296" anchor="ctr">
                    <a:solidFill>
                      <a:srgbClr val="FFFFFF"/>
                    </a:solidFill>
                  </a:tcPr>
                </a:tc>
              </a:tr>
              <a:tr h="822960">
                <a:tc>
                  <a:txBody>
                    <a:bodyPr/>
                    <a:lstStyle/>
                    <a:p>
                      <a:r>
                        <a:rPr sz="1050" b="1">
                          <a:solidFill>
                            <a:srgbClr val="000000"/>
                          </a:solidFill>
                          <a:latin typeface="Avenir Next LT Pro Demi"/>
                        </a:rPr>
                        <a:t>Governance</a:t>
                      </a:r>
                    </a:p>
                  </a:txBody>
                  <a:tcPr marL="82296" anchor="ctr">
                    <a:solidFill>
                      <a:srgbClr val="F4F6F8"/>
                    </a:solidFill>
                  </a:tcPr>
                </a:tc>
                <a:tc>
                  <a:txBody>
                    <a:bodyPr/>
                    <a:lstStyle/>
                    <a:p>
                      <a:r>
                        <a:rPr sz="1050" b="0">
                          <a:solidFill>
                            <a:srgbClr val="000000"/>
                          </a:solidFill>
                          <a:latin typeface="Avenir Next LT Pro"/>
                        </a:rPr>
                        <a:t>Founder-led; Jun 2026 annual meeting routine; no activist involvement</a:t>
                      </a:r>
                    </a:p>
                  </a:txBody>
                  <a:tcPr marL="82296" anchor="ctr">
                    <a:solidFill>
                      <a:srgbClr val="F4F6F8"/>
                    </a:solidFill>
                  </a:tcPr>
                </a:tc>
                <a:tc>
                  <a:txBody>
                    <a:bodyPr/>
                    <a:lstStyle/>
                    <a:p>
                      <a:r>
                        <a:rPr sz="1050" b="0">
                          <a:solidFill>
                            <a:srgbClr val="000000"/>
                          </a:solidFill>
                          <a:latin typeface="Avenir Next LT Pro"/>
                        </a:rPr>
                        <a:t>Stable; no catalyst</a:t>
                      </a:r>
                    </a:p>
                  </a:txBody>
                  <a:tcPr marL="82296" anchor="ctr">
                    <a:solidFill>
                      <a:srgbClr val="F4F6F8"/>
                    </a:solidFill>
                  </a:tcPr>
                </a:tc>
              </a:tr>
            </a:tbl>
          </a:graphicData>
        </a:graphic>
      </p:graphicFrame>
      <p:sp>
        <p:nvSpPr>
          <p:cNvPr id="5" name="TextBox 4"/>
          <p:cNvSpPr txBox="1"/>
          <p:nvPr/>
        </p:nvSpPr>
        <p:spPr>
          <a:xfrm>
            <a:off x="457200" y="5669280"/>
            <a:ext cx="8229600" cy="365760"/>
          </a:xfrm>
          <a:prstGeom prst="rect">
            <a:avLst/>
          </a:prstGeom>
          <a:noFill/>
          <a:ln>
            <a:noFill/>
          </a:ln>
        </p:spPr>
        <p:txBody>
          <a:bodyPr wrap="square">
            <a:spAutoFit/>
          </a:bodyPr>
          <a:lstStyle/>
          <a:p>
            <a:r>
              <a:rPr sz="1150" b="1" i="0">
                <a:solidFill>
                  <a:srgbClr val="000000"/>
                </a:solidFill>
                <a:latin typeface="Avenir Next LT Pro Demi"/>
              </a:rPr>
              <a:t>Aligned, proven operator — but no activist catalyst and no strong insider “buy” signal.</a:t>
            </a:r>
          </a:p>
        </p:txBody>
      </p:sp>
      <p:sp>
        <p:nvSpPr>
          <p:cNvPr id="6" name="TextBox 5"/>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DEF 14A proxy; SEC Form 4; RH 8-K (Jun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