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481" r:id="rId9"/>
    <p:sldId id="508" r:id="rId10"/>
    <p:sldId id="482" r:id="rId11"/>
    <p:sldId id="509" r:id="rId12"/>
    <p:sldId id="510" r:id="rId13"/>
    <p:sldId id="506" r:id="rId14"/>
    <p:sldId id="511" r:id="rId15"/>
    <p:sldId id="513" r:id="rId16"/>
    <p:sldId id="514" r:id="rId27"/>
    <p:sldId id="515" r:id="rId28"/>
    <p:sldId id="516" r:id="rId29"/>
    <p:sldId id="517" r:id="rId30"/>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Buy</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~$240</a:t>
            </a:r>
            <a:r>
              <a:rPr sz="1200" b="0" dirty="0">
                <a:solidFill>
                  <a:srgbClr val="9AB0C4"/>
                </a:solidFill>
                <a:latin typeface="Avenir Next LT Pro"/>
              </a:rPr>
              <a:t>  </a:t>
            </a:r>
            <a:r>
              <a:rPr sz="1200" b="0" dirty="0">
                <a:solidFill>
                  <a:schemeClr val="bg1"/>
                </a:solidFill>
                <a:latin typeface="Avenir Next LT Pro"/>
              </a:rPr>
              <a:t>(today)</a:t>
            </a:r>
          </a:p>
          <a:p>
            <a:pPr algn="l"/>
            <a:r>
              <a:rPr sz="1100" b="0" dirty="0">
                <a:solidFill>
                  <a:schemeClr val="bg1"/>
                </a:solidFill>
                <a:latin typeface="Avenir Next LT Pro"/>
              </a:rPr>
              <a:t>~</a:t>
            </a:r>
            <a:r>
              <a:rPr lang="en-US" sz="1100" b="0" dirty="0">
                <a:solidFill>
                  <a:schemeClr val="bg1"/>
                </a:solidFill>
                <a:latin typeface="Avenir Next LT Pro"/>
              </a:rPr>
              <a:t>45</a:t>
            </a:r>
            <a:r>
              <a:rPr sz="1100" b="0" dirty="0">
                <a:solidFill>
                  <a:schemeClr val="bg1"/>
                </a:solidFill>
                <a:latin typeface="Avenir Next LT Pro"/>
              </a:rPr>
              <a:t>% upside to fair value   ·   FY2027E base target ~$310 (~28% IRR)   ·   Prob-weighted ~$</a:t>
            </a:r>
            <a:r>
              <a:rPr lang="en-US" sz="1100" b="0" dirty="0">
                <a:solidFill>
                  <a:schemeClr val="bg1"/>
                </a:solidFill>
                <a:latin typeface="Avenir Next LT Pro"/>
              </a:rPr>
              <a:t>285</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~$310</a:t>
            </a:r>
            <a:r>
              <a:rPr lang="en-US" sz="2400" b="1" dirty="0">
                <a:solidFill>
                  <a:srgbClr val="156082"/>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3410712"/>
            <a:ext cx="3776472" cy="1049005"/>
          </a:xfrm>
          <a:prstGeom prst="rect">
            <a:avLst/>
          </a:prstGeom>
          <a:noFill/>
        </p:spPr>
        <p:txBody>
          <a:bodyPr wrap="square">
            <a:spAutoFit/>
          </a:bodyPr>
          <a:lstStyle/>
          <a:p>
            <a:r>
              <a:rPr sz="1350" b="1" dirty="0">
                <a:latin typeface="Avenir Next LT Pro Demi"/>
              </a:rPr>
              <a:t>Bet on the operator</a:t>
            </a:r>
          </a:p>
          <a:p>
            <a:pPr marL="171450" indent="-171450">
              <a:spcBef>
                <a:spcPts val="200"/>
              </a:spcBef>
              <a:buFont typeface="Arial" panose="020B0604020202020204" pitchFamily="34" charset="0"/>
              <a:buChar char="•"/>
            </a:pPr>
            <a:r>
              <a:rPr sz="1050" b="0" dirty="0">
                <a:latin typeface="Avenir Next LT Pro"/>
              </a:rPr>
              <a:t>Friedman took Pottery Barn from $50M to $1B+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B</a:t>
            </a:r>
            <a:r>
              <a:rPr sz="1050" b="0" dirty="0">
                <a:latin typeface="Avenir Next LT Pro"/>
              </a:rPr>
              <a:t>uilt the Gallery model</a:t>
            </a:r>
            <a:endParaRPr lang="en-US" sz="1050" b="0" dirty="0">
              <a:latin typeface="Avenir Next LT Pro"/>
            </a:endParaRPr>
          </a:p>
          <a:p>
            <a:pPr marL="171450" indent="-171450">
              <a:spcBef>
                <a:spcPts val="200"/>
              </a:spcBef>
              <a:buFont typeface="Arial" panose="020B0604020202020204" pitchFamily="34" charset="0"/>
              <a:buChar char="•"/>
            </a:pPr>
            <a:r>
              <a:rPr lang="en-US" sz="1050" b="0" dirty="0">
                <a:latin typeface="Avenir Next LT Pro"/>
              </a:rPr>
              <a:t>~18% outright (~25% incl. options); </a:t>
            </a:r>
            <a:r>
              <a:rPr sz="1050" b="0" dirty="0">
                <a:latin typeface="Avenir Next LT Pro"/>
              </a:rPr>
              <a:t>bought ~$10M at ~$216 (Jun '24)</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O</a:t>
            </a:r>
            <a:r>
              <a:rPr sz="1050" b="0" dirty="0">
                <a:latin typeface="Avenir Next LT Pro"/>
              </a:rPr>
              <a:t>perator bet, not a macro bet</a:t>
            </a:r>
          </a:p>
        </p:txBody>
      </p:sp>
      <p:sp>
        <p:nvSpPr>
          <p:cNvPr id="10" name="Rectangle 9"/>
          <p:cNvSpPr/>
          <p:nvPr/>
        </p:nvSpPr>
        <p:spPr>
          <a:xfrm>
            <a:off x="4709159"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73751" y="3410712"/>
            <a:ext cx="3776472" cy="836126"/>
          </a:xfrm>
          <a:prstGeom prst="rect">
            <a:avLst/>
          </a:prstGeom>
          <a:noFill/>
        </p:spPr>
        <p:txBody>
          <a:bodyPr wrap="square">
            <a:spAutoFit/>
          </a:bodyPr>
          <a:lstStyle/>
          <a:p>
            <a:r>
              <a:rPr sz="1350" b="1" dirty="0">
                <a:latin typeface="Avenir Next LT Pro Demi"/>
              </a:rPr>
              <a:t>Estates </a:t>
            </a:r>
            <a:r>
              <a:rPr lang="en-US" sz="1350" b="1" dirty="0">
                <a:latin typeface="Avenir Next LT Pro Demi"/>
              </a:rPr>
              <a:t>targets the rate-immune buyer</a:t>
            </a:r>
            <a:endParaRPr sz="1350" b="1" dirty="0">
              <a:latin typeface="Avenir Next LT Pro Demi"/>
            </a:endParaRPr>
          </a:p>
          <a:p>
            <a:pPr marL="171450" indent="-171450">
              <a:spcBef>
                <a:spcPts val="200"/>
              </a:spcBef>
              <a:buFont typeface="Arial" panose="020B0604020202020204" pitchFamily="34" charset="0"/>
              <a:buChar char="•"/>
            </a:pPr>
            <a:r>
              <a:rPr sz="1050" b="0" dirty="0">
                <a:latin typeface="Avenir Next LT Pro"/>
              </a:rPr>
              <a:t>Targets rate-insensitive cash buyers at $20K+ pieces</a:t>
            </a:r>
            <a:endParaRPr lang="en-US" sz="1050" b="0" dirty="0">
              <a:latin typeface="Avenir Next LT Pro"/>
            </a:endParaRPr>
          </a:p>
          <a:p>
            <a:pPr marL="171450" indent="-171450">
              <a:spcBef>
                <a:spcPts val="200"/>
              </a:spcBef>
              <a:buFont typeface="Arial" panose="020B0604020202020204" pitchFamily="34" charset="0"/>
              <a:buChar char="•"/>
            </a:pPr>
            <a:r>
              <a:rPr sz="1050" b="0" dirty="0">
                <a:latin typeface="Avenir Next LT Pro"/>
              </a:rPr>
              <a:t>In galleries covering 60–65% of the business by Sept 2026</a:t>
            </a:r>
          </a:p>
        </p:txBody>
      </p:sp>
      <p:sp>
        <p:nvSpPr>
          <p:cNvPr id="12" name="Rectangle 11"/>
          <p:cNvSpPr/>
          <p:nvPr/>
        </p:nvSpPr>
        <p:spPr>
          <a:xfrm>
            <a:off x="457200"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4709160"/>
            <a:ext cx="3776472" cy="836126"/>
          </a:xfrm>
          <a:prstGeom prst="rect">
            <a:avLst/>
          </a:prstGeom>
          <a:noFill/>
        </p:spPr>
        <p:txBody>
          <a:bodyPr wrap="square">
            <a:spAutoFit/>
          </a:bodyPr>
          <a:lstStyle/>
          <a:p>
            <a:r>
              <a:rPr sz="1350" b="1" dirty="0">
                <a:latin typeface="Avenir Next LT Pro Demi"/>
              </a:rPr>
              <a:t>Housing recovery = free upside</a:t>
            </a:r>
          </a:p>
          <a:p>
            <a:pPr marL="171450" indent="-171450">
              <a:spcBef>
                <a:spcPts val="200"/>
              </a:spcBef>
              <a:buFont typeface="Arial" panose="020B0604020202020204" pitchFamily="34" charset="0"/>
              <a:buChar char="•"/>
            </a:pPr>
            <a:r>
              <a:rPr sz="1050" b="0" dirty="0">
                <a:latin typeface="Avenir Next LT Pro"/>
              </a:rPr>
              <a:t>Base case assumes no recovery</a:t>
            </a:r>
            <a:endParaRPr lang="en-US" sz="1050" dirty="0">
              <a:latin typeface="Avenir Next LT Pro"/>
            </a:endParaRPr>
          </a:p>
          <a:p>
            <a:pPr marL="171450" indent="-171450">
              <a:spcBef>
                <a:spcPts val="200"/>
              </a:spcBef>
              <a:buFont typeface="Arial" panose="020B0604020202020204" pitchFamily="34" charset="0"/>
              <a:buChar char="•"/>
            </a:pPr>
            <a:r>
              <a:rPr sz="1050" b="0" dirty="0">
                <a:latin typeface="Avenir Next LT Pro"/>
              </a:rPr>
              <a:t>If rates ease, a fixed cost base drives an earnings inflection that isn't priced in</a:t>
            </a:r>
          </a:p>
        </p:txBody>
      </p:sp>
      <p:sp>
        <p:nvSpPr>
          <p:cNvPr id="14" name="Rectangle 13"/>
          <p:cNvSpPr/>
          <p:nvPr/>
        </p:nvSpPr>
        <p:spPr>
          <a:xfrm>
            <a:off x="4709159"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73751" y="4709160"/>
            <a:ext cx="3776472" cy="946413"/>
          </a:xfrm>
          <a:prstGeom prst="rect">
            <a:avLst/>
          </a:prstGeom>
          <a:noFill/>
        </p:spPr>
        <p:txBody>
          <a:bodyPr wrap="square">
            <a:spAutoFit/>
          </a:bodyPr>
          <a:lstStyle/>
          <a:p>
            <a:r>
              <a:rPr sz="1350" b="1" dirty="0">
                <a:latin typeface="Avenir Next LT Pro Demi"/>
              </a:rPr>
              <a:t>Debt is the risk</a:t>
            </a:r>
            <a:endParaRPr lang="en-US" sz="1350" b="1" dirty="0">
              <a:latin typeface="Avenir Next LT Pro Demi"/>
            </a:endParaRPr>
          </a:p>
          <a:p>
            <a:pPr marL="171450" indent="-171450">
              <a:buFont typeface="Arial" panose="020B0604020202020204" pitchFamily="34" charset="0"/>
              <a:buChar char="•"/>
            </a:pPr>
            <a:r>
              <a:rPr sz="1050" b="0" dirty="0">
                <a:latin typeface="Avenir Next LT Pro"/>
              </a:rPr>
              <a:t>~$2.4B net debt at ~4.0× EBITDA, ~$225M/yr interest</a:t>
            </a:r>
            <a:endParaRPr lang="en-US" sz="1050" dirty="0">
              <a:latin typeface="Avenir Next LT Pro"/>
            </a:endParaRPr>
          </a:p>
          <a:p>
            <a:pPr marL="171450" indent="-171450">
              <a:buFont typeface="Arial" panose="020B0604020202020204" pitchFamily="34" charset="0"/>
              <a:buChar char="•"/>
            </a:pPr>
            <a:r>
              <a:rPr sz="1050" b="0" dirty="0">
                <a:latin typeface="Avenir Next LT Pro"/>
              </a:rPr>
              <a:t>FCF inflected to +$252M in FY25</a:t>
            </a:r>
            <a:endParaRPr lang="en-US" sz="1050" b="0" dirty="0">
              <a:latin typeface="Avenir Next LT Pro"/>
            </a:endParaRPr>
          </a:p>
          <a:p>
            <a:pPr marL="171450" indent="-171450">
              <a:buFont typeface="Arial" panose="020B0604020202020204" pitchFamily="34" charset="0"/>
              <a:buChar char="•"/>
            </a:pPr>
            <a:r>
              <a:rPr lang="en-US" sz="1050" dirty="0">
                <a:latin typeface="Avenir Next LT Pro"/>
              </a:rPr>
              <a:t>P</a:t>
            </a:r>
            <a:r>
              <a:rPr sz="1050" b="0" dirty="0">
                <a:latin typeface="Avenir Next LT Pro"/>
              </a:rPr>
              <a:t>rolonged freeze tightens the balance sheet — size accordingly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3,032</a:t>
                      </a:r>
                    </a:p>
                  </a:txBody>
                  <a:tcPr marL="73152" marR="73152" marT="18288" marB="18288" anchor="ctr">
                    <a:solidFill>
                      <a:srgbClr val="FFFFFF"/>
                    </a:solidFill>
                  </a:tcPr>
                </a:tc>
                <a:tc>
                  <a:txBody>
                    <a:bodyPr/>
                    <a:lstStyle/>
                    <a:p>
                      <a:pPr algn="ctr"/>
                      <a:r>
                        <a:rPr sz="1100" b="0" i="0">
                          <a:solidFill>
                            <a:schemeClr val="tx1"/>
                          </a:solidFill>
                          <a:latin typeface="Avenir Next LT Pro"/>
                        </a:rPr>
                        <a:t>3,182</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3,780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+4.9%</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+9.9%</a:t>
                      </a:r>
                    </a:p>
                  </a:txBody>
                  <a:tcPr marL="73152" marR="73152" marT="18288" marB="18288" anchor="ctr">
                    <a:solidFill>
                      <a:srgbClr val="F4F6F8"/>
                    </a:solidFill>
                  </a:tcPr>
                </a:tc>
                <a:tc>
                  <a:txBody>
                    <a:bodyPr/>
                    <a:lstStyle/>
                    <a:p>
                      <a:pPr algn="ctr"/>
                      <a:r>
                        <a:rPr sz="1100" b="0" i="0">
                          <a:solidFill>
                            <a:schemeClr val="tx1"/>
                          </a:solidFill>
                          <a:latin typeface="Avenir Next LT Pro"/>
                        </a:rPr>
                        <a:t>+10.2%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512</a:t>
                      </a:r>
                    </a:p>
                  </a:txBody>
                  <a:tcPr marL="73152" marR="73152" marT="18288" marB="18288" anchor="ctr">
                    <a:solidFill>
                      <a:srgbClr val="F4F6F8"/>
                    </a:solidFill>
                  </a:tcPr>
                </a:tc>
                <a:tc>
                  <a:txBody>
                    <a:bodyPr/>
                    <a:lstStyle/>
                    <a:p>
                      <a:pPr algn="ctr"/>
                      <a:r>
                        <a:rPr sz="1100" b="0" i="0">
                          <a:solidFill>
                            <a:schemeClr val="tx1"/>
                          </a:solidFill>
                          <a:latin typeface="Avenir Next LT Pro"/>
                        </a:rPr>
                        <a:t>538</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605</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p:spPr>
        <p:txBody>
          <a:bodyPr wrap="square">
            <a:spAutoFit/>
          </a:bodyPr>
          <a:lstStyle/>
          <a:p>
            <a:r>
              <a:rPr sz="1000" b="1" i="0" dirty="0">
                <a:solidFill>
                  <a:srgbClr val="156082"/>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~$285   (~72% upside from ~$166)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p:spPr>
        <p:txBody>
          <a:bodyPr wrap="square">
            <a:spAutoFit/>
          </a:bodyPr>
          <a:lstStyle/>
          <a:p>
            <a:r>
              <a:rPr sz="2300" b="0" i="0" dirty="0">
                <a:latin typeface="Avenir Next LT Pro Demi"/>
              </a:rPr>
              <a:t>Key Risks — What Has to Go Wrong</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806440"/>
            <a:ext cx="8229600" cy="365760"/>
          </a:xfrm>
          <a:prstGeom prst="rect">
            <a:avLst/>
          </a:prstGeom>
          <a:noFill/>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p:spPr>
        <p:txBody>
          <a:bodyPr wrap="square" anchor="ctr">
            <a:spAutoFit/>
          </a:bodyPr>
          <a:lstStyle/>
          <a:p>
            <a:r>
              <a:rPr sz="1200" b="0">
                <a:solidFill>
                  <a:srgbClr val="000000"/>
                </a:solidFill>
                <a:latin typeface="Avenir Next LT Pro"/>
              </a:rPr>
              <a:t>Owns ~18% outright (~25% incl. options); bought ~$10M at ~$216 in June 2024.</a:t>
            </a:r>
          </a:p>
        </p:txBody>
      </p:sp>
      <p:sp>
        <p:nvSpPr>
          <p:cNvPr id="13" name="Rectangle 12"/>
          <p:cNvSpPr/>
          <p:nvPr/>
        </p:nvSpPr>
        <p:spPr>
          <a:xfrm>
            <a:off x="457200" y="4800600"/>
            <a:ext cx="82296" cy="105156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