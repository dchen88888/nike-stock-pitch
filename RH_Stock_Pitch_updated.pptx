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481" r:id="rId9"/>
    <p:sldId id="508" r:id="rId10"/>
    <p:sldId id="482" r:id="rId11"/>
    <p:sldId id="509" r:id="rId12"/>
    <p:sldId id="510" r:id="rId13"/>
    <p:sldId id="506" r:id="rId14"/>
    <p:sldId id="511" r:id="rId15"/>
    <p:sldId id="512" r:id="rId16"/>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7/1/2026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7/1/2026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p:spPr>
        <p:txBody>
          <a:bodyPr wrap="square">
            <a:spAutoFit/>
          </a:bodyPr>
          <a:lstStyle/>
          <a:p>
            <a:pPr algn="just" eaLnBrk="0" hangingPunct="0">
              <a:spcAft>
                <a:spcPts val="400"/>
              </a:spcAft>
            </a:pPr>
            <a:r>
              <a:rPr lang="en-US" sz="650" i="1">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noFill/>
          </a:ln>
          <a:effectLst/>
        </p:spPr>
        <p:txBody>
          <a:bodyPr vert="horz" wrap="square" lIns="73152" tIns="42203" rIns="73152" bIns="42203" rtlCol="0" anchor="ctr" anchorCtr="0">
            <a:noAutofit/>
          </a:bodyPr>
          <a:lstStyle/>
          <a:p>
            <a:pPr algn="ctr"/>
            <a:r>
              <a:rPr lang="en-US" sz="2400" dirty="0">
                <a:latin typeface="Avenir Next LT Pro Demi" panose="020B0704020202020204" pitchFamily="34" charset="0"/>
              </a:rPr>
              <a:t>Restoration Hardware </a:t>
            </a:r>
            <a:r>
              <a:rPr lang="en-US" sz="2400">
                <a:latin typeface="Avenir Next LT Pro Demi" panose="020B0704020202020204" pitchFamily="34" charset="0"/>
              </a:rPr>
              <a:t>(RH) Stock </a:t>
            </a:r>
            <a:r>
              <a:rPr lang="en-US" sz="2400" dirty="0">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p:txBody>
          <a:bodyPr/>
          <a:lstStyle/>
          <a:p>
            <a:r>
              <a:rPr lang="en-US"/>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chemeClr val="tx1"/>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400" b="1">
                          <a:solidFill>
                            <a:schemeClr val="tx1"/>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p:txBody>
          <a:bodyPr/>
          <a:lstStyle/>
          <a:p>
            <a:r>
              <a:rPr lang="en-US"/>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p:spPr>
        <p:txBody>
          <a:bodyPr wrap="square">
            <a:spAutoFit/>
          </a:bodyPr>
          <a:lstStyle/>
          <a:p>
            <a:r>
              <a:rPr sz="2600" b="0" dirty="0">
                <a:latin typeface="Avenir Next LT Pro Demi"/>
              </a:rPr>
              <a:t>Recommendation: Buy</a:t>
            </a:r>
          </a:p>
        </p:txBody>
      </p:sp>
      <p:sp>
        <p:nvSpPr>
          <p:cNvPr id="4" name="Rectangle 3"/>
          <p:cNvSpPr/>
          <p:nvPr/>
        </p:nvSpPr>
        <p:spPr>
          <a:xfrm>
            <a:off x="457200" y="995363"/>
            <a:ext cx="8229600" cy="868680"/>
          </a:xfrm>
          <a:prstGeom prst="rect">
            <a:avLst/>
          </a:prstGeom>
          <a:solidFill>
            <a:srgbClr val="AF8C49"/>
          </a:solidFill>
          <a:ln>
            <a:no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Base Target $477</a:t>
            </a:r>
            <a:r>
              <a:rPr sz="1200" b="0" dirty="0">
                <a:solidFill>
                  <a:srgbClr val="9AB0C4"/>
                </a:solidFill>
                <a:latin typeface="Avenir Next LT Pro"/>
              </a:rPr>
              <a:t>  </a:t>
            </a:r>
            <a:r>
              <a:rPr sz="1200" b="0" dirty="0">
                <a:solidFill>
                  <a:schemeClr val="bg1"/>
                </a:solidFill>
                <a:latin typeface="Avenir Next LT Pro"/>
              </a:rPr>
              <a:t>(FY2027E)</a:t>
            </a:r>
          </a:p>
          <a:p>
            <a:pPr algn="l"/>
            <a:r>
              <a:rPr sz="1100" b="0" dirty="0">
                <a:solidFill>
                  <a:schemeClr val="bg1"/>
                </a:solidFill>
                <a:latin typeface="Avenir Next LT Pro"/>
              </a:rPr>
              <a:t>~</a:t>
            </a:r>
            <a:r>
              <a:rPr lang="en-US" sz="1100" b="0" dirty="0">
                <a:solidFill>
                  <a:schemeClr val="bg1"/>
                </a:solidFill>
                <a:latin typeface="Avenir Next LT Pro"/>
              </a:rPr>
              <a:t>187</a:t>
            </a:r>
            <a:r>
              <a:rPr sz="1100" b="0" dirty="0">
                <a:solidFill>
                  <a:schemeClr val="bg1"/>
                </a:solidFill>
                <a:latin typeface="Avenir Next LT Pro"/>
              </a:rPr>
              <a:t>% upside over 2–3 years   ·   Prob-weighted target ~$</a:t>
            </a:r>
            <a:r>
              <a:rPr lang="en-US" sz="1100" b="0" dirty="0">
                <a:solidFill>
                  <a:schemeClr val="bg1"/>
                </a:solidFill>
                <a:latin typeface="Avenir Next LT Pro"/>
              </a:rPr>
              <a:t>413</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 · </a:t>
            </a:r>
            <a:r>
              <a:rPr lang="en-US" sz="1000" b="1" dirty="0">
                <a:solidFill>
                  <a:srgbClr val="5A5A5A"/>
                </a:solidFill>
                <a:latin typeface="Avenir Next LT Pro Demi"/>
              </a:rPr>
              <a:t>30</a:t>
            </a:r>
            <a:r>
              <a:rPr sz="1000" b="1" dirty="0">
                <a:solidFill>
                  <a:srgbClr val="5A5A5A"/>
                </a:solidFill>
                <a:latin typeface="Avenir Next LT Pro Demi"/>
              </a:rPr>
              <a:t>%</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 · 5</a:t>
            </a:r>
            <a:r>
              <a:rPr lang="en-US" sz="1000" b="1" dirty="0">
                <a:solidFill>
                  <a:srgbClr val="5A5A5A"/>
                </a:solidFill>
                <a:latin typeface="Avenir Next LT Pro Demi"/>
              </a:rPr>
              <a:t>5</a:t>
            </a:r>
            <a:r>
              <a:rPr sz="1000" b="1" dirty="0">
                <a:solidFill>
                  <a:srgbClr val="5A5A5A"/>
                </a:solidFill>
                <a:latin typeface="Avenir Next LT Pro Demi"/>
              </a:rPr>
              <a:t>%</a:t>
            </a:r>
          </a:p>
          <a:p>
            <a:pPr algn="ctr"/>
            <a:r>
              <a:rPr sz="2400" b="1" dirty="0">
                <a:solidFill>
                  <a:srgbClr val="156082"/>
                </a:solidFill>
                <a:latin typeface="Avenir Next LT Pro Demi"/>
              </a:rPr>
              <a:t>~$</a:t>
            </a:r>
            <a:r>
              <a:rPr lang="en-US" sz="2400" b="1" dirty="0">
                <a:solidFill>
                  <a:srgbClr val="156082"/>
                </a:solidFill>
                <a:latin typeface="Avenir Next LT Pro Demi"/>
              </a:rPr>
              <a:t>477</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 · </a:t>
            </a:r>
            <a:r>
              <a:rPr lang="en-US" sz="1000" b="1" dirty="0">
                <a:solidFill>
                  <a:srgbClr val="5A5A5A"/>
                </a:solidFill>
                <a:latin typeface="Avenir Next LT Pro Demi"/>
              </a:rPr>
              <a:t>15</a:t>
            </a:r>
            <a:r>
              <a:rPr sz="1000" b="1" dirty="0">
                <a:solidFill>
                  <a:srgbClr val="5A5A5A"/>
                </a:solidFill>
                <a:latin typeface="Avenir Next LT Pro Demi"/>
              </a:rPr>
              <a:t>%</a:t>
            </a:r>
          </a:p>
          <a:p>
            <a:pPr algn="ctr"/>
            <a:r>
              <a:rPr sz="2400" b="1">
                <a:solidFill>
                  <a:srgbClr val="196B24"/>
                </a:solidFill>
                <a:latin typeface="Avenir Next LT Pro Demi"/>
              </a:rPr>
              <a:t>~$</a:t>
            </a:r>
            <a:r>
              <a:rPr lang="en-US" sz="2400" b="1">
                <a:solidFill>
                  <a:srgbClr val="196B24"/>
                </a:solidFill>
                <a:latin typeface="Avenir Next LT Pro Demi"/>
              </a:rPr>
              <a:t>810</a:t>
            </a:r>
            <a:endParaRPr sz="2400" b="1" dirty="0">
              <a:solidFill>
                <a:srgbClr val="196B24"/>
              </a:solidFill>
              <a:latin typeface="Avenir Next LT Pro Demi"/>
            </a:endParaRPr>
          </a:p>
        </p:txBody>
      </p:sp>
      <p:sp>
        <p:nvSpPr>
          <p:cNvPr id="8" name="Rectangle 7"/>
          <p:cNvSpPr/>
          <p:nvPr/>
        </p:nvSpPr>
        <p:spPr>
          <a:xfrm>
            <a:off x="457200"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1792" y="3410712"/>
            <a:ext cx="3776472" cy="1049005"/>
          </a:xfrm>
          <a:prstGeom prst="rect">
            <a:avLst/>
          </a:prstGeom>
          <a:noFill/>
        </p:spPr>
        <p:txBody>
          <a:bodyPr wrap="square">
            <a:spAutoFit/>
          </a:bodyPr>
          <a:lstStyle/>
          <a:p>
            <a:r>
              <a:rPr sz="1350" b="1" dirty="0">
                <a:latin typeface="Avenir Next LT Pro Demi"/>
              </a:rPr>
              <a:t>Bet on the operator</a:t>
            </a:r>
          </a:p>
          <a:p>
            <a:pPr marL="171450" indent="-171450">
              <a:spcBef>
                <a:spcPts val="200"/>
              </a:spcBef>
              <a:buFont typeface="Arial" panose="020B0604020202020204" pitchFamily="34" charset="0"/>
              <a:buChar char="•"/>
            </a:pPr>
            <a:r>
              <a:rPr sz="1050" b="0" dirty="0">
                <a:latin typeface="Avenir Next LT Pro"/>
              </a:rPr>
              <a:t>Friedman took Pottery Barn from $50M to $1B+ </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B</a:t>
            </a:r>
            <a:r>
              <a:rPr sz="1050" b="0" dirty="0">
                <a:latin typeface="Avenir Next LT Pro"/>
              </a:rPr>
              <a:t>uilt the Gallery model</a:t>
            </a:r>
            <a:endParaRPr lang="en-US" sz="1050" b="0" dirty="0">
              <a:latin typeface="Avenir Next LT Pro"/>
            </a:endParaRPr>
          </a:p>
          <a:p>
            <a:pPr marL="171450" indent="-171450">
              <a:spcBef>
                <a:spcPts val="200"/>
              </a:spcBef>
              <a:buFont typeface="Arial" panose="020B0604020202020204" pitchFamily="34" charset="0"/>
              <a:buChar char="•"/>
            </a:pPr>
            <a:r>
              <a:rPr lang="en-US" sz="1050" b="0" dirty="0">
                <a:latin typeface="Avenir Next LT Pro"/>
              </a:rPr>
              <a:t>Bought </a:t>
            </a:r>
            <a:r>
              <a:rPr sz="1050" b="0" dirty="0">
                <a:latin typeface="Avenir Next LT Pro"/>
              </a:rPr>
              <a:t>his own stock at $134–172 </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O</a:t>
            </a:r>
            <a:r>
              <a:rPr sz="1050" b="0" dirty="0">
                <a:latin typeface="Avenir Next LT Pro"/>
              </a:rPr>
              <a:t>perator bet, not a macro bet</a:t>
            </a:r>
          </a:p>
        </p:txBody>
      </p:sp>
      <p:sp>
        <p:nvSpPr>
          <p:cNvPr id="10" name="Rectangle 9"/>
          <p:cNvSpPr/>
          <p:nvPr/>
        </p:nvSpPr>
        <p:spPr>
          <a:xfrm>
            <a:off x="4709159"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873751" y="3410712"/>
            <a:ext cx="3776472" cy="836126"/>
          </a:xfrm>
          <a:prstGeom prst="rect">
            <a:avLst/>
          </a:prstGeom>
          <a:noFill/>
        </p:spPr>
        <p:txBody>
          <a:bodyPr wrap="square">
            <a:spAutoFit/>
          </a:bodyPr>
          <a:lstStyle/>
          <a:p>
            <a:r>
              <a:rPr sz="1350" b="1" dirty="0">
                <a:latin typeface="Avenir Next LT Pro Demi"/>
              </a:rPr>
              <a:t>Estates </a:t>
            </a:r>
            <a:r>
              <a:rPr lang="en-US" sz="1350" b="1" dirty="0">
                <a:latin typeface="Avenir Next LT Pro Demi"/>
              </a:rPr>
              <a:t>targets the rate-immune buyer</a:t>
            </a:r>
            <a:endParaRPr sz="1350" b="1" dirty="0">
              <a:latin typeface="Avenir Next LT Pro Demi"/>
            </a:endParaRPr>
          </a:p>
          <a:p>
            <a:pPr marL="171450" indent="-171450">
              <a:spcBef>
                <a:spcPts val="200"/>
              </a:spcBef>
              <a:buFont typeface="Arial" panose="020B0604020202020204" pitchFamily="34" charset="0"/>
              <a:buChar char="•"/>
            </a:pPr>
            <a:r>
              <a:rPr sz="1050" b="0" dirty="0">
                <a:latin typeface="Avenir Next LT Pro"/>
              </a:rPr>
              <a:t>Targets rate-insensitive cash buyers at $20K+ pieces</a:t>
            </a:r>
            <a:endParaRPr lang="en-US" sz="1050" b="0" dirty="0">
              <a:latin typeface="Avenir Next LT Pro"/>
            </a:endParaRPr>
          </a:p>
          <a:p>
            <a:pPr marL="171450" indent="-171450">
              <a:spcBef>
                <a:spcPts val="200"/>
              </a:spcBef>
              <a:buFont typeface="Arial" panose="020B0604020202020204" pitchFamily="34" charset="0"/>
              <a:buChar char="•"/>
            </a:pPr>
            <a:r>
              <a:rPr sz="1050" b="0" dirty="0">
                <a:latin typeface="Avenir Next LT Pro"/>
              </a:rPr>
              <a:t>In galleries covering 60–65% of the business by Sept 2026</a:t>
            </a:r>
          </a:p>
        </p:txBody>
      </p:sp>
      <p:sp>
        <p:nvSpPr>
          <p:cNvPr id="12" name="Rectangle 11"/>
          <p:cNvSpPr/>
          <p:nvPr/>
        </p:nvSpPr>
        <p:spPr>
          <a:xfrm>
            <a:off x="457200"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1792" y="4709160"/>
            <a:ext cx="3776472" cy="836126"/>
          </a:xfrm>
          <a:prstGeom prst="rect">
            <a:avLst/>
          </a:prstGeom>
          <a:noFill/>
        </p:spPr>
        <p:txBody>
          <a:bodyPr wrap="square">
            <a:spAutoFit/>
          </a:bodyPr>
          <a:lstStyle/>
          <a:p>
            <a:r>
              <a:rPr sz="1350" b="1" dirty="0">
                <a:latin typeface="Avenir Next LT Pro Demi"/>
              </a:rPr>
              <a:t>Housing recovery = free upside</a:t>
            </a:r>
          </a:p>
          <a:p>
            <a:pPr marL="171450" indent="-171450">
              <a:spcBef>
                <a:spcPts val="200"/>
              </a:spcBef>
              <a:buFont typeface="Arial" panose="020B0604020202020204" pitchFamily="34" charset="0"/>
              <a:buChar char="•"/>
            </a:pPr>
            <a:r>
              <a:rPr sz="1050" b="0" dirty="0">
                <a:latin typeface="Avenir Next LT Pro"/>
              </a:rPr>
              <a:t>Base case assumes no recovery</a:t>
            </a:r>
            <a:endParaRPr lang="en-US" sz="1050" dirty="0">
              <a:latin typeface="Avenir Next LT Pro"/>
            </a:endParaRPr>
          </a:p>
          <a:p>
            <a:pPr marL="171450" indent="-171450">
              <a:spcBef>
                <a:spcPts val="200"/>
              </a:spcBef>
              <a:buFont typeface="Arial" panose="020B0604020202020204" pitchFamily="34" charset="0"/>
              <a:buChar char="•"/>
            </a:pPr>
            <a:r>
              <a:rPr sz="1050" b="0" dirty="0">
                <a:latin typeface="Avenir Next LT Pro"/>
              </a:rPr>
              <a:t>If rates ease, a fixed cost base drives an earnings inflection that isn't priced in</a:t>
            </a:r>
          </a:p>
        </p:txBody>
      </p:sp>
      <p:sp>
        <p:nvSpPr>
          <p:cNvPr id="14" name="Rectangle 13"/>
          <p:cNvSpPr/>
          <p:nvPr/>
        </p:nvSpPr>
        <p:spPr>
          <a:xfrm>
            <a:off x="4709159"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873751" y="4709160"/>
            <a:ext cx="3776472" cy="946413"/>
          </a:xfrm>
          <a:prstGeom prst="rect">
            <a:avLst/>
          </a:prstGeom>
          <a:noFill/>
        </p:spPr>
        <p:txBody>
          <a:bodyPr wrap="square">
            <a:spAutoFit/>
          </a:bodyPr>
          <a:lstStyle/>
          <a:p>
            <a:r>
              <a:rPr sz="1350" b="1" dirty="0">
                <a:latin typeface="Avenir Next LT Pro Demi"/>
              </a:rPr>
              <a:t>Debt is the risk</a:t>
            </a:r>
            <a:endParaRPr lang="en-US" sz="1350" b="1" dirty="0">
              <a:latin typeface="Avenir Next LT Pro Demi"/>
            </a:endParaRPr>
          </a:p>
          <a:p>
            <a:pPr marL="171450" indent="-171450">
              <a:buFont typeface="Arial" panose="020B0604020202020204" pitchFamily="34" charset="0"/>
              <a:buChar char="•"/>
            </a:pPr>
            <a:r>
              <a:rPr sz="1050" b="0" dirty="0">
                <a:latin typeface="Avenir Next LT Pro"/>
              </a:rPr>
              <a:t>~$2.4B net debt at ~4.0× EBITDA, ~$225M/yr interest</a:t>
            </a:r>
            <a:endParaRPr lang="en-US" sz="1050" dirty="0">
              <a:latin typeface="Avenir Next LT Pro"/>
            </a:endParaRPr>
          </a:p>
          <a:p>
            <a:pPr marL="171450" indent="-171450">
              <a:buFont typeface="Arial" panose="020B0604020202020204" pitchFamily="34" charset="0"/>
              <a:buChar char="•"/>
            </a:pPr>
            <a:r>
              <a:rPr sz="1050" b="0" dirty="0">
                <a:latin typeface="Avenir Next LT Pro"/>
              </a:rPr>
              <a:t>FCF inflected to +$252M in FY25</a:t>
            </a:r>
            <a:endParaRPr lang="en-US" sz="1050" b="0" dirty="0">
              <a:latin typeface="Avenir Next LT Pro"/>
            </a:endParaRPr>
          </a:p>
          <a:p>
            <a:pPr marL="171450" indent="-171450">
              <a:buFont typeface="Arial" panose="020B0604020202020204" pitchFamily="34" charset="0"/>
              <a:buChar char="•"/>
            </a:pPr>
            <a:r>
              <a:rPr lang="en-US" sz="1050" dirty="0">
                <a:latin typeface="Avenir Next LT Pro"/>
              </a:rPr>
              <a:t>P</a:t>
            </a:r>
            <a:r>
              <a:rPr sz="1050" b="0" dirty="0">
                <a:latin typeface="Avenir Next LT Pro"/>
              </a:rPr>
              <a:t>rolonged freeze tightens the balance sheet — size accordingly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p:txBody>
          <a:bodyPr/>
          <a:lstStyle/>
          <a:p>
            <a:r>
              <a:rPr lang="en-US"/>
              <a:t>Stock</a:t>
            </a:r>
            <a:br>
              <a:rPr lang="en-US"/>
            </a:br>
            <a:r>
              <a:rPr lang="en-US" sz="1800"/>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Financial Performance — Trough to Recovery</a:t>
            </a:r>
          </a:p>
        </p:txBody>
      </p:sp>
      <p:sp>
        <p:nvSpPr>
          <p:cNvPr id="4" name="TextBox 3"/>
          <p:cNvSpPr txBox="1"/>
          <p:nvPr/>
        </p:nvSpPr>
        <p:spPr>
          <a:xfrm>
            <a:off x="457200" y="6419088"/>
            <a:ext cx="8229600" cy="365760"/>
          </a:xfrm>
          <a:prstGeom prst="rect">
            <a:avLst/>
          </a:prstGeom>
          <a:noFill/>
        </p:spPr>
        <p:txBody>
          <a:bodyPr wrap="none">
            <a:spAutoFit/>
          </a:bodyPr>
          <a:lstStyle/>
          <a:p>
            <a:r>
              <a:rPr sz="700" b="0" i="0">
                <a:solidFill>
                  <a:srgbClr val="5A5A5A"/>
                </a:solidFill>
                <a:latin typeface="Avenir Next LT Pro"/>
              </a:rPr>
              <a:t>Confidential — for discussion purposes only. Not investment advice.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351348738"/>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AF8C49"/>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3,032</a:t>
                      </a:r>
                    </a:p>
                  </a:txBody>
                  <a:tcPr marL="73152" marR="73152" marT="18288" marB="18288" anchor="ctr">
                    <a:solidFill>
                      <a:srgbClr val="FFFFFF"/>
                    </a:solidFill>
                  </a:tcPr>
                </a:tc>
                <a:tc>
                  <a:txBody>
                    <a:bodyPr/>
                    <a:lstStyle/>
                    <a:p>
                      <a:pPr algn="ctr"/>
                      <a:r>
                        <a:rPr sz="1100" b="0" i="0">
                          <a:solidFill>
                            <a:schemeClr val="tx1"/>
                          </a:solidFill>
                          <a:latin typeface="Avenir Next LT Pro"/>
                        </a:rPr>
                        <a:t>3,182</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3,780</a:t>
                      </a:r>
                    </a:p>
                  </a:txBody>
                  <a:tcPr marL="73152" marR="73152" marT="18288" marB="18288" anchor="ctr">
                    <a:solidFill>
                      <a:srgbClr val="FFFFFF"/>
                    </a:solidFill>
                  </a:tcPr>
                </a:tc>
                <a:tc>
                  <a:txBody>
                    <a:bodyPr/>
                    <a:lstStyle/>
                    <a:p>
                      <a:pPr algn="ctr"/>
                      <a:r>
                        <a:rPr sz="1100" b="0" i="0">
                          <a:solidFill>
                            <a:schemeClr val="tx1"/>
                          </a:solidFill>
                          <a:latin typeface="Avenir Next LT Pro"/>
                        </a:rPr>
                        <a:t>4,220</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a:solidFill>
                            <a:schemeClr val="tx1"/>
                          </a:solidFill>
                          <a:latin typeface="Avenir Next LT Pro"/>
                        </a:rPr>
                        <a:t>-17.8%</a:t>
                      </a:r>
                    </a:p>
                  </a:txBody>
                  <a:tcPr marL="73152" marR="73152" marT="18288" marB="18288" anchor="ctr">
                    <a:solidFill>
                      <a:srgbClr val="F4F6F8"/>
                    </a:solidFill>
                  </a:tcPr>
                </a:tc>
                <a:tc>
                  <a:txBody>
                    <a:bodyPr/>
                    <a:lstStyle/>
                    <a:p>
                      <a:pPr algn="ctr"/>
                      <a:r>
                        <a:rPr sz="1100" b="0" i="0">
                          <a:solidFill>
                            <a:schemeClr val="tx1"/>
                          </a:solidFill>
                          <a:latin typeface="Avenir Next LT Pro"/>
                        </a:rPr>
                        <a:t>+4.9%</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+9.9%</a:t>
                      </a:r>
                    </a:p>
                  </a:txBody>
                  <a:tcPr marL="73152" marR="73152" marT="18288" marB="18288" anchor="ctr">
                    <a:solidFill>
                      <a:srgbClr val="F4F6F8"/>
                    </a:solidFill>
                  </a:tcPr>
                </a:tc>
                <a:tc>
                  <a:txBody>
                    <a:bodyPr/>
                    <a:lstStyle/>
                    <a:p>
                      <a:pPr algn="ctr"/>
                      <a:r>
                        <a:rPr sz="1100" b="0" i="0">
                          <a:solidFill>
                            <a:schemeClr val="tx1"/>
                          </a:solidFill>
                          <a:latin typeface="Avenir Next LT Pro"/>
                        </a:rPr>
                        <a:t>+11.6%</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512</a:t>
                      </a:r>
                    </a:p>
                  </a:txBody>
                  <a:tcPr marL="73152" marR="73152" marT="18288" marB="18288" anchor="ctr">
                    <a:solidFill>
                      <a:srgbClr val="F4F6F8"/>
                    </a:solidFill>
                  </a:tcPr>
                </a:tc>
                <a:tc>
                  <a:txBody>
                    <a:bodyPr/>
                    <a:lstStyle/>
                    <a:p>
                      <a:pPr algn="ctr"/>
                      <a:r>
                        <a:rPr sz="1100" b="0" i="0">
                          <a:solidFill>
                            <a:schemeClr val="tx1"/>
                          </a:solidFill>
                          <a:latin typeface="Avenir Next LT Pro"/>
                        </a:rPr>
                        <a:t>538</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680</a:t>
                      </a:r>
                    </a:p>
                  </a:txBody>
                  <a:tcPr marL="73152" marR="73152" marT="18288" marB="18288" anchor="ctr">
                    <a:solidFill>
                      <a:srgbClr val="F4F6F8"/>
                    </a:solidFill>
                  </a:tcPr>
                </a:tc>
                <a:tc>
                  <a:txBody>
                    <a:bodyPr/>
                    <a:lstStyle/>
                    <a:p>
                      <a:pPr algn="ctr"/>
                      <a:r>
                        <a:rPr sz="1100" b="0" i="0">
                          <a:solidFill>
                            <a:schemeClr val="tx1"/>
                          </a:solidFill>
                          <a:latin typeface="Avenir Next LT Pro"/>
                        </a:rPr>
                        <a:t>844</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18.0%</a:t>
                      </a:r>
                    </a:p>
                  </a:txBody>
                  <a:tcPr marL="73152" marR="73152" marT="18288" marB="18288" anchor="ctr">
                    <a:solidFill>
                      <a:srgbClr val="FFFFFF"/>
                    </a:solidFill>
                  </a:tcPr>
                </a:tc>
                <a:tc>
                  <a:txBody>
                    <a:bodyPr/>
                    <a:lstStyle/>
                    <a:p>
                      <a:pPr algn="ctr"/>
                      <a:r>
                        <a:rPr sz="1100" b="0" i="0">
                          <a:solidFill>
                            <a:schemeClr val="tx1"/>
                          </a:solidFill>
                          <a:latin typeface="Avenir Next LT Pro"/>
                        </a:rPr>
                        <a:t>20.0%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~$12</a:t>
                      </a:r>
                    </a:p>
                  </a:txBody>
                  <a:tcPr marL="73152" marR="73152" marT="18288" marB="18288" anchor="ctr">
                    <a:solidFill>
                      <a:srgbClr val="F4F6F8"/>
                    </a:solidFill>
                  </a:tcPr>
                </a:tc>
                <a:tc>
                  <a:txBody>
                    <a:bodyPr/>
                    <a:lstStyle/>
                    <a:p>
                      <a:pPr algn="ctr"/>
                      <a:r>
                        <a:rPr sz="1100" b="0" i="0">
                          <a:solidFill>
                            <a:schemeClr val="tx1"/>
                          </a:solidFill>
                          <a:latin typeface="Avenir Next LT Pro"/>
                        </a:rPr>
                        <a:t>~$19</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457200" y="5120640"/>
            <a:ext cx="8229600" cy="274320"/>
          </a:xfrm>
          <a:prstGeom prst="rect">
            <a:avLst/>
          </a:prstGeom>
          <a:noFill/>
        </p:spPr>
        <p:txBody>
          <a:bodyPr wrap="none">
            <a:spAutoFit/>
          </a:bodyPr>
          <a:lstStyle/>
          <a:p>
            <a:r>
              <a:rPr sz="1000" b="1" i="0" dirty="0">
                <a:solidFill>
                  <a:srgbClr val="156082"/>
                </a:solidFill>
                <a:latin typeface="Avenir Next LT Pro"/>
              </a:rPr>
              <a:t>Story: revenue recovering &amp; margin re-expanding; FCF inflected to +$252M in FY25 — but ~$2.4B net debt (~4× EBITDA) and ~$225M/yr interest make it a leveraged bet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p:txBody>
          <a:bodyPr/>
          <a:lstStyle/>
          <a:p>
            <a:r>
              <a:rPr lang="en-US"/>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Valuation — EV/EBITDA, FY2027E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$844M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156082"/>
                </a:solidFill>
                <a:latin typeface="Avenir Next LT Pro Demi"/>
              </a:rPr>
              <a:t>13×</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~$11.0B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~$477</a:t>
            </a:r>
          </a:p>
        </p:txBody>
      </p:sp>
      <p:graphicFrame>
        <p:nvGraphicFramePr>
          <p:cNvPr id="11" name="Table 10"/>
          <p:cNvGraphicFramePr>
            <a:graphicFrameLocks noGrp="1"/>
          </p:cNvGraphicFramePr>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a:solidFill>
                            <a:srgbClr val="FFFFFF"/>
                          </a:solidFill>
                          <a:latin typeface="Avenir Next LT Pro Demi"/>
                        </a:rPr>
                        <a:t>Scenario</a:t>
                      </a:r>
                    </a:p>
                  </a:txBody>
                  <a:tcPr marL="73152" marR="73152" marT="18288" marB="18288" anchor="ctr">
                    <a:solidFill>
                      <a:srgbClr val="0E2841"/>
                    </a:solidFill>
                  </a:tcPr>
                </a:tc>
                <a:tc>
                  <a:txBody>
                    <a:bodyPr/>
                    <a:lstStyle/>
                    <a:p>
                      <a:pPr algn="ctr"/>
                      <a:r>
                        <a:rPr sz="1000" b="1" i="0">
                          <a:solidFill>
                            <a:srgbClr val="FFFFFF"/>
                          </a:solidFill>
                          <a:latin typeface="Avenir Next LT Pro Demi"/>
                        </a:rPr>
                        <a:t>Rev CAGR</a:t>
                      </a:r>
                    </a:p>
                  </a:txBody>
                  <a:tcPr marL="73152" marR="73152" marT="18288" marB="18288" anchor="ctr">
                    <a:solidFill>
                      <a:srgbClr val="0E2841"/>
                    </a:solidFill>
                  </a:tcPr>
                </a:tc>
                <a:tc>
                  <a:txBody>
                    <a:bodyPr/>
                    <a:lstStyle/>
                    <a:p>
                      <a:pPr algn="ctr"/>
                      <a:r>
                        <a:rPr sz="1000" b="1" i="0">
                          <a:solidFill>
                            <a:srgbClr val="FFFFFF"/>
                          </a:solidFill>
                          <a:latin typeface="Avenir Next LT Pro Demi"/>
                        </a:rPr>
                        <a:t>EBITDA Mgn</a:t>
                      </a:r>
                    </a:p>
                  </a:txBody>
                  <a:tcPr marL="73152" marR="73152" marT="18288" marB="18288" anchor="ctr">
                    <a:solidFill>
                      <a:srgbClr val="0E2841"/>
                    </a:solidFill>
                  </a:tcPr>
                </a:tc>
                <a:tc>
                  <a:txBody>
                    <a:bodyPr/>
                    <a:lstStyle/>
                    <a:p>
                      <a:pPr algn="ctr"/>
                      <a:r>
                        <a:rPr sz="1000" b="1" i="0">
                          <a:solidFill>
                            <a:srgbClr val="FFFFFF"/>
                          </a:solidFill>
                          <a:latin typeface="Avenir Next LT Pro Demi"/>
                        </a:rPr>
                        <a:t>Exit Mult</a:t>
                      </a:r>
                    </a:p>
                  </a:txBody>
                  <a:tcPr marL="73152" marR="73152" marT="18288" marB="18288" anchor="ctr">
                    <a:solidFill>
                      <a:srgbClr val="0E2841"/>
                    </a:solidFill>
                  </a:tcPr>
                </a:tc>
                <a:tc>
                  <a:txBody>
                    <a:bodyPr/>
                    <a:lstStyle/>
                    <a:p>
                      <a:pPr algn="ctr"/>
                      <a:r>
                        <a:rPr sz="1000" b="1" i="0">
                          <a:solidFill>
                            <a:srgbClr val="FFFFFF"/>
                          </a:solidFill>
                          <a:latin typeface="Avenir Next LT Pro Demi"/>
                        </a:rPr>
                        <a:t>Implied Price</a:t>
                      </a:r>
                    </a:p>
                  </a:txBody>
                  <a:tcPr marL="73152" marR="73152" marT="18288" marB="18288" anchor="ctr">
                    <a:solidFill>
                      <a:srgbClr val="0E2841"/>
                    </a:solidFill>
                  </a:tcPr>
                </a:tc>
                <a:tc>
                  <a:txBody>
                    <a:bodyPr/>
                    <a:lstStyle/>
                    <a:p>
                      <a:pPr algn="ctr"/>
                      <a:r>
                        <a:rPr sz="1000" b="1" i="0">
                          <a:solidFill>
                            <a:srgbClr val="FFFFFF"/>
                          </a:solidFill>
                          <a:latin typeface="Avenir Next LT Pro Demi"/>
                        </a:rPr>
                        <a:t>Prob.</a:t>
                      </a:r>
                    </a:p>
                  </a:txBody>
                  <a:tcPr marL="73152" marR="73152" marT="18288" marB="18288" anchor="ctr">
                    <a:solidFill>
                      <a:srgbClr val="0E2841"/>
                    </a:solidFill>
                  </a:tcPr>
                </a:tc>
                <a:extLst>
                  <a:ext uri="{0D108BD9-81ED-4DB2-BD59-A6C34878D82A}">
                    <a16:rowId xmlns:a16="http://schemas.microsoft.com/office/drawing/2014/main" val="10000"/>
                  </a:ext>
                </a:extLst>
              </a:tr>
              <a:tr h="384048">
                <a:tc>
                  <a:txBody>
                    <a:bodyPr/>
                    <a:lstStyle/>
                    <a:p>
                      <a:pPr algn="l"/>
                      <a:r>
                        <a:rPr sz="1100" b="1" i="0">
                          <a:solidFill>
                            <a:srgbClr val="0E2841"/>
                          </a:solidFill>
                          <a:latin typeface="Avenir Next LT Pro Demi"/>
                        </a:rPr>
                        <a:t>Bull</a:t>
                      </a:r>
                    </a:p>
                  </a:txBody>
                  <a:tcPr marL="73152" marR="73152" marT="18288" marB="18288" anchor="ctr">
                    <a:solidFill>
                      <a:srgbClr val="FFFFFF"/>
                    </a:solidFill>
                  </a:tcPr>
                </a:tc>
                <a:tc>
                  <a:txBody>
                    <a:bodyPr/>
                    <a:lstStyle/>
                    <a:p>
                      <a:pPr algn="ctr"/>
                      <a:r>
                        <a:rPr sz="1100" b="0" i="0">
                          <a:solidFill>
                            <a:srgbClr val="5A5A5A"/>
                          </a:solidFill>
                          <a:latin typeface="Avenir Next LT Pro"/>
                        </a:rPr>
                        <a:t>10%</a:t>
                      </a:r>
                    </a:p>
                  </a:txBody>
                  <a:tcPr marL="73152" marR="73152" marT="18288" marB="18288" anchor="ctr">
                    <a:solidFill>
                      <a:srgbClr val="FFFFFF"/>
                    </a:solidFill>
                  </a:tcPr>
                </a:tc>
                <a:tc>
                  <a:txBody>
                    <a:bodyPr/>
                    <a:lstStyle/>
                    <a:p>
                      <a:pPr algn="ctr"/>
                      <a:r>
                        <a:rPr sz="1100" b="0" i="0">
                          <a:solidFill>
                            <a:srgbClr val="5A5A5A"/>
                          </a:solidFill>
                          <a:latin typeface="Avenir Next LT Pro"/>
                        </a:rPr>
                        <a:t>24%</a:t>
                      </a:r>
                    </a:p>
                  </a:txBody>
                  <a:tcPr marL="73152" marR="73152" marT="18288" marB="18288" anchor="ctr">
                    <a:solidFill>
                      <a:srgbClr val="FFFFFF"/>
                    </a:solidFill>
                  </a:tcPr>
                </a:tc>
                <a:tc>
                  <a:txBody>
                    <a:bodyPr/>
                    <a:lstStyle/>
                    <a:p>
                      <a:pPr algn="ctr"/>
                      <a:r>
                        <a:rPr sz="1100" b="0" i="0">
                          <a:solidFill>
                            <a:srgbClr val="5A5A5A"/>
                          </a:solidFill>
                          <a:latin typeface="Avenir Next LT Pro"/>
                        </a:rPr>
                        <a:t>15×</a:t>
                      </a:r>
                    </a:p>
                  </a:txBody>
                  <a:tcPr marL="73152" marR="73152" marT="18288" marB="18288" anchor="ctr">
                    <a:solidFill>
                      <a:srgbClr val="FFFFFF"/>
                    </a:solidFill>
                  </a:tcPr>
                </a:tc>
                <a:tc>
                  <a:txBody>
                    <a:bodyPr/>
                    <a:lstStyle/>
                    <a:p>
                      <a:pPr algn="ctr"/>
                      <a:r>
                        <a:rPr sz="1100" b="0" i="0">
                          <a:solidFill>
                            <a:srgbClr val="5A5A5A"/>
                          </a:solidFill>
                          <a:latin typeface="Avenir Next LT Pro"/>
                        </a:rPr>
                        <a:t>~$810</a:t>
                      </a:r>
                    </a:p>
                  </a:txBody>
                  <a:tcPr marL="73152" marR="73152" marT="18288" marB="18288" anchor="ctr">
                    <a:solidFill>
                      <a:srgbClr val="FFFFFF"/>
                    </a:solidFill>
                  </a:tcPr>
                </a:tc>
                <a:tc>
                  <a:txBody>
                    <a:bodyPr/>
                    <a:lstStyle/>
                    <a:p>
                      <a:pPr algn="ctr"/>
                      <a:r>
                        <a:rPr sz="1100" b="0" i="0">
                          <a:solidFill>
                            <a:srgbClr val="5A5A5A"/>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rgbClr val="0E2841"/>
                          </a:solidFill>
                          <a:latin typeface="Avenir Next LT Pro Demi"/>
                        </a:rPr>
                        <a:t>Base</a:t>
                      </a:r>
                    </a:p>
                  </a:txBody>
                  <a:tcPr marL="73152" marR="73152" marT="18288" marB="18288" anchor="ctr">
                    <a:solidFill>
                      <a:srgbClr val="F4F6F8"/>
                    </a:solidFill>
                  </a:tcPr>
                </a:tc>
                <a:tc>
                  <a:txBody>
                    <a:bodyPr/>
                    <a:lstStyle/>
                    <a:p>
                      <a:pPr algn="ctr"/>
                      <a:r>
                        <a:rPr sz="1100" b="0" i="0">
                          <a:solidFill>
                            <a:srgbClr val="5A5A5A"/>
                          </a:solidFill>
                          <a:latin typeface="Avenir Next LT Pro"/>
                        </a:rPr>
                        <a:t>6%</a:t>
                      </a:r>
                    </a:p>
                  </a:txBody>
                  <a:tcPr marL="73152" marR="73152" marT="18288" marB="18288" anchor="ctr">
                    <a:solidFill>
                      <a:srgbClr val="F4F6F8"/>
                    </a:solidFill>
                  </a:tcPr>
                </a:tc>
                <a:tc>
                  <a:txBody>
                    <a:bodyPr/>
                    <a:lstStyle/>
                    <a:p>
                      <a:pPr algn="ctr"/>
                      <a:r>
                        <a:rPr sz="1100" b="0" i="0">
                          <a:solidFill>
                            <a:srgbClr val="5A5A5A"/>
                          </a:solidFill>
                          <a:latin typeface="Avenir Next LT Pro"/>
                        </a:rPr>
                        <a:t>20%</a:t>
                      </a:r>
                    </a:p>
                  </a:txBody>
                  <a:tcPr marL="73152" marR="73152" marT="18288" marB="18288" anchor="ctr">
                    <a:solidFill>
                      <a:srgbClr val="F4F6F8"/>
                    </a:solidFill>
                  </a:tcPr>
                </a:tc>
                <a:tc>
                  <a:txBody>
                    <a:bodyPr/>
                    <a:lstStyle/>
                    <a:p>
                      <a:pPr algn="ctr"/>
                      <a:r>
                        <a:rPr sz="1100" b="0" i="0">
                          <a:solidFill>
                            <a:srgbClr val="5A5A5A"/>
                          </a:solidFill>
                          <a:latin typeface="Avenir Next LT Pro"/>
                        </a:rPr>
                        <a:t>13×</a:t>
                      </a:r>
                    </a:p>
                  </a:txBody>
                  <a:tcPr marL="73152" marR="73152" marT="18288" marB="18288" anchor="ctr">
                    <a:solidFill>
                      <a:srgbClr val="F4F6F8"/>
                    </a:solidFill>
                  </a:tcPr>
                </a:tc>
                <a:tc>
                  <a:txBody>
                    <a:bodyPr/>
                    <a:lstStyle/>
                    <a:p>
                      <a:pPr algn="ctr"/>
                      <a:r>
                        <a:rPr sz="1100" b="0" i="0">
                          <a:solidFill>
                            <a:srgbClr val="5A5A5A"/>
                          </a:solidFill>
                          <a:latin typeface="Avenir Next LT Pro"/>
                        </a:rPr>
                        <a:t>~$477</a:t>
                      </a:r>
                    </a:p>
                  </a:txBody>
                  <a:tcPr marL="73152" marR="73152" marT="18288" marB="18288" anchor="ctr">
                    <a:solidFill>
                      <a:srgbClr val="F4F6F8"/>
                    </a:solidFill>
                  </a:tcPr>
                </a:tc>
                <a:tc>
                  <a:txBody>
                    <a:bodyPr/>
                    <a:lstStyle/>
                    <a:p>
                      <a:pPr algn="ctr"/>
                      <a:r>
                        <a:rPr sz="1100" b="0" i="0">
                          <a:solidFill>
                            <a:srgbClr val="5A5A5A"/>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rgbClr val="0E2841"/>
                          </a:solidFill>
                          <a:latin typeface="Avenir Next LT Pro Demi"/>
                        </a:rPr>
                        <a:t>Bear</a:t>
                      </a:r>
                    </a:p>
                  </a:txBody>
                  <a:tcPr marL="73152" marR="73152" marT="18288" marB="18288" anchor="ctr">
                    <a:solidFill>
                      <a:srgbClr val="FFFFFF"/>
                    </a:solidFill>
                  </a:tcPr>
                </a:tc>
                <a:tc>
                  <a:txBody>
                    <a:bodyPr/>
                    <a:lstStyle/>
                    <a:p>
                      <a:pPr algn="ctr"/>
                      <a:r>
                        <a:rPr sz="1100" b="0" i="0">
                          <a:solidFill>
                            <a:srgbClr val="5A5A5A"/>
                          </a:solidFill>
                          <a:latin typeface="Avenir Next LT Pro"/>
                        </a:rPr>
                        <a:t>2%</a:t>
                      </a:r>
                    </a:p>
                  </a:txBody>
                  <a:tcPr marL="73152" marR="73152" marT="18288" marB="18288" anchor="ctr">
                    <a:solidFill>
                      <a:srgbClr val="FFFFFF"/>
                    </a:solidFill>
                  </a:tcPr>
                </a:tc>
                <a:tc>
                  <a:txBody>
                    <a:bodyPr/>
                    <a:lstStyle/>
                    <a:p>
                      <a:pPr algn="ctr"/>
                      <a:r>
                        <a:rPr sz="1100" b="0" i="0">
                          <a:solidFill>
                            <a:srgbClr val="5A5A5A"/>
                          </a:solidFill>
                          <a:latin typeface="Avenir Next LT Pro"/>
                        </a:rPr>
                        <a:t>14%</a:t>
                      </a:r>
                    </a:p>
                  </a:txBody>
                  <a:tcPr marL="73152" marR="73152" marT="18288" marB="18288" anchor="ctr">
                    <a:solidFill>
                      <a:srgbClr val="FFFFFF"/>
                    </a:solidFill>
                  </a:tcPr>
                </a:tc>
                <a:tc>
                  <a:txBody>
                    <a:bodyPr/>
                    <a:lstStyle/>
                    <a:p>
                      <a:pPr algn="ctr"/>
                      <a:r>
                        <a:rPr sz="1100" b="0" i="0">
                          <a:solidFill>
                            <a:srgbClr val="5A5A5A"/>
                          </a:solidFill>
                          <a:latin typeface="Avenir Next LT Pro"/>
                        </a:rPr>
                        <a:t>8×</a:t>
                      </a:r>
                    </a:p>
                  </a:txBody>
                  <a:tcPr marL="73152" marR="73152" marT="18288" marB="18288" anchor="ctr">
                    <a:solidFill>
                      <a:srgbClr val="FFFFFF"/>
                    </a:solidFill>
                  </a:tcPr>
                </a:tc>
                <a:tc>
                  <a:txBody>
                    <a:bodyPr/>
                    <a:lstStyle/>
                    <a:p>
                      <a:pPr algn="ctr"/>
                      <a:r>
                        <a:rPr sz="1100" b="0" i="0">
                          <a:solidFill>
                            <a:srgbClr val="5A5A5A"/>
                          </a:solidFill>
                          <a:latin typeface="Avenir Next LT Pro"/>
                        </a:rPr>
                        <a:t>~$100</a:t>
                      </a:r>
                    </a:p>
                  </a:txBody>
                  <a:tcPr marL="73152" marR="73152" marT="18288" marB="18288" anchor="ctr">
                    <a:solidFill>
                      <a:srgbClr val="FFFFFF"/>
                    </a:solidFill>
                  </a:tcPr>
                </a:tc>
                <a:tc>
                  <a:txBody>
                    <a:bodyPr/>
                    <a:lstStyle/>
                    <a:p>
                      <a:pPr algn="ctr"/>
                      <a:r>
                        <a:rPr sz="1100" b="0" i="0">
                          <a:solidFill>
                            <a:srgbClr val="5A5A5A"/>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p:spPr>
        <p:txBody>
          <a:bodyPr wrap="none">
            <a:spAutoFit/>
          </a:bodyPr>
          <a:lstStyle/>
          <a:p>
            <a:r>
              <a:rPr sz="1300" b="1" i="0">
                <a:solidFill>
                  <a:srgbClr val="156082"/>
                </a:solidFill>
                <a:latin typeface="Avenir Next LT Pro Demi"/>
              </a:rPr>
              <a:t>Probability-weighted target: ~$413   (~149% upside from ~$166)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AF8C49"/>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Est. EPS (fwd)</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AF8C49"/>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~$22–35</a:t>
                      </a:r>
                    </a:p>
                  </a:txBody>
                  <a:tcPr marL="73152" marR="73152" marT="18288" marB="18288" anchor="ctr">
                    <a:solidFill>
                      <a:srgbClr val="FFFFFF"/>
                    </a:solidFill>
                  </a:tcPr>
                </a:tc>
                <a:tc>
                  <a:txBody>
                    <a:bodyPr/>
                    <a:lstStyle/>
                    <a:p>
                      <a:pPr algn="ctr"/>
                      <a:r>
                        <a:rPr sz="950" b="0" i="0">
                          <a:solidFill>
                            <a:schemeClr val="tx1"/>
                          </a:solidFill>
                          <a:latin typeface="Avenir Next LT Pro"/>
                        </a:rPr>
                        <a:t>~5–7×</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~$11–19</a:t>
                      </a:r>
                    </a:p>
                  </a:txBody>
                  <a:tcPr marL="73152" marR="73152" marT="18288" marB="18288" anchor="ctr">
                    <a:solidFill>
                      <a:srgbClr val="F4F6F8"/>
                    </a:solidFill>
                  </a:tcPr>
                </a:tc>
                <a:tc>
                  <a:txBody>
                    <a:bodyPr/>
                    <a:lstStyle/>
                    <a:p>
                      <a:pPr algn="ctr"/>
                      <a:r>
                        <a:rPr sz="950" b="0" i="0">
                          <a:solidFill>
                            <a:schemeClr val="tx1"/>
                          </a:solidFill>
                          <a:latin typeface="Avenir Next LT Pro"/>
                        </a:rPr>
                        <a:t>~9–15×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~$3–6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~25–55×</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p:spPr>
        <p:txBody>
          <a:bodyPr wrap="square">
            <a:spAutoFit/>
          </a:bodyPr>
          <a:lstStyle/>
          <a:p>
            <a:r>
              <a:rPr sz="1100" b="1" i="0" dirty="0">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
        <p:nvSpPr>
          <p:cNvPr id="8" name="TextBox 7"/>
          <p:cNvSpPr txBox="1"/>
          <p:nvPr/>
        </p:nvSpPr>
        <p:spPr>
          <a:xfrm>
            <a:off x="457200" y="5989320"/>
            <a:ext cx="8229600" cy="365760"/>
          </a:xfrm>
          <a:prstGeom prst="rect">
            <a:avLst/>
          </a:prstGeom>
          <a:noFill/>
        </p:spPr>
        <p:txBody>
          <a:bodyPr wrap="square">
            <a:spAutoFit/>
          </a:bodyPr>
          <a:lstStyle/>
          <a:p>
            <a:r>
              <a:rPr sz="800" i="1">
                <a:solidFill>
                  <a:srgbClr val="8A8A8A"/>
                </a:solidFill>
                <a:latin typeface="Avenir Next LT Pro"/>
              </a:rPr>
              <a:t>EPS ≈ (EBITDA − ~$150M D&amp;A − ~$215M interest) × (1 − 25% tax) ÷ ~19M shares. Illustrative scenario mapping, not a forecast.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p:txBody>
          <a:bodyPr/>
          <a:lstStyle/>
          <a:p>
            <a:r>
              <a:rPr lang="en-US"/>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p:spPr>
        <p:txBody>
          <a:bodyPr wrap="square">
            <a:spAutoFit/>
          </a:bodyPr>
          <a:lstStyle/>
          <a:p>
            <a:r>
              <a:rPr sz="2300" b="0" i="0" dirty="0">
                <a:latin typeface="Avenir Next LT Pro Demi"/>
              </a:rPr>
              <a:t>Competitive Landscape</a:t>
            </a:r>
          </a:p>
        </p:txBody>
      </p:sp>
      <p:sp>
        <p:nvSpPr>
          <p:cNvPr id="3" name="Rectangle 2"/>
          <p:cNvSpPr/>
          <p:nvPr/>
        </p:nvSpPr>
        <p:spPr>
          <a:xfrm>
            <a:off x="457200" y="932688"/>
            <a:ext cx="8229600" cy="27432"/>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AF8C49"/>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~9.3×</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p:spPr>
        <p:txBody>
          <a:bodyPr wrap="square">
            <a:spAutoFit/>
          </a:bodyPr>
          <a:lstStyle/>
          <a:p>
            <a:r>
              <a:rPr sz="1100" b="1" i="0" dirty="0">
                <a:latin typeface="Avenir Next LT Pro Demi"/>
              </a:rPr>
              <a:t>The real competitor is Arhaus, not European luxury.</a:t>
            </a:r>
          </a:p>
          <a:p>
            <a:r>
              <a:rPr sz="1000" b="0" i="0" dirty="0">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548640"/>
          </a:xfrm>
          <a:prstGeom prst="rect">
            <a:avLst/>
          </a:prstGeom>
          <a:noFill/>
        </p:spPr>
        <p:txBody>
          <a:bodyPr wrap="square">
            <a:spAutoFit/>
          </a:bodyPr>
          <a:lstStyle/>
          <a:p>
            <a:r>
              <a:rPr sz="2300" b="0" i="0">
                <a:solidFill>
                  <a:srgbClr val="0E2841"/>
                </a:solidFill>
                <a:latin typeface="Avenir Next LT Pro Demi"/>
              </a:rPr>
              <a:t>Key Risks — What Has to Go Wrong</a:t>
            </a:r>
          </a:p>
        </p:txBody>
      </p:sp>
      <p:sp>
        <p:nvSpPr>
          <p:cNvPr id="4" name="TextBox 3"/>
          <p:cNvSpPr txBox="1"/>
          <p:nvPr/>
        </p:nvSpPr>
        <p:spPr>
          <a:xfrm>
            <a:off x="457200" y="6419088"/>
            <a:ext cx="8229600" cy="365760"/>
          </a:xfrm>
          <a:prstGeom prst="rect">
            <a:avLst/>
          </a:prstGeom>
          <a:noFill/>
        </p:spPr>
        <p:txBody>
          <a:bodyPr wrap="none">
            <a:spAutoFit/>
          </a:bodyPr>
          <a:lstStyle/>
          <a:p>
            <a:r>
              <a:rPr sz="700" b="0" i="0">
                <a:solidFill>
                  <a:srgbClr val="5A5A5A"/>
                </a:solidFill>
                <a:latin typeface="Avenir Next LT Pro"/>
              </a:rPr>
              <a:t>Confidential — for discussion purposes only. Not investment advice.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Housing stays depressed through 2027</a:t>
            </a:r>
          </a:p>
          <a:p>
            <a:r>
              <a:rPr sz="950" b="1" i="0" dirty="0">
                <a:solidFill>
                  <a:srgbClr val="B03030"/>
                </a:solidFill>
                <a:latin typeface="Avenir Next LT Pro"/>
              </a:rPr>
              <a:t>Severity: HIGH   ·   Probability:</a:t>
            </a:r>
          </a:p>
        </p:txBody>
      </p:sp>
      <p:sp>
        <p:nvSpPr>
          <p:cNvPr id="7" name="Rectangle 6"/>
          <p:cNvSpPr/>
          <p:nvPr/>
        </p:nvSpPr>
        <p:spPr>
          <a:xfrm>
            <a:off x="457200"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709159"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Balance-sheet stress — ~4.0× levered, ~$225M/yr interest</a:t>
            </a:r>
          </a:p>
          <a:p>
            <a:r>
              <a:rPr sz="950" b="1" i="0" dirty="0">
                <a:solidFill>
                  <a:srgbClr val="B03030"/>
                </a:solidFill>
                <a:latin typeface="Avenir Next LT Pro"/>
              </a:rPr>
              <a:t>Severity: HIGH   ·   Probability:</a:t>
            </a:r>
          </a:p>
        </p:txBody>
      </p:sp>
      <p:sp>
        <p:nvSpPr>
          <p:cNvPr id="9" name="Rectangle 8"/>
          <p:cNvSpPr/>
          <p:nvPr/>
        </p:nvSpPr>
        <p:spPr>
          <a:xfrm>
            <a:off x="4709159"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International execution failure</a:t>
            </a:r>
          </a:p>
          <a:p>
            <a:r>
              <a:rPr sz="950" b="1" i="0" dirty="0">
                <a:solidFill>
                  <a:srgbClr val="C88A12"/>
                </a:solidFill>
                <a:latin typeface="Avenir Next LT Pro"/>
              </a:rPr>
              <a:t>Severity: MED   ·   Probability:</a:t>
            </a:r>
          </a:p>
        </p:txBody>
      </p:sp>
      <p:sp>
        <p:nvSpPr>
          <p:cNvPr id="11" name="Rectangle 10"/>
          <p:cNvSpPr/>
          <p:nvPr/>
        </p:nvSpPr>
        <p:spPr>
          <a:xfrm>
            <a:off x="457200"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709159"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Tariff / supply-chain disruption</a:t>
            </a:r>
          </a:p>
          <a:p>
            <a:r>
              <a:rPr sz="950" b="1" i="0" dirty="0">
                <a:solidFill>
                  <a:srgbClr val="C88A12"/>
                </a:solidFill>
                <a:latin typeface="Avenir Next LT Pro"/>
              </a:rPr>
              <a:t>Severity: MED   ·   Probability:</a:t>
            </a:r>
          </a:p>
        </p:txBody>
      </p:sp>
      <p:sp>
        <p:nvSpPr>
          <p:cNvPr id="13" name="Rectangle 12"/>
          <p:cNvSpPr/>
          <p:nvPr/>
        </p:nvSpPr>
        <p:spPr>
          <a:xfrm>
            <a:off x="4709159"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Friedman key-man dependency</a:t>
            </a:r>
          </a:p>
          <a:p>
            <a:r>
              <a:rPr sz="950" b="1" i="0" dirty="0">
                <a:solidFill>
                  <a:srgbClr val="B03030"/>
                </a:solidFill>
                <a:latin typeface="Avenir Next LT Pro"/>
              </a:rPr>
              <a:t>Severity: HIGH   ·   Probability:</a:t>
            </a:r>
          </a:p>
        </p:txBody>
      </p:sp>
      <p:sp>
        <p:nvSpPr>
          <p:cNvPr id="15" name="Rectangle 14"/>
          <p:cNvSpPr/>
          <p:nvPr/>
        </p:nvSpPr>
        <p:spPr>
          <a:xfrm>
            <a:off x="457200" y="3803904"/>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709159"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Broad consumer / discretionary recession</a:t>
            </a:r>
          </a:p>
          <a:p>
            <a:r>
              <a:rPr sz="950" b="1" i="0" dirty="0">
                <a:solidFill>
                  <a:srgbClr val="C88A12"/>
                </a:solidFill>
                <a:latin typeface="Avenir Next LT Pro"/>
              </a:rPr>
              <a:t>Severity: MED   ·   Probability:</a:t>
            </a:r>
          </a:p>
        </p:txBody>
      </p:sp>
      <p:sp>
        <p:nvSpPr>
          <p:cNvPr id="17" name="Rectangle 16"/>
          <p:cNvSpPr/>
          <p:nvPr/>
        </p:nvSpPr>
        <p:spPr>
          <a:xfrm>
            <a:off x="4709159" y="3803904"/>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2.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customXml/itemProps3.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63</TotalTime>
  <Words>994</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1</cp:revision>
  <cp:lastPrinted>2026-06-10T00:07:23Z</cp:lastPrinted>
  <dcterms:created xsi:type="dcterms:W3CDTF">2026-06-26T21:07:49Z</dcterms:created>
  <dcterms:modified xsi:type="dcterms:W3CDTF">2026-07-01T18:03:04Z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