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9" r:id="rId32"/>
    <p:sldId id="518" r:id="rId31"/>
    <p:sldId id="481" r:id="rId9"/>
    <p:sldId id="514" r:id="rId27"/>
    <p:sldId id="515" r:id="rId28"/>
    <p:sldId id="520" r:id="rId33"/>
    <p:sldId id="517" r:id="rId30"/>
    <p:sldId id="521" r:id="rId34"/>
    <p:sldId id="516" r:id="rId29"/>
    <p:sldId id="508" r:id="rId10"/>
    <p:sldId id="482" r:id="rId11"/>
    <p:sldId id="509" r:id="rId12"/>
    <p:sldId id="510" r:id="rId13"/>
    <p:sldId id="506" r:id="rId14"/>
    <p:sldId id="511" r:id="rId15"/>
    <p:sldId id="513" r:id="rId16"/>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7.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2.xml"/><Relationship Id="rId30" Type="http://schemas.openxmlformats.org/officeDocument/2006/relationships/slide" Target="slides/slide11.xml"/><Relationship Id="rId31" Type="http://schemas.openxmlformats.org/officeDocument/2006/relationships/slide" Target="slides/slide6.xml"/><Relationship Id="rId32" Type="http://schemas.openxmlformats.org/officeDocument/2006/relationships/slide" Target="slides/slide5.xml"/><Relationship Id="rId33" Type="http://schemas.openxmlformats.org/officeDocument/2006/relationships/slide" Target="slides/slide10.xml"/><Relationship Id="rId34"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a:ln>
            <a:solidFill/>
          </a:ln>
        </p:spPr>
        <p:txBody>
          <a:bodyPr wrap="square">
            <a:spAutoFit/>
          </a:bodyPr>
          <a:lstStyle/>
          <a:p>
            <a:pPr algn="just" eaLnBrk="0" hangingPunct="0">
              <a:spcAft>
                <a:spcPts val="400"/>
              </a:spcAft>
            </a:pPr>
            <a:r>
              <a:rPr lang="en-US" sz="650" i="1">
                <a:solidFill/>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solidFill/>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solidFill/>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a:ln>
            <a:solidFill/>
          </a:ln>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solidFill/>
          </a:ln>
          <a:effectLst/>
        </p:spPr>
        <p:txBody>
          <a:bodyPr vert="horz" wrap="square" lIns="73152" tIns="42203" rIns="73152" bIns="42203" rtlCol="0" anchor="ctr" anchorCtr="0">
            <a:noAutofit/>
          </a:bodyPr>
          <a:lstStyle/>
          <a:p>
            <a:pPr algn="ctr"/>
            <a:r>
              <a:rPr lang="en-US" sz="2400" dirty="0">
                <a:solidFill/>
                <a:latin typeface="Avenir Next LT Pro Demi" panose="020B0704020202020204" pitchFamily="34" charset="0"/>
              </a:rPr>
              <a:t>Restoration Hardware </a:t>
            </a:r>
            <a:r>
              <a:rPr lang="en-US" sz="2400">
                <a:solidFill/>
                <a:latin typeface="Avenir Next LT Pro Demi" panose="020B0704020202020204" pitchFamily="34" charset="0"/>
              </a:rPr>
              <a:t>(RH) Stock </a:t>
            </a:r>
            <a:r>
              <a:rPr lang="en-US" sz="2400" dirty="0">
                <a:solidFill/>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a:ln>
            <a:solidFill/>
          </a:ln>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a:ln>
            <a:solidFill/>
          </a:ln>
        </p:spPr>
        <p:txBody>
          <a:bodyPr/>
          <a:lstStyle/>
          <a:p>
            <a:r>
              <a:rPr lang="en-US">
                <a:solidFill/>
              </a:rPr>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rgbClr val="FFFFFF"/>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tc>
                  <a:txBody>
                    <a:bodyPr/>
                    <a:lstStyle/>
                    <a:p>
                      <a:pPr algn="ctr"/>
                      <a:r>
                        <a:rPr lang="en-US" sz="1400" b="1">
                          <a:solidFill>
                            <a:srgbClr val="FFFFFF"/>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9A7B44"/>
                    </a:solidFill>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a:ln>
            <a:solidFill/>
          </a:ln>
        </p:spPr>
        <p:txBody>
          <a:bodyPr/>
          <a:lstStyle/>
          <a:p>
            <a:r>
              <a:rPr lang="en-US">
                <a:solidFill/>
              </a:rPr>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a:ln>
            <a:solidFill/>
          </a:ln>
        </p:spPr>
        <p:txBody>
          <a:bodyPr wrap="square">
            <a:spAutoFit/>
          </a:bodyPr>
          <a:lstStyle/>
          <a:p>
            <a:r>
              <a:rPr sz="2600" b="0" dirty="0">
                <a:solidFill/>
                <a:latin typeface="Avenir Next LT Pro Demi"/>
              </a:rPr>
              <a:t>Recommendation: Hold</a:t>
            </a:r>
          </a:p>
        </p:txBody>
      </p:sp>
      <p:sp>
        <p:nvSpPr>
          <p:cNvPr id="4" name="Rectangle 3"/>
          <p:cNvSpPr/>
          <p:nvPr/>
        </p:nvSpPr>
        <p:spPr>
          <a:xfrm>
            <a:off x="457200" y="995363"/>
            <a:ext cx="8229600" cy="868680"/>
          </a:xfrm>
          <a:prstGeom prst="rect">
            <a:avLst/>
          </a:prstGeom>
          <a:solidFill>
            <a:srgbClr val="AF8C49"/>
          </a:solidFill>
          <a:ln>
            <a:solid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today ~$165 (proven fundamentals)</a:t>
            </a:r>
            <a:r>
              <a:rPr sz="1200" b="0" dirty="0">
                <a:solidFill>
                  <a:srgbClr val="9AB0C4"/>
                </a:solidFill>
                <a:latin typeface="Avenir Next LT Pro"/>
              </a:rPr>
              <a:t>  →  </a:t>
            </a:r>
            <a:r>
              <a:rPr sz="1200" b="0" dirty="0">
                <a:solidFill>
                  <a:schemeClr val="bg1"/>
                </a:solidFill>
                <a:latin typeface="Avenir Next LT Pro"/>
              </a:rPr>
              <a:t>fairly valued</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Upside if the thesis de-risks: ~$240 FV / ~$310 target (~45–90%). Not yet actionable — Estates unproven, ~4× levered. Buy on proof.</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000000"/>
                </a:solidFill>
                <a:latin typeface="Avenir Next LT Pro Demi"/>
              </a:rPr>
              <a:t>~$310</a:t>
            </a:r>
            <a:r>
              <a:rPr lang="en-US" sz="2400" b="1" dirty="0">
                <a:solidFill>
                  <a:srgbClr val="000000"/>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82296" cy="22402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429000"/>
            <a:ext cx="3794760" cy="2240280"/>
          </a:xfrm>
          <a:prstGeom prst="rect">
            <a:avLst/>
          </a:prstGeom>
          <a:noFill/>
          <a:ln>
            <a:solidFill/>
          </a:ln>
        </p:spPr>
        <p:txBody>
          <a:bodyPr wrap="square">
            <a:spAutoFit/>
          </a:bodyPr>
          <a:lstStyle/>
          <a:p>
            <a:r>
              <a:rPr sz="1300" b="1">
                <a:solidFill>
                  <a:srgbClr val="000000"/>
                </a:solidFill>
                <a:latin typeface="Avenir Next LT Pro Demi"/>
              </a:rPr>
              <a:t>Why it's interesting</a:t>
            </a:r>
          </a:p>
          <a:p>
            <a:pPr>
              <a:spcBef>
                <a:spcPts val="600"/>
              </a:spcBef>
            </a:pPr>
            <a:r>
              <a:rPr sz="1100">
                <a:solidFill>
                  <a:srgbClr val="000000"/>
                </a:solidFill>
                <a:latin typeface="Avenir Next LT Pro"/>
              </a:rPr>
              <a:t>•  </a:t>
            </a:r>
            <a:r>
              <a:rPr sz="1100">
                <a:solidFill>
                  <a:srgbClr val="000000"/>
                </a:solidFill>
                <a:latin typeface="Avenir Next LT Pro"/>
              </a:rPr>
              <a:t>Proven operator — Friedman (~18–25% owner) rebuilt RH from near-bankruptcy</a:t>
            </a:r>
          </a:p>
          <a:p>
            <a:pPr>
              <a:spcBef>
                <a:spcPts val="600"/>
              </a:spcBef>
            </a:pPr>
            <a:r>
              <a:rPr sz="1100">
                <a:solidFill>
                  <a:srgbClr val="000000"/>
                </a:solidFill>
                <a:latin typeface="Avenir Next LT Pro"/>
              </a:rPr>
              <a:t>•  </a:t>
            </a:r>
            <a:r>
              <a:rPr sz="1100">
                <a:solidFill>
                  <a:srgbClr val="000000"/>
                </a:solidFill>
                <a:latin typeface="Avenir Next LT Pro"/>
              </a:rPr>
              <a:t>Differentiated, fully-DTC luxury brand with real pricing power</a:t>
            </a:r>
          </a:p>
          <a:p>
            <a:pPr>
              <a:spcBef>
                <a:spcPts val="600"/>
              </a:spcBef>
            </a:pPr>
            <a:r>
              <a:rPr sz="1100">
                <a:solidFill>
                  <a:srgbClr val="000000"/>
                </a:solidFill>
                <a:latin typeface="Avenir Next LT Pro"/>
              </a:rPr>
              <a:t>•  </a:t>
            </a:r>
            <a:r>
              <a:rPr sz="1100">
                <a:solidFill>
                  <a:srgbClr val="000000"/>
                </a:solidFill>
                <a:latin typeface="Avenir Next LT Pro"/>
              </a:rPr>
              <a:t>Large optionality — ~45–90% upside if Estates + margins prove out</a:t>
            </a:r>
          </a:p>
        </p:txBody>
      </p:sp>
      <p:sp>
        <p:nvSpPr>
          <p:cNvPr id="10" name="Rectangle 9"/>
          <p:cNvSpPr/>
          <p:nvPr/>
        </p:nvSpPr>
        <p:spPr>
          <a:xfrm>
            <a:off x="4709160" y="3429000"/>
            <a:ext cx="82296" cy="224028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92040" y="3429000"/>
            <a:ext cx="3794760" cy="2240280"/>
          </a:xfrm>
          <a:prstGeom prst="rect">
            <a:avLst/>
          </a:prstGeom>
          <a:noFill/>
          <a:ln>
            <a:solidFill/>
          </a:ln>
        </p:spPr>
        <p:txBody>
          <a:bodyPr wrap="square">
            <a:spAutoFit/>
          </a:bodyPr>
          <a:lstStyle/>
          <a:p>
            <a:r>
              <a:rPr sz="1300" b="1">
                <a:solidFill>
                  <a:srgbClr val="B03030"/>
                </a:solidFill>
                <a:latin typeface="Avenir Next LT Pro Demi"/>
              </a:rPr>
              <a:t>Why I'm holding — not yet</a:t>
            </a:r>
          </a:p>
          <a:p>
            <a:pPr>
              <a:spcBef>
                <a:spcPts val="600"/>
              </a:spcBef>
            </a:pPr>
            <a:r>
              <a:rPr sz="1100">
                <a:solidFill>
                  <a:srgbClr val="B03030"/>
                </a:solidFill>
                <a:latin typeface="Avenir Next LT Pro"/>
              </a:rPr>
              <a:t>•  </a:t>
            </a:r>
            <a:r>
              <a:rPr sz="1100">
                <a:solidFill>
                  <a:srgbClr val="000000"/>
                </a:solidFill>
                <a:latin typeface="Avenir Next LT Pro"/>
              </a:rPr>
              <a:t>Estates unproven — zero results data (launched Jun 2026)</a:t>
            </a:r>
          </a:p>
          <a:p>
            <a:pPr>
              <a:spcBef>
                <a:spcPts val="600"/>
              </a:spcBef>
            </a:pPr>
            <a:r>
              <a:rPr sz="1100">
                <a:solidFill>
                  <a:srgbClr val="B03030"/>
                </a:solidFill>
                <a:latin typeface="Avenir Next LT Pro"/>
              </a:rPr>
              <a:t>•  </a:t>
            </a:r>
            <a:r>
              <a:rPr sz="1100">
                <a:solidFill>
                  <a:srgbClr val="000000"/>
                </a:solidFill>
                <a:latin typeface="Avenir Next LT Pro"/>
              </a:rPr>
              <a:t>Core still soft — Q1 net loss; Q2 guides just +0.5–2.5%</a:t>
            </a:r>
          </a:p>
          <a:p>
            <a:pPr>
              <a:spcBef>
                <a:spcPts val="600"/>
              </a:spcBef>
            </a:pPr>
            <a:r>
              <a:rPr sz="1100">
                <a:solidFill>
                  <a:srgbClr val="B03030"/>
                </a:solidFill>
                <a:latin typeface="Avenir Next LT Pro"/>
              </a:rPr>
              <a:t>•  </a:t>
            </a:r>
            <a:r>
              <a:rPr sz="1100">
                <a:solidFill>
                  <a:srgbClr val="000000"/>
                </a:solidFill>
                <a:latin typeface="Avenir Next LT Pro"/>
              </a:rPr>
              <a:t>~4× levered; debt reduction one-time (inventory) and stalling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Where the Street Values RH — vs. My Verdict</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71600"/>
          <a:ext cx="8229600" cy="2743200"/>
        </p:xfrm>
        <a:graphic>
          <a:graphicData uri="http://schemas.openxmlformats.org/drawingml/2006/table">
            <a:tbl>
              <a:tblPr>
                <a:tableStyleId>{5C22544A-7EE6-4342-B048-85BDC9FD1C3A}</a:tableStyleId>
              </a:tblPr>
              <a:tblGrid>
                <a:gridCol w="3291840"/>
                <a:gridCol w="2011680"/>
                <a:gridCol w="2926080"/>
              </a:tblGrid>
              <a:tr h="457200">
                <a:tc>
                  <a:txBody>
                    <a:bodyPr/>
                    <a:lstStyle/>
                    <a:p>
                      <a:pPr algn="l"/>
                      <a:r>
                        <a:rPr sz="1100" b="1">
                          <a:solidFill>
                            <a:srgbClr val="FFFFFF"/>
                          </a:solidFill>
                          <a:latin typeface="Avenir Next LT Pro Demi"/>
                        </a:rPr>
                        <a:t>Benchmark</a:t>
                      </a:r>
                    </a:p>
                  </a:txBody>
                  <a:tcPr marL="91440" marT="27432" marB="27432" anchor="ctr">
                    <a:solidFill>
                      <a:srgbClr val="9A7B44"/>
                    </a:solidFill>
                  </a:tcPr>
                </a:tc>
                <a:tc>
                  <a:txBody>
                    <a:bodyPr/>
                    <a:lstStyle/>
                    <a:p>
                      <a:pPr algn="ctr"/>
                      <a:r>
                        <a:rPr sz="1100" b="1">
                          <a:solidFill>
                            <a:srgbClr val="FFFFFF"/>
                          </a:solidFill>
                          <a:latin typeface="Avenir Next LT Pro Demi"/>
                        </a:rPr>
                        <a:t>Value</a:t>
                      </a:r>
                    </a:p>
                  </a:txBody>
                  <a:tcPr marL="91440" marT="27432" marB="27432" anchor="ctr">
                    <a:solidFill>
                      <a:srgbClr val="9A7B44"/>
                    </a:solidFill>
                  </a:tcPr>
                </a:tc>
                <a:tc>
                  <a:txBody>
                    <a:bodyPr/>
                    <a:lstStyle/>
                    <a:p>
                      <a:pPr algn="l"/>
                      <a:r>
                        <a:rPr sz="1100" b="1">
                          <a:solidFill>
                            <a:srgbClr val="FFFFFF"/>
                          </a:solidFill>
                          <a:latin typeface="Avenir Next LT Pro Demi"/>
                        </a:rPr>
                        <a:t>Implied read</a:t>
                      </a:r>
                    </a:p>
                  </a:txBody>
                  <a:tcPr marL="91440" marT="27432" marB="27432" anchor="ctr">
                    <a:solidFill>
                      <a:srgbClr val="9A7B44"/>
                    </a:solidFill>
                  </a:tcPr>
                </a:tc>
              </a:tr>
              <a:tr h="457200">
                <a:tc>
                  <a:txBody>
                    <a:bodyPr/>
                    <a:lstStyle/>
                    <a:p>
                      <a:pPr algn="l"/>
                      <a:r>
                        <a:rPr sz="1100" b="1">
                          <a:solidFill>
                            <a:srgbClr val="000000"/>
                          </a:solidFill>
                          <a:latin typeface="Avenir Next LT Pro"/>
                        </a:rPr>
                        <a:t>Current price</a:t>
                      </a:r>
                    </a:p>
                  </a:txBody>
                  <a:tcPr marL="91440" marT="27432" marB="27432" anchor="ctr">
                    <a:solidFill>
                      <a:srgbClr val="FFFFFF"/>
                    </a:solidFill>
                  </a:tcPr>
                </a:tc>
                <a:tc>
                  <a:txBody>
                    <a:bodyPr/>
                    <a:lstStyle/>
                    <a:p>
                      <a:pPr algn="ctr"/>
                      <a:r>
                        <a:rPr sz="1100" b="0">
                          <a:solidFill>
                            <a:srgbClr val="000000"/>
                          </a:solidFill>
                          <a:latin typeface="Avenir Next LT Pro"/>
                        </a:rPr>
                        <a:t>~$166</a:t>
                      </a:r>
                    </a:p>
                  </a:txBody>
                  <a:tcPr marL="91440" marT="27432" marB="27432" anchor="ctr">
                    <a:solidFill>
                      <a:srgbClr val="FFFFFF"/>
                    </a:solidFill>
                  </a:tcPr>
                </a:tc>
                <a:tc>
                  <a:txBody>
                    <a:bodyPr/>
                    <a:lstStyle/>
                    <a:p>
                      <a:pPr algn="l"/>
                      <a:r>
                        <a:rPr sz="1100" b="0">
                          <a:solidFill>
                            <a:srgbClr val="000000"/>
                          </a:solidFill>
                          <a:latin typeface="Avenir Next LT Pro"/>
                        </a:rPr>
                        <a:t>—</a:t>
                      </a:r>
                    </a:p>
                  </a:txBody>
                  <a:tcPr marL="91440" marT="27432" marB="27432" anchor="ctr">
                    <a:solidFill>
                      <a:srgbClr val="FFFFFF"/>
                    </a:solidFill>
                  </a:tcPr>
                </a:tc>
              </a:tr>
              <a:tr h="457200">
                <a:tc>
                  <a:txBody>
                    <a:bodyPr/>
                    <a:lstStyle/>
                    <a:p>
                      <a:pPr algn="l"/>
                      <a:r>
                        <a:rPr sz="1100" b="1">
                          <a:solidFill>
                            <a:srgbClr val="000000"/>
                          </a:solidFill>
                          <a:latin typeface="Avenir Next LT Pro"/>
                        </a:rPr>
                        <a:t>Sell-side price targets</a:t>
                      </a:r>
                    </a:p>
                  </a:txBody>
                  <a:tcPr marL="91440" marT="27432" marB="27432" anchor="ctr">
                    <a:solidFill>
                      <a:srgbClr val="F4F6F8"/>
                    </a:solidFill>
                  </a:tcPr>
                </a:tc>
                <a:tc>
                  <a:txBody>
                    <a:bodyPr/>
                    <a:lstStyle/>
                    <a:p>
                      <a:pPr algn="ctr"/>
                      <a:r>
                        <a:rPr sz="1100" b="0">
                          <a:solidFill>
                            <a:srgbClr val="000000"/>
                          </a:solidFill>
                          <a:latin typeface="Avenir Next LT Pro"/>
                        </a:rPr>
                        <a:t>$130–175</a:t>
                      </a:r>
                    </a:p>
                  </a:txBody>
                  <a:tcPr marL="91440" marT="27432" marB="27432" anchor="ctr">
                    <a:solidFill>
                      <a:srgbClr val="F4F6F8"/>
                    </a:solidFill>
                  </a:tcPr>
                </a:tc>
                <a:tc>
                  <a:txBody>
                    <a:bodyPr/>
                    <a:lstStyle/>
                    <a:p>
                      <a:pPr algn="l"/>
                      <a:r>
                        <a:rPr sz="1100" b="0">
                          <a:solidFill>
                            <a:srgbClr val="000000"/>
                          </a:solidFill>
                          <a:latin typeface="Avenir Next LT Pro"/>
                        </a:rPr>
                        <a:t>Limited upside; ~fairly valued</a:t>
                      </a:r>
                    </a:p>
                  </a:txBody>
                  <a:tcPr marL="91440" marT="27432" marB="27432" anchor="ctr">
                    <a:solidFill>
                      <a:srgbClr val="F4F6F8"/>
                    </a:solidFill>
                  </a:tcPr>
                </a:tc>
              </a:tr>
              <a:tr h="457200">
                <a:tc>
                  <a:txBody>
                    <a:bodyPr/>
                    <a:lstStyle/>
                    <a:p>
                      <a:pPr algn="l"/>
                      <a:r>
                        <a:rPr sz="1100" b="1">
                          <a:solidFill>
                            <a:srgbClr val="000000"/>
                          </a:solidFill>
                          <a:latin typeface="Avenir Next LT Pro"/>
                        </a:rPr>
                        <a:t>Simply Wall St models</a:t>
                      </a:r>
                    </a:p>
                  </a:txBody>
                  <a:tcPr marL="91440" marT="27432" marB="27432" anchor="ctr">
                    <a:solidFill>
                      <a:srgbClr val="FFFFFF"/>
                    </a:solidFill>
                  </a:tcPr>
                </a:tc>
                <a:tc>
                  <a:txBody>
                    <a:bodyPr/>
                    <a:lstStyle/>
                    <a:p>
                      <a:pPr algn="ctr"/>
                      <a:r>
                        <a:rPr sz="1100" b="0">
                          <a:solidFill>
                            <a:srgbClr val="000000"/>
                          </a:solidFill>
                          <a:latin typeface="Avenir Next LT Pro"/>
                        </a:rPr>
                        <a:t>~$165–264</a:t>
                      </a:r>
                    </a:p>
                  </a:txBody>
                  <a:tcPr marL="91440" marT="27432" marB="27432" anchor="ctr">
                    <a:solidFill>
                      <a:srgbClr val="FFFFFF"/>
                    </a:solidFill>
                  </a:tcPr>
                </a:tc>
                <a:tc>
                  <a:txBody>
                    <a:bodyPr/>
                    <a:lstStyle/>
                    <a:p>
                      <a:pPr algn="l"/>
                      <a:r>
                        <a:rPr sz="1100" b="0">
                          <a:solidFill>
                            <a:srgbClr val="000000"/>
                          </a:solidFill>
                          <a:latin typeface="Avenir Next LT Pro"/>
                        </a:rPr>
                        <a:t>Fairly valued to bullish</a:t>
                      </a:r>
                    </a:p>
                  </a:txBody>
                  <a:tcPr marL="91440" marT="27432" marB="27432" anchor="ctr">
                    <a:solidFill>
                      <a:srgbClr val="FFFFFF"/>
                    </a:solidFill>
                  </a:tcPr>
                </a:tc>
              </a:tr>
              <a:tr h="457200">
                <a:tc>
                  <a:txBody>
                    <a:bodyPr/>
                    <a:lstStyle/>
                    <a:p>
                      <a:pPr algn="l"/>
                      <a:r>
                        <a:rPr sz="1100" b="1">
                          <a:solidFill>
                            <a:srgbClr val="000000"/>
                          </a:solidFill>
                          <a:latin typeface="Avenir Next LT Pro Demi"/>
                        </a:rPr>
                        <a:t>My fair value — proven today</a:t>
                      </a:r>
                    </a:p>
                  </a:txBody>
                  <a:tcPr marL="91440" marT="27432" marB="27432" anchor="ctr">
                    <a:solidFill>
                      <a:srgbClr val="F4F6F8"/>
                    </a:solidFill>
                  </a:tcPr>
                </a:tc>
                <a:tc>
                  <a:txBody>
                    <a:bodyPr/>
                    <a:lstStyle/>
                    <a:p>
                      <a:pPr algn="ctr"/>
                      <a:r>
                        <a:rPr sz="1100" b="1">
                          <a:solidFill>
                            <a:srgbClr val="000000"/>
                          </a:solidFill>
                          <a:latin typeface="Avenir Next LT Pro"/>
                        </a:rPr>
                        <a:t>~$165</a:t>
                      </a:r>
                    </a:p>
                  </a:txBody>
                  <a:tcPr marL="91440" marT="27432" marB="27432" anchor="ctr">
                    <a:solidFill>
                      <a:srgbClr val="F4F6F8"/>
                    </a:solidFill>
                  </a:tcPr>
                </a:tc>
                <a:tc>
                  <a:txBody>
                    <a:bodyPr/>
                    <a:lstStyle/>
                    <a:p>
                      <a:pPr algn="l"/>
                      <a:r>
                        <a:rPr sz="1100" b="1">
                          <a:solidFill>
                            <a:srgbClr val="000000"/>
                          </a:solidFill>
                          <a:latin typeface="Avenir Next LT Pro"/>
                        </a:rPr>
                        <a:t>In line with Street → Hold</a:t>
                      </a:r>
                    </a:p>
                  </a:txBody>
                  <a:tcPr marL="91440" marT="27432" marB="27432" anchor="ctr">
                    <a:solidFill>
                      <a:srgbClr val="F4F6F8"/>
                    </a:solidFill>
                  </a:tcPr>
                </a:tc>
              </a:tr>
              <a:tr h="457200">
                <a:tc>
                  <a:txBody>
                    <a:bodyPr/>
                    <a:lstStyle/>
                    <a:p>
                      <a:pPr algn="l"/>
                      <a:r>
                        <a:rPr sz="1100" b="1">
                          <a:solidFill>
                            <a:srgbClr val="000000"/>
                          </a:solidFill>
                          <a:latin typeface="Avenir Next LT Pro Demi"/>
                        </a:rPr>
                        <a:t>My upside case — if de-risked</a:t>
                      </a:r>
                    </a:p>
                  </a:txBody>
                  <a:tcPr marL="91440" marT="27432" marB="27432" anchor="ctr">
                    <a:solidFill>
                      <a:srgbClr val="FFFFFF"/>
                    </a:solidFill>
                  </a:tcPr>
                </a:tc>
                <a:tc>
                  <a:txBody>
                    <a:bodyPr/>
                    <a:lstStyle/>
                    <a:p>
                      <a:pPr algn="ctr"/>
                      <a:r>
                        <a:rPr sz="1100" b="1">
                          <a:solidFill>
                            <a:srgbClr val="000000"/>
                          </a:solidFill>
                          <a:latin typeface="Avenir Next LT Pro"/>
                        </a:rPr>
                        <a:t>~$240 FV / ~$310 tgt</a:t>
                      </a:r>
                    </a:p>
                  </a:txBody>
                  <a:tcPr marL="91440" marT="27432" marB="27432" anchor="ctr">
                    <a:solidFill>
                      <a:srgbClr val="FFFFFF"/>
                    </a:solidFill>
                  </a:tcPr>
                </a:tc>
                <a:tc>
                  <a:txBody>
                    <a:bodyPr/>
                    <a:lstStyle/>
                    <a:p>
                      <a:pPr algn="l"/>
                      <a:r>
                        <a:rPr sz="1100" b="1">
                          <a:solidFill>
                            <a:srgbClr val="000000"/>
                          </a:solidFill>
                          <a:latin typeface="Avenir Next LT Pro"/>
                        </a:rPr>
                        <a:t>The prize (~45–90%) if triggers hit</a:t>
                      </a:r>
                    </a:p>
                  </a:txBody>
                  <a:tcPr marL="91440" marT="27432" marB="27432" anchor="ctr">
                    <a:solidFill>
                      <a:srgbClr val="FFFFFF"/>
                    </a:solidFill>
                  </a:tcPr>
                </a:tc>
              </a:tr>
            </a:tbl>
          </a:graphicData>
        </a:graphic>
      </p:graphicFrame>
      <p:sp>
        <p:nvSpPr>
          <p:cNvPr id="5" name="TextBox 4"/>
          <p:cNvSpPr txBox="1"/>
          <p:nvPr/>
        </p:nvSpPr>
        <p:spPr>
          <a:xfrm>
            <a:off x="457200" y="4572000"/>
            <a:ext cx="8229600" cy="1005840"/>
          </a:xfrm>
          <a:prstGeom prst="rect">
            <a:avLst/>
          </a:prstGeom>
          <a:noFill/>
          <a:ln>
            <a:solidFill/>
          </a:ln>
        </p:spPr>
        <p:txBody>
          <a:bodyPr wrap="square">
            <a:spAutoFit/>
          </a:bodyPr>
          <a:lstStyle/>
          <a:p>
            <a:r>
              <a:rPr sz="1200">
                <a:solidFill>
                  <a:srgbClr val="000000"/>
                </a:solidFill>
                <a:latin typeface="Avenir Next LT Pro"/>
              </a:rPr>
              <a:t>Takeaway: I match the Street on proven value (~$165 ≈ price).</a:t>
            </a:r>
          </a:p>
          <a:p>
            <a:pPr>
              <a:spcBef>
                <a:spcPts val="800"/>
              </a:spcBef>
            </a:pPr>
            <a:r>
              <a:rPr sz="1200" b="1">
                <a:solidFill>
                  <a:srgbClr val="000000"/>
                </a:solidFill>
                <a:latin typeface="Avenir Next LT Pro Demi"/>
              </a:rPr>
              <a:t>My edge is the conditional upside (~$240–310) — and the discipline to wait for proof before paying for it.</a:t>
            </a:r>
          </a:p>
        </p:txBody>
      </p:sp>
      <p:sp>
        <p:nvSpPr>
          <p:cNvPr id="6" name="TextBox 5"/>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sell-side price-target range &amp; Simply Wall St narrative fair values (per recent research); author's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a:ln>
            <a:solidFill/>
          </a:ln>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a:ln>
            <a:solidFill/>
          </a:ln>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a:ln>
            <a:solidFill/>
          </a:ln>
        </p:spPr>
        <p:txBody>
          <a:bodyPr wrap="square" anchor="ctr">
            <a:spAutoFit/>
          </a:bodyPr>
          <a:lstStyle/>
          <a:p>
            <a:r>
              <a:rPr sz="1150">
                <a:solidFill>
                  <a:srgbClr val="000000"/>
                </a:solidFill>
                <a:latin typeface="Avenir Next LT Pro"/>
              </a:rPr>
              <a:t>Revenue back in/above the 4.5–8% guide and a return to profit — a trend, not one quarter.</a:t>
            </a:r>
          </a:p>
        </p:txBody>
      </p:sp>
      <p:sp>
        <p:nvSpPr>
          <p:cNvPr id="8" name="Rectangle 7"/>
          <p:cNvSpPr/>
          <p:nvPr/>
        </p:nvSpPr>
        <p:spPr>
          <a:xfrm>
            <a:off x="457200" y="2999232"/>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a:ln>
            <a:solidFill/>
          </a:ln>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a:ln>
            <a:solidFill/>
          </a:ln>
        </p:spPr>
        <p:txBody>
          <a:bodyPr wrap="square" anchor="ctr">
            <a:spAutoFit/>
          </a:bodyPr>
          <a:lstStyle/>
          <a:p>
            <a:r>
              <a:rPr sz="1150">
                <a:solidFill>
                  <a:srgbClr val="000000"/>
                </a:solidFill>
                <a:latin typeface="Avenir Next LT Pro"/>
              </a:rPr>
              <a:t>Real revenue and gallery traction. Launched Jun 2026 — no data yet; first read Q2 FY2026.</a:t>
            </a:r>
          </a:p>
        </p:txBody>
      </p:sp>
      <p:sp>
        <p:nvSpPr>
          <p:cNvPr id="11" name="Rectangle 10"/>
          <p:cNvSpPr/>
          <p:nvPr/>
        </p:nvSpPr>
        <p:spPr>
          <a:xfrm>
            <a:off x="457200" y="4306824"/>
            <a:ext cx="82296" cy="114300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a:ln>
            <a:solidFill/>
          </a:ln>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a:ln>
            <a:solidFill/>
          </a:ln>
        </p:spPr>
        <p:txBody>
          <a:bodyPr wrap="square" anchor="ctr">
            <a:spAutoFit/>
          </a:bodyPr>
          <a:lstStyle/>
          <a:p>
            <a:r>
              <a:rPr sz="1150">
                <a:solidFill>
                  <a:srgbClr val="000000"/>
                </a:solidFill>
                <a:latin typeface="Avenir Next LT Pro"/>
              </a:rPr>
              <a:t>Net debt falling on real FCF — not the one-time inventory unwind. Leverage toward ~3×.</a:t>
            </a:r>
          </a:p>
        </p:txBody>
      </p:sp>
      <p:sp>
        <p:nvSpPr>
          <p:cNvPr id="14" name="TextBox 13"/>
          <p:cNvSpPr txBox="1"/>
          <p:nvPr/>
        </p:nvSpPr>
        <p:spPr>
          <a:xfrm>
            <a:off x="457200" y="5532120"/>
            <a:ext cx="8229600" cy="457200"/>
          </a:xfrm>
          <a:prstGeom prst="rect">
            <a:avLst/>
          </a:prstGeom>
          <a:noFill/>
          <a:ln>
            <a:solidFill/>
          </a:ln>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a:ln>
            <a:solidFill/>
          </a:ln>
        </p:spPr>
        <p:txBody>
          <a:bodyPr/>
          <a:lstStyle/>
          <a:p>
            <a:r>
              <a:rPr lang="en-US">
                <a:solidFill/>
              </a:rPr>
              <a:t>Stock</a:t>
            </a:r>
            <a:br>
              <a:rPr lang="en-US"/>
            </a:br>
            <a:r>
              <a:rPr lang="en-US" sz="1800">
                <a:solidFill/>
              </a:rPr>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a:ln>
            <a:solidFill/>
          </a:ln>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a:ln>
            <a:solidFill/>
          </a:ln>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a:ln>
            <a:solidFill/>
          </a:ln>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a:ln>
            <a:solidFill/>
          </a:ln>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a:ln>
            <a:solidFill/>
          </a:ln>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a:ln>
            <a:solidFill/>
          </a:ln>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532120"/>
            <a:ext cx="8229600" cy="411480"/>
          </a:xfrm>
          <a:prstGeom prst="rect">
            <a:avLst/>
          </a:prstGeom>
          <a:noFill/>
          <a:ln>
            <a:solidFill/>
          </a:ln>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a:ln>
            <a:solidFill/>
          </a:ln>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a:ln>
            <a:solidFill/>
          </a:ln>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a:ln>
            <a:solidFill/>
          </a:ln>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a:ln>
            <a:solidFill/>
          </a:ln>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000">
                <a:solidFill>
                  <a:srgbClr val="000000"/>
                </a:solidFill>
                <a:latin typeface="Avenir Next LT Pro Demi"/>
              </a:rPr>
              <a:t>Recent Developments — Strategy in Action (and What to Watch)</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8016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8001000" cy="1325880"/>
          </a:xfrm>
          <a:prstGeom prst="rect">
            <a:avLst/>
          </a:prstGeom>
          <a:noFill/>
          <a:ln>
            <a:solidFill/>
          </a:ln>
        </p:spPr>
        <p:txBody>
          <a:bodyPr wrap="square" anchor="ctr">
            <a:spAutoFit/>
          </a:bodyPr>
          <a:lstStyle/>
          <a:p>
            <a:r>
              <a:rPr sz="1350" b="1">
                <a:solidFill>
                  <a:srgbClr val="000000"/>
                </a:solidFill>
                <a:latin typeface="Avenir Next LT Pro Demi"/>
              </a:rPr>
              <a:t>RH Estates — unveiled</a:t>
            </a:r>
          </a:p>
          <a:p>
            <a:pPr>
              <a:spcBef>
                <a:spcPts val="300"/>
              </a:spcBef>
            </a:pPr>
            <a:r>
              <a:rPr sz="1100">
                <a:solidFill>
                  <a:srgbClr val="000000"/>
                </a:solidFill>
                <a:latin typeface="Avenir Next LT Pro"/>
              </a:rPr>
              <a:t>Acquired legendary ateliers — Michael Taylor, Dennis &amp; Leen, Dmitriy &amp; Co., Formations.</a:t>
            </a:r>
          </a:p>
          <a:p>
            <a:pPr>
              <a:spcBef>
                <a:spcPts val="200"/>
              </a:spcBef>
            </a:pPr>
            <a:r>
              <a:rPr sz="1050" i="1">
                <a:solidFill>
                  <a:srgbClr val="000000"/>
                </a:solidFill>
                <a:latin typeface="Avenir Next LT Pro"/>
              </a:rPr>
              <a:t>Watch: Owned exclusivity rivals can't copy — a real moat. Commercially unproven; first read Q2 FY2026.</a:t>
            </a:r>
          </a:p>
        </p:txBody>
      </p:sp>
      <p:sp>
        <p:nvSpPr>
          <p:cNvPr id="6" name="Rectangle 5"/>
          <p:cNvSpPr/>
          <p:nvPr/>
        </p:nvSpPr>
        <p:spPr>
          <a:xfrm>
            <a:off x="457200" y="274320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743200"/>
            <a:ext cx="8001000" cy="1325880"/>
          </a:xfrm>
          <a:prstGeom prst="rect">
            <a:avLst/>
          </a:prstGeom>
          <a:noFill/>
          <a:ln>
            <a:solidFill/>
          </a:ln>
        </p:spPr>
        <p:txBody>
          <a:bodyPr wrap="square" anchor="ctr">
            <a:spAutoFit/>
          </a:bodyPr>
          <a:lstStyle/>
          <a:p>
            <a:r>
              <a:rPr sz="1350" b="1">
                <a:solidFill>
                  <a:srgbClr val="000000"/>
                </a:solidFill>
                <a:latin typeface="Avenir Next LT Pro Demi"/>
              </a:rPr>
              <a:t>Mercedes-AMG F1 partnership</a:t>
            </a:r>
          </a:p>
          <a:p>
            <a:pPr>
              <a:spcBef>
                <a:spcPts val="300"/>
              </a:spcBef>
            </a:pPr>
            <a:r>
              <a:rPr sz="1100">
                <a:solidFill>
                  <a:srgbClr val="000000"/>
                </a:solidFill>
                <a:latin typeface="Avenir Next LT Pro"/>
              </a:rPr>
              <a:t>RH to design the team's global hospitality (Abu Dhabi, Miami, Monaco, Silverstone) from late 2026.</a:t>
            </a:r>
          </a:p>
          <a:p>
            <a:pPr>
              <a:spcBef>
                <a:spcPts val="200"/>
              </a:spcBef>
            </a:pPr>
            <a:r>
              <a:rPr sz="1050" i="1">
                <a:solidFill>
                  <a:srgbClr val="000000"/>
                </a:solidFill>
                <a:latin typeface="Avenir Next LT Pro"/>
              </a:rPr>
              <a:t>Watch: Elite brand halo, on-strategy — but immaterial to near-term financials.</a:t>
            </a:r>
          </a:p>
        </p:txBody>
      </p:sp>
      <p:sp>
        <p:nvSpPr>
          <p:cNvPr id="8" name="Rectangle 7"/>
          <p:cNvSpPr/>
          <p:nvPr/>
        </p:nvSpPr>
        <p:spPr>
          <a:xfrm>
            <a:off x="457200" y="4206240"/>
            <a:ext cx="82296" cy="132588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4206240"/>
            <a:ext cx="8001000" cy="1325880"/>
          </a:xfrm>
          <a:prstGeom prst="rect">
            <a:avLst/>
          </a:prstGeom>
          <a:noFill/>
          <a:ln>
            <a:solidFill/>
          </a:ln>
        </p:spPr>
        <p:txBody>
          <a:bodyPr wrap="square" anchor="ctr">
            <a:spAutoFit/>
          </a:bodyPr>
          <a:lstStyle/>
          <a:p>
            <a:r>
              <a:rPr sz="1350" b="1">
                <a:solidFill>
                  <a:srgbClr val="000000"/>
                </a:solidFill>
                <a:latin typeface="Avenir Next LT Pro Demi"/>
              </a:rPr>
              <a:t>RH London — Mayfair flagship</a:t>
            </a:r>
          </a:p>
          <a:p>
            <a:pPr>
              <a:spcBef>
                <a:spcPts val="300"/>
              </a:spcBef>
            </a:pPr>
            <a:r>
              <a:rPr sz="1100">
                <a:solidFill>
                  <a:srgbClr val="000000"/>
                </a:solidFill>
                <a:latin typeface="Avenir Next LT Pro"/>
              </a:rPr>
              <a:t>Five-level gallery in London's luxury core (New Bond St / Savile Row).</a:t>
            </a:r>
          </a:p>
          <a:p>
            <a:pPr>
              <a:spcBef>
                <a:spcPts val="200"/>
              </a:spcBef>
            </a:pPr>
            <a:r>
              <a:rPr sz="1050" i="1">
                <a:solidFill>
                  <a:srgbClr val="000000"/>
                </a:solidFill>
                <a:latin typeface="Avenir Next LT Pro"/>
              </a:rPr>
              <a:t>Watch: Doubles down on Europe — capital-intensive and unproven. Watch productivity vs. margin drag.</a:t>
            </a:r>
          </a:p>
        </p:txBody>
      </p:sp>
      <p:sp>
        <p:nvSpPr>
          <p:cNvPr id="10" name="TextBox 9"/>
          <p:cNvSpPr txBox="1"/>
          <p:nvPr/>
        </p:nvSpPr>
        <p:spPr>
          <a:xfrm>
            <a:off x="457200" y="5532120"/>
            <a:ext cx="8229600" cy="457200"/>
          </a:xfrm>
          <a:prstGeom prst="rect">
            <a:avLst/>
          </a:prstGeom>
          <a:noFill/>
          <a:ln>
            <a:solidFill/>
          </a:ln>
        </p:spPr>
        <p:txBody>
          <a:bodyPr wrap="square">
            <a:spAutoFit/>
          </a:bodyPr>
          <a:lstStyle/>
          <a:p>
            <a:r>
              <a:rPr sz="1100" b="1">
                <a:solidFill>
                  <a:srgbClr val="000000"/>
                </a:solidFill>
                <a:latin typeface="Avenir Next LT Pro Demi"/>
              </a:rPr>
              <a:t>Expanding on all fronts — differentiated (Estates) and brand-elevating (F1, Mayfair) — but unproven and/or capital-intensive during a levered stretch. Watch items, not yet catalysts.</a:t>
            </a:r>
          </a:p>
        </p:txBody>
      </p:sp>
      <p:sp>
        <p:nvSpPr>
          <p:cNvPr id="11" name="TextBox 10"/>
          <p:cNvSpPr txBox="1"/>
          <p:nvPr/>
        </p:nvSpPr>
        <p:spPr>
          <a:xfrm>
            <a:off x="457200" y="6172200"/>
            <a:ext cx="8229600" cy="274320"/>
          </a:xfrm>
          <a:prstGeom prst="rect">
            <a:avLst/>
          </a:prstGeom>
          <a:noFill/>
          <a:ln>
            <a:solidFill/>
          </a:ln>
        </p:spPr>
        <p:txBody>
          <a:bodyPr wrap="none">
            <a:spAutoFit/>
          </a:bodyPr>
          <a:lstStyle/>
          <a:p>
            <a:r>
              <a:rPr sz="750" i="1">
                <a:solidFill>
                  <a:srgbClr val="707070"/>
                </a:solidFill>
                <a:latin typeface="Avenir Next LT Pro"/>
              </a:rPr>
              <a:t>Sources: RH company announcements (Business Wire),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a:ln>
            <a:solidFill/>
          </a:ln>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a:ln>
            <a:solidFill/>
          </a:ln>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a:ln>
            <a:solidFill/>
          </a:ln>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a:ln>
            <a:solidFill/>
          </a:ln>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a:ln>
            <a:solidFill/>
          </a:ln>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a:ln>
            <a:solidFill/>
          </a:ln>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a:ln>
            <a:solidFill/>
          </a:ln>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a:ln>
            <a:solidFill/>
          </a:ln>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a:ln>
            <a:solidFill/>
          </a:ln>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00000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a:ln>
            <a:solidFill/>
          </a:ln>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a:ln>
            <a:solidFill/>
          </a:ln>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a:ln>
            <a:solidFill/>
          </a:ln>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172200"/>
            <a:ext cx="8229600" cy="274320"/>
          </a:xfrm>
          <a:prstGeom prst="rect">
            <a:avLst/>
          </a:prstGeom>
          <a:noFill/>
          <a:ln>
            <a:solidFill/>
          </a:ln>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9A7B44"/>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a:ln>
            <a:solidFill/>
          </a:ln>
        </p:spPr>
        <p:txBody>
          <a:bodyPr wrap="square">
            <a:spAutoFit/>
          </a:bodyPr>
          <a:lstStyle/>
          <a:p>
            <a:r>
              <a:rPr sz="1000" b="1" i="0" dirty="0">
                <a:solidFill>
                  <a:srgbClr val="000000"/>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a:ln>
            <a:solidFill/>
          </a:ln>
        </p:spPr>
        <p:txBody>
          <a:bodyPr/>
          <a:lstStyle/>
          <a:p>
            <a:r>
              <a:rPr lang="en-US">
                <a:solidFill/>
              </a:rPr>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Valuation — EV/EBITDA, FY2027E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000000"/>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9A7B44"/>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9A7B44"/>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a:ln>
            <a:solidFill/>
          </a:ln>
        </p:spPr>
        <p:txBody>
          <a:bodyPr wrap="none">
            <a:spAutoFit/>
          </a:bodyPr>
          <a:lstStyle/>
          <a:p>
            <a:r>
              <a:rPr sz="1300" b="1" i="0">
                <a:solidFill>
                  <a:srgbClr val="000000"/>
                </a:solidFill>
                <a:latin typeface="Avenir Next LT Pro Demi"/>
              </a:rPr>
              <a:t>Probability-weighted target: ~$285   (~72% upside from ~$166)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a:ln>
            <a:solidFill/>
          </a:ln>
        </p:spPr>
        <p:txBody>
          <a:bodyPr wrap="square">
            <a:spAutoFit/>
          </a:bodyPr>
          <a:lstStyle/>
          <a:p>
            <a:r>
              <a:rPr sz="2300" b="0" i="0" dirty="0">
                <a:solidFill/>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9A7B44"/>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9A7B44"/>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9A7B44"/>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a:ln>
            <a:solidFill/>
          </a:ln>
        </p:spPr>
        <p:txBody>
          <a:bodyPr wrap="square">
            <a:spAutoFit/>
          </a:bodyPr>
          <a:lstStyle/>
          <a:p>
            <a:r>
              <a:rPr sz="1100" b="1" i="0" dirty="0">
                <a:solidFill/>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a:ln>
            <a:solidFill/>
          </a:ln>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a:ln>
            <a:solidFill/>
          </a:ln>
        </p:spPr>
        <p:txBody>
          <a:bodyPr/>
          <a:lstStyle/>
          <a:p>
            <a:r>
              <a:rPr lang="en-US">
                <a:solidFill/>
              </a:rPr>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a:ln>
            <a:solidFill/>
          </a:ln>
        </p:spPr>
        <p:txBody>
          <a:bodyPr wrap="square">
            <a:spAutoFit/>
          </a:bodyPr>
          <a:lstStyle/>
          <a:p>
            <a:r>
              <a:rPr sz="2300" b="0" i="0" dirty="0">
                <a:solidFill/>
                <a:latin typeface="Avenir Next LT Pro Demi"/>
              </a:rPr>
              <a:t>Competitive Landscape</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9A7B44"/>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9A7B44"/>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a:ln>
            <a:solidFill/>
          </a:ln>
        </p:spPr>
        <p:txBody>
          <a:bodyPr wrap="square">
            <a:spAutoFit/>
          </a:bodyPr>
          <a:lstStyle/>
          <a:p>
            <a:r>
              <a:rPr sz="1100" b="1" i="0" dirty="0">
                <a:solidFill/>
                <a:latin typeface="Avenir Next LT Pro Demi"/>
              </a:rPr>
              <a:t>The real competitor is Arhaus, not European luxury.</a:t>
            </a:r>
          </a:p>
          <a:p>
            <a:r>
              <a:rPr sz="1000" b="0" i="0" dirty="0">
                <a:solidFill/>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a:ln>
            <a:solidFill/>
          </a:ln>
        </p:spPr>
        <p:txBody>
          <a:bodyPr wrap="square">
            <a:spAutoFit/>
          </a:bodyPr>
          <a:lstStyle/>
          <a:p>
            <a:r>
              <a:rPr sz="2300" b="0" i="0" dirty="0">
                <a:solidFill/>
                <a:latin typeface="Avenir Next LT Pro Demi"/>
              </a:rPr>
              <a:t>Key Risks — What Has to Go Wrong</a:t>
            </a:r>
          </a:p>
        </p:txBody>
      </p:sp>
      <p:sp>
        <p:nvSpPr>
          <p:cNvPr id="5" name="TextBox 4"/>
          <p:cNvSpPr txBox="1"/>
          <p:nvPr/>
        </p:nvSpPr>
        <p:spPr>
          <a:xfrm>
            <a:off x="457200" y="1051560"/>
            <a:ext cx="8229600" cy="274320"/>
          </a:xfrm>
          <a:prstGeom prst="rect">
            <a:avLst/>
          </a:prstGeom>
          <a:noFill/>
          <a:ln>
            <a:solidFill/>
          </a:ln>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Insider &amp; Governance Signals</a:t>
            </a:r>
          </a:p>
        </p:txBody>
      </p:sp>
      <p:sp>
        <p:nvSpPr>
          <p:cNvPr id="3" name="Rectangle 2"/>
          <p:cNvSpPr/>
          <p:nvPr/>
        </p:nvSpPr>
        <p:spPr>
          <a:xfrm>
            <a:off x="457200" y="960120"/>
            <a:ext cx="8229600" cy="25603"/>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1325880"/>
          <a:ext cx="8229600" cy="4114800"/>
        </p:xfrm>
        <a:graphic>
          <a:graphicData uri="http://schemas.openxmlformats.org/drawingml/2006/table">
            <a:tbl>
              <a:tblPr>
                <a:tableStyleId>{5C22544A-7EE6-4342-B048-85BDC9FD1C3A}</a:tableStyleId>
              </a:tblPr>
              <a:tblGrid>
                <a:gridCol w="2148840"/>
                <a:gridCol w="3703320"/>
                <a:gridCol w="2377440"/>
              </a:tblGrid>
              <a:tr h="822960">
                <a:tc>
                  <a:txBody>
                    <a:bodyPr/>
                    <a:lstStyle/>
                    <a:p>
                      <a:pPr algn="l"/>
                      <a:r>
                        <a:rPr sz="1100" b="1">
                          <a:solidFill>
                            <a:srgbClr val="FFFFFF"/>
                          </a:solidFill>
                          <a:latin typeface="Avenir Next LT Pro Demi"/>
                        </a:rPr>
                        <a:t>Signal</a:t>
                      </a:r>
                    </a:p>
                  </a:txBody>
                  <a:tcPr marL="82296" marT="36576" marB="36576" anchor="ctr">
                    <a:solidFill>
                      <a:srgbClr val="9A7B44"/>
                    </a:solidFill>
                  </a:tcPr>
                </a:tc>
                <a:tc>
                  <a:txBody>
                    <a:bodyPr/>
                    <a:lstStyle/>
                    <a:p>
                      <a:pPr algn="l"/>
                      <a:r>
                        <a:rPr sz="1100" b="1">
                          <a:solidFill>
                            <a:srgbClr val="FFFFFF"/>
                          </a:solidFill>
                          <a:latin typeface="Avenir Next LT Pro Demi"/>
                        </a:rPr>
                        <a:t>What we see</a:t>
                      </a:r>
                    </a:p>
                  </a:txBody>
                  <a:tcPr marL="82296" marT="36576" marB="36576" anchor="ctr">
                    <a:solidFill>
                      <a:srgbClr val="9A7B44"/>
                    </a:solidFill>
                  </a:tcPr>
                </a:tc>
                <a:tc>
                  <a:txBody>
                    <a:bodyPr/>
                    <a:lstStyle/>
                    <a:p>
                      <a:pPr algn="l"/>
                      <a:r>
                        <a:rPr sz="1100" b="1">
                          <a:solidFill>
                            <a:srgbClr val="FFFFFF"/>
                          </a:solidFill>
                          <a:latin typeface="Avenir Next LT Pro Demi"/>
                        </a:rPr>
                        <a:t>Read</a:t>
                      </a:r>
                    </a:p>
                  </a:txBody>
                  <a:tcPr marL="82296" marT="36576" marB="36576" anchor="ctr">
                    <a:solidFill>
                      <a:srgbClr val="9A7B44"/>
                    </a:solidFill>
                  </a:tcPr>
                </a:tc>
              </a:tr>
              <a:tr h="822960">
                <a:tc>
                  <a:txBody>
                    <a:bodyPr/>
                    <a:lstStyle/>
                    <a:p>
                      <a:pPr algn="l"/>
                      <a:r>
                        <a:rPr sz="1050" b="1">
                          <a:solidFill>
                            <a:srgbClr val="000000"/>
                          </a:solidFill>
                          <a:latin typeface="Avenir Next LT Pro Demi"/>
                        </a:rPr>
                        <a:t>Founder ownership</a:t>
                      </a:r>
                    </a:p>
                  </a:txBody>
                  <a:tcPr marL="82296" marT="36576" marB="36576" anchor="ctr">
                    <a:solidFill>
                      <a:srgbClr val="FFFFFF"/>
                    </a:solidFill>
                  </a:tcPr>
                </a:tc>
                <a:tc>
                  <a:txBody>
                    <a:bodyPr/>
                    <a:lstStyle/>
                    <a:p>
                      <a:pPr algn="l"/>
                      <a:r>
                        <a:rPr sz="1050" b="0">
                          <a:solidFill>
                            <a:srgbClr val="000000"/>
                          </a:solidFill>
                          <a:latin typeface="Avenir Next LT Pro"/>
                        </a:rPr>
                        <a:t>Friedman owns ~18% outright (~25% incl. options); bought ~$10M at ~$216 (Jun 2024)</a:t>
                      </a:r>
                    </a:p>
                  </a:txBody>
                  <a:tcPr marL="82296" marT="36576" marB="36576" anchor="ctr">
                    <a:solidFill>
                      <a:srgbClr val="FFFFFF"/>
                    </a:solidFill>
                  </a:tcPr>
                </a:tc>
                <a:tc>
                  <a:txBody>
                    <a:bodyPr/>
                    <a:lstStyle/>
                    <a:p>
                      <a:pPr algn="l"/>
                      <a:r>
                        <a:rPr sz="1050" b="0">
                          <a:solidFill>
                            <a:srgbClr val="000000"/>
                          </a:solidFill>
                          <a:latin typeface="Avenir Next LT Pro"/>
                        </a:rPr>
                        <a:t>Deep alignment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Recent insider activity</a:t>
                      </a:r>
                    </a:p>
                  </a:txBody>
                  <a:tcPr marL="82296" marT="36576" marB="36576" anchor="ctr">
                    <a:solidFill>
                      <a:srgbClr val="F4F6F8"/>
                    </a:solidFill>
                  </a:tcPr>
                </a:tc>
                <a:tc>
                  <a:txBody>
                    <a:bodyPr/>
                    <a:lstStyle/>
                    <a:p>
                      <a:pPr algn="l"/>
                      <a:r>
                        <a:rPr sz="1050" b="0">
                          <a:solidFill>
                            <a:srgbClr val="000000"/>
                          </a:solidFill>
                          <a:latin typeface="Avenir Next LT Pro"/>
                        </a:rPr>
                        <a:t>Net selling over the past ~6 months (CEO + several execs); no open-market buys</a:t>
                      </a:r>
                    </a:p>
                  </a:txBody>
                  <a:tcPr marL="82296" marT="36576" marB="36576" anchor="ctr">
                    <a:solidFill>
                      <a:srgbClr val="F4F6F8"/>
                    </a:solidFill>
                  </a:tcPr>
                </a:tc>
                <a:tc>
                  <a:txBody>
                    <a:bodyPr/>
                    <a:lstStyle/>
                    <a:p>
                      <a:pPr algn="l"/>
                      <a:r>
                        <a:rPr sz="1050" b="0">
                          <a:solidFill>
                            <a:srgbClr val="000000"/>
                          </a:solidFill>
                          <a:latin typeface="Avenir Next LT Pro"/>
                        </a:rPr>
                        <a:t>Mixed — largely option/tax-driven, but not a “buy here” signal</a:t>
                      </a:r>
                    </a:p>
                  </a:txBody>
                  <a:tcPr marL="82296" marT="36576" marB="36576" anchor="ctr">
                    <a:solidFill>
                      <a:srgbClr val="F4F6F8"/>
                    </a:solidFill>
                  </a:tcPr>
                </a:tc>
              </a:tr>
              <a:tr h="822960">
                <a:tc>
                  <a:txBody>
                    <a:bodyPr/>
                    <a:lstStyle/>
                    <a:p>
                      <a:pPr algn="l"/>
                      <a:r>
                        <a:rPr sz="1050" b="1">
                          <a:solidFill>
                            <a:srgbClr val="000000"/>
                          </a:solidFill>
                          <a:latin typeface="Avenir Next LT Pro Demi"/>
                        </a:rPr>
                        <a:t>Board &amp; governance</a:t>
                      </a:r>
                    </a:p>
                  </a:txBody>
                  <a:tcPr marL="82296" marT="36576" marB="36576" anchor="ctr">
                    <a:solidFill>
                      <a:srgbClr val="FFFFFF"/>
                    </a:solidFill>
                  </a:tcPr>
                </a:tc>
                <a:tc>
                  <a:txBody>
                    <a:bodyPr/>
                    <a:lstStyle/>
                    <a:p>
                      <a:pPr algn="l"/>
                      <a:r>
                        <a:rPr sz="1050" b="0">
                          <a:solidFill>
                            <a:srgbClr val="000000"/>
                          </a:solidFill>
                          <a:latin typeface="Avenir Next LT Pro"/>
                        </a:rPr>
                        <a:t>Jun 2026 annual meeting: directors re-elected; say-on-pay &amp; PwC ratified</a:t>
                      </a:r>
                    </a:p>
                  </a:txBody>
                  <a:tcPr marL="82296" marT="36576" marB="36576" anchor="ctr">
                    <a:solidFill>
                      <a:srgbClr val="FFFFFF"/>
                    </a:solidFill>
                  </a:tcPr>
                </a:tc>
                <a:tc>
                  <a:txBody>
                    <a:bodyPr/>
                    <a:lstStyle/>
                    <a:p>
                      <a:pPr algn="l"/>
                      <a:r>
                        <a:rPr sz="1050" b="0">
                          <a:solidFill>
                            <a:srgbClr val="000000"/>
                          </a:solidFill>
                          <a:latin typeface="Avenir Next LT Pro"/>
                        </a:rPr>
                        <a:t>Stable, founder-led; no activist involvement</a:t>
                      </a:r>
                    </a:p>
                  </a:txBody>
                  <a:tcPr marL="82296" marT="36576" marB="36576" anchor="ctr">
                    <a:solidFill>
                      <a:srgbClr val="FFFFFF"/>
                    </a:solidFill>
                  </a:tcPr>
                </a:tc>
              </a:tr>
              <a:tr h="822960">
                <a:tc>
                  <a:txBody>
                    <a:bodyPr/>
                    <a:lstStyle/>
                    <a:p>
                      <a:pPr algn="l"/>
                      <a:r>
                        <a:rPr sz="1050" b="1">
                          <a:solidFill>
                            <a:srgbClr val="000000"/>
                          </a:solidFill>
                          <a:latin typeface="Avenir Next LT Pro Demi"/>
                        </a:rPr>
                        <a:t>Management intent</a:t>
                      </a:r>
                    </a:p>
                  </a:txBody>
                  <a:tcPr marL="82296" marT="36576" marB="36576" anchor="ctr">
                    <a:solidFill>
                      <a:srgbClr val="F4F6F8"/>
                    </a:solidFill>
                  </a:tcPr>
                </a:tc>
                <a:tc>
                  <a:txBody>
                    <a:bodyPr/>
                    <a:lstStyle/>
                    <a:p>
                      <a:pPr algn="l"/>
                      <a:r>
                        <a:rPr sz="1050" b="0">
                          <a:solidFill>
                            <a:srgbClr val="000000"/>
                          </a:solidFill>
                          <a:latin typeface="Avenir Next LT Pro"/>
                        </a:rPr>
                        <a:t>Stated goal: debt-free by 2029 (FCF + asset sales); Estates upmarket push</a:t>
                      </a:r>
                    </a:p>
                  </a:txBody>
                  <a:tcPr marL="82296" marT="36576" marB="36576" anchor="ctr">
                    <a:solidFill>
                      <a:srgbClr val="F4F6F8"/>
                    </a:solidFill>
                  </a:tcPr>
                </a:tc>
                <a:tc>
                  <a:txBody>
                    <a:bodyPr/>
                    <a:lstStyle/>
                    <a:p>
                      <a:pPr algn="l"/>
                      <a:r>
                        <a:rPr sz="1050" b="0">
                          <a:solidFill>
                            <a:srgbClr val="000000"/>
                          </a:solidFill>
                          <a:latin typeface="Avenir Next LT Pro"/>
                        </a:rPr>
                        <a:t>Addressing leverage, but expansion spend continues</a:t>
                      </a:r>
                    </a:p>
                  </a:txBody>
                  <a:tcPr marL="82296" marT="36576" marB="36576" anchor="ctr">
                    <a:solidFill>
                      <a:srgbClr val="F4F6F8"/>
                    </a:solidFill>
                  </a:tcPr>
                </a:tc>
              </a:tr>
            </a:tbl>
          </a:graphicData>
        </a:graphic>
      </p:graphicFrame>
      <p:sp>
        <p:nvSpPr>
          <p:cNvPr id="5" name="TextBox 4"/>
          <p:cNvSpPr txBox="1"/>
          <p:nvPr/>
        </p:nvSpPr>
        <p:spPr>
          <a:xfrm>
            <a:off x="457200" y="5623560"/>
            <a:ext cx="8229600" cy="457200"/>
          </a:xfrm>
          <a:prstGeom prst="rect">
            <a:avLst/>
          </a:prstGeom>
          <a:noFill/>
        </p:spPr>
        <p:txBody>
          <a:bodyPr wrap="square">
            <a:spAutoFit/>
          </a:bodyPr>
          <a:lstStyle/>
          <a:p>
            <a:r>
              <a:rPr sz="1100" b="1">
                <a:solidFill>
                  <a:srgbClr val="000000"/>
                </a:solidFill>
                <a:latin typeface="Avenir Next LT Pro Demi"/>
              </a:rPr>
              <a:t>Net: founder alignment is real, but insiders aren't signaling “buy here” — recent activity is net selling and expansion spend continues. Governance is stable and founder-controlled (no activist catalyst). Consistent with Hold.</a:t>
            </a:r>
          </a:p>
        </p:txBody>
      </p:sp>
      <p:sp>
        <p:nvSpPr>
          <p:cNvPr id="6" name="TextBox 5"/>
          <p:cNvSpPr txBox="1"/>
          <p:nvPr/>
        </p:nvSpPr>
        <p:spPr>
          <a:xfrm>
            <a:off x="457200" y="6309360"/>
            <a:ext cx="8229600" cy="320040"/>
          </a:xfrm>
          <a:prstGeom prst="rect">
            <a:avLst/>
          </a:prstGeom>
          <a:noFill/>
        </p:spPr>
        <p:txBody>
          <a:bodyPr wrap="none">
            <a:spAutoFit/>
          </a:bodyPr>
          <a:lstStyle/>
          <a:p>
            <a:r>
              <a:rPr sz="750" i="1">
                <a:solidFill>
                  <a:srgbClr val="707070"/>
                </a:solidFill>
                <a:latin typeface="Avenir Next LT Pro"/>
              </a:rPr>
              <a:t>Sources: RH DEF 14A proxy; SEC Form 4 filings; RH 8-K (Jun 2026 annual meeting); company guidance.</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