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2" r:id="rId16"/>
    <p:sldId id="513" r:id="rId27"/>
    <p:sldId id="514" r:id="rId28"/>
    <p:sldId id="515" r:id="rId29"/>
    <p:sldId id="516"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7/1/2026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7/1/2026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Bought </a:t>
            </a:r>
            <a:r>
              <a:rPr sz="1050" b="0" dirty="0">
                <a:latin typeface="Avenir Next LT Pro"/>
              </a:rPr>
              <a:t>his own stock at $134–172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351348738"/>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a:solidFill>
                            <a:schemeClr val="tx1"/>
                          </a:solidFill>
                          <a:latin typeface="Avenir Next LT Pro"/>
                        </a:rPr>
                        <a:t>-17.8%</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457200" y="5120640"/>
            <a:ext cx="8229600" cy="274320"/>
          </a:xfrm>
          <a:prstGeom prst="rect">
            <a:avLst/>
          </a:prstGeom>
          <a:noFill/>
        </p:spPr>
        <p:txBody>
          <a:bodyPr wrap="non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a:solidFill>
                            <a:srgbClr val="FFFFFF"/>
                          </a:solidFill>
                          <a:latin typeface="Avenir Next LT Pro Demi"/>
                        </a:rPr>
                        <a:t>Scenario</a:t>
                      </a:r>
                    </a:p>
                  </a:txBody>
                  <a:tcPr marL="73152" marR="73152" marT="18288" marB="18288" anchor="ctr">
                    <a:solidFill>
                      <a:srgbClr val="0E2841"/>
                    </a:solidFill>
                  </a:tcPr>
                </a:tc>
                <a:tc>
                  <a:txBody>
                    <a:bodyPr/>
                    <a:lstStyle/>
                    <a:p>
                      <a:pPr algn="ctr"/>
                      <a:r>
                        <a:rPr sz="1000" b="1" i="0">
                          <a:solidFill>
                            <a:srgbClr val="FFFFFF"/>
                          </a:solidFill>
                          <a:latin typeface="Avenir Next LT Pro Demi"/>
                        </a:rPr>
                        <a:t>Rev CAGR</a:t>
                      </a:r>
                    </a:p>
                  </a:txBody>
                  <a:tcPr marL="73152" marR="73152" marT="18288" marB="18288" anchor="ctr">
                    <a:solidFill>
                      <a:srgbClr val="0E2841"/>
                    </a:solidFill>
                  </a:tcPr>
                </a:tc>
                <a:tc>
                  <a:txBody>
                    <a:bodyPr/>
                    <a:lstStyle/>
                    <a:p>
                      <a:pPr algn="ctr"/>
                      <a:r>
                        <a:rPr sz="1000" b="1" i="0">
                          <a:solidFill>
                            <a:srgbClr val="FFFFFF"/>
                          </a:solidFill>
                          <a:latin typeface="Avenir Next LT Pro Demi"/>
                        </a:rPr>
                        <a:t>EBITDA Mgn</a:t>
                      </a:r>
                    </a:p>
                  </a:txBody>
                  <a:tcPr marL="73152" marR="73152" marT="18288" marB="18288" anchor="ctr">
                    <a:solidFill>
                      <a:srgbClr val="0E2841"/>
                    </a:solidFill>
                  </a:tcPr>
                </a:tc>
                <a:tc>
                  <a:txBody>
                    <a:bodyPr/>
                    <a:lstStyle/>
                    <a:p>
                      <a:pPr algn="ctr"/>
                      <a:r>
                        <a:rPr sz="1000" b="1" i="0">
                          <a:solidFill>
                            <a:srgbClr val="FFFFFF"/>
                          </a:solidFill>
                          <a:latin typeface="Avenir Next LT Pro Demi"/>
                        </a:rPr>
                        <a:t>Exit Mult</a:t>
                      </a:r>
                    </a:p>
                  </a:txBody>
                  <a:tcPr marL="73152" marR="73152" marT="18288" marB="18288" anchor="ctr">
                    <a:solidFill>
                      <a:srgbClr val="0E2841"/>
                    </a:solidFill>
                  </a:tcPr>
                </a:tc>
                <a:tc>
                  <a:txBody>
                    <a:bodyPr/>
                    <a:lstStyle/>
                    <a:p>
                      <a:pPr algn="ctr"/>
                      <a:r>
                        <a:rPr sz="1000" b="1" i="0">
                          <a:solidFill>
                            <a:srgbClr val="FFFFFF"/>
                          </a:solidFill>
                          <a:latin typeface="Avenir Next LT Pro Demi"/>
                        </a:rPr>
                        <a:t>Implied Price</a:t>
                      </a:r>
                    </a:p>
                  </a:txBody>
                  <a:tcPr marL="73152" marR="73152" marT="18288" marB="18288" anchor="ctr">
                    <a:solidFill>
                      <a:srgbClr val="0E2841"/>
                    </a:solidFill>
                  </a:tcPr>
                </a:tc>
                <a:tc>
                  <a:txBody>
                    <a:bodyPr/>
                    <a:lstStyle/>
                    <a:p>
                      <a:pPr algn="ctr"/>
                      <a:r>
                        <a:rPr sz="1000" b="1" i="0">
                          <a:solidFill>
                            <a:srgbClr val="FFFFFF"/>
                          </a:solidFill>
                          <a:latin typeface="Avenir Next LT Pro Demi"/>
                        </a:rPr>
                        <a:t>Prob.</a:t>
                      </a:r>
                    </a:p>
                  </a:txBody>
                  <a:tcPr marL="73152" marR="73152" marT="18288" marB="18288" anchor="ctr">
                    <a:solidFill>
                      <a:srgbClr val="0E2841"/>
                    </a:solidFill>
                  </a:tcPr>
                </a:tc>
                <a:extLst>
                  <a:ext uri="{0D108BD9-81ED-4DB2-BD59-A6C34878D82A}">
                    <a16:rowId xmlns:a16="http://schemas.microsoft.com/office/drawing/2014/main" val="10000"/>
                  </a:ext>
                </a:extLst>
              </a:tr>
              <a:tr h="384048">
                <a:tc>
                  <a:txBody>
                    <a:bodyPr/>
                    <a:lstStyle/>
                    <a:p>
                      <a:pPr algn="l"/>
                      <a:r>
                        <a:rPr sz="1100" b="1" i="0">
                          <a:solidFill>
                            <a:srgbClr val="0E2841"/>
                          </a:solidFill>
                          <a:latin typeface="Avenir Next LT Pro Demi"/>
                        </a:rPr>
                        <a:t>Bull</a:t>
                      </a:r>
                    </a:p>
                  </a:txBody>
                  <a:tcPr marL="73152" marR="73152" marT="18288" marB="18288" anchor="ctr">
                    <a:solidFill>
                      <a:srgbClr val="FFFFFF"/>
                    </a:solidFill>
                  </a:tcPr>
                </a:tc>
                <a:tc>
                  <a:txBody>
                    <a:bodyPr/>
                    <a:lstStyle/>
                    <a:p>
                      <a:pPr algn="ctr"/>
                      <a:r>
                        <a:rPr sz="1100" b="0" i="0">
                          <a:solidFill>
                            <a:srgbClr val="5A5A5A"/>
                          </a:solidFill>
                          <a:latin typeface="Avenir Next LT Pro"/>
                        </a:rPr>
                        <a:t>10%</a:t>
                      </a:r>
                    </a:p>
                  </a:txBody>
                  <a:tcPr marL="73152" marR="73152" marT="18288" marB="18288" anchor="ctr">
                    <a:solidFill>
                      <a:srgbClr val="FFFFFF"/>
                    </a:solidFill>
                  </a:tcPr>
                </a:tc>
                <a:tc>
                  <a:txBody>
                    <a:bodyPr/>
                    <a:lstStyle/>
                    <a:p>
                      <a:pPr algn="ctr"/>
                      <a:r>
                        <a:rPr sz="1100" b="0" i="0">
                          <a:solidFill>
                            <a:srgbClr val="5A5A5A"/>
                          </a:solidFill>
                          <a:latin typeface="Avenir Next LT Pro"/>
                        </a:rPr>
                        <a:t>24%</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tc>
                  <a:txBody>
                    <a:bodyPr/>
                    <a:lstStyle/>
                    <a:p>
                      <a:pPr algn="ctr"/>
                      <a:r>
                        <a:rPr sz="1100" b="0" i="0">
                          <a:solidFill>
                            <a:srgbClr val="5A5A5A"/>
                          </a:solidFill>
                          <a:latin typeface="Avenir Next LT Pro"/>
                        </a:rPr>
                        <a:t>~$810</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rgbClr val="0E2841"/>
                          </a:solidFill>
                          <a:latin typeface="Avenir Next LT Pro Demi"/>
                        </a:rPr>
                        <a:t>Base</a:t>
                      </a:r>
                    </a:p>
                  </a:txBody>
                  <a:tcPr marL="73152" marR="73152" marT="18288" marB="18288" anchor="ctr">
                    <a:solidFill>
                      <a:srgbClr val="F4F6F8"/>
                    </a:solidFill>
                  </a:tcPr>
                </a:tc>
                <a:tc>
                  <a:txBody>
                    <a:bodyPr/>
                    <a:lstStyle/>
                    <a:p>
                      <a:pPr algn="ctr"/>
                      <a:r>
                        <a:rPr sz="1100" b="0" i="0">
                          <a:solidFill>
                            <a:srgbClr val="5A5A5A"/>
                          </a:solidFill>
                          <a:latin typeface="Avenir Next LT Pro"/>
                        </a:rPr>
                        <a:t>6%</a:t>
                      </a:r>
                    </a:p>
                  </a:txBody>
                  <a:tcPr marL="73152" marR="73152" marT="18288" marB="18288" anchor="ctr">
                    <a:solidFill>
                      <a:srgbClr val="F4F6F8"/>
                    </a:solidFill>
                  </a:tcPr>
                </a:tc>
                <a:tc>
                  <a:txBody>
                    <a:bodyPr/>
                    <a:lstStyle/>
                    <a:p>
                      <a:pPr algn="ctr"/>
                      <a:r>
                        <a:rPr sz="1100" b="0" i="0">
                          <a:solidFill>
                            <a:srgbClr val="5A5A5A"/>
                          </a:solidFill>
                          <a:latin typeface="Avenir Next LT Pro"/>
                        </a:rPr>
                        <a:t>20%</a:t>
                      </a:r>
                    </a:p>
                  </a:txBody>
                  <a:tcPr marL="73152" marR="73152" marT="18288" marB="18288" anchor="ctr">
                    <a:solidFill>
                      <a:srgbClr val="F4F6F8"/>
                    </a:solidFill>
                  </a:tcPr>
                </a:tc>
                <a:tc>
                  <a:txBody>
                    <a:bodyPr/>
                    <a:lstStyle/>
                    <a:p>
                      <a:pPr algn="ctr"/>
                      <a:r>
                        <a:rPr sz="1100" b="0" i="0">
                          <a:solidFill>
                            <a:srgbClr val="5A5A5A"/>
                          </a:solidFill>
                          <a:latin typeface="Avenir Next LT Pro"/>
                        </a:rPr>
                        <a:t>13×</a:t>
                      </a:r>
                    </a:p>
                  </a:txBody>
                  <a:tcPr marL="73152" marR="73152" marT="18288" marB="18288" anchor="ctr">
                    <a:solidFill>
                      <a:srgbClr val="F4F6F8"/>
                    </a:solidFill>
                  </a:tcPr>
                </a:tc>
                <a:tc>
                  <a:txBody>
                    <a:bodyPr/>
                    <a:lstStyle/>
                    <a:p>
                      <a:pPr algn="ctr"/>
                      <a:r>
                        <a:rPr sz="1100" b="0" i="0">
                          <a:solidFill>
                            <a:srgbClr val="5A5A5A"/>
                          </a:solidFill>
                          <a:latin typeface="Avenir Next LT Pro"/>
                        </a:rPr>
                        <a:t>~$477</a:t>
                      </a:r>
                    </a:p>
                  </a:txBody>
                  <a:tcPr marL="73152" marR="73152" marT="18288" marB="18288" anchor="ctr">
                    <a:solidFill>
                      <a:srgbClr val="F4F6F8"/>
                    </a:solidFill>
                  </a:tcPr>
                </a:tc>
                <a:tc>
                  <a:txBody>
                    <a:bodyPr/>
                    <a:lstStyle/>
                    <a:p>
                      <a:pPr algn="ctr"/>
                      <a:r>
                        <a:rPr sz="1100" b="0" i="0">
                          <a:solidFill>
                            <a:srgbClr val="5A5A5A"/>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rgbClr val="0E2841"/>
                          </a:solidFill>
                          <a:latin typeface="Avenir Next LT Pro Demi"/>
                        </a:rPr>
                        <a:t>Bear</a:t>
                      </a:r>
                    </a:p>
                  </a:txBody>
                  <a:tcPr marL="73152" marR="73152" marT="18288" marB="18288" anchor="ctr">
                    <a:solidFill>
                      <a:srgbClr val="FFFFFF"/>
                    </a:solidFill>
                  </a:tcPr>
                </a:tc>
                <a:tc>
                  <a:txBody>
                    <a:bodyPr/>
                    <a:lstStyle/>
                    <a:p>
                      <a:pPr algn="ctr"/>
                      <a:r>
                        <a:rPr sz="1100" b="0" i="0">
                          <a:solidFill>
                            <a:srgbClr val="5A5A5A"/>
                          </a:solidFill>
                          <a:latin typeface="Avenir Next LT Pro"/>
                        </a:rPr>
                        <a:t>2%</a:t>
                      </a:r>
                    </a:p>
                  </a:txBody>
                  <a:tcPr marL="73152" marR="73152" marT="18288" marB="18288" anchor="ctr">
                    <a:solidFill>
                      <a:srgbClr val="FFFFFF"/>
                    </a:solidFill>
                  </a:tcPr>
                </a:tc>
                <a:tc>
                  <a:txBody>
                    <a:bodyPr/>
                    <a:lstStyle/>
                    <a:p>
                      <a:pPr algn="ctr"/>
                      <a:r>
                        <a:rPr sz="1100" b="0" i="0">
                          <a:solidFill>
                            <a:srgbClr val="5A5A5A"/>
                          </a:solidFill>
                          <a:latin typeface="Avenir Next LT Pro"/>
                        </a:rPr>
                        <a:t>14%</a:t>
                      </a:r>
                    </a:p>
                  </a:txBody>
                  <a:tcPr marL="73152" marR="73152" marT="18288" marB="18288" anchor="ctr">
                    <a:solidFill>
                      <a:srgbClr val="FFFFFF"/>
                    </a:solidFill>
                  </a:tcPr>
                </a:tc>
                <a:tc>
                  <a:txBody>
                    <a:bodyPr/>
                    <a:lstStyle/>
                    <a:p>
                      <a:pPr algn="ctr"/>
                      <a:r>
                        <a:rPr sz="1100" b="0" i="0">
                          <a:solidFill>
                            <a:srgbClr val="5A5A5A"/>
                          </a:solidFill>
                          <a:latin typeface="Avenir Next LT Pro"/>
                        </a:rPr>
                        <a:t>8×</a:t>
                      </a:r>
                    </a:p>
                  </a:txBody>
                  <a:tcPr marL="73152" marR="73152" marT="18288" marB="18288" anchor="ctr">
                    <a:solidFill>
                      <a:srgbClr val="FFFFFF"/>
                    </a:solidFill>
                  </a:tcPr>
                </a:tc>
                <a:tc>
                  <a:txBody>
                    <a:bodyPr/>
                    <a:lstStyle/>
                    <a:p>
                      <a:pPr algn="ctr"/>
                      <a:r>
                        <a:rPr sz="1100" b="0" i="0">
                          <a:solidFill>
                            <a:srgbClr val="5A5A5A"/>
                          </a:solidFill>
                          <a:latin typeface="Avenir Next LT Pro"/>
                        </a:rPr>
                        <a:t>~$100</a:t>
                      </a:r>
                    </a:p>
                  </a:txBody>
                  <a:tcPr marL="73152" marR="73152" marT="18288" marB="18288" anchor="ctr">
                    <a:solidFill>
                      <a:srgbClr val="FFFFFF"/>
                    </a:solidFill>
                  </a:tcPr>
                </a:tc>
                <a:tc>
                  <a:txBody>
                    <a:bodyPr/>
                    <a:lstStyle/>
                    <a:p>
                      <a:pPr algn="ctr"/>
                      <a:r>
                        <a:rPr sz="1100" b="0" i="0">
                          <a:solidFill>
                            <a:srgbClr val="5A5A5A"/>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8A8A8A"/>
                </a:solidFill>
                <a:latin typeface="Avenir Next LT Pro"/>
              </a:rPr>
              <a:t>EPS ≈ (EBITDA − ~$150M D&amp;A − ~$215M interest) × (1 − 25% tax) ÷ ~19M shares. Illustrative scenario mapping,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3" name="Rectangle 2"/>
          <p:cNvSpPr/>
          <p:nvPr/>
        </p:nvSpPr>
        <p:spPr>
          <a:xfrm>
            <a:off x="457200" y="932688"/>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548640"/>
          </a:xfrm>
          <a:prstGeom prst="rect">
            <a:avLst/>
          </a:prstGeom>
          <a:noFill/>
        </p:spPr>
        <p:txBody>
          <a:bodyPr wrap="square">
            <a:spAutoFit/>
          </a:bodyPr>
          <a:lstStyle/>
          <a:p>
            <a:r>
              <a:rPr sz="2300" b="0" i="0">
                <a:solidFill>
                  <a:srgbClr val="0E2841"/>
                </a:solidFill>
                <a:latin typeface="Avenir Next LT Pro Demi"/>
              </a:rPr>
              <a:t>Key Risks — What Has to Go Wrong</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spAutoFit/>
          </a:bodyPr>
          <a:lstStyle/>
          <a:p>
            <a:r>
              <a:rPr sz="2200" b="0" i="0">
                <a:solidFill>
                  <a:srgbClr val="0E2841"/>
                </a:solidFill>
                <a:latin typeface="Avenir Next LT Pro Demi"/>
              </a:rPr>
              <a:t>How RH Got Here — From Peak to Self-Inflicted Trough</a:t>
            </a:r>
          </a:p>
        </p:txBody>
      </p:sp>
      <p:sp>
        <p:nvSpPr>
          <p:cNvPr id="3" name="Rectangle 2"/>
          <p:cNvSpPr/>
          <p:nvPr/>
        </p:nvSpPr>
        <p:spPr>
          <a:xfrm>
            <a:off x="457200" y="914400"/>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188720"/>
            <a:ext cx="82296" cy="13716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88720"/>
            <a:ext cx="2194560" cy="1371600"/>
          </a:xfrm>
          <a:prstGeom prst="rect">
            <a:avLst/>
          </a:prstGeom>
          <a:noFill/>
        </p:spPr>
        <p:txBody>
          <a:bodyPr wrap="square" anchor="ctr">
            <a:spAutoFit/>
          </a:bodyPr>
          <a:lstStyle/>
          <a:p>
            <a:r>
              <a:rPr sz="1300" b="1" i="0">
                <a:solidFill>
                  <a:srgbClr val="156082"/>
                </a:solidFill>
                <a:latin typeface="Avenir Next LT Pro Demi"/>
              </a:rPr>
              <a:t>THE BUILD</a:t>
            </a:r>
          </a:p>
          <a:p>
            <a:r>
              <a:rPr sz="1100" b="0" i="0">
                <a:solidFill>
                  <a:srgbClr val="5A5A5A"/>
                </a:solidFill>
                <a:latin typeface="Avenir Next LT Pro"/>
              </a:rPr>
              <a:t>Pre-2020</a:t>
            </a:r>
          </a:p>
        </p:txBody>
      </p:sp>
      <p:sp>
        <p:nvSpPr>
          <p:cNvPr id="6" name="TextBox 5"/>
          <p:cNvSpPr txBox="1"/>
          <p:nvPr/>
        </p:nvSpPr>
        <p:spPr>
          <a:xfrm>
            <a:off x="2971800" y="1188720"/>
            <a:ext cx="5715000" cy="1371600"/>
          </a:xfrm>
          <a:prstGeom prst="rect">
            <a:avLst/>
          </a:prstGeom>
          <a:noFill/>
        </p:spPr>
        <p:txBody>
          <a:bodyPr wrap="square" anchor="ctr">
            <a:spAutoFit/>
          </a:bodyPr>
          <a:lstStyle/>
          <a:p>
            <a:r>
              <a:rPr sz="1150" b="0" i="0">
                <a:solidFill>
                  <a:srgbClr val="0E2841"/>
                </a:solidFill>
                <a:latin typeface="Avenir Next LT Pro"/>
              </a:rPr>
              <a:t>Friedman transforms RH from a near-bankrupt mall retailer into a luxury Gallery brand — large-format design galleries, membership model, soaring AOV.</a:t>
            </a:r>
          </a:p>
        </p:txBody>
      </p:sp>
      <p:sp>
        <p:nvSpPr>
          <p:cNvPr id="7" name="Rectangle 6"/>
          <p:cNvSpPr/>
          <p:nvPr/>
        </p:nvSpPr>
        <p:spPr>
          <a:xfrm>
            <a:off x="457200" y="2670048"/>
            <a:ext cx="82296" cy="13716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194560" cy="1371600"/>
          </a:xfrm>
          <a:prstGeom prst="rect">
            <a:avLst/>
          </a:prstGeom>
          <a:noFill/>
        </p:spPr>
        <p:txBody>
          <a:bodyPr wrap="square" anchor="ctr">
            <a:spAutoFit/>
          </a:bodyPr>
          <a:lstStyle/>
          <a:p>
            <a:r>
              <a:rPr sz="1300" b="1" i="0">
                <a:solidFill>
                  <a:srgbClr val="E97132"/>
                </a:solidFill>
                <a:latin typeface="Avenir Next LT Pro Demi"/>
              </a:rPr>
              <a:t>THE PEAK</a:t>
            </a:r>
          </a:p>
          <a:p>
            <a:r>
              <a:rPr sz="1100" b="0" i="0">
                <a:solidFill>
                  <a:srgbClr val="5A5A5A"/>
                </a:solidFill>
                <a:latin typeface="Avenir Next LT Pro"/>
              </a:rPr>
              <a:t>FY2022</a:t>
            </a:r>
          </a:p>
        </p:txBody>
      </p:sp>
      <p:sp>
        <p:nvSpPr>
          <p:cNvPr id="9" name="TextBox 8"/>
          <p:cNvSpPr txBox="1"/>
          <p:nvPr/>
        </p:nvSpPr>
        <p:spPr>
          <a:xfrm>
            <a:off x="2971800" y="2670048"/>
            <a:ext cx="5715000" cy="1371600"/>
          </a:xfrm>
          <a:prstGeom prst="rect">
            <a:avLst/>
          </a:prstGeom>
          <a:noFill/>
        </p:spPr>
        <p:txBody>
          <a:bodyPr wrap="square" anchor="ctr">
            <a:spAutoFit/>
          </a:bodyPr>
          <a:lstStyle/>
          <a:p>
            <a:r>
              <a:rPr sz="1150" b="0" i="0">
                <a:solidFill>
                  <a:srgbClr val="0E2841"/>
                </a:solidFill>
                <a:latin typeface="Avenir Next LT Pro"/>
              </a:rPr>
              <a:t>COVID housing boom drives revenue to a ~$3.6B peak. RH levers up and buys back ~7.6M shares in FY22–23 at ~$269–321 avg (program upsized to $2.45B) — funded largely by term loans.</a:t>
            </a:r>
          </a:p>
        </p:txBody>
      </p:sp>
      <p:sp>
        <p:nvSpPr>
          <p:cNvPr id="10" name="Rectangle 9"/>
          <p:cNvSpPr/>
          <p:nvPr/>
        </p:nvSpPr>
        <p:spPr>
          <a:xfrm>
            <a:off x="457200" y="4151376"/>
            <a:ext cx="82296" cy="13716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51376"/>
            <a:ext cx="2194560" cy="1371600"/>
          </a:xfrm>
          <a:prstGeom prst="rect">
            <a:avLst/>
          </a:prstGeom>
          <a:noFill/>
        </p:spPr>
        <p:txBody>
          <a:bodyPr wrap="square" anchor="ctr">
            <a:spAutoFit/>
          </a:bodyPr>
          <a:lstStyle/>
          <a:p>
            <a:r>
              <a:rPr sz="1300" b="1" i="0">
                <a:solidFill>
                  <a:srgbClr val="B03030"/>
                </a:solidFill>
                <a:latin typeface="Avenir Next LT Pro Demi"/>
              </a:rPr>
              <a:t>THE FALL</a:t>
            </a:r>
          </a:p>
          <a:p>
            <a:r>
              <a:rPr sz="1100" b="0" i="0">
                <a:solidFill>
                  <a:srgbClr val="5A5A5A"/>
                </a:solidFill>
                <a:latin typeface="Avenir Next LT Pro"/>
              </a:rPr>
              <a:t>FY2023–24</a:t>
            </a:r>
          </a:p>
        </p:txBody>
      </p:sp>
      <p:sp>
        <p:nvSpPr>
          <p:cNvPr id="12" name="TextBox 11"/>
          <p:cNvSpPr txBox="1"/>
          <p:nvPr/>
        </p:nvSpPr>
        <p:spPr>
          <a:xfrm>
            <a:off x="2971800" y="4151376"/>
            <a:ext cx="5715000" cy="1371600"/>
          </a:xfrm>
          <a:prstGeom prst="rect">
            <a:avLst/>
          </a:prstGeom>
          <a:noFill/>
        </p:spPr>
        <p:txBody>
          <a:bodyPr wrap="square" anchor="ctr">
            <a:spAutoFit/>
          </a:bodyPr>
          <a:lstStyle/>
          <a:p>
            <a:r>
              <a:rPr sz="1150" b="0" i="0">
                <a:solidFill>
                  <a:srgbClr val="0E2841"/>
                </a:solidFill>
                <a:latin typeface="Avenir Next LT Pro"/>
              </a:rPr>
              <a:t>Fed rate hikes freeze housing turnover. Revenue falls to a ~$3.03B trough. The buyback debt now sits on a shrunken business → ~$2.4B net debt, ~4× levered.</a:t>
            </a:r>
          </a:p>
        </p:txBody>
      </p:sp>
      <p:sp>
        <p:nvSpPr>
          <p:cNvPr id="13" name="TextBox 12"/>
          <p:cNvSpPr txBox="1"/>
          <p:nvPr/>
        </p:nvSpPr>
        <p:spPr>
          <a:xfrm>
            <a:off x="457200" y="5806440"/>
            <a:ext cx="8229600" cy="457200"/>
          </a:xfrm>
          <a:prstGeom prst="rect">
            <a:avLst/>
          </a:prstGeom>
          <a:noFill/>
        </p:spPr>
        <p:txBody>
          <a:bodyPr wrap="square">
            <a:spAutoFit/>
          </a:bodyPr>
          <a:lstStyle/>
          <a:p>
            <a:r>
              <a:rPr sz="1100" b="1" i="0">
                <a:solidFill>
                  <a:srgbClr val="156082"/>
                </a:solidFill>
                <a:latin typeface="Avenir Next LT Pro Demi"/>
              </a:rPr>
              <a:t>Takeaway: the wound was partly self-inflicted — leveraged buybacks at the top, then the housing cycle turned.</a:t>
            </a:r>
          </a:p>
        </p:txBody>
      </p:sp>
      <p:sp>
        <p:nvSpPr>
          <p:cNvPr id="14" name="TextBox 13"/>
          <p:cNvSpPr txBox="1"/>
          <p:nvPr/>
        </p:nvSpPr>
        <p:spPr>
          <a:xfrm>
            <a:off x="457200" y="6355080"/>
            <a:ext cx="8229600" cy="411480"/>
          </a:xfrm>
          <a:prstGeom prst="rect">
            <a:avLst/>
          </a:prstGeom>
          <a:noFill/>
        </p:spPr>
        <p:txBody>
          <a:bodyPr wrap="square">
            <a:spAutoFit/>
          </a:bodyPr>
          <a:lstStyle/>
          <a:p>
            <a:r>
              <a:rPr sz="750" b="0" i="1">
                <a:solidFill>
                  <a:srgbClr val="9A9A9A"/>
                </a:solidFill>
                <a:latin typeface="Avenir Next LT Pro"/>
              </a:rPr>
              <a:t>Source: RH FY2025 Form 10-K (fiscal year ended January 31,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spAutoFit/>
          </a:bodyPr>
          <a:lstStyle/>
          <a:p>
            <a:r>
              <a:rPr sz="2200" b="0" i="0">
                <a:solidFill>
                  <a:srgbClr val="0E2841"/>
                </a:solidFill>
                <a:latin typeface="Avenir Next LT Pro Demi"/>
              </a:rPr>
              <a:t>The Recovery Plan — Friedman's Playbook</a:t>
            </a:r>
          </a:p>
        </p:txBody>
      </p:sp>
      <p:sp>
        <p:nvSpPr>
          <p:cNvPr id="3" name="Rectangle 2"/>
          <p:cNvSpPr/>
          <p:nvPr/>
        </p:nvSpPr>
        <p:spPr>
          <a:xfrm>
            <a:off x="457200" y="914400"/>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196596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t" wrap="square" lIns="164592" rIns="137160" tIns="146304"/>
          <a:lstStyle/>
          <a:p>
            <a:pPr algn="ctr"/>
            <a:r>
              <a:rPr sz="1400" b="1" i="0">
                <a:solidFill>
                  <a:srgbClr val="156082"/>
                </a:solidFill>
                <a:latin typeface="Avenir Next LT Pro Demi"/>
              </a:rPr>
              <a:t>Product transformation</a:t>
            </a:r>
          </a:p>
          <a:p>
            <a:pPr>
              <a:spcBef>
                <a:spcPts val="500"/>
              </a:spcBef>
            </a:pPr>
            <a:r>
              <a:rPr sz="1100" b="0" i="0">
                <a:solidFill>
                  <a:srgbClr val="0E2841"/>
                </a:solidFill>
                <a:latin typeface="Avenir Next LT Pro"/>
              </a:rPr>
              <a:t>New collections and refreshed Sourcebooks to reignite demand and elevate the assortment.</a:t>
            </a:r>
          </a:p>
        </p:txBody>
      </p:sp>
      <p:sp>
        <p:nvSpPr>
          <p:cNvPr id="5" name="Rectangle 4"/>
          <p:cNvSpPr/>
          <p:nvPr/>
        </p:nvSpPr>
        <p:spPr>
          <a:xfrm>
            <a:off x="457200" y="1234440"/>
            <a:ext cx="3977639" cy="82296"/>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709159" y="1234440"/>
            <a:ext cx="3977639" cy="196596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t" wrap="square" lIns="164592" rIns="137160" tIns="146304"/>
          <a:lstStyle/>
          <a:p>
            <a:pPr algn="ctr"/>
            <a:r>
              <a:rPr sz="1400" b="1" i="0">
                <a:solidFill>
                  <a:srgbClr val="0E2841"/>
                </a:solidFill>
                <a:latin typeface="Avenir Next LT Pro Demi"/>
              </a:rPr>
              <a:t>Gallery expansion</a:t>
            </a:r>
          </a:p>
          <a:p>
            <a:pPr>
              <a:spcBef>
                <a:spcPts val="500"/>
              </a:spcBef>
            </a:pPr>
            <a:r>
              <a:rPr sz="1100" b="0" i="0">
                <a:solidFill>
                  <a:srgbClr val="0E2841"/>
                </a:solidFill>
                <a:latin typeface="Avenir Next LT Pro"/>
              </a:rPr>
              <a:t>Open Design Galleries in every major U.S. &amp; Canada market — RH's stated ~$5–6B annual revenue opportunity.</a:t>
            </a:r>
          </a:p>
        </p:txBody>
      </p:sp>
      <p:sp>
        <p:nvSpPr>
          <p:cNvPr id="7" name="Rectangle 6"/>
          <p:cNvSpPr/>
          <p:nvPr/>
        </p:nvSpPr>
        <p:spPr>
          <a:xfrm>
            <a:off x="4709159" y="1234440"/>
            <a:ext cx="3977639" cy="82296"/>
          </a:xfrm>
          <a:prstGeom prst="rect">
            <a:avLst/>
          </a:prstGeom>
          <a:solidFill>
            <a:srgbClr val="0E28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3429000"/>
            <a:ext cx="3977639" cy="196596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t" wrap="square" lIns="164592" rIns="137160" tIns="146304"/>
          <a:lstStyle/>
          <a:p>
            <a:pPr algn="ctr"/>
            <a:r>
              <a:rPr sz="1400" b="1" i="0">
                <a:solidFill>
                  <a:srgbClr val="E97132"/>
                </a:solidFill>
                <a:latin typeface="Avenir Next LT Pro Demi"/>
              </a:rPr>
              <a:t>Move upmarket</a:t>
            </a:r>
          </a:p>
          <a:p>
            <a:pPr>
              <a:spcBef>
                <a:spcPts val="500"/>
              </a:spcBef>
            </a:pPr>
            <a:r>
              <a:rPr sz="1100" b="0" i="0">
                <a:solidFill>
                  <a:srgbClr val="0E2841"/>
                </a:solidFill>
                <a:latin typeface="Avenir Next LT Pro"/>
              </a:rPr>
              <a:t>RH Estates and higher price points target the rate-insensitive cash buyer — reducing housing dependence.</a:t>
            </a:r>
          </a:p>
        </p:txBody>
      </p:sp>
      <p:sp>
        <p:nvSpPr>
          <p:cNvPr id="9" name="Rectangle 8"/>
          <p:cNvSpPr/>
          <p:nvPr/>
        </p:nvSpPr>
        <p:spPr>
          <a:xfrm>
            <a:off x="457200" y="3429000"/>
            <a:ext cx="3977639" cy="82296"/>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59" y="3429000"/>
            <a:ext cx="3977639" cy="196596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rtlCol="0" anchor="t" wrap="square" lIns="164592" rIns="137160" tIns="146304"/>
          <a:lstStyle/>
          <a:p>
            <a:pPr algn="ctr"/>
            <a:r>
              <a:rPr sz="1400" b="1" i="0">
                <a:solidFill>
                  <a:srgbClr val="196B24"/>
                </a:solidFill>
                <a:latin typeface="Avenir Next LT Pro Demi"/>
              </a:rPr>
              <a:t>Global + platform</a:t>
            </a:r>
          </a:p>
          <a:p>
            <a:pPr>
              <a:spcBef>
                <a:spcPts val="500"/>
              </a:spcBef>
            </a:pPr>
            <a:r>
              <a:rPr sz="1100" b="0" i="0">
                <a:solidFill>
                  <a:srgbClr val="0E2841"/>
                </a:solidFill>
                <a:latin typeface="Avenir Next LT Pro"/>
              </a:rPr>
              <a:t>RH England (Aynho Park, Jun 2023) opens European expansion; Guesthouses, hospitality &amp; F&amp;B extend the brand.</a:t>
            </a:r>
          </a:p>
        </p:txBody>
      </p:sp>
      <p:sp>
        <p:nvSpPr>
          <p:cNvPr id="11" name="Rectangle 10"/>
          <p:cNvSpPr/>
          <p:nvPr/>
        </p:nvSpPr>
        <p:spPr>
          <a:xfrm>
            <a:off x="4709159" y="3429000"/>
            <a:ext cx="3977639" cy="82296"/>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355080"/>
            <a:ext cx="8229600" cy="411480"/>
          </a:xfrm>
          <a:prstGeom prst="rect">
            <a:avLst/>
          </a:prstGeom>
          <a:noFill/>
        </p:spPr>
        <p:txBody>
          <a:bodyPr wrap="square">
            <a:spAutoFit/>
          </a:bodyPr>
          <a:lstStyle/>
          <a:p>
            <a:r>
              <a:rPr sz="750" b="0" i="1">
                <a:solidFill>
                  <a:srgbClr val="9A9A9A"/>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spAutoFit/>
          </a:bodyPr>
          <a:lstStyle/>
          <a:p>
            <a:r>
              <a:rPr sz="2200" b="0" i="0">
                <a:solidFill>
                  <a:srgbClr val="0E2841"/>
                </a:solidFill>
                <a:latin typeface="Avenir Next LT Pro Demi"/>
              </a:rPr>
              <a:t>Is It Working? — The Early Scorecard</a:t>
            </a:r>
          </a:p>
        </p:txBody>
      </p:sp>
      <p:sp>
        <p:nvSpPr>
          <p:cNvPr id="3" name="Rectangle 2"/>
          <p:cNvSpPr/>
          <p:nvPr/>
        </p:nvSpPr>
        <p:spPr>
          <a:xfrm>
            <a:off x="457200" y="914400"/>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188720"/>
            <a:ext cx="3977639" cy="41148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3977639" cy="411480"/>
          </a:xfrm>
          <a:prstGeom prst="rect">
            <a:avLst/>
          </a:prstGeom>
          <a:noFill/>
        </p:spPr>
        <p:txBody>
          <a:bodyPr wrap="square" anchor="ctr">
            <a:spAutoFit/>
          </a:bodyPr>
          <a:lstStyle/>
          <a:p>
            <a:r>
              <a:rPr sz="1300" b="1" i="0">
                <a:solidFill>
                  <a:srgbClr val="FFFFFF"/>
                </a:solidFill>
                <a:latin typeface="Avenir Next LT Pro Demi"/>
              </a:rPr>
              <a:t>   WORKING</a:t>
            </a:r>
          </a:p>
        </p:txBody>
      </p:sp>
      <p:sp>
        <p:nvSpPr>
          <p:cNvPr id="6" name="TextBox 5"/>
          <p:cNvSpPr txBox="1"/>
          <p:nvPr/>
        </p:nvSpPr>
        <p:spPr>
          <a:xfrm>
            <a:off x="457200" y="1737360"/>
            <a:ext cx="3977639" cy="685800"/>
          </a:xfrm>
          <a:prstGeom prst="rect">
            <a:avLst/>
          </a:prstGeom>
          <a:noFill/>
        </p:spPr>
        <p:txBody>
          <a:bodyPr wrap="square">
            <a:spAutoFit/>
          </a:bodyPr>
          <a:lstStyle/>
          <a:p>
            <a:r>
              <a:rPr sz="1100" b="1" i="0">
                <a:solidFill>
                  <a:srgbClr val="196B24"/>
                </a:solidFill>
                <a:latin typeface="Avenir Next LT Pro Demi"/>
              </a:rPr>
              <a:t>✓  </a:t>
            </a:r>
            <a:r>
              <a:rPr sz="1050" b="0" i="0">
                <a:solidFill>
                  <a:srgbClr val="0E2841"/>
                </a:solidFill>
                <a:latin typeface="Avenir Next LT Pro"/>
              </a:rPr>
              <a:t>FCF inflected to +$252M in FY2025 (from −$214M a year earlier)</a:t>
            </a:r>
          </a:p>
        </p:txBody>
      </p:sp>
      <p:sp>
        <p:nvSpPr>
          <p:cNvPr id="7" name="TextBox 6"/>
          <p:cNvSpPr txBox="1"/>
          <p:nvPr/>
        </p:nvSpPr>
        <p:spPr>
          <a:xfrm>
            <a:off x="457200" y="2496312"/>
            <a:ext cx="3977639" cy="685800"/>
          </a:xfrm>
          <a:prstGeom prst="rect">
            <a:avLst/>
          </a:prstGeom>
          <a:noFill/>
        </p:spPr>
        <p:txBody>
          <a:bodyPr wrap="square">
            <a:spAutoFit/>
          </a:bodyPr>
          <a:lstStyle/>
          <a:p>
            <a:r>
              <a:rPr sz="1100" b="1" i="0">
                <a:solidFill>
                  <a:srgbClr val="196B24"/>
                </a:solidFill>
                <a:latin typeface="Avenir Next LT Pro Demi"/>
              </a:rPr>
              <a:t>✓  </a:t>
            </a:r>
            <a:r>
              <a:rPr sz="1050" b="0" i="0">
                <a:solidFill>
                  <a:srgbClr val="0E2841"/>
                </a:solidFill>
                <a:latin typeface="Avenir Next LT Pro"/>
              </a:rPr>
              <a:t>Inventory normalized: $1.02B → $819M, funding debt paydown</a:t>
            </a:r>
          </a:p>
        </p:txBody>
      </p:sp>
      <p:sp>
        <p:nvSpPr>
          <p:cNvPr id="8" name="TextBox 7"/>
          <p:cNvSpPr txBox="1"/>
          <p:nvPr/>
        </p:nvSpPr>
        <p:spPr>
          <a:xfrm>
            <a:off x="457200" y="3255264"/>
            <a:ext cx="3977639" cy="685800"/>
          </a:xfrm>
          <a:prstGeom prst="rect">
            <a:avLst/>
          </a:prstGeom>
          <a:noFill/>
        </p:spPr>
        <p:txBody>
          <a:bodyPr wrap="square">
            <a:spAutoFit/>
          </a:bodyPr>
          <a:lstStyle/>
          <a:p>
            <a:r>
              <a:rPr sz="1100" b="1" i="0">
                <a:solidFill>
                  <a:srgbClr val="196B24"/>
                </a:solidFill>
                <a:latin typeface="Avenir Next LT Pro Demi"/>
              </a:rPr>
              <a:t>✓  </a:t>
            </a:r>
            <a:r>
              <a:rPr sz="1050" b="0" i="0">
                <a:solidFill>
                  <a:srgbClr val="0E2841"/>
                </a:solidFill>
                <a:latin typeface="Avenir Next LT Pro"/>
              </a:rPr>
              <a:t>Revenue re-accelerated +8.1% in FY2025; adj. EBITDA margin ~17%</a:t>
            </a:r>
          </a:p>
        </p:txBody>
      </p:sp>
      <p:sp>
        <p:nvSpPr>
          <p:cNvPr id="9" name="TextBox 8"/>
          <p:cNvSpPr txBox="1"/>
          <p:nvPr/>
        </p:nvSpPr>
        <p:spPr>
          <a:xfrm>
            <a:off x="457200" y="4014215"/>
            <a:ext cx="3977639" cy="685800"/>
          </a:xfrm>
          <a:prstGeom prst="rect">
            <a:avLst/>
          </a:prstGeom>
          <a:noFill/>
        </p:spPr>
        <p:txBody>
          <a:bodyPr wrap="square">
            <a:spAutoFit/>
          </a:bodyPr>
          <a:lstStyle/>
          <a:p>
            <a:r>
              <a:rPr sz="1100" b="1" i="0">
                <a:solidFill>
                  <a:srgbClr val="196B24"/>
                </a:solidFill>
                <a:latin typeface="Avenir Next LT Pro Demi"/>
              </a:rPr>
              <a:t>✓  </a:t>
            </a:r>
            <a:r>
              <a:rPr sz="1050" b="0" i="0">
                <a:solidFill>
                  <a:srgbClr val="0E2841"/>
                </a:solidFill>
                <a:latin typeface="Avenir Next LT Pro"/>
              </a:rPr>
              <a:t>Net debt fell ~$210M YoY as ABL was paid down</a:t>
            </a:r>
          </a:p>
        </p:txBody>
      </p:sp>
      <p:sp>
        <p:nvSpPr>
          <p:cNvPr id="10" name="Rectangle 9"/>
          <p:cNvSpPr/>
          <p:nvPr/>
        </p:nvSpPr>
        <p:spPr>
          <a:xfrm>
            <a:off x="4709160" y="1188720"/>
            <a:ext cx="3977639" cy="41148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1188720"/>
            <a:ext cx="3977639" cy="411480"/>
          </a:xfrm>
          <a:prstGeom prst="rect">
            <a:avLst/>
          </a:prstGeom>
          <a:noFill/>
        </p:spPr>
        <p:txBody>
          <a:bodyPr wrap="square" anchor="ctr">
            <a:spAutoFit/>
          </a:bodyPr>
          <a:lstStyle/>
          <a:p>
            <a:r>
              <a:rPr sz="1300" b="1" i="0">
                <a:solidFill>
                  <a:srgbClr val="FFFFFF"/>
                </a:solidFill>
                <a:latin typeface="Avenir Next LT Pro Demi"/>
              </a:rPr>
              <a:t>   WATCH</a:t>
            </a:r>
          </a:p>
        </p:txBody>
      </p:sp>
      <p:sp>
        <p:nvSpPr>
          <p:cNvPr id="12" name="TextBox 11"/>
          <p:cNvSpPr txBox="1"/>
          <p:nvPr/>
        </p:nvSpPr>
        <p:spPr>
          <a:xfrm>
            <a:off x="4709160" y="1737360"/>
            <a:ext cx="3977639" cy="685800"/>
          </a:xfrm>
          <a:prstGeom prst="rect">
            <a:avLst/>
          </a:prstGeom>
          <a:noFill/>
        </p:spPr>
        <p:txBody>
          <a:bodyPr wrap="square">
            <a:spAutoFit/>
          </a:bodyPr>
          <a:lstStyle/>
          <a:p>
            <a:r>
              <a:rPr sz="1100" b="1" i="0">
                <a:solidFill>
                  <a:srgbClr val="B03030"/>
                </a:solidFill>
                <a:latin typeface="Avenir Next LT Pro Demi"/>
              </a:rPr>
              <a:t>!  </a:t>
            </a:r>
            <a:r>
              <a:rPr sz="1050" b="0" i="0">
                <a:solidFill>
                  <a:srgbClr val="0E2841"/>
                </a:solidFill>
                <a:latin typeface="Avenir Next LT Pro"/>
              </a:rPr>
              <a:t>Q1 FY2026: revenue −1.7% YoY and a net loss of −$13.7M</a:t>
            </a:r>
          </a:p>
        </p:txBody>
      </p:sp>
      <p:sp>
        <p:nvSpPr>
          <p:cNvPr id="13" name="TextBox 12"/>
          <p:cNvSpPr txBox="1"/>
          <p:nvPr/>
        </p:nvSpPr>
        <p:spPr>
          <a:xfrm>
            <a:off x="4709160" y="2496312"/>
            <a:ext cx="3977639" cy="685800"/>
          </a:xfrm>
          <a:prstGeom prst="rect">
            <a:avLst/>
          </a:prstGeom>
          <a:noFill/>
        </p:spPr>
        <p:txBody>
          <a:bodyPr wrap="square">
            <a:spAutoFit/>
          </a:bodyPr>
          <a:lstStyle/>
          <a:p>
            <a:r>
              <a:rPr sz="1100" b="1" i="0">
                <a:solidFill>
                  <a:srgbClr val="B03030"/>
                </a:solidFill>
                <a:latin typeface="Avenir Next LT Pro Demi"/>
              </a:rPr>
              <a:t>!  </a:t>
            </a:r>
            <a:r>
              <a:rPr sz="1050" b="0" i="0">
                <a:solidFill>
                  <a:srgbClr val="0E2841"/>
                </a:solidFill>
                <a:latin typeface="Avenir Next LT Pro"/>
              </a:rPr>
              <a:t>~$225M/yr interest keeps coverage thin — Q1 interest &gt; operating income</a:t>
            </a:r>
          </a:p>
        </p:txBody>
      </p:sp>
      <p:sp>
        <p:nvSpPr>
          <p:cNvPr id="14" name="TextBox 13"/>
          <p:cNvSpPr txBox="1"/>
          <p:nvPr/>
        </p:nvSpPr>
        <p:spPr>
          <a:xfrm>
            <a:off x="4709160" y="3255264"/>
            <a:ext cx="3977639" cy="685800"/>
          </a:xfrm>
          <a:prstGeom prst="rect">
            <a:avLst/>
          </a:prstGeom>
          <a:noFill/>
        </p:spPr>
        <p:txBody>
          <a:bodyPr wrap="square">
            <a:spAutoFit/>
          </a:bodyPr>
          <a:lstStyle/>
          <a:p>
            <a:r>
              <a:rPr sz="1100" b="1" i="0">
                <a:solidFill>
                  <a:srgbClr val="B03030"/>
                </a:solidFill>
                <a:latin typeface="Avenir Next LT Pro Demi"/>
              </a:rPr>
              <a:t>!  </a:t>
            </a:r>
            <a:r>
              <a:rPr sz="1050" b="0" i="0">
                <a:solidFill>
                  <a:srgbClr val="0E2841"/>
                </a:solidFill>
                <a:latin typeface="Avenir Next LT Pro"/>
              </a:rPr>
              <a:t>FY2025 FCF was flattered by a one-time inventory unwind (~$214M)</a:t>
            </a:r>
          </a:p>
        </p:txBody>
      </p:sp>
      <p:sp>
        <p:nvSpPr>
          <p:cNvPr id="15" name="TextBox 14"/>
          <p:cNvSpPr txBox="1"/>
          <p:nvPr/>
        </p:nvSpPr>
        <p:spPr>
          <a:xfrm>
            <a:off x="4709160" y="4014215"/>
            <a:ext cx="3977639" cy="685800"/>
          </a:xfrm>
          <a:prstGeom prst="rect">
            <a:avLst/>
          </a:prstGeom>
          <a:noFill/>
        </p:spPr>
        <p:txBody>
          <a:bodyPr wrap="square">
            <a:spAutoFit/>
          </a:bodyPr>
          <a:lstStyle/>
          <a:p>
            <a:r>
              <a:rPr sz="1100" b="1" i="0">
                <a:solidFill>
                  <a:srgbClr val="B03030"/>
                </a:solidFill>
                <a:latin typeface="Avenir Next LT Pro Demi"/>
              </a:rPr>
              <a:t>!  </a:t>
            </a:r>
            <a:r>
              <a:rPr sz="1050" b="0" i="0">
                <a:solidFill>
                  <a:srgbClr val="0E2841"/>
                </a:solidFill>
                <a:latin typeface="Avenir Next LT Pro"/>
              </a:rPr>
              <a:t>Full-year +9–12% guidance is entirely back-half loaded</a:t>
            </a:r>
          </a:p>
        </p:txBody>
      </p:sp>
      <p:sp>
        <p:nvSpPr>
          <p:cNvPr id="16" name="TextBox 15"/>
          <p:cNvSpPr txBox="1"/>
          <p:nvPr/>
        </p:nvSpPr>
        <p:spPr>
          <a:xfrm>
            <a:off x="457200" y="5074920"/>
            <a:ext cx="8229600" cy="548640"/>
          </a:xfrm>
          <a:prstGeom prst="rect">
            <a:avLst/>
          </a:prstGeom>
          <a:noFill/>
        </p:spPr>
        <p:txBody>
          <a:bodyPr wrap="square">
            <a:spAutoFit/>
          </a:bodyPr>
          <a:lstStyle/>
          <a:p>
            <a:r>
              <a:rPr sz="1150" b="1" i="0">
                <a:solidFill>
                  <a:srgbClr val="156082"/>
                </a:solidFill>
                <a:latin typeface="Avenir Next LT Pro Demi"/>
              </a:rPr>
              <a:t>Verdict: the turnaround is real but early and fragile — the next two quarters are the tell.</a:t>
            </a:r>
          </a:p>
        </p:txBody>
      </p:sp>
      <p:sp>
        <p:nvSpPr>
          <p:cNvPr id="17" name="TextBox 16"/>
          <p:cNvSpPr txBox="1"/>
          <p:nvPr/>
        </p:nvSpPr>
        <p:spPr>
          <a:xfrm>
            <a:off x="457200" y="6355080"/>
            <a:ext cx="8229600" cy="411480"/>
          </a:xfrm>
          <a:prstGeom prst="rect">
            <a:avLst/>
          </a:prstGeom>
          <a:noFill/>
        </p:spPr>
        <p:txBody>
          <a:bodyPr wrap="square">
            <a:spAutoFit/>
          </a:bodyPr>
          <a:lstStyle/>
          <a:p>
            <a:r>
              <a:rPr sz="750" b="0" i="1">
                <a:solidFill>
                  <a:srgbClr val="9A9A9A"/>
                </a:solidFill>
                <a:latin typeface="Avenir Next LT Pro"/>
              </a:rPr>
              <a:t>Source: RH FY2025 Form 10-K; RH Q1 FY2026 Form 10-Q (quarter ended May 2,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a:spAutoFit/>
          </a:bodyPr>
          <a:lstStyle/>
          <a:p>
            <a:r>
              <a:rPr sz="2200" b="0" i="0">
                <a:solidFill>
                  <a:srgbClr val="0E2841"/>
                </a:solidFill>
                <a:latin typeface="Avenir Next LT Pro Demi"/>
              </a:rPr>
              <a:t>The Operator — Gary Friedman</a:t>
            </a:r>
          </a:p>
        </p:txBody>
      </p:sp>
      <p:sp>
        <p:nvSpPr>
          <p:cNvPr id="3" name="Rectangle 2"/>
          <p:cNvSpPr/>
          <p:nvPr/>
        </p:nvSpPr>
        <p:spPr>
          <a:xfrm>
            <a:off x="457200" y="914400"/>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188720"/>
            <a:ext cx="82296" cy="1078992"/>
          </a:xfrm>
          <a:prstGeom prst="rect">
            <a:avLst/>
          </a:prstGeom>
          <a:solidFill>
            <a:srgbClr val="0E28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88720"/>
            <a:ext cx="1874519" cy="1078992"/>
          </a:xfrm>
          <a:prstGeom prst="rect">
            <a:avLst/>
          </a:prstGeom>
          <a:noFill/>
        </p:spPr>
        <p:txBody>
          <a:bodyPr wrap="square" anchor="ctr">
            <a:spAutoFit/>
          </a:bodyPr>
          <a:lstStyle/>
          <a:p>
            <a:r>
              <a:rPr sz="1250" b="1" i="0">
                <a:solidFill>
                  <a:srgbClr val="0E2841"/>
                </a:solidFill>
                <a:latin typeface="Avenir Next LT Pro Demi"/>
              </a:rPr>
              <a:t>Role</a:t>
            </a:r>
          </a:p>
        </p:txBody>
      </p:sp>
      <p:sp>
        <p:nvSpPr>
          <p:cNvPr id="6" name="TextBox 5"/>
          <p:cNvSpPr txBox="1"/>
          <p:nvPr/>
        </p:nvSpPr>
        <p:spPr>
          <a:xfrm>
            <a:off x="2651760" y="1188720"/>
            <a:ext cx="6035040" cy="1078992"/>
          </a:xfrm>
          <a:prstGeom prst="rect">
            <a:avLst/>
          </a:prstGeom>
          <a:noFill/>
        </p:spPr>
        <p:txBody>
          <a:bodyPr wrap="square" anchor="ctr">
            <a:spAutoFit/>
          </a:bodyPr>
          <a:lstStyle/>
          <a:p>
            <a:r>
              <a:rPr sz="1100" b="0" i="0">
                <a:solidFill>
                  <a:srgbClr val="0E2841"/>
                </a:solidFill>
                <a:latin typeface="Avenir Next LT Pro"/>
              </a:rPr>
              <a:t>Chairman &amp; CEO and the brand's singular creative force. The 10-K names him explicitly as a key-person dependency.</a:t>
            </a:r>
          </a:p>
        </p:txBody>
      </p:sp>
      <p:sp>
        <p:nvSpPr>
          <p:cNvPr id="7" name="Rectangle 6"/>
          <p:cNvSpPr/>
          <p:nvPr/>
        </p:nvSpPr>
        <p:spPr>
          <a:xfrm>
            <a:off x="457200" y="2377439"/>
            <a:ext cx="82296" cy="107899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377439"/>
            <a:ext cx="1874519" cy="1078992"/>
          </a:xfrm>
          <a:prstGeom prst="rect">
            <a:avLst/>
          </a:prstGeom>
          <a:noFill/>
        </p:spPr>
        <p:txBody>
          <a:bodyPr wrap="square" anchor="ctr">
            <a:spAutoFit/>
          </a:bodyPr>
          <a:lstStyle/>
          <a:p>
            <a:r>
              <a:rPr sz="1250" b="1" i="0">
                <a:solidFill>
                  <a:srgbClr val="156082"/>
                </a:solidFill>
                <a:latin typeface="Avenir Next LT Pro Demi"/>
              </a:rPr>
              <a:t>Track record</a:t>
            </a:r>
          </a:p>
        </p:txBody>
      </p:sp>
      <p:sp>
        <p:nvSpPr>
          <p:cNvPr id="9" name="TextBox 8"/>
          <p:cNvSpPr txBox="1"/>
          <p:nvPr/>
        </p:nvSpPr>
        <p:spPr>
          <a:xfrm>
            <a:off x="2651760" y="2377439"/>
            <a:ext cx="6035040" cy="1078992"/>
          </a:xfrm>
          <a:prstGeom prst="rect">
            <a:avLst/>
          </a:prstGeom>
          <a:noFill/>
        </p:spPr>
        <p:txBody>
          <a:bodyPr wrap="square" anchor="ctr">
            <a:spAutoFit/>
          </a:bodyPr>
          <a:lstStyle/>
          <a:p>
            <a:r>
              <a:rPr sz="1100" b="0" i="0">
                <a:solidFill>
                  <a:srgbClr val="0E2841"/>
                </a:solidFill>
                <a:latin typeface="Avenir Next LT Pro"/>
              </a:rPr>
              <a:t>Transformed Pottery Barn from a ~$50M business into $1B+ at Williams-Sonoma; joined RH in 2001 when it was a ~$350M mall retailer near bankruptcy and rebuilt it into a luxury brand.</a:t>
            </a:r>
          </a:p>
        </p:txBody>
      </p:sp>
      <p:sp>
        <p:nvSpPr>
          <p:cNvPr id="10" name="Rectangle 9"/>
          <p:cNvSpPr/>
          <p:nvPr/>
        </p:nvSpPr>
        <p:spPr>
          <a:xfrm>
            <a:off x="457200" y="3566159"/>
            <a:ext cx="82296" cy="1078992"/>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566159"/>
            <a:ext cx="1874519" cy="1078992"/>
          </a:xfrm>
          <a:prstGeom prst="rect">
            <a:avLst/>
          </a:prstGeom>
          <a:noFill/>
        </p:spPr>
        <p:txBody>
          <a:bodyPr wrap="square" anchor="ctr">
            <a:spAutoFit/>
          </a:bodyPr>
          <a:lstStyle/>
          <a:p>
            <a:r>
              <a:rPr sz="1250" b="1" i="0">
                <a:solidFill>
                  <a:srgbClr val="196B24"/>
                </a:solidFill>
                <a:latin typeface="Avenir Next LT Pro Demi"/>
              </a:rPr>
              <a:t>Skin in the game</a:t>
            </a:r>
          </a:p>
        </p:txBody>
      </p:sp>
      <p:sp>
        <p:nvSpPr>
          <p:cNvPr id="12" name="TextBox 11"/>
          <p:cNvSpPr txBox="1"/>
          <p:nvPr/>
        </p:nvSpPr>
        <p:spPr>
          <a:xfrm>
            <a:off x="2651760" y="3566159"/>
            <a:ext cx="6035040" cy="1078992"/>
          </a:xfrm>
          <a:prstGeom prst="rect">
            <a:avLst/>
          </a:prstGeom>
          <a:noFill/>
        </p:spPr>
        <p:txBody>
          <a:bodyPr wrap="square" anchor="ctr">
            <a:spAutoFit/>
          </a:bodyPr>
          <a:lstStyle/>
          <a:p>
            <a:r>
              <a:rPr sz="1100" b="0" i="0">
                <a:solidFill>
                  <a:srgbClr val="0E2841"/>
                </a:solidFill>
                <a:latin typeface="Avenir Next LT Pro"/>
              </a:rPr>
              <a:t>Owns ~25% of RH (~5.05M shares); bought ~$10M more in the open market at ~$216/share in June 2024 — a genuine alignment signal.</a:t>
            </a:r>
          </a:p>
        </p:txBody>
      </p:sp>
      <p:sp>
        <p:nvSpPr>
          <p:cNvPr id="13" name="Rectangle 12"/>
          <p:cNvSpPr/>
          <p:nvPr/>
        </p:nvSpPr>
        <p:spPr>
          <a:xfrm>
            <a:off x="457200" y="4754879"/>
            <a:ext cx="82296" cy="1078992"/>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754879"/>
            <a:ext cx="1874519" cy="1078992"/>
          </a:xfrm>
          <a:prstGeom prst="rect">
            <a:avLst/>
          </a:prstGeom>
          <a:noFill/>
        </p:spPr>
        <p:txBody>
          <a:bodyPr wrap="square" anchor="ctr">
            <a:spAutoFit/>
          </a:bodyPr>
          <a:lstStyle/>
          <a:p>
            <a:r>
              <a:rPr sz="1250" b="1" i="0">
                <a:solidFill>
                  <a:srgbClr val="E97132"/>
                </a:solidFill>
                <a:latin typeface="Avenir Next LT Pro Demi"/>
              </a:rPr>
              <a:t>The double edge</a:t>
            </a:r>
          </a:p>
        </p:txBody>
      </p:sp>
      <p:sp>
        <p:nvSpPr>
          <p:cNvPr id="15" name="TextBox 14"/>
          <p:cNvSpPr txBox="1"/>
          <p:nvPr/>
        </p:nvSpPr>
        <p:spPr>
          <a:xfrm>
            <a:off x="2651760" y="4754879"/>
            <a:ext cx="6035040" cy="1078992"/>
          </a:xfrm>
          <a:prstGeom prst="rect">
            <a:avLst/>
          </a:prstGeom>
          <a:noFill/>
        </p:spPr>
        <p:txBody>
          <a:bodyPr wrap="square" anchor="ctr">
            <a:spAutoFit/>
          </a:bodyPr>
          <a:lstStyle/>
          <a:p>
            <a:r>
              <a:rPr sz="1100" b="0" i="0">
                <a:solidFill>
                  <a:srgbClr val="0E2841"/>
                </a:solidFill>
                <a:latin typeface="Avenir Next LT Pro"/>
              </a:rPr>
              <a:t>A bold, contrarian capital allocator — the same conviction behind the (now underwater) buybacks also drives the Estates bet. High reward, high key-man risk; no obvious successor.</a:t>
            </a:r>
          </a:p>
        </p:txBody>
      </p:sp>
      <p:sp>
        <p:nvSpPr>
          <p:cNvPr id="16" name="TextBox 15"/>
          <p:cNvSpPr txBox="1"/>
          <p:nvPr/>
        </p:nvSpPr>
        <p:spPr>
          <a:xfrm>
            <a:off x="457200" y="6355080"/>
            <a:ext cx="8229600" cy="411480"/>
          </a:xfrm>
          <a:prstGeom prst="rect">
            <a:avLst/>
          </a:prstGeom>
          <a:noFill/>
        </p:spPr>
        <p:txBody>
          <a:bodyPr wrap="square">
            <a:spAutoFit/>
          </a:bodyPr>
          <a:lstStyle/>
          <a:p>
            <a:r>
              <a:rPr sz="750" b="0" i="1">
                <a:solidFill>
                  <a:srgbClr val="9A9A9A"/>
                </a:solidFill>
                <a:latin typeface="Avenir Next LT Pro"/>
              </a:rPr>
              <a:t>Source: RH FY2025 Form 10-K; RH IR press release &amp; SEC Form 4 (Jun 26, 2024); Williams-Sonoma/RH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2.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customXml/itemProps3.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63</TotalTime>
  <Words>994</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1</cp:revision>
  <cp:lastPrinted>2026-06-10T00:07:23Z</cp:lastPrinted>
  <dcterms:created xsi:type="dcterms:W3CDTF">2026-06-26T21:07:49Z</dcterms:created>
  <dcterms:modified xsi:type="dcterms:W3CDTF">2026-07-01T18:03:04Z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