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3" r:id="rId16"/>
    <p:sldId id="514" r:id="rId27"/>
    <p:sldId id="515" r:id="rId28"/>
    <p:sldId id="516" r:id="rId29"/>
    <p:sldId id="517"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Base Target $477</a:t>
            </a:r>
            <a:r>
              <a:rPr sz="1200" b="0" dirty="0">
                <a:solidFill>
                  <a:srgbClr val="9AB0C4"/>
                </a:solidFill>
                <a:latin typeface="Avenir Next LT Pro"/>
              </a:rPr>
              <a:t>  </a:t>
            </a:r>
            <a:r>
              <a:rPr sz="1200" b="0" dirty="0">
                <a:solidFill>
                  <a:schemeClr val="bg1"/>
                </a:solidFill>
                <a:latin typeface="Avenir Next LT Pro"/>
              </a:rPr>
              <a:t>(FY2027E)</a:t>
            </a:r>
          </a:p>
          <a:p>
            <a:pPr algn="l"/>
            <a:r>
              <a:rPr sz="1100" b="0" dirty="0">
                <a:solidFill>
                  <a:schemeClr val="bg1"/>
                </a:solidFill>
                <a:latin typeface="Avenir Next LT Pro"/>
              </a:rPr>
              <a:t>~</a:t>
            </a:r>
            <a:r>
              <a:rPr lang="en-US" sz="1100" b="0" dirty="0">
                <a:solidFill>
                  <a:schemeClr val="bg1"/>
                </a:solidFill>
                <a:latin typeface="Avenir Next LT Pro"/>
              </a:rPr>
              <a:t>187</a:t>
            </a:r>
            <a:r>
              <a:rPr sz="1100" b="0" dirty="0">
                <a:solidFill>
                  <a:schemeClr val="bg1"/>
                </a:solidFill>
                <a:latin typeface="Avenir Next LT Pro"/>
              </a:rPr>
              <a:t>% upside over 2–3 years   ·   Prob-weighted target ~$</a:t>
            </a:r>
            <a:r>
              <a:rPr lang="en-US" sz="1100" b="0" dirty="0">
                <a:solidFill>
                  <a:schemeClr val="bg1"/>
                </a:solidFill>
                <a:latin typeface="Avenir Next LT Pro"/>
              </a:rPr>
              <a:t>413</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a:t>
            </a:r>
            <a:r>
              <a:rPr lang="en-US" sz="2400" b="1" dirty="0">
                <a:solidFill>
                  <a:srgbClr val="156082"/>
                </a:solidFill>
                <a:latin typeface="Avenir Next LT Pro Demi"/>
              </a:rPr>
              <a:t>477</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a:t>
            </a:r>
            <a:r>
              <a:rPr lang="en-US" sz="2400" b="1">
                <a:solidFill>
                  <a:srgbClr val="196B24"/>
                </a:solidFill>
                <a:latin typeface="Avenir Next LT Pro Demi"/>
              </a:rPr>
              <a:t>810</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Owns ~25%; </a:t>
            </a:r>
            <a:r>
              <a:rPr sz="1050" b="0" dirty="0">
                <a:latin typeface="Avenir Next LT Pro"/>
              </a:rPr>
              <a:t>bought ~$10M more at ~$216 (Jun 2024)</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4,220</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+11.6%</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680</a:t>
                      </a:r>
                    </a:p>
                  </a:txBody>
                  <a:tcPr marL="73152" marR="73152" marT="18288" marB="18288" anchor="ctr">
                    <a:solidFill>
                      <a:srgbClr val="F4F6F8"/>
                    </a:solidFill>
                  </a:tcPr>
                </a:tc>
                <a:tc>
                  <a:txBody>
                    <a:bodyPr/>
                    <a:lstStyle/>
                    <a:p>
                      <a:pPr algn="ctr"/>
                      <a:r>
                        <a:rPr sz="1100" b="0" i="0">
                          <a:solidFill>
                            <a:schemeClr val="tx1"/>
                          </a:solidFill>
                          <a:latin typeface="Avenir Next LT Pro"/>
                        </a:rPr>
                        <a:t>844</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18.0%</a:t>
                      </a:r>
                    </a:p>
                  </a:txBody>
                  <a:tcPr marL="73152" marR="73152" marT="18288" marB="18288" anchor="ctr">
                    <a:solidFill>
                      <a:srgbClr val="FFFFFF"/>
                    </a:solidFill>
                  </a:tcPr>
                </a:tc>
                <a:tc>
                  <a:txBody>
                    <a:bodyPr/>
                    <a:lstStyle/>
                    <a:p>
                      <a:pPr algn="ctr"/>
                      <a:r>
                        <a:rPr sz="1100" b="0" i="0">
                          <a:solidFill>
                            <a:schemeClr val="tx1"/>
                          </a:solidFill>
                          <a:latin typeface="Avenir Next LT Pro"/>
                        </a:rPr>
                        <a:t>20.0%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~$12</a:t>
                      </a:r>
                    </a:p>
                  </a:txBody>
                  <a:tcPr marL="73152" marR="73152" marT="18288" marB="18288" anchor="ctr">
                    <a:solidFill>
                      <a:srgbClr val="F4F6F8"/>
                    </a:solidFill>
                  </a:tcPr>
                </a:tc>
                <a:tc>
                  <a:txBody>
                    <a:bodyPr/>
                    <a:lstStyle/>
                    <a:p>
                      <a:pPr algn="ctr"/>
                      <a:r>
                        <a:rPr sz="1100" b="0" i="0">
                          <a:solidFill>
                            <a:schemeClr val="tx1"/>
                          </a:solidFill>
                          <a:latin typeface="Avenir Next LT Pro"/>
                        </a:rPr>
                        <a:t>~$19</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revenue recovering &amp; margin re-expanding;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$844M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13×</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~$11.0B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~$477</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24%</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tc>
                  <a:txBody>
                    <a:bodyPr/>
                    <a:lstStyle/>
                    <a:p>
                      <a:pPr algn="ctr"/>
                      <a:r>
                        <a:rPr sz="1100" b="0" i="0">
                          <a:solidFill>
                            <a:schemeClr val="tx1"/>
                          </a:solidFill>
                          <a:latin typeface="Avenir Next LT Pro"/>
                        </a:rPr>
                        <a:t>~$810</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13×</a:t>
                      </a:r>
                    </a:p>
                  </a:txBody>
                  <a:tcPr marL="73152" marR="73152" marT="18288" marB="18288" anchor="ctr">
                    <a:solidFill>
                      <a:srgbClr val="F4F6F8"/>
                    </a:solidFill>
                  </a:tcPr>
                </a:tc>
                <a:tc>
                  <a:txBody>
                    <a:bodyPr/>
                    <a:lstStyle/>
                    <a:p>
                      <a:pPr algn="ctr"/>
                      <a:r>
                        <a:rPr sz="1100" b="0" i="0" dirty="0">
                          <a:solidFill>
                            <a:schemeClr val="tx1"/>
                          </a:solidFill>
                          <a:latin typeface="Avenir Next LT Pro"/>
                        </a:rPr>
                        <a:t>~$477</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~$413   (~149%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Adj. EPS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~$18–26</a:t>
                      </a:r>
                    </a:p>
                  </a:txBody>
                  <a:tcPr marL="73152" marR="73152" marT="18288" marB="18288" anchor="ctr">
                    <a:solidFill>
                      <a:srgbClr val="FFFFFF"/>
                    </a:solidFill>
                  </a:tcPr>
                </a:tc>
                <a:tc>
                  <a:txBody>
                    <a:bodyPr/>
                    <a:lstStyle/>
                    <a:p>
                      <a:pPr algn="ctr"/>
                      <a:r>
                        <a:rPr sz="950" b="0" i="0">
                          <a:solidFill>
                            <a:schemeClr val="tx1"/>
                          </a:solidFill>
                          <a:latin typeface="Avenir Next LT Pro"/>
                        </a:rPr>
                        <a:t>6–8×</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~$10–14</a:t>
                      </a:r>
                    </a:p>
                  </a:txBody>
                  <a:tcPr marL="73152" marR="73152" marT="18288" marB="18288" anchor="ctr">
                    <a:solidFill>
                      <a:srgbClr val="F4F6F8"/>
                    </a:solidFill>
                  </a:tcPr>
                </a:tc>
                <a:tc>
                  <a:txBody>
                    <a:bodyPr/>
                    <a:lstStyle/>
                    <a:p>
                      <a:pPr algn="ctr"/>
                      <a:r>
                        <a:rPr sz="950" b="0" i="0">
                          <a:solidFill>
                            <a:schemeClr val="tx1"/>
                          </a:solidFill>
                          <a:latin typeface="Avenir Next LT Pro"/>
                        </a:rPr>
                        <a:t>11–15×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~$4–6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25–37×</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~8.7×</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~25%; bought ~$10M more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