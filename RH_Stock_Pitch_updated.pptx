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8" r:id="rId31"/>
    <p:sldId id="481" r:id="rId9"/>
    <p:sldId id="508" r:id="rId10"/>
    <p:sldId id="482" r:id="rId11"/>
    <p:sldId id="509" r:id="rId12"/>
    <p:sldId id="510" r:id="rId13"/>
    <p:sldId id="506" r:id="rId14"/>
    <p:sldId id="511" r:id="rId15"/>
    <p:sldId id="513" r:id="rId16"/>
    <p:sldId id="514" r:id="rId27"/>
    <p:sldId id="515" r:id="rId28"/>
    <p:sldId id="516" r:id="rId29"/>
    <p:sldId id="517" r:id="rId30"/>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Hold — Not Yet</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~$240 if the thesis proves out</a:t>
            </a:r>
            <a:r>
              <a:rPr sz="1200" b="0" dirty="0">
                <a:solidFill>
                  <a:srgbClr val="9AB0C4"/>
                </a:solidFill>
                <a:latin typeface="Avenir Next LT Pro"/>
              </a:rPr>
              <a:t>  </a:t>
            </a:r>
            <a:r>
              <a:rPr sz="1200" b="0" dirty="0">
                <a:solidFill>
                  <a:schemeClr val="bg1"/>
                </a:solidFill>
                <a:latin typeface="Avenir Next LT Pro"/>
              </a:rPr>
              <a:t>(~45% upside — the prize, not the call)</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Not yet actionable — the key catalyst (Estates) is unproven and the balance sheet is ~4× levered. Buy on proof, not hope.</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~$310</a:t>
            </a:r>
            <a:r>
              <a:rPr lang="en-US" sz="2400" b="1" dirty="0">
                <a:solidFill>
                  <a:srgbClr val="156082"/>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~18% outright (~25% incl. options); </a:t>
            </a:r>
            <a:r>
              <a:rPr sz="1050" b="0" dirty="0">
                <a:latin typeface="Avenir Next LT Pro"/>
              </a:rPr>
              <a:t>bought ~$10M at ~$216 (Jun '24)</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 promising but unproven</a:t>
            </a:r>
            <a:r>
              <a:rPr lang="en-US" sz="1350" b="1" dirty="0">
                <a:latin typeface="Avenir Next LT Pro Demi"/>
              </a:rPr>
              <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p:spPr>
        <p:txBody>
          <a:bodyPr wrap="square" anchor="ctr">
            <a:spAutoFit/>
          </a:bodyPr>
          <a:lstStyle/>
          <a:p>
            <a:r>
              <a:rPr sz="1300" b="1">
                <a:solidFill>
                  <a:srgbClr val="000000"/>
                </a:solidFill>
                <a:latin typeface="Avenir Next LT Pro Demi"/>
              </a:rPr>
              <a:t>1 — Two clean quarters</a:t>
            </a:r>
          </a:p>
        </p:txBody>
      </p:sp>
      <p:sp>
        <p:nvSpPr>
          <p:cNvPr id="7" name="TextBox 6"/>
          <p:cNvSpPr txBox="1"/>
          <p:nvPr/>
        </p:nvSpPr>
        <p:spPr>
          <a:xfrm>
            <a:off x="3063240" y="1691640"/>
            <a:ext cx="5623560" cy="1143000"/>
          </a:xfrm>
          <a:prstGeom prst="rect">
            <a:avLst/>
          </a:prstGeom>
          <a:noFill/>
        </p:spPr>
        <p:txBody>
          <a:bodyPr wrap="square" anchor="ctr">
            <a:spAutoFit/>
          </a:bodyPr>
          <a:lstStyle/>
          <a:p>
            <a:r>
              <a:rPr sz="1150">
                <a:solidFill>
                  <a:srgbClr val="000000"/>
                </a:solidFill>
                <a:latin typeface="Avenir Next LT Pro"/>
              </a:rPr>
              <a:t>Revenue in or above the 4.5–8% FY26 guide and a return to profitability. Q2 FY26 guides to just +0.5–2.5% — the back-half acceleration has to show up.</a:t>
            </a:r>
          </a:p>
        </p:txBody>
      </p:sp>
      <p:sp>
        <p:nvSpPr>
          <p:cNvPr id="8" name="Rectangle 7"/>
          <p:cNvSpPr/>
          <p:nvPr/>
        </p:nvSpPr>
        <p:spPr>
          <a:xfrm>
            <a:off x="457200" y="2999232"/>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p:spPr>
        <p:txBody>
          <a:bodyPr wrap="square" anchor="ctr">
            <a:spAutoFit/>
          </a:bodyPr>
          <a:lstStyle/>
          <a:p>
            <a:r>
              <a:rPr sz="1150">
                <a:solidFill>
                  <a:srgbClr val="000000"/>
                </a:solidFill>
                <a:latin typeface="Avenir Next LT Pro"/>
              </a:rPr>
              <a:t>Actual revenue contribution and gallery traction. Estates launched Jun 2026 — there is zero results data yet. First read: Q2 FY2026.</a:t>
            </a:r>
          </a:p>
        </p:txBody>
      </p:sp>
      <p:sp>
        <p:nvSpPr>
          <p:cNvPr id="11" name="Rectangle 10"/>
          <p:cNvSpPr/>
          <p:nvPr/>
        </p:nvSpPr>
        <p:spPr>
          <a:xfrm>
            <a:off x="457200" y="4306824"/>
            <a:ext cx="82296" cy="114300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p:spPr>
        <p:txBody>
          <a:bodyPr wrap="square" anchor="ctr">
            <a:spAutoFit/>
          </a:bodyPr>
          <a:lstStyle/>
          <a:p>
            <a:r>
              <a:rPr sz="1150">
                <a:solidFill>
                  <a:srgbClr val="000000"/>
                </a:solidFill>
                <a:latin typeface="Avenir Next LT Pro"/>
              </a:rPr>
              <a:t>Net debt falling on real free cash flow — not the one-time inventory unwind that drove FY25. Leverage trending toward ~3×.</a:t>
            </a:r>
          </a:p>
        </p:txBody>
      </p:sp>
      <p:sp>
        <p:nvSpPr>
          <p:cNvPr id="14" name="TextBox 13"/>
          <p:cNvSpPr txBox="1"/>
          <p:nvPr/>
        </p:nvSpPr>
        <p:spPr>
          <a:xfrm>
            <a:off x="457200" y="5532120"/>
            <a:ext cx="8229600" cy="457200"/>
          </a:xfrm>
          <a:prstGeom prst="rect">
            <a:avLst/>
          </a:prstGeom>
          <a:noFill/>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355080"/>
            <a:ext cx="8229600" cy="365760"/>
          </a:xfrm>
          <a:prstGeom prst="rect">
            <a:avLst/>
          </a:prstGeom>
          <a:noFill/>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p:spPr>
        <p:txBody>
          <a:bodyPr wrap="square">
            <a:spAutoFit/>
          </a:bodyPr>
          <a:lstStyle/>
          <a:p>
            <a:r>
              <a:rPr sz="1000" b="1" i="0" dirty="0">
                <a:solidFill>
                  <a:srgbClr val="156082"/>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~$285   (~72% upside from ~$166)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p:spPr>
        <p:txBody>
          <a:bodyPr wrap="square">
            <a:spAutoFit/>
          </a:bodyPr>
          <a:lstStyle/>
          <a:p>
            <a:r>
              <a:rPr sz="2300" b="0" i="0" dirty="0">
                <a:latin typeface="Avenir Next LT Pro Demi"/>
              </a:rPr>
              <a:t>Key Risks — What Has to Go Wrong</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806440"/>
            <a:ext cx="8229600" cy="365760"/>
          </a:xfrm>
          <a:prstGeom prst="rect">
            <a:avLst/>
          </a:prstGeom>
          <a:noFill/>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p:spPr>
        <p:txBody>
          <a:bodyPr wrap="square" anchor="ctr">
            <a:spAutoFit/>
          </a:bodyPr>
          <a:lstStyle/>
          <a:p>
            <a:r>
              <a:rPr sz="1200" b="0">
                <a:solidFill>
                  <a:srgbClr val="000000"/>
                </a:solidFill>
                <a:latin typeface="Avenir Next LT Pro"/>
              </a:rPr>
              <a:t>Owns ~18% outright (~25% incl. options); bought ~$10M at ~$216 in June 2024.</a:t>
            </a:r>
          </a:p>
        </p:txBody>
      </p:sp>
      <p:sp>
        <p:nvSpPr>
          <p:cNvPr id="13" name="Rectangle 12"/>
          <p:cNvSpPr/>
          <p:nvPr/>
        </p:nvSpPr>
        <p:spPr>
          <a:xfrm>
            <a:off x="457200" y="4800600"/>
            <a:ext cx="82296" cy="105156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