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1"/>
  </p:notesMasterIdLst>
  <p:handoutMasterIdLst>
    <p:handoutMasterId r:id="rId12"/>
  </p:handoutMasterIdLst>
  <p:sldIdLst>
    <p:sldId id="422" r:id="rId5"/>
    <p:sldId id="433" r:id="rId6"/>
    <p:sldId id="483" r:id="rId7"/>
    <p:sldId id="507" r:id="rId20"/>
    <p:sldId id="481" r:id="rId8"/>
    <p:sldId id="482" r:id="rId9"/>
    <p:sldId id="506" r:id="rId10"/>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6"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8C49"/>
    <a:srgbClr val="769FB9"/>
    <a:srgbClr val="156082"/>
    <a:srgbClr val="769FB6"/>
    <a:srgbClr val="4F505D"/>
    <a:srgbClr val="FFCFD2"/>
    <a:srgbClr val="EC9A07"/>
    <a:srgbClr val="00B050"/>
    <a:srgbClr val="FFA97B"/>
    <a:srgbClr val="DD20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115" d="100"/>
          <a:sy n="115" d="100"/>
        </p:scale>
        <p:origin x="1848" y="72"/>
      </p:cViewPr>
      <p:guideLst>
        <p:guide pos="2880"/>
        <p:guide orient="horz" pos="2160"/>
      </p:guideLst>
    </p:cSldViewPr>
  </p:slideViewPr>
  <p:notesTextViewPr>
    <p:cViewPr>
      <p:scale>
        <a:sx n="1" d="1"/>
        <a:sy n="1" d="1"/>
      </p:scale>
      <p:origin x="0" y="0"/>
    </p:cViewPr>
  </p:notesTextViewPr>
  <p:notesViewPr>
    <p:cSldViewPr snapToGrid="0">
      <p:cViewPr>
        <p:scale>
          <a:sx n="1" d="2"/>
          <a:sy n="1" d="2"/>
        </p:scale>
        <p:origin x="0" y="0"/>
      </p:cViewPr>
      <p:guideLst>
        <p:guide orient="horz" pos="2932"/>
        <p:guide pos="2213"/>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8/10/relationships/authors" Target="authors.xml"/><Relationship Id="rId20"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rick Chen" userId="c17abf16-4572-4718-92d2-b565decf0b0c" providerId="ADAL" clId="{26BCF191-4B8C-46F4-B4E0-CF774475ACF2}"/>
    <pc:docChg chg="delSld modSld">
      <pc:chgData name="Derrick Chen" userId="c17abf16-4572-4718-92d2-b565decf0b0c" providerId="ADAL" clId="{26BCF191-4B8C-46F4-B4E0-CF774475ACF2}" dt="2026-07-01T00:39:15.710" v="37" actId="47"/>
      <pc:docMkLst>
        <pc:docMk/>
      </pc:docMkLst>
      <pc:sldChg chg="modSp mod">
        <pc:chgData name="Derrick Chen" userId="c17abf16-4572-4718-92d2-b565decf0b0c" providerId="ADAL" clId="{26BCF191-4B8C-46F4-B4E0-CF774475ACF2}" dt="2026-06-26T21:09:21.628" v="25" actId="20577"/>
        <pc:sldMkLst>
          <pc:docMk/>
          <pc:sldMk cId="2627608767" sldId="422"/>
        </pc:sldMkLst>
        <pc:spChg chg="mod">
          <ac:chgData name="Derrick Chen" userId="c17abf16-4572-4718-92d2-b565decf0b0c" providerId="ADAL" clId="{26BCF191-4B8C-46F4-B4E0-CF774475ACF2}" dt="2026-06-26T21:09:21.628" v="25" actId="20577"/>
          <ac:spMkLst>
            <pc:docMk/>
            <pc:sldMk cId="2627608767" sldId="422"/>
            <ac:spMk id="3" creationId="{59638BFF-4FC7-3F12-DDB4-5547AEC40B4E}"/>
          </ac:spMkLst>
        </pc:spChg>
      </pc:sldChg>
      <pc:sldChg chg="del">
        <pc:chgData name="Derrick Chen" userId="c17abf16-4572-4718-92d2-b565decf0b0c" providerId="ADAL" clId="{26BCF191-4B8C-46F4-B4E0-CF774475ACF2}" dt="2026-07-01T00:39:06.980" v="29" actId="47"/>
        <pc:sldMkLst>
          <pc:docMk/>
          <pc:sldMk cId="2497924218" sldId="489"/>
        </pc:sldMkLst>
      </pc:sldChg>
      <pc:sldChg chg="del">
        <pc:chgData name="Derrick Chen" userId="c17abf16-4572-4718-92d2-b565decf0b0c" providerId="ADAL" clId="{26BCF191-4B8C-46F4-B4E0-CF774475ACF2}" dt="2026-07-01T00:39:14.854" v="36" actId="47"/>
        <pc:sldMkLst>
          <pc:docMk/>
          <pc:sldMk cId="637616509" sldId="492"/>
        </pc:sldMkLst>
      </pc:sldChg>
      <pc:sldChg chg="del">
        <pc:chgData name="Derrick Chen" userId="c17abf16-4572-4718-92d2-b565decf0b0c" providerId="ADAL" clId="{26BCF191-4B8C-46F4-B4E0-CF774475ACF2}" dt="2026-07-01T00:39:08.105" v="31" actId="47"/>
        <pc:sldMkLst>
          <pc:docMk/>
          <pc:sldMk cId="2727070108" sldId="493"/>
        </pc:sldMkLst>
      </pc:sldChg>
      <pc:sldChg chg="del">
        <pc:chgData name="Derrick Chen" userId="c17abf16-4572-4718-92d2-b565decf0b0c" providerId="ADAL" clId="{26BCF191-4B8C-46F4-B4E0-CF774475ACF2}" dt="2026-07-01T00:39:15.710" v="37" actId="47"/>
        <pc:sldMkLst>
          <pc:docMk/>
          <pc:sldMk cId="3714223132" sldId="495"/>
        </pc:sldMkLst>
      </pc:sldChg>
      <pc:sldChg chg="del">
        <pc:chgData name="Derrick Chen" userId="c17abf16-4572-4718-92d2-b565decf0b0c" providerId="ADAL" clId="{26BCF191-4B8C-46F4-B4E0-CF774475ACF2}" dt="2026-07-01T00:39:11.445" v="33" actId="47"/>
        <pc:sldMkLst>
          <pc:docMk/>
          <pc:sldMk cId="2747759066" sldId="496"/>
        </pc:sldMkLst>
      </pc:sldChg>
      <pc:sldChg chg="del">
        <pc:chgData name="Derrick Chen" userId="c17abf16-4572-4718-92d2-b565decf0b0c" providerId="ADAL" clId="{26BCF191-4B8C-46F4-B4E0-CF774475ACF2}" dt="2026-07-01T00:39:07.655" v="30" actId="47"/>
        <pc:sldMkLst>
          <pc:docMk/>
          <pc:sldMk cId="803245848" sldId="497"/>
        </pc:sldMkLst>
      </pc:sldChg>
      <pc:sldChg chg="del">
        <pc:chgData name="Derrick Chen" userId="c17abf16-4572-4718-92d2-b565decf0b0c" providerId="ADAL" clId="{26BCF191-4B8C-46F4-B4E0-CF774475ACF2}" dt="2026-07-01T00:39:02.384" v="26" actId="47"/>
        <pc:sldMkLst>
          <pc:docMk/>
          <pc:sldMk cId="2128817963" sldId="500"/>
        </pc:sldMkLst>
      </pc:sldChg>
      <pc:sldChg chg="del">
        <pc:chgData name="Derrick Chen" userId="c17abf16-4572-4718-92d2-b565decf0b0c" providerId="ADAL" clId="{26BCF191-4B8C-46F4-B4E0-CF774475ACF2}" dt="2026-07-01T00:39:06.286" v="28" actId="47"/>
        <pc:sldMkLst>
          <pc:docMk/>
          <pc:sldMk cId="2819474060" sldId="501"/>
        </pc:sldMkLst>
      </pc:sldChg>
      <pc:sldChg chg="del">
        <pc:chgData name="Derrick Chen" userId="c17abf16-4572-4718-92d2-b565decf0b0c" providerId="ADAL" clId="{26BCF191-4B8C-46F4-B4E0-CF774475ACF2}" dt="2026-07-01T00:39:08.637" v="32" actId="47"/>
        <pc:sldMkLst>
          <pc:docMk/>
          <pc:sldMk cId="2412664316" sldId="503"/>
        </pc:sldMkLst>
      </pc:sldChg>
      <pc:sldChg chg="del">
        <pc:chgData name="Derrick Chen" userId="c17abf16-4572-4718-92d2-b565decf0b0c" providerId="ADAL" clId="{26BCF191-4B8C-46F4-B4E0-CF774475ACF2}" dt="2026-07-01T00:39:03.402" v="27" actId="47"/>
        <pc:sldMkLst>
          <pc:docMk/>
          <pc:sldMk cId="1480335235" sldId="504"/>
        </pc:sldMkLst>
      </pc:sldChg>
      <pc:sldChg chg="del">
        <pc:chgData name="Derrick Chen" userId="c17abf16-4572-4718-92d2-b565decf0b0c" providerId="ADAL" clId="{26BCF191-4B8C-46F4-B4E0-CF774475ACF2}" dt="2026-07-01T00:39:11.912" v="34" actId="47"/>
        <pc:sldMkLst>
          <pc:docMk/>
          <pc:sldMk cId="2054142428" sldId="505"/>
        </pc:sldMkLst>
      </pc:sldChg>
      <pc:sldChg chg="del">
        <pc:chgData name="Derrick Chen" userId="c17abf16-4572-4718-92d2-b565decf0b0c" providerId="ADAL" clId="{26BCF191-4B8C-46F4-B4E0-CF774475ACF2}" dt="2026-07-01T00:39:12.514" v="35" actId="47"/>
        <pc:sldMkLst>
          <pc:docMk/>
          <pc:sldMk cId="1932589684" sldId="50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43342" cy="465455"/>
          </a:xfrm>
          <a:prstGeom prst="rect">
            <a:avLst/>
          </a:prstGeom>
        </p:spPr>
        <p:txBody>
          <a:bodyPr vert="horz" lIns="93969" tIns="46985" rIns="93969" bIns="46985" rtlCol="0"/>
          <a:lstStyle>
            <a:lvl1pPr algn="l">
              <a:defRPr sz="1200"/>
            </a:lvl1pPr>
          </a:lstStyle>
          <a:p>
            <a:endParaRPr/>
          </a:p>
        </p:txBody>
      </p:sp>
      <p:sp>
        <p:nvSpPr>
          <p:cNvPr id="3" name="Date Placeholder 2"/>
          <p:cNvSpPr>
            <a:spLocks noGrp="1"/>
          </p:cNvSpPr>
          <p:nvPr>
            <p:ph type="dt" sz="quarter" idx="1"/>
          </p:nvPr>
        </p:nvSpPr>
        <p:spPr>
          <a:xfrm>
            <a:off x="3978136" y="3"/>
            <a:ext cx="3043342" cy="465455"/>
          </a:xfrm>
          <a:prstGeom prst="rect">
            <a:avLst/>
          </a:prstGeom>
        </p:spPr>
        <p:txBody>
          <a:bodyPr vert="horz" lIns="93969" tIns="46985" rIns="93969" bIns="46985" rtlCol="0"/>
          <a:lstStyle>
            <a:lvl1pPr algn="r">
              <a:defRPr sz="1200"/>
            </a:lvl1pPr>
          </a:lstStyle>
          <a:p>
            <a:fld id="{128FCA9C-FF92-4024-BDEC-A6D3B663DC09}" type="datetimeFigureOut">
              <a:rPr lang="en-US"/>
              <a:t>6/30/2026</a:t>
            </a:fld>
            <a:endParaRPr/>
          </a:p>
        </p:txBody>
      </p:sp>
      <p:sp>
        <p:nvSpPr>
          <p:cNvPr id="4" name="Footer Placeholder 3"/>
          <p:cNvSpPr>
            <a:spLocks noGrp="1"/>
          </p:cNvSpPr>
          <p:nvPr>
            <p:ph type="ftr" sz="quarter" idx="2"/>
          </p:nvPr>
        </p:nvSpPr>
        <p:spPr>
          <a:xfrm>
            <a:off x="5" y="8842031"/>
            <a:ext cx="3043342" cy="465455"/>
          </a:xfrm>
          <a:prstGeom prst="rect">
            <a:avLst/>
          </a:prstGeom>
        </p:spPr>
        <p:txBody>
          <a:bodyPr vert="horz" lIns="93969" tIns="46985" rIns="93969" bIns="46985" rtlCol="0" anchor="b"/>
          <a:lstStyle>
            <a:lvl1pPr algn="l">
              <a:defRPr sz="1200"/>
            </a:lvl1pPr>
          </a:lstStyle>
          <a:p>
            <a:endParaRPr/>
          </a:p>
        </p:txBody>
      </p:sp>
      <p:sp>
        <p:nvSpPr>
          <p:cNvPr id="5" name="Slide Number Placeholder 4"/>
          <p:cNvSpPr>
            <a:spLocks noGrp="1"/>
          </p:cNvSpPr>
          <p:nvPr>
            <p:ph type="sldNum" sz="quarter" idx="3"/>
          </p:nvPr>
        </p:nvSpPr>
        <p:spPr>
          <a:xfrm>
            <a:off x="3978136" y="8842031"/>
            <a:ext cx="3043342" cy="465455"/>
          </a:xfrm>
          <a:prstGeom prst="rect">
            <a:avLst/>
          </a:prstGeom>
        </p:spPr>
        <p:txBody>
          <a:bodyPr vert="horz" lIns="93969" tIns="46985" rIns="93969" bIns="46985"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43342" cy="465455"/>
          </a:xfrm>
          <a:prstGeom prst="rect">
            <a:avLst/>
          </a:prstGeom>
        </p:spPr>
        <p:txBody>
          <a:bodyPr vert="horz" lIns="93969" tIns="46985" rIns="93969" bIns="46985" rtlCol="0"/>
          <a:lstStyle>
            <a:lvl1pPr algn="l">
              <a:defRPr sz="1200"/>
            </a:lvl1pPr>
          </a:lstStyle>
          <a:p>
            <a:endParaRPr/>
          </a:p>
        </p:txBody>
      </p:sp>
      <p:sp>
        <p:nvSpPr>
          <p:cNvPr id="3" name="Date Placeholder 2"/>
          <p:cNvSpPr>
            <a:spLocks noGrp="1"/>
          </p:cNvSpPr>
          <p:nvPr>
            <p:ph type="dt" idx="1"/>
          </p:nvPr>
        </p:nvSpPr>
        <p:spPr>
          <a:xfrm>
            <a:off x="3978136" y="3"/>
            <a:ext cx="3043342" cy="465455"/>
          </a:xfrm>
          <a:prstGeom prst="rect">
            <a:avLst/>
          </a:prstGeom>
        </p:spPr>
        <p:txBody>
          <a:bodyPr vert="horz" lIns="93969" tIns="46985" rIns="93969" bIns="46985" rtlCol="0"/>
          <a:lstStyle>
            <a:lvl1pPr algn="r">
              <a:defRPr sz="1200"/>
            </a:lvl1pPr>
          </a:lstStyle>
          <a:p>
            <a:fld id="{772AB877-E7B1-4681-847E-D0918612832B}" type="datetimeFigureOut">
              <a:rPr lang="en-US"/>
              <a:t>6/30/2026</a:t>
            </a:fld>
            <a:endParaRPr/>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969" tIns="46985" rIns="93969" bIns="46985" rtlCol="0" anchor="ctr"/>
          <a:lstStyle/>
          <a:p>
            <a:endParaRPr/>
          </a:p>
        </p:txBody>
      </p:sp>
      <p:sp>
        <p:nvSpPr>
          <p:cNvPr id="5" name="Notes Placeholder 4"/>
          <p:cNvSpPr>
            <a:spLocks noGrp="1"/>
          </p:cNvSpPr>
          <p:nvPr>
            <p:ph type="body" sz="quarter" idx="3"/>
          </p:nvPr>
        </p:nvSpPr>
        <p:spPr>
          <a:xfrm>
            <a:off x="702311" y="4421824"/>
            <a:ext cx="5618480" cy="4189095"/>
          </a:xfrm>
          <a:prstGeom prst="rect">
            <a:avLst/>
          </a:prstGeom>
        </p:spPr>
        <p:txBody>
          <a:bodyPr vert="horz" lIns="93969" tIns="46985" rIns="93969" bIns="46985"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5" y="8842031"/>
            <a:ext cx="3043342" cy="465455"/>
          </a:xfrm>
          <a:prstGeom prst="rect">
            <a:avLst/>
          </a:prstGeom>
        </p:spPr>
        <p:txBody>
          <a:bodyPr vert="horz" lIns="93969" tIns="46985" rIns="93969" bIns="46985" rtlCol="0" anchor="b"/>
          <a:lstStyle>
            <a:lvl1pPr algn="l">
              <a:defRPr sz="1200"/>
            </a:lvl1pPr>
          </a:lstStyle>
          <a:p>
            <a:endParaRPr/>
          </a:p>
        </p:txBody>
      </p:sp>
      <p:sp>
        <p:nvSpPr>
          <p:cNvPr id="7" name="Slide Number Placeholder 6"/>
          <p:cNvSpPr>
            <a:spLocks noGrp="1"/>
          </p:cNvSpPr>
          <p:nvPr>
            <p:ph type="sldNum" sz="quarter" idx="5"/>
          </p:nvPr>
        </p:nvSpPr>
        <p:spPr>
          <a:xfrm>
            <a:off x="3978136" y="8842031"/>
            <a:ext cx="3043342" cy="465455"/>
          </a:xfrm>
          <a:prstGeom prst="rect">
            <a:avLst/>
          </a:prstGeom>
        </p:spPr>
        <p:txBody>
          <a:bodyPr vert="horz" lIns="93969" tIns="46985" rIns="93969" bIns="46985"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6013" y="679450"/>
            <a:ext cx="4510087" cy="33845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1</a:t>
            </a:fld>
            <a:endParaRPr lang="en-US"/>
          </a:p>
        </p:txBody>
      </p:sp>
    </p:spTree>
    <p:extLst>
      <p:ext uri="{BB962C8B-B14F-4D97-AF65-F5344CB8AC3E}">
        <p14:creationId xmlns:p14="http://schemas.microsoft.com/office/powerpoint/2010/main" val="1795011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Subtitle 2"/>
          <p:cNvSpPr>
            <a:spLocks noGrp="1"/>
          </p:cNvSpPr>
          <p:nvPr>
            <p:ph type="subTitle" idx="1"/>
          </p:nvPr>
        </p:nvSpPr>
        <p:spPr>
          <a:xfrm>
            <a:off x="1801232" y="5715000"/>
            <a:ext cx="5541537" cy="533400"/>
          </a:xfrm>
          <a:noFill/>
        </p:spPr>
        <p:txBody>
          <a:bodyPr>
            <a:normAutofit/>
          </a:bodyPr>
          <a:lstStyle>
            <a:lvl1pPr marL="0" indent="0" algn="ctr">
              <a:spcBef>
                <a:spcPts val="0"/>
              </a:spcBef>
              <a:buNone/>
              <a:defRPr sz="1800" i="0">
                <a:solidFill>
                  <a:schemeClr val="tx1"/>
                </a:solidFill>
                <a:latin typeface="Avenir Next LT Pro" panose="020B0504020202020204" pitchFamily="34" charset="0"/>
              </a:defRPr>
            </a:lvl1pPr>
            <a:lvl2pPr marL="342991" indent="0" algn="ctr">
              <a:buNone/>
              <a:defRPr>
                <a:solidFill>
                  <a:schemeClr val="tx1">
                    <a:tint val="75000"/>
                  </a:schemeClr>
                </a:solidFill>
              </a:defRPr>
            </a:lvl2pPr>
            <a:lvl3pPr marL="685983" indent="0" algn="ctr">
              <a:buNone/>
              <a:defRPr>
                <a:solidFill>
                  <a:schemeClr val="tx1">
                    <a:tint val="75000"/>
                  </a:schemeClr>
                </a:solidFill>
              </a:defRPr>
            </a:lvl3pPr>
            <a:lvl4pPr marL="1028974" indent="0" algn="ctr">
              <a:buNone/>
              <a:defRPr>
                <a:solidFill>
                  <a:schemeClr val="tx1">
                    <a:tint val="75000"/>
                  </a:schemeClr>
                </a:solidFill>
              </a:defRPr>
            </a:lvl4pPr>
            <a:lvl5pPr marL="1371966" indent="0" algn="ctr">
              <a:buNone/>
              <a:defRPr>
                <a:solidFill>
                  <a:schemeClr val="tx1">
                    <a:tint val="75000"/>
                  </a:schemeClr>
                </a:solidFill>
              </a:defRPr>
            </a:lvl5pPr>
            <a:lvl6pPr marL="1714957" indent="0" algn="ctr">
              <a:buNone/>
              <a:defRPr>
                <a:solidFill>
                  <a:schemeClr val="tx1">
                    <a:tint val="75000"/>
                  </a:schemeClr>
                </a:solidFill>
              </a:defRPr>
            </a:lvl6pPr>
            <a:lvl7pPr marL="2057949" indent="0" algn="ctr">
              <a:buNone/>
              <a:defRPr>
                <a:solidFill>
                  <a:schemeClr val="tx1">
                    <a:tint val="75000"/>
                  </a:schemeClr>
                </a:solidFill>
              </a:defRPr>
            </a:lvl7pPr>
            <a:lvl8pPr marL="2400940" indent="0" algn="ctr">
              <a:buNone/>
              <a:defRPr>
                <a:solidFill>
                  <a:schemeClr val="tx1">
                    <a:tint val="75000"/>
                  </a:schemeClr>
                </a:solidFill>
              </a:defRPr>
            </a:lvl8pPr>
            <a:lvl9pPr marL="2743932" indent="0" algn="ctr">
              <a:buNone/>
              <a:defRPr>
                <a:solidFill>
                  <a:schemeClr val="tx1">
                    <a:tint val="75000"/>
                  </a:schemeClr>
                </a:solidFill>
              </a:defRPr>
            </a:lvl9pPr>
          </a:lstStyle>
          <a:p>
            <a:r>
              <a:rPr lang="en-US"/>
              <a:t>Click to edit Master subtitle style</a:t>
            </a:r>
            <a:endParaRPr/>
          </a:p>
        </p:txBody>
      </p:sp>
      <p:sp>
        <p:nvSpPr>
          <p:cNvPr id="8" name="Title 6"/>
          <p:cNvSpPr>
            <a:spLocks noGrp="1"/>
          </p:cNvSpPr>
          <p:nvPr>
            <p:ph type="title"/>
          </p:nvPr>
        </p:nvSpPr>
        <p:spPr>
          <a:xfrm>
            <a:off x="1800003" y="4714977"/>
            <a:ext cx="5543995" cy="923823"/>
          </a:xfrm>
          <a:prstGeom prst="rect">
            <a:avLst/>
          </a:prstGeom>
          <a:noFill/>
        </p:spPr>
        <p:txBody>
          <a:bodyPr anchor="b" anchorCtr="0">
            <a:normAutofit/>
          </a:bodyPr>
          <a:lstStyle>
            <a:lvl1pPr marL="0" algn="ctr" defTabSz="914400" rtl="0" eaLnBrk="1" latinLnBrk="0" hangingPunct="1">
              <a:lnSpc>
                <a:spcPct val="90000"/>
              </a:lnSpc>
              <a:defRPr lang="en-US" sz="2600" kern="1200" cap="none" baseline="0" dirty="0">
                <a:ln w="0"/>
                <a:solidFill>
                  <a:schemeClr val="tx1"/>
                </a:solidFill>
                <a:effectLst/>
                <a:latin typeface="Avenir Next LT Pro" panose="020B0504020202020204" pitchFamily="34" charset="0"/>
                <a:ea typeface="+mn-ea"/>
                <a:cs typeface="+mn-cs"/>
              </a:defRPr>
            </a:lvl1pPr>
          </a:lstStyle>
          <a:p>
            <a:r>
              <a:rPr lang="en-US"/>
              <a:t>Click to edit Master title style</a:t>
            </a:r>
          </a:p>
        </p:txBody>
      </p:sp>
      <p:sp>
        <p:nvSpPr>
          <p:cNvPr id="10" name="Rectangle 9"/>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8971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Content Placeholder 2"/>
          <p:cNvSpPr>
            <a:spLocks noGrp="1"/>
          </p:cNvSpPr>
          <p:nvPr>
            <p:ph idx="1"/>
          </p:nvPr>
        </p:nvSpPr>
        <p:spPr>
          <a:xfrm>
            <a:off x="228600" y="838200"/>
            <a:ext cx="8679365" cy="5562600"/>
          </a:xfrm>
        </p:spPr>
        <p:txBody>
          <a:bodyPr>
            <a:normAutofit/>
          </a:bodyPr>
          <a:lstStyle>
            <a:lvl1pPr marL="205795" indent="-171496">
              <a:buClr>
                <a:schemeClr val="bg1">
                  <a:lumMod val="50000"/>
                </a:schemeClr>
              </a:buClr>
              <a:buSzPct val="105000"/>
              <a:buFont typeface="Wingdings" panose="05000000000000000000" pitchFamily="2" charset="2"/>
              <a:buChar char="§"/>
              <a:defRPr sz="1200">
                <a:latin typeface="Avenir Next LT Pro" panose="020B0504020202020204" pitchFamily="34" charset="0"/>
              </a:defRPr>
            </a:lvl1pPr>
            <a:lvl2pPr marL="377291"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2pPr>
            <a:lvl3pPr marL="548786"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3pPr>
            <a:lvl4pPr marL="720282"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4pPr>
            <a:lvl5pPr marL="891778"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Title 1"/>
          <p:cNvSpPr>
            <a:spLocks noGrp="1"/>
          </p:cNvSpPr>
          <p:nvPr>
            <p:ph type="title"/>
          </p:nvPr>
        </p:nvSpPr>
        <p:spPr>
          <a:xfrm>
            <a:off x="228600" y="228600"/>
            <a:ext cx="8679366" cy="478756"/>
          </a:xfrm>
          <a:prstGeom prst="rect">
            <a:avLst/>
          </a:prstGeom>
        </p:spPr>
        <p:txBody>
          <a:bodyPr anchor="b" anchorCtr="0">
            <a:normAutofit/>
          </a:bodyPr>
          <a:lstStyle>
            <a:lvl1pPr algn="r">
              <a:defRPr lang="en-GB" sz="1300" b="0" kern="1200" cap="all" baseline="0" dirty="0">
                <a:solidFill>
                  <a:schemeClr val="tx1"/>
                </a:solidFill>
                <a:latin typeface="Avenir Next LT Pro Demi" panose="020B0704020202020204" pitchFamily="34" charset="0"/>
                <a:ea typeface="+mj-ea"/>
                <a:cs typeface="+mj-cs"/>
              </a:defRPr>
            </a:lvl1pPr>
          </a:lstStyle>
          <a:p>
            <a:r>
              <a:rPr lang="en-US"/>
              <a:t>Click to edit Master title style</a:t>
            </a:r>
            <a:endParaRPr lang="en-GB"/>
          </a:p>
        </p:txBody>
      </p:sp>
      <p:cxnSp>
        <p:nvCxnSpPr>
          <p:cNvPr id="15" name="Straight Connector 14"/>
          <p:cNvCxnSpPr/>
          <p:nvPr/>
        </p:nvCxnSpPr>
        <p:spPr>
          <a:xfrm>
            <a:off x="233172" y="762000"/>
            <a:ext cx="8677656" cy="0"/>
          </a:xfrm>
          <a:prstGeom prst="line">
            <a:avLst/>
          </a:prstGeom>
          <a:ln w="1905">
            <a:solidFill>
              <a:schemeClr val="accent6">
                <a:lumMod val="50000"/>
              </a:schemeClr>
            </a:solidFill>
            <a:prstDash val="solid"/>
          </a:ln>
          <a:effectLst/>
        </p:spPr>
        <p:style>
          <a:lnRef idx="3">
            <a:schemeClr val="accent6"/>
          </a:lnRef>
          <a:fillRef idx="0">
            <a:schemeClr val="accent6"/>
          </a:fillRef>
          <a:effectRef idx="2">
            <a:schemeClr val="accent6"/>
          </a:effectRef>
          <a:fontRef idx="minor">
            <a:schemeClr val="tx1"/>
          </a:fontRef>
        </p:style>
      </p:cxnSp>
      <p:sp>
        <p:nvSpPr>
          <p:cNvPr id="21" name="Rectangle 20"/>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latin typeface="Avenir Next LT Pro" panose="020B0504020202020204" pitchFamily="34" charset="0"/>
            </a:endParaRPr>
          </a:p>
        </p:txBody>
      </p:sp>
      <p:cxnSp>
        <p:nvCxnSpPr>
          <p:cNvPr id="22" name="Straight Connector 21"/>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3" name="Slide Number Placeholder 9"/>
          <p:cNvSpPr txBox="1">
            <a:spLocks/>
          </p:cNvSpPr>
          <p:nvPr userDrawn="1"/>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tx1"/>
                </a:solidFill>
                <a:latin typeface="Avenir Next LT Pro" panose="020B0504020202020204" pitchFamily="34" charset="0"/>
              </a:rPr>
              <a:t>Kildare Partners</a:t>
            </a:r>
          </a:p>
        </p:txBody>
      </p:sp>
      <p:sp>
        <p:nvSpPr>
          <p:cNvPr id="14" name="Slide Number Placeholder 9"/>
          <p:cNvSpPr txBox="1">
            <a:spLocks/>
          </p:cNvSpPr>
          <p:nvPr userDrawn="1"/>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Tree>
    <p:extLst>
      <p:ext uri="{BB962C8B-B14F-4D97-AF65-F5344CB8AC3E}">
        <p14:creationId xmlns:p14="http://schemas.microsoft.com/office/powerpoint/2010/main" val="191835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913448" y="3135710"/>
            <a:ext cx="7317105" cy="586581"/>
          </a:xfrm>
        </p:spPr>
        <p:txBody>
          <a:bodyPr anchor="ctr">
            <a:noAutofit/>
          </a:bodyPr>
          <a:lstStyle>
            <a:lvl1pPr algn="ctr" defTabSz="685983" rtl="0" eaLnBrk="1" latinLnBrk="0" hangingPunct="1">
              <a:lnSpc>
                <a:spcPct val="90000"/>
              </a:lnSpc>
              <a:spcBef>
                <a:spcPct val="0"/>
              </a:spcBef>
              <a:buNone/>
              <a:defRPr lang="en-GB" sz="2400" b="0" kern="1200" cap="all" baseline="0" dirty="0">
                <a:solidFill>
                  <a:srgbClr val="AF8C49"/>
                </a:solidFill>
                <a:latin typeface="Avenir Next LT Pro" panose="020B0504020202020204" pitchFamily="34" charset="0"/>
                <a:ea typeface="+mj-ea"/>
                <a:cs typeface="+mj-cs"/>
              </a:defRPr>
            </a:lvl1pPr>
          </a:lstStyle>
          <a:p>
            <a:r>
              <a:rPr lang="en-US"/>
              <a:t>Click to edit Master title style</a:t>
            </a:r>
            <a:endParaRPr/>
          </a:p>
        </p:txBody>
      </p:sp>
      <p:sp>
        <p:nvSpPr>
          <p:cNvPr id="12"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tx1"/>
                </a:solidFill>
                <a:latin typeface="Avenir Next LT Pro" panose="020B0504020202020204" pitchFamily="34" charset="0"/>
              </a:rPr>
              <a:t>Kildare Partners</a:t>
            </a:r>
          </a:p>
        </p:txBody>
      </p:sp>
      <p:sp>
        <p:nvSpPr>
          <p:cNvPr id="13" name="Rectangle 12"/>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cxnSp>
        <p:nvCxnSpPr>
          <p:cNvPr id="14" name="Straight Connector 13"/>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userDrawn="1"/>
        </p:nvCxnSpPr>
        <p:spPr>
          <a:xfrm>
            <a:off x="420752" y="845820"/>
            <a:ext cx="8302496" cy="0"/>
          </a:xfrm>
          <a:prstGeom prst="line">
            <a:avLst/>
          </a:prstGeom>
          <a:ln w="1905">
            <a:solidFill>
              <a:schemeClr val="accent6">
                <a:lumMod val="50000"/>
              </a:schemeClr>
            </a:solidFill>
            <a:prstDash val="solid"/>
          </a:ln>
          <a:effectLst/>
        </p:spPr>
        <p:style>
          <a:lnRef idx="3">
            <a:schemeClr val="accent6"/>
          </a:lnRef>
          <a:fillRef idx="0">
            <a:schemeClr val="accent6"/>
          </a:fillRef>
          <a:effectRef idx="2">
            <a:schemeClr val="accent6"/>
          </a:effectRef>
          <a:fontRef idx="minor">
            <a:schemeClr val="tx1"/>
          </a:fontRef>
        </p:style>
      </p:cxnSp>
      <p:sp>
        <p:nvSpPr>
          <p:cNvPr id="10" name="Slide Number Placeholder 9"/>
          <p:cNvSpPr txBox="1">
            <a:spLocks/>
          </p:cNvSpPr>
          <p:nvPr userDrawn="1"/>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
        <p:nvSpPr>
          <p:cNvPr id="2" name="Rectangle 1">
            <a:extLst>
              <a:ext uri="{FF2B5EF4-FFF2-40B4-BE49-F238E27FC236}">
                <a16:creationId xmlns:a16="http://schemas.microsoft.com/office/drawing/2014/main" id="{C3C3C381-A40D-8C46-E61E-BFF1FE6905FC}"/>
              </a:ext>
            </a:extLst>
          </p:cNvPr>
          <p:cNvSpPr/>
          <p:nvPr userDrawn="1"/>
        </p:nvSpPr>
        <p:spPr>
          <a:xfrm>
            <a:off x="304800" y="609600"/>
            <a:ext cx="8534400" cy="533399"/>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4843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pic>
        <p:nvPicPr>
          <p:cNvPr id="13" name="Picture 1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0"/>
            <a:ext cx="3886200" cy="6858000"/>
          </a:xfrm>
          <a:prstGeom prst="rect">
            <a:avLst/>
          </a:prstGeom>
          <a:noFill/>
        </p:spPr>
      </p:pic>
      <p:sp>
        <p:nvSpPr>
          <p:cNvPr id="14" name="Content Placeholder 2"/>
          <p:cNvSpPr>
            <a:spLocks noGrp="1"/>
          </p:cNvSpPr>
          <p:nvPr>
            <p:ph idx="1"/>
          </p:nvPr>
        </p:nvSpPr>
        <p:spPr>
          <a:xfrm>
            <a:off x="4400508" y="685800"/>
            <a:ext cx="4230202" cy="5486400"/>
          </a:xfrm>
        </p:spPr>
        <p:txBody>
          <a:bodyPr>
            <a:normAutofit/>
          </a:bodyPr>
          <a:lstStyle>
            <a:lvl1pPr>
              <a:defRPr sz="1800">
                <a:latin typeface="Avenir Next LT Pro" panose="020B0504020202020204" pitchFamily="34" charset="0"/>
              </a:defRPr>
            </a:lvl1pPr>
            <a:lvl2pPr marL="377291" marR="0" indent="-171496" algn="l" defTabSz="685983" rtl="0" eaLnBrk="1" fontAlgn="auto" latinLnBrk="0" hangingPunct="1">
              <a:lnSpc>
                <a:spcPct val="90000"/>
              </a:lnSpc>
              <a:spcBef>
                <a:spcPts val="450"/>
              </a:spcBef>
              <a:spcAft>
                <a:spcPts val="0"/>
              </a:spcAft>
              <a:buClr>
                <a:schemeClr val="bg1">
                  <a:lumMod val="50000"/>
                </a:schemeClr>
              </a:buClr>
              <a:buSzPct val="105000"/>
              <a:buFont typeface="Cambria" panose="02040503050406030204" pitchFamily="18" charset="0"/>
              <a:buChar char="–"/>
              <a:tabLst/>
              <a:defRPr sz="1200">
                <a:latin typeface="Avenir Next LT Pro" panose="020B0504020202020204" pitchFamily="34" charset="0"/>
              </a:defRPr>
            </a:lvl2pPr>
            <a:lvl3pPr marL="548786"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3pPr>
            <a:lvl4pPr marL="720282"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4pPr>
            <a:lvl5pPr marL="891778"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5pPr>
            <a:lvl6pPr>
              <a:defRPr sz="1200"/>
            </a:lvl6pPr>
            <a:lvl7pPr>
              <a:defRPr sz="1200"/>
            </a:lvl7pPr>
            <a:lvl8pPr>
              <a:defRPr sz="1200"/>
            </a:lvl8pPr>
            <a:lvl9pPr>
              <a:defRPr sz="1200"/>
            </a:lvl9pPr>
          </a:lstStyle>
          <a:p>
            <a:pPr marL="155335" marR="0" lvl="0"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Click to edit Master text styles</a:t>
            </a:r>
          </a:p>
          <a:p>
            <a:pPr marL="155335" marR="0" lvl="1"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Second level</a:t>
            </a:r>
          </a:p>
          <a:p>
            <a:pPr marL="155335" marR="0" lvl="2"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Third level</a:t>
            </a:r>
          </a:p>
          <a:p>
            <a:pPr marL="155335" marR="0" lvl="3"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Fourth level</a:t>
            </a:r>
          </a:p>
          <a:p>
            <a:pPr marL="155335" marR="0" lvl="4"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Fifth level</a:t>
            </a:r>
          </a:p>
        </p:txBody>
      </p:sp>
      <p:sp>
        <p:nvSpPr>
          <p:cNvPr id="15" name="Slide Number Placeholder 9"/>
          <p:cNvSpPr txBox="1">
            <a:spLocks/>
          </p:cNvSpPr>
          <p:nvPr/>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
        <p:nvSpPr>
          <p:cNvPr id="16"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bg1"/>
                </a:solidFill>
                <a:latin typeface="Avenir Next LT Pro" panose="020B0504020202020204" pitchFamily="34" charset="0"/>
              </a:rPr>
              <a:t>Kildare Partners</a:t>
            </a:r>
          </a:p>
        </p:txBody>
      </p:sp>
      <p:cxnSp>
        <p:nvCxnSpPr>
          <p:cNvPr id="18" name="Straight Connector 17"/>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9" name="Title 1"/>
          <p:cNvSpPr>
            <a:spLocks noGrp="1"/>
          </p:cNvSpPr>
          <p:nvPr>
            <p:ph type="title"/>
          </p:nvPr>
        </p:nvSpPr>
        <p:spPr>
          <a:xfrm>
            <a:off x="513296" y="685800"/>
            <a:ext cx="2915409" cy="4038600"/>
          </a:xfrm>
        </p:spPr>
        <p:txBody>
          <a:bodyPr anchor="b">
            <a:noAutofit/>
          </a:bodyPr>
          <a:lstStyle>
            <a:lvl1pPr algn="l">
              <a:defRPr sz="2800" b="0">
                <a:solidFill>
                  <a:srgbClr val="AF8C49"/>
                </a:solidFill>
                <a:latin typeface="Avenir Next LT Pro Demi" panose="020B0704020202020204" pitchFamily="34" charset="0"/>
              </a:defRPr>
            </a:lvl1pPr>
          </a:lstStyle>
          <a:p>
            <a:r>
              <a:rPr lang="en-US"/>
              <a:t>Click to edit Master title style</a:t>
            </a:r>
            <a:endParaRPr/>
          </a:p>
        </p:txBody>
      </p:sp>
      <p:sp>
        <p:nvSpPr>
          <p:cNvPr id="20" name="Text Placeholder 3"/>
          <p:cNvSpPr>
            <a:spLocks noGrp="1"/>
          </p:cNvSpPr>
          <p:nvPr>
            <p:ph type="body" sz="half" idx="2"/>
          </p:nvPr>
        </p:nvSpPr>
        <p:spPr>
          <a:xfrm>
            <a:off x="513296" y="4876800"/>
            <a:ext cx="2915409" cy="1295400"/>
          </a:xfrm>
        </p:spPr>
        <p:txBody>
          <a:bodyPr>
            <a:normAutofit/>
          </a:bodyPr>
          <a:lstStyle>
            <a:lvl1pPr marL="0" indent="0">
              <a:spcBef>
                <a:spcPts val="0"/>
              </a:spcBef>
              <a:buNone/>
              <a:defRPr sz="1400">
                <a:solidFill>
                  <a:schemeClr val="bg1"/>
                </a:solidFill>
                <a:latin typeface="Avenir Next LT Pro" panose="020B0504020202020204" pitchFamily="34" charset="0"/>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Click to edit Master text styles</a:t>
            </a:r>
          </a:p>
        </p:txBody>
      </p:sp>
      <p:pic>
        <p:nvPicPr>
          <p:cNvPr id="21" name="Picture 20"/>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28600" y="201689"/>
            <a:ext cx="1371600" cy="636511"/>
          </a:xfrm>
          <a:prstGeom prst="rect">
            <a:avLst/>
          </a:prstGeom>
        </p:spPr>
      </p:pic>
    </p:spTree>
    <p:extLst>
      <p:ext uri="{BB962C8B-B14F-4D97-AF65-F5344CB8AC3E}">
        <p14:creationId xmlns:p14="http://schemas.microsoft.com/office/powerpoint/2010/main" val="153696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pic>
        <p:nvPicPr>
          <p:cNvPr id="12" name="Picture 11"/>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0"/>
            <a:ext cx="3886200" cy="6858000"/>
          </a:xfrm>
          <a:prstGeom prst="rect">
            <a:avLst/>
          </a:prstGeom>
        </p:spPr>
      </p:pic>
      <p:sp>
        <p:nvSpPr>
          <p:cNvPr id="13" name="Picture Placeholder 2"/>
          <p:cNvSpPr>
            <a:spLocks noGrp="1"/>
          </p:cNvSpPr>
          <p:nvPr>
            <p:ph type="pic" idx="1"/>
          </p:nvPr>
        </p:nvSpPr>
        <p:spPr>
          <a:xfrm>
            <a:off x="4400508" y="685800"/>
            <a:ext cx="4230202"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1800">
                <a:latin typeface="Avenir Next LT Pro" panose="020B0504020202020204" pitchFamily="34" charset="0"/>
              </a:defRPr>
            </a:lvl1pPr>
            <a:lvl2pPr marL="342991" indent="0">
              <a:buNone/>
              <a:defRPr sz="2101"/>
            </a:lvl2pPr>
            <a:lvl3pPr marL="685983" indent="0">
              <a:buNone/>
              <a:defRPr sz="1800"/>
            </a:lvl3pPr>
            <a:lvl4pPr marL="1028974" indent="0">
              <a:buNone/>
              <a:defRPr sz="1500"/>
            </a:lvl4pPr>
            <a:lvl5pPr marL="1371966" indent="0">
              <a:buNone/>
              <a:defRPr sz="1500"/>
            </a:lvl5pPr>
            <a:lvl6pPr marL="1714957" indent="0">
              <a:buNone/>
              <a:defRPr sz="1500"/>
            </a:lvl6pPr>
            <a:lvl7pPr marL="2057949" indent="0">
              <a:buNone/>
              <a:defRPr sz="1500"/>
            </a:lvl7pPr>
            <a:lvl8pPr marL="2400940" indent="0">
              <a:buNone/>
              <a:defRPr sz="1500"/>
            </a:lvl8pPr>
            <a:lvl9pPr marL="2743932" indent="0">
              <a:buNone/>
              <a:defRPr sz="1500"/>
            </a:lvl9pPr>
          </a:lstStyle>
          <a:p>
            <a:r>
              <a:rPr lang="en-US"/>
              <a:t>Click icon to add picture</a:t>
            </a:r>
            <a:endParaRPr/>
          </a:p>
        </p:txBody>
      </p:sp>
      <p:sp>
        <p:nvSpPr>
          <p:cNvPr id="14"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bg1"/>
                </a:solidFill>
                <a:latin typeface="Avenir Next LT Pro" panose="020B0504020202020204" pitchFamily="34" charset="0"/>
              </a:rPr>
              <a:t>Kildare Partners</a:t>
            </a:r>
          </a:p>
        </p:txBody>
      </p:sp>
      <p:sp>
        <p:nvSpPr>
          <p:cNvPr id="16" name="Slide Number Placeholder 9"/>
          <p:cNvSpPr txBox="1">
            <a:spLocks/>
          </p:cNvSpPr>
          <p:nvPr/>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cxnSp>
        <p:nvCxnSpPr>
          <p:cNvPr id="18" name="Straight Connector 17"/>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9" name="Title 1"/>
          <p:cNvSpPr>
            <a:spLocks noGrp="1"/>
          </p:cNvSpPr>
          <p:nvPr>
            <p:ph type="title"/>
          </p:nvPr>
        </p:nvSpPr>
        <p:spPr>
          <a:xfrm>
            <a:off x="513296" y="685800"/>
            <a:ext cx="2915409" cy="4038600"/>
          </a:xfrm>
        </p:spPr>
        <p:txBody>
          <a:bodyPr anchor="b">
            <a:noAutofit/>
          </a:bodyPr>
          <a:lstStyle>
            <a:lvl1pPr algn="l">
              <a:defRPr sz="2800" b="0">
                <a:solidFill>
                  <a:srgbClr val="AF8C49"/>
                </a:solidFill>
                <a:latin typeface="Avenir Next LT Pro Demi" panose="020B0704020202020204" pitchFamily="34" charset="0"/>
              </a:defRPr>
            </a:lvl1pPr>
          </a:lstStyle>
          <a:p>
            <a:r>
              <a:rPr lang="en-US"/>
              <a:t>Click to edit Master title style</a:t>
            </a:r>
            <a:endParaRPr/>
          </a:p>
        </p:txBody>
      </p:sp>
      <p:sp>
        <p:nvSpPr>
          <p:cNvPr id="20" name="Text Placeholder 3"/>
          <p:cNvSpPr>
            <a:spLocks noGrp="1"/>
          </p:cNvSpPr>
          <p:nvPr>
            <p:ph type="body" sz="half" idx="2"/>
          </p:nvPr>
        </p:nvSpPr>
        <p:spPr>
          <a:xfrm>
            <a:off x="513296" y="4876800"/>
            <a:ext cx="2915409" cy="1295400"/>
          </a:xfrm>
        </p:spPr>
        <p:txBody>
          <a:bodyPr>
            <a:normAutofit/>
          </a:bodyPr>
          <a:lstStyle>
            <a:lvl1pPr marL="0" indent="0">
              <a:spcBef>
                <a:spcPts val="0"/>
              </a:spcBef>
              <a:buNone/>
              <a:defRPr sz="1400">
                <a:solidFill>
                  <a:schemeClr val="bg1"/>
                </a:solidFill>
                <a:latin typeface="Avenir Next LT Pro" panose="020B0504020202020204" pitchFamily="34" charset="0"/>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Click to edit Master text styles</a:t>
            </a:r>
          </a:p>
        </p:txBody>
      </p:sp>
      <p:pic>
        <p:nvPicPr>
          <p:cNvPr id="21" name="Picture 20"/>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28600" y="201689"/>
            <a:ext cx="1371600" cy="636511"/>
          </a:xfrm>
          <a:prstGeom prst="rect">
            <a:avLst/>
          </a:prstGeom>
        </p:spPr>
      </p:pic>
    </p:spTree>
    <p:extLst>
      <p:ext uri="{BB962C8B-B14F-4D97-AF65-F5344CB8AC3E}">
        <p14:creationId xmlns:p14="http://schemas.microsoft.com/office/powerpoint/2010/main" val="340700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lumMod val="100000"/>
              </a:schemeClr>
            </a:gs>
            <a:gs pos="100000">
              <a:schemeClr val="bg1">
                <a:lumMod val="85000"/>
              </a:schemeClr>
            </a:gs>
          </a:gsLst>
          <a:path path="circle">
            <a:fillToRect l="100000" b="10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451" y="274638"/>
            <a:ext cx="7317105"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913451" y="1828800"/>
            <a:ext cx="7317105"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115455" y="6448427"/>
            <a:ext cx="894946" cy="180974"/>
          </a:xfrm>
          <a:prstGeom prst="rect">
            <a:avLst/>
          </a:prstGeom>
        </p:spPr>
        <p:txBody>
          <a:bodyPr vert="horz" lIns="91440" tIns="45720" rIns="91440" bIns="45720" rtlCol="0" anchor="ctr"/>
          <a:lstStyle>
            <a:lvl1pPr algn="r">
              <a:defRPr sz="750">
                <a:solidFill>
                  <a:schemeClr val="tx1"/>
                </a:solidFill>
                <a:latin typeface="Avenir Next LT Pro" panose="020B0504020202020204" pitchFamily="34" charset="0"/>
              </a:defRPr>
            </a:lvl1pPr>
          </a:lstStyle>
          <a:p>
            <a:endParaRPr lang="en-US"/>
          </a:p>
        </p:txBody>
      </p:sp>
      <p:sp>
        <p:nvSpPr>
          <p:cNvPr id="5" name="Footer Placeholder 4"/>
          <p:cNvSpPr>
            <a:spLocks noGrp="1"/>
          </p:cNvSpPr>
          <p:nvPr>
            <p:ph type="ftr" sz="quarter" idx="3"/>
          </p:nvPr>
        </p:nvSpPr>
        <p:spPr>
          <a:xfrm>
            <a:off x="906865" y="6448427"/>
            <a:ext cx="4979929" cy="180974"/>
          </a:xfrm>
          <a:prstGeom prst="rect">
            <a:avLst/>
          </a:prstGeom>
        </p:spPr>
        <p:txBody>
          <a:bodyPr vert="horz" lIns="91440" tIns="45720" rIns="91440" bIns="45720" rtlCol="0" anchor="ctr"/>
          <a:lstStyle>
            <a:lvl1pPr algn="l">
              <a:defRPr sz="750" cap="all" baseline="0">
                <a:solidFill>
                  <a:schemeClr val="tx1"/>
                </a:solidFill>
                <a:latin typeface="Avenir Next LT Pro" panose="020B0504020202020204" pitchFamily="34" charset="0"/>
              </a:defRPr>
            </a:lvl1pPr>
          </a:lstStyle>
          <a:p>
            <a:r>
              <a:rPr lang="en-US"/>
              <a:t>KILDARE PARTNERS</a:t>
            </a:r>
          </a:p>
        </p:txBody>
      </p:sp>
      <p:sp>
        <p:nvSpPr>
          <p:cNvPr id="6" name="Slide Number Placeholder 5"/>
          <p:cNvSpPr>
            <a:spLocks noGrp="1"/>
          </p:cNvSpPr>
          <p:nvPr>
            <p:ph type="sldNum" sz="quarter" idx="4"/>
          </p:nvPr>
        </p:nvSpPr>
        <p:spPr>
          <a:xfrm>
            <a:off x="7239000" y="6448427"/>
            <a:ext cx="991554" cy="180974"/>
          </a:xfrm>
          <a:prstGeom prst="rect">
            <a:avLst/>
          </a:prstGeom>
        </p:spPr>
        <p:txBody>
          <a:bodyPr vert="horz" lIns="91440" tIns="45720" rIns="91440" bIns="45720" rtlCol="0" anchor="ctr"/>
          <a:lstStyle>
            <a:lvl1pPr algn="r">
              <a:defRPr sz="750">
                <a:solidFill>
                  <a:schemeClr val="tx1"/>
                </a:solidFill>
                <a:latin typeface="Avenir Next LT Pro" panose="020B0504020202020204" pitchFamily="34" charset="0"/>
              </a:defRPr>
            </a:lvl1pPr>
          </a:lstStyle>
          <a:p>
            <a:r>
              <a:rPr lang="en-US"/>
              <a:t>Confidential | </a:t>
            </a:r>
            <a:fld id="{F36C87F6-986D-49E6-AF40-1B3A1EE8064D}" type="slidenum">
              <a:rPr lang="en-US" smtClean="0"/>
              <a:pPr/>
              <a:t>‹#›</a:t>
            </a:fld>
            <a:endParaRPr lang="en-US"/>
          </a:p>
        </p:txBody>
      </p:sp>
      <p:sp>
        <p:nvSpPr>
          <p:cNvPr id="7" name="TextBox 6"/>
          <p:cNvSpPr txBox="1"/>
          <p:nvPr userDrawn="1"/>
        </p:nvSpPr>
        <p:spPr>
          <a:xfrm>
            <a:off x="-888521" y="0"/>
            <a:ext cx="838200" cy="203133"/>
          </a:xfrm>
          <a:prstGeom prst="rect">
            <a:avLst/>
          </a:prstGeom>
          <a:solidFill>
            <a:srgbClr val="AF8C49"/>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AF8C49</a:t>
            </a:r>
          </a:p>
        </p:txBody>
      </p:sp>
      <p:sp>
        <p:nvSpPr>
          <p:cNvPr id="10" name="TextBox 9">
            <a:extLst>
              <a:ext uri="{FF2B5EF4-FFF2-40B4-BE49-F238E27FC236}">
                <a16:creationId xmlns:a16="http://schemas.microsoft.com/office/drawing/2014/main" id="{215E4D0A-4535-9DCC-30EC-115F63F87340}"/>
              </a:ext>
            </a:extLst>
          </p:cNvPr>
          <p:cNvSpPr txBox="1"/>
          <p:nvPr userDrawn="1"/>
        </p:nvSpPr>
        <p:spPr>
          <a:xfrm>
            <a:off x="-888521" y="253072"/>
            <a:ext cx="838200" cy="203133"/>
          </a:xfrm>
          <a:prstGeom prst="rect">
            <a:avLst/>
          </a:prstGeom>
          <a:solidFill>
            <a:srgbClr val="14425D"/>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14425D</a:t>
            </a:r>
          </a:p>
        </p:txBody>
      </p:sp>
      <p:sp>
        <p:nvSpPr>
          <p:cNvPr id="11" name="TextBox 10">
            <a:extLst>
              <a:ext uri="{FF2B5EF4-FFF2-40B4-BE49-F238E27FC236}">
                <a16:creationId xmlns:a16="http://schemas.microsoft.com/office/drawing/2014/main" id="{A0ADA7A3-4A4C-2191-5488-71A26B234E8D}"/>
              </a:ext>
            </a:extLst>
          </p:cNvPr>
          <p:cNvSpPr txBox="1"/>
          <p:nvPr userDrawn="1"/>
        </p:nvSpPr>
        <p:spPr>
          <a:xfrm>
            <a:off x="-888521" y="506144"/>
            <a:ext cx="838200" cy="203133"/>
          </a:xfrm>
          <a:prstGeom prst="rect">
            <a:avLst/>
          </a:prstGeom>
          <a:solidFill>
            <a:srgbClr val="280003"/>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280003</a:t>
            </a:r>
          </a:p>
        </p:txBody>
      </p:sp>
      <p:sp>
        <p:nvSpPr>
          <p:cNvPr id="12" name="TextBox 11">
            <a:extLst>
              <a:ext uri="{FF2B5EF4-FFF2-40B4-BE49-F238E27FC236}">
                <a16:creationId xmlns:a16="http://schemas.microsoft.com/office/drawing/2014/main" id="{F704D1EF-97DC-7BC5-3A14-30C0D04058D6}"/>
              </a:ext>
            </a:extLst>
          </p:cNvPr>
          <p:cNvSpPr txBox="1"/>
          <p:nvPr userDrawn="1"/>
        </p:nvSpPr>
        <p:spPr>
          <a:xfrm>
            <a:off x="-888521" y="757886"/>
            <a:ext cx="838200" cy="203133"/>
          </a:xfrm>
          <a:prstGeom prst="rect">
            <a:avLst/>
          </a:prstGeom>
          <a:solidFill>
            <a:srgbClr val="4F505D"/>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4F505D</a:t>
            </a:r>
          </a:p>
        </p:txBody>
      </p:sp>
      <p:sp>
        <p:nvSpPr>
          <p:cNvPr id="13" name="TextBox 12">
            <a:extLst>
              <a:ext uri="{FF2B5EF4-FFF2-40B4-BE49-F238E27FC236}">
                <a16:creationId xmlns:a16="http://schemas.microsoft.com/office/drawing/2014/main" id="{3405E372-FAEB-E166-F39E-B06223EE3FFD}"/>
              </a:ext>
            </a:extLst>
          </p:cNvPr>
          <p:cNvSpPr txBox="1"/>
          <p:nvPr userDrawn="1"/>
        </p:nvSpPr>
        <p:spPr>
          <a:xfrm>
            <a:off x="-888521" y="1009628"/>
            <a:ext cx="838200" cy="203133"/>
          </a:xfrm>
          <a:prstGeom prst="rect">
            <a:avLst/>
          </a:prstGeom>
          <a:solidFill>
            <a:srgbClr val="769FB6"/>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769FB6</a:t>
            </a:r>
          </a:p>
        </p:txBody>
      </p:sp>
      <p:sp>
        <p:nvSpPr>
          <p:cNvPr id="14" name="TextBox 13">
            <a:extLst>
              <a:ext uri="{FF2B5EF4-FFF2-40B4-BE49-F238E27FC236}">
                <a16:creationId xmlns:a16="http://schemas.microsoft.com/office/drawing/2014/main" id="{1E4BBA53-6D09-8782-B5B9-E9A5BECF8AD0}"/>
              </a:ext>
            </a:extLst>
          </p:cNvPr>
          <p:cNvSpPr txBox="1"/>
          <p:nvPr userDrawn="1"/>
        </p:nvSpPr>
        <p:spPr>
          <a:xfrm>
            <a:off x="-888521" y="1261370"/>
            <a:ext cx="838200" cy="203133"/>
          </a:xfrm>
          <a:prstGeom prst="rect">
            <a:avLst/>
          </a:prstGeom>
          <a:solidFill>
            <a:srgbClr val="FFCFD2"/>
          </a:solidFill>
          <a:ln w="6350">
            <a:solidFill>
              <a:schemeClr val="tx1"/>
            </a:solidFill>
          </a:ln>
        </p:spPr>
        <p:txBody>
          <a:bodyPr wrap="square" rtlCol="0">
            <a:spAutoFit/>
          </a:bodyPr>
          <a:lstStyle/>
          <a:p>
            <a:pPr algn="ctr">
              <a:lnSpc>
                <a:spcPct val="90000"/>
              </a:lnSpc>
            </a:pPr>
            <a:r>
              <a:rPr lang="en-GB" sz="800">
                <a:solidFill>
                  <a:schemeClr val="tx1"/>
                </a:solidFill>
                <a:latin typeface="Avenir Next LT Pro" panose="020B0504020202020204" pitchFamily="34" charset="0"/>
              </a:rPr>
              <a:t>FFCFD2</a:t>
            </a:r>
          </a:p>
        </p:txBody>
      </p:sp>
      <p:sp>
        <p:nvSpPr>
          <p:cNvPr id="15" name="TextBox 14">
            <a:extLst>
              <a:ext uri="{FF2B5EF4-FFF2-40B4-BE49-F238E27FC236}">
                <a16:creationId xmlns:a16="http://schemas.microsoft.com/office/drawing/2014/main" id="{01F61B67-6E0E-07C7-E37E-D7FC9728B8B6}"/>
              </a:ext>
            </a:extLst>
          </p:cNvPr>
          <p:cNvSpPr txBox="1"/>
          <p:nvPr userDrawn="1"/>
        </p:nvSpPr>
        <p:spPr>
          <a:xfrm>
            <a:off x="-888521" y="1513112"/>
            <a:ext cx="838200" cy="203133"/>
          </a:xfrm>
          <a:prstGeom prst="rect">
            <a:avLst/>
          </a:prstGeom>
          <a:solidFill>
            <a:srgbClr val="EC9A07"/>
          </a:solidFill>
          <a:ln w="6350">
            <a:solidFill>
              <a:schemeClr val="tx1"/>
            </a:solidFill>
          </a:ln>
        </p:spPr>
        <p:txBody>
          <a:bodyPr wrap="square" rtlCol="0">
            <a:spAutoFit/>
          </a:bodyPr>
          <a:lstStyle/>
          <a:p>
            <a:pPr algn="ctr">
              <a:lnSpc>
                <a:spcPct val="90000"/>
              </a:lnSpc>
            </a:pPr>
            <a:r>
              <a:rPr lang="en-GB" sz="800">
                <a:solidFill>
                  <a:schemeClr val="tx1"/>
                </a:solidFill>
                <a:latin typeface="Avenir Next LT Pro" panose="020B0504020202020204" pitchFamily="34" charset="0"/>
              </a:rPr>
              <a:t>EC9A07</a:t>
            </a:r>
          </a:p>
        </p:txBody>
      </p:sp>
      <p:sp>
        <p:nvSpPr>
          <p:cNvPr id="16" name="TextBox 15">
            <a:extLst>
              <a:ext uri="{FF2B5EF4-FFF2-40B4-BE49-F238E27FC236}">
                <a16:creationId xmlns:a16="http://schemas.microsoft.com/office/drawing/2014/main" id="{EA51C9DA-77AA-6EB7-9BE0-9B4FF8AC0A98}"/>
              </a:ext>
            </a:extLst>
          </p:cNvPr>
          <p:cNvSpPr txBox="1"/>
          <p:nvPr userDrawn="1"/>
        </p:nvSpPr>
        <p:spPr>
          <a:xfrm>
            <a:off x="-888521" y="1764854"/>
            <a:ext cx="838200" cy="203133"/>
          </a:xfrm>
          <a:prstGeom prst="rect">
            <a:avLst/>
          </a:prstGeom>
          <a:solidFill>
            <a:srgbClr val="00B050"/>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00B050</a:t>
            </a:r>
          </a:p>
        </p:txBody>
      </p:sp>
    </p:spTree>
    <p:extLst>
      <p:ext uri="{BB962C8B-B14F-4D97-AF65-F5344CB8AC3E}">
        <p14:creationId xmlns:p14="http://schemas.microsoft.com/office/powerpoint/2010/main" val="1489234859"/>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9" r:id="rId4"/>
    <p:sldLayoutId id="2147483670"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983" rtl="0" eaLnBrk="1" latinLnBrk="0" hangingPunct="1">
        <a:lnSpc>
          <a:spcPct val="90000"/>
        </a:lnSpc>
        <a:spcBef>
          <a:spcPct val="0"/>
        </a:spcBef>
        <a:buNone/>
        <a:defRPr sz="3001" kern="1200" cap="all" baseline="0">
          <a:solidFill>
            <a:schemeClr val="tx1">
              <a:lumMod val="50000"/>
            </a:schemeClr>
          </a:solidFill>
          <a:latin typeface="Avenir Next LT Pro" panose="020B0504020202020204" pitchFamily="34" charset="0"/>
          <a:ea typeface="+mj-ea"/>
          <a:cs typeface="+mj-cs"/>
        </a:defRPr>
      </a:lvl1pPr>
    </p:titleStyle>
    <p:bodyStyle>
      <a:lvl1pPr marL="205795" indent="-171496" algn="l" defTabSz="685983" rtl="0" eaLnBrk="1" latinLnBrk="0" hangingPunct="1">
        <a:lnSpc>
          <a:spcPct val="90000"/>
        </a:lnSpc>
        <a:spcBef>
          <a:spcPts val="1350"/>
        </a:spcBef>
        <a:buClr>
          <a:schemeClr val="tx1"/>
        </a:buClr>
        <a:buSzPct val="80000"/>
        <a:buFont typeface="Arial" pitchFamily="34" charset="0"/>
        <a:buChar char="•"/>
        <a:defRPr sz="1800" kern="1200">
          <a:solidFill>
            <a:schemeClr val="tx1"/>
          </a:solidFill>
          <a:latin typeface="Avenir Next LT Pro" panose="020B0504020202020204" pitchFamily="34" charset="0"/>
          <a:ea typeface="+mn-ea"/>
          <a:cs typeface="+mn-cs"/>
        </a:defRPr>
      </a:lvl1pPr>
      <a:lvl2pPr marL="377291" indent="-171496" algn="l" defTabSz="685983" rtl="0" eaLnBrk="1" latinLnBrk="0" hangingPunct="1">
        <a:lnSpc>
          <a:spcPct val="90000"/>
        </a:lnSpc>
        <a:spcBef>
          <a:spcPts val="450"/>
        </a:spcBef>
        <a:buClr>
          <a:schemeClr val="tx1"/>
        </a:buClr>
        <a:buSzPct val="80000"/>
        <a:buFont typeface="Arial" pitchFamily="34" charset="0"/>
        <a:buChar char="•"/>
        <a:defRPr sz="1500" kern="1200">
          <a:solidFill>
            <a:schemeClr val="tx1"/>
          </a:solidFill>
          <a:latin typeface="Avenir Next LT Pro" panose="020B0504020202020204" pitchFamily="34" charset="0"/>
          <a:ea typeface="+mn-ea"/>
          <a:cs typeface="+mn-cs"/>
        </a:defRPr>
      </a:lvl2pPr>
      <a:lvl3pPr marL="548786" indent="-171496" algn="l" defTabSz="685983" rtl="0" eaLnBrk="1" latinLnBrk="0" hangingPunct="1">
        <a:lnSpc>
          <a:spcPct val="90000"/>
        </a:lnSpc>
        <a:spcBef>
          <a:spcPts val="450"/>
        </a:spcBef>
        <a:buClr>
          <a:schemeClr val="tx1"/>
        </a:buClr>
        <a:buSzPct val="80000"/>
        <a:buFont typeface="Arial" pitchFamily="34" charset="0"/>
        <a:buChar char="•"/>
        <a:defRPr sz="1350" kern="1200">
          <a:solidFill>
            <a:schemeClr val="tx1"/>
          </a:solidFill>
          <a:latin typeface="Avenir Next LT Pro" panose="020B0504020202020204" pitchFamily="34" charset="0"/>
          <a:ea typeface="+mn-ea"/>
          <a:cs typeface="+mn-cs"/>
        </a:defRPr>
      </a:lvl3pPr>
      <a:lvl4pPr marL="720282" indent="-171496" algn="l" defTabSz="685983" rtl="0" eaLnBrk="1" latinLnBrk="0" hangingPunct="1">
        <a:lnSpc>
          <a:spcPct val="90000"/>
        </a:lnSpc>
        <a:spcBef>
          <a:spcPts val="450"/>
        </a:spcBef>
        <a:buClr>
          <a:schemeClr val="tx1"/>
        </a:buClr>
        <a:buSzPct val="80000"/>
        <a:buFont typeface="Arial" pitchFamily="34" charset="0"/>
        <a:buChar char="•"/>
        <a:defRPr sz="1200" kern="1200">
          <a:solidFill>
            <a:schemeClr val="tx1"/>
          </a:solidFill>
          <a:latin typeface="Avenir Next LT Pro" panose="020B0504020202020204" pitchFamily="34" charset="0"/>
          <a:ea typeface="+mn-ea"/>
          <a:cs typeface="+mn-cs"/>
        </a:defRPr>
      </a:lvl4pPr>
      <a:lvl5pPr marL="891778" indent="-171496" algn="l" defTabSz="685983" rtl="0" eaLnBrk="1" latinLnBrk="0" hangingPunct="1">
        <a:lnSpc>
          <a:spcPct val="90000"/>
        </a:lnSpc>
        <a:spcBef>
          <a:spcPts val="450"/>
        </a:spcBef>
        <a:buClr>
          <a:schemeClr val="tx1"/>
        </a:buClr>
        <a:buSzPct val="80000"/>
        <a:buFont typeface="Arial" pitchFamily="34" charset="0"/>
        <a:buChar char="•"/>
        <a:defRPr sz="1200" kern="1200">
          <a:solidFill>
            <a:schemeClr val="tx1"/>
          </a:solidFill>
          <a:latin typeface="Avenir Next LT Pro" panose="020B0504020202020204" pitchFamily="34" charset="0"/>
          <a:ea typeface="+mn-ea"/>
          <a:cs typeface="+mn-cs"/>
        </a:defRPr>
      </a:lvl5pPr>
      <a:lvl6pPr marL="1063273"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6pPr>
      <a:lvl7pPr marL="1234769"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7pPr>
      <a:lvl8pPr marL="1406265"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8pPr>
      <a:lvl9pPr marL="1577761" indent="-171496" algn="l" defTabSz="685983" rtl="0" eaLnBrk="1" latinLnBrk="0" hangingPunct="1">
        <a:spcBef>
          <a:spcPts val="450"/>
        </a:spcBef>
        <a:buSzPct val="80000"/>
        <a:buFont typeface="Arial" pitchFamily="34" charset="0"/>
        <a:buChar char="•"/>
        <a:defRPr sz="1200" kern="1200" baseline="0">
          <a:solidFill>
            <a:schemeClr val="tx1"/>
          </a:solidFill>
          <a:latin typeface="+mn-lt"/>
          <a:ea typeface="+mn-ea"/>
          <a:cs typeface="+mn-cs"/>
        </a:defRPr>
      </a:lvl9pPr>
    </p:bodyStyle>
    <p:otherStyle>
      <a:defPPr>
        <a:defRPr/>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4A37A1-7D8A-6F00-8812-7226595E3D4B}"/>
              </a:ext>
            </a:extLst>
          </p:cNvPr>
          <p:cNvSpPr/>
          <p:nvPr/>
        </p:nvSpPr>
        <p:spPr>
          <a:xfrm>
            <a:off x="147856" y="5619750"/>
            <a:ext cx="8839200" cy="1043876"/>
          </a:xfrm>
          <a:prstGeom prst="rect">
            <a:avLst/>
          </a:prstGeom>
        </p:spPr>
        <p:txBody>
          <a:bodyPr wrap="square">
            <a:spAutoFit/>
          </a:bodyPr>
          <a:lstStyle/>
          <a:p>
            <a:pPr algn="just" eaLnBrk="0" hangingPunct="0">
              <a:spcAft>
                <a:spcPts val="400"/>
              </a:spcAft>
            </a:pPr>
            <a:r>
              <a:rPr lang="en-US" sz="650" i="1">
                <a:latin typeface="Avenir Next LT Pro" panose="020B0504020202020204" pitchFamily="34" charset="0"/>
              </a:rPr>
              <a:t>The contents of this presentation are confidential and for discussion purposes only. The delivery of this presentation and its contents do not constitute an offer of securities in any existing or to-be-formed issuer or a solicitation of an offer to purchase any such securities by any person.  Offers of securities will only be made by delivery of a Confidential Private Placement Memorandum.  </a:t>
            </a:r>
          </a:p>
          <a:p>
            <a:pPr algn="just" eaLnBrk="0" hangingPunct="0"/>
            <a:r>
              <a:rPr lang="en-US" sz="650" i="1">
                <a:latin typeface="Avenir Next LT Pro" panose="020B0504020202020204" pitchFamily="34" charset="0"/>
              </a:rPr>
              <a:t>The materials herein are confidential and proprietary.  Accordingly, this presentation is to be treated as strictly confidential and not disclosed, directly or indirectly, to any party other than the person to whom it has been delivered and such person’s professional advisors.  Any distribution of this presentation, in whole or in part, or the divulgence of any of its contents, is unauthorized. Past performance is not an indication of future results, and no representation or warranty is made as to the returns which may be experienced by an investor.</a:t>
            </a:r>
          </a:p>
          <a:p>
            <a:pPr algn="just" eaLnBrk="0" hangingPunct="0"/>
            <a:endParaRPr lang="en-US" sz="650" i="1">
              <a:latin typeface="Avenir Next LT Pro" panose="020B0504020202020204" pitchFamily="34" charset="0"/>
            </a:endParaRPr>
          </a:p>
          <a:p>
            <a:pPr algn="just" eaLnBrk="0" hangingPunct="0"/>
            <a:r>
              <a:rPr lang="en-US" sz="650" i="1">
                <a:latin typeface="Avenir Next LT Pro" panose="020B0504020202020204" pitchFamily="34" charset="0"/>
              </a:rPr>
              <a:t>The information in this presentation contains forward-looking statements regarding future events, targets or expectations. The commercial real estate market is volatile and unpredictable. There are no guarantees that the historical performance of an investment, Portfolio, or asset class will have a direct correlation with its future performance. The information in this presentation is based on current market conditions, which will fluctuate and may be superseded by subsequent market events or for other reasons.</a:t>
            </a:r>
          </a:p>
        </p:txBody>
      </p:sp>
      <p:sp>
        <p:nvSpPr>
          <p:cNvPr id="5" name="Subtitle 4"/>
          <p:cNvSpPr>
            <a:spLocks noGrp="1"/>
          </p:cNvSpPr>
          <p:nvPr>
            <p:ph type="subTitle" idx="1"/>
          </p:nvPr>
        </p:nvSpPr>
        <p:spPr>
          <a:xfrm>
            <a:off x="158338" y="4735007"/>
            <a:ext cx="8839200" cy="533400"/>
          </a:xfrm>
        </p:spPr>
        <p:txBody>
          <a:bodyPr>
            <a:normAutofit/>
          </a:bodyPr>
          <a:lstStyle/>
          <a:p>
            <a:endParaRPr lang="en-US" sz="1600">
              <a:latin typeface="Avenir Next LT Pro" panose="020B0504020202020204" pitchFamily="34" charset="0"/>
            </a:endParaRPr>
          </a:p>
        </p:txBody>
      </p:sp>
      <p:sp>
        <p:nvSpPr>
          <p:cNvPr id="3" name="TextBox 2">
            <a:extLst>
              <a:ext uri="{FF2B5EF4-FFF2-40B4-BE49-F238E27FC236}">
                <a16:creationId xmlns:a16="http://schemas.microsoft.com/office/drawing/2014/main" id="{59638BFF-4FC7-3F12-DDB4-5547AEC40B4E}"/>
              </a:ext>
            </a:extLst>
          </p:cNvPr>
          <p:cNvSpPr txBox="1"/>
          <p:nvPr/>
        </p:nvSpPr>
        <p:spPr>
          <a:xfrm>
            <a:off x="153794" y="3949859"/>
            <a:ext cx="8848288" cy="609600"/>
          </a:xfrm>
          <a:prstGeom prst="rect">
            <a:avLst/>
          </a:prstGeom>
          <a:noFill/>
          <a:ln w="6350">
            <a:noFill/>
          </a:ln>
          <a:effectLst/>
        </p:spPr>
        <p:txBody>
          <a:bodyPr vert="horz" wrap="square" lIns="73152" tIns="42203" rIns="73152" bIns="42203" rtlCol="0" anchor="ctr" anchorCtr="0">
            <a:noAutofit/>
          </a:bodyPr>
          <a:lstStyle/>
          <a:p>
            <a:pPr algn="ctr"/>
            <a:r>
              <a:rPr lang="en-US" sz="2400" dirty="0">
                <a:latin typeface="Avenir Next LT Pro Demi" panose="020B0704020202020204" pitchFamily="34" charset="0"/>
              </a:rPr>
              <a:t>Restoration Hardware </a:t>
            </a:r>
            <a:r>
              <a:rPr lang="en-US" sz="2400">
                <a:latin typeface="Avenir Next LT Pro Demi" panose="020B0704020202020204" pitchFamily="34" charset="0"/>
              </a:rPr>
              <a:t>(RH) Stock </a:t>
            </a:r>
            <a:r>
              <a:rPr lang="en-US" sz="2400" dirty="0">
                <a:latin typeface="Avenir Next LT Pro Demi" panose="020B0704020202020204" pitchFamily="34" charset="0"/>
              </a:rPr>
              <a:t>Pitch</a:t>
            </a:r>
          </a:p>
        </p:txBody>
      </p:sp>
      <p:pic>
        <p:nvPicPr>
          <p:cNvPr id="4" name="Picture 3">
            <a:extLst>
              <a:ext uri="{FF2B5EF4-FFF2-40B4-BE49-F238E27FC236}">
                <a16:creationId xmlns:a16="http://schemas.microsoft.com/office/drawing/2014/main" id="{18A7F065-9AC5-5E17-3645-8A09D7A7AB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45920" y="911357"/>
            <a:ext cx="5852160" cy="1539915"/>
          </a:xfrm>
          <a:prstGeom prst="rect">
            <a:avLst/>
          </a:prstGeom>
        </p:spPr>
      </p:pic>
    </p:spTree>
    <p:extLst>
      <p:ext uri="{BB962C8B-B14F-4D97-AF65-F5344CB8AC3E}">
        <p14:creationId xmlns:p14="http://schemas.microsoft.com/office/powerpoint/2010/main" val="262760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4A3F6-56BE-9745-691F-5DDCD589A1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4B421E-9E49-3211-883A-EDF9D07FE1F5}"/>
              </a:ext>
            </a:extLst>
          </p:cNvPr>
          <p:cNvSpPr>
            <a:spLocks noGrp="1"/>
          </p:cNvSpPr>
          <p:nvPr>
            <p:ph type="title"/>
          </p:nvPr>
        </p:nvSpPr>
        <p:spPr/>
        <p:txBody>
          <a:bodyPr/>
          <a:lstStyle/>
          <a:p>
            <a:r>
              <a:rPr lang="en-US"/>
              <a:t>Table of Contents</a:t>
            </a:r>
          </a:p>
        </p:txBody>
      </p:sp>
      <p:graphicFrame>
        <p:nvGraphicFramePr>
          <p:cNvPr id="2" name="Table 1">
            <a:extLst>
              <a:ext uri="{FF2B5EF4-FFF2-40B4-BE49-F238E27FC236}">
                <a16:creationId xmlns:a16="http://schemas.microsoft.com/office/drawing/2014/main" id="{B661FD0E-1B52-5132-0BF5-35BE33B1205E}"/>
              </a:ext>
            </a:extLst>
          </p:cNvPr>
          <p:cNvGraphicFramePr>
            <a:graphicFrameLocks noGrp="1"/>
          </p:cNvGraphicFramePr>
          <p:nvPr>
            <p:extLst>
              <p:ext uri="{D42A27DB-BD31-4B8C-83A1-F6EECF244321}">
                <p14:modId xmlns:p14="http://schemas.microsoft.com/office/powerpoint/2010/main" val="4186093786"/>
              </p:ext>
            </p:extLst>
          </p:nvPr>
        </p:nvGraphicFramePr>
        <p:xfrm>
          <a:off x="361461" y="1270173"/>
          <a:ext cx="5164015" cy="3942688"/>
        </p:xfrm>
        <a:graphic>
          <a:graphicData uri="http://schemas.openxmlformats.org/drawingml/2006/table">
            <a:tbl>
              <a:tblPr firstRow="1" bandRow="1">
                <a:tableStyleId>{5940675A-B579-460E-94D1-54222C63F5DA}</a:tableStyleId>
              </a:tblPr>
              <a:tblGrid>
                <a:gridCol w="4258048">
                  <a:extLst>
                    <a:ext uri="{9D8B030D-6E8A-4147-A177-3AD203B41FA5}">
                      <a16:colId xmlns:a16="http://schemas.microsoft.com/office/drawing/2014/main" val="3371369022"/>
                    </a:ext>
                  </a:extLst>
                </a:gridCol>
                <a:gridCol w="905967">
                  <a:extLst>
                    <a:ext uri="{9D8B030D-6E8A-4147-A177-3AD203B41FA5}">
                      <a16:colId xmlns:a16="http://schemas.microsoft.com/office/drawing/2014/main" val="3756833042"/>
                    </a:ext>
                  </a:extLst>
                </a:gridCol>
              </a:tblGrid>
              <a:tr h="829499">
                <a:tc>
                  <a:txBody>
                    <a:bodyPr/>
                    <a:lstStyle/>
                    <a:p>
                      <a:r>
                        <a:rPr lang="en-US" sz="1400" b="1">
                          <a:solidFill>
                            <a:schemeClr val="tx1"/>
                          </a:solidFill>
                        </a:rPr>
                        <a:t>Section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b="1">
                          <a:solidFill>
                            <a:schemeClr val="tx1"/>
                          </a:solidFill>
                        </a:rPr>
                        <a:t>Page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23660340"/>
                  </a:ext>
                </a:extLst>
              </a:tr>
              <a:tr h="829499">
                <a:tc>
                  <a:txBody>
                    <a:bodyPr/>
                    <a:lstStyle/>
                    <a:p>
                      <a:r>
                        <a:rPr lang="en-US" sz="1400">
                          <a:solidFill>
                            <a:schemeClr val="bg1">
                              <a:lumMod val="50000"/>
                            </a:schemeClr>
                          </a:solidFill>
                        </a:rPr>
                        <a:t>1.  Investment Thesis</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58414655"/>
                  </a:ext>
                </a:extLst>
              </a:tr>
              <a:tr h="829499">
                <a:tc>
                  <a:txBody>
                    <a:bodyPr/>
                    <a:lstStyle/>
                    <a:p>
                      <a:r>
                        <a:rPr lang="en-US" sz="1400">
                          <a:solidFill>
                            <a:schemeClr val="bg1">
                              <a:lumMod val="50000"/>
                            </a:schemeClr>
                          </a:solidFill>
                        </a:rPr>
                        <a:t>2.  Stock Overview</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20369599"/>
                  </a:ext>
                </a:extLst>
              </a:tr>
              <a:tr h="1454191">
                <a:tc>
                  <a:txBody>
                    <a:bodyPr/>
                    <a:lstStyle/>
                    <a:p>
                      <a:pPr marL="228600" indent="-228600">
                        <a:buAutoNum type="arabicPeriod" startAt="3"/>
                      </a:pPr>
                      <a:r>
                        <a:rPr lang="en-US" sz="1400">
                          <a:solidFill>
                            <a:schemeClr val="bg1">
                              <a:lumMod val="50000"/>
                            </a:schemeClr>
                          </a:solidFill>
                        </a:rPr>
                        <a:t>Valuation &amp; Returns</a:t>
                      </a: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r>
                        <a:rPr lang="en-US" sz="1400">
                          <a:solidFill>
                            <a:schemeClr val="bg1">
                              <a:lumMod val="50000"/>
                            </a:schemeClr>
                          </a:solidFill>
                        </a:rPr>
                        <a:t>Competitors</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13</a:t>
                      </a: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17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5359035"/>
                  </a:ext>
                </a:extLst>
              </a:tr>
            </a:tbl>
          </a:graphicData>
        </a:graphic>
      </p:graphicFrame>
    </p:spTree>
    <p:extLst>
      <p:ext uri="{BB962C8B-B14F-4D97-AF65-F5344CB8AC3E}">
        <p14:creationId xmlns:p14="http://schemas.microsoft.com/office/powerpoint/2010/main" val="3914715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4F2F2-7CB4-C805-D8CF-2A95F47E6D33}"/>
              </a:ext>
            </a:extLst>
          </p:cNvPr>
          <p:cNvSpPr>
            <a:spLocks noGrp="1"/>
          </p:cNvSpPr>
          <p:nvPr>
            <p:ph type="title"/>
          </p:nvPr>
        </p:nvSpPr>
        <p:spPr/>
        <p:txBody>
          <a:bodyPr/>
          <a:lstStyle/>
          <a:p>
            <a:r>
              <a:rPr lang="en-US"/>
              <a:t>Investment thesis</a:t>
            </a:r>
          </a:p>
        </p:txBody>
      </p:sp>
    </p:spTree>
    <p:extLst>
      <p:ext uri="{BB962C8B-B14F-4D97-AF65-F5344CB8AC3E}">
        <p14:creationId xmlns:p14="http://schemas.microsoft.com/office/powerpoint/2010/main" val="34562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F9AC4-5F7C-A2D7-D6B4-5016F0DAC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5ACC6-6C7A-527D-E401-ADAD448F3BB9}"/>
              </a:ext>
            </a:extLst>
          </p:cNvPr>
          <p:cNvSpPr>
            <a:spLocks noGrp="1"/>
          </p:cNvSpPr>
          <p:nvPr>
            <p:ph type="title"/>
          </p:nvPr>
        </p:nvSpPr>
        <p:spPr/>
        <p:txBody>
          <a:bodyPr/>
          <a:lstStyle/>
          <a:p>
            <a:r>
              <a:rPr lang="en-US"/>
              <a:t>Stock</a:t>
            </a:r>
            <a:br>
              <a:rPr lang="en-US"/>
            </a:br>
            <a:r>
              <a:rPr lang="en-US" sz="1800"/>
              <a:t>Overview</a:t>
            </a:r>
          </a:p>
        </p:txBody>
      </p:sp>
    </p:spTree>
    <p:extLst>
      <p:ext uri="{BB962C8B-B14F-4D97-AF65-F5344CB8AC3E}">
        <p14:creationId xmlns:p14="http://schemas.microsoft.com/office/powerpoint/2010/main" val="386238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AD30-CEA1-8508-C4C6-5800B2CA8846}"/>
              </a:ext>
            </a:extLst>
          </p:cNvPr>
          <p:cNvSpPr>
            <a:spLocks noGrp="1"/>
          </p:cNvSpPr>
          <p:nvPr>
            <p:ph type="title"/>
          </p:nvPr>
        </p:nvSpPr>
        <p:spPr/>
        <p:txBody>
          <a:bodyPr/>
          <a:lstStyle/>
          <a:p>
            <a:r>
              <a:rPr lang="en-US"/>
              <a:t>Valuation &amp; returns</a:t>
            </a:r>
          </a:p>
        </p:txBody>
      </p:sp>
    </p:spTree>
    <p:extLst>
      <p:ext uri="{BB962C8B-B14F-4D97-AF65-F5344CB8AC3E}">
        <p14:creationId xmlns:p14="http://schemas.microsoft.com/office/powerpoint/2010/main" val="120293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880E-3485-E4DD-E794-98A7729742E7}"/>
              </a:ext>
            </a:extLst>
          </p:cNvPr>
          <p:cNvSpPr>
            <a:spLocks noGrp="1"/>
          </p:cNvSpPr>
          <p:nvPr>
            <p:ph type="title"/>
          </p:nvPr>
        </p:nvSpPr>
        <p:spPr/>
        <p:txBody>
          <a:bodyPr/>
          <a:lstStyle/>
          <a:p>
            <a:r>
              <a:rPr lang="en-US"/>
              <a:t>Competitive landscape</a:t>
            </a:r>
          </a:p>
        </p:txBody>
      </p:sp>
    </p:spTree>
    <p:extLst>
      <p:ext uri="{BB962C8B-B14F-4D97-AF65-F5344CB8AC3E}">
        <p14:creationId xmlns:p14="http://schemas.microsoft.com/office/powerpoint/2010/main" val="182952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spAutoFit/>
          </a:bodyPr>
          <a:lstStyle/>
          <a:p>
            <a:r>
              <a:rPr sz="2600" b="0">
                <a:solidFill>
                  <a:srgbClr val="0E2841"/>
                </a:solidFill>
                <a:latin typeface="Avenir Next LT Pro Demi"/>
              </a:rPr>
              <a:t>Recommendation: Buy</a:t>
            </a:r>
          </a:p>
        </p:txBody>
      </p:sp>
      <p:sp>
        <p:nvSpPr>
          <p:cNvPr id="3" name="Rectangle 2"/>
          <p:cNvSpPr/>
          <p:nvPr/>
        </p:nvSpPr>
        <p:spPr>
          <a:xfrm>
            <a:off x="457200" y="932688"/>
            <a:ext cx="8229600" cy="2794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43000"/>
            <a:ext cx="8229600" cy="86868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r>
              <a:rPr sz="1500" b="0">
                <a:solidFill>
                  <a:srgbClr val="FFFFFF"/>
                </a:solidFill>
                <a:latin typeface="Avenir Next LT Pro"/>
              </a:rPr>
              <a:t>Current ~$148</a:t>
            </a:r>
            <a:r>
              <a:rPr sz="1500" b="0">
                <a:solidFill>
                  <a:srgbClr val="9AB0C4"/>
                </a:solidFill>
                <a:latin typeface="Avenir Next LT Pro"/>
              </a:rPr>
              <a:t>     →     </a:t>
            </a:r>
            <a:r>
              <a:rPr sz="1700" b="1">
                <a:solidFill>
                  <a:srgbClr val="FFFFFF"/>
                </a:solidFill>
                <a:latin typeface="Avenir Next LT Pro Demi"/>
              </a:rPr>
              <a:t>Base Target $504</a:t>
            </a:r>
            <a:r>
              <a:rPr sz="1200" b="0">
                <a:solidFill>
                  <a:srgbClr val="9AB0C4"/>
                </a:solidFill>
                <a:latin typeface="Avenir Next LT Pro"/>
              </a:rPr>
              <a:t>  (FY2027E)</a:t>
            </a:r>
          </a:p>
          <a:p>
            <a:pPr algn="l"/>
            <a:r>
              <a:rPr sz="1100" b="0">
                <a:solidFill>
                  <a:srgbClr val="C9D6E2"/>
                </a:solidFill>
                <a:latin typeface="Avenir Next LT Pro"/>
              </a:rPr>
              <a:t>~240% upside over 2–3 years   ·   Prob-weighted target ~$480</a:t>
            </a:r>
          </a:p>
        </p:txBody>
      </p:sp>
      <p:sp>
        <p:nvSpPr>
          <p:cNvPr id="5" name="Rectangle 4"/>
          <p:cNvSpPr/>
          <p:nvPr/>
        </p:nvSpPr>
        <p:spPr>
          <a:xfrm>
            <a:off x="457200" y="2240280"/>
            <a:ext cx="2651760" cy="914400"/>
          </a:xfrm>
          <a:prstGeom prst="rect">
            <a:avLst/>
          </a:prstGeom>
          <a:solidFill>
            <a:srgbClr val="E8E8E8"/>
          </a:solidFill>
          <a:ln w="1905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5A5A5A"/>
                </a:solidFill>
                <a:latin typeface="Avenir Next LT Pro Demi"/>
              </a:rPr>
              <a:t>BEAR · 25%</a:t>
            </a:r>
          </a:p>
          <a:p>
            <a:pPr algn="ctr"/>
            <a:r>
              <a:rPr sz="2400" b="1">
                <a:solidFill>
                  <a:srgbClr val="E97132"/>
                </a:solidFill>
                <a:latin typeface="Avenir Next LT Pro Demi"/>
              </a:rPr>
              <a:t>~$100</a:t>
            </a:r>
          </a:p>
        </p:txBody>
      </p:sp>
      <p:sp>
        <p:nvSpPr>
          <p:cNvPr id="6" name="Rectangle 5"/>
          <p:cNvSpPr/>
          <p:nvPr/>
        </p:nvSpPr>
        <p:spPr>
          <a:xfrm>
            <a:off x="3246120" y="2240280"/>
            <a:ext cx="2651760" cy="914400"/>
          </a:xfrm>
          <a:prstGeom prst="rect">
            <a:avLst/>
          </a:prstGeom>
          <a:solidFill>
            <a:srgbClr val="E8E8E8"/>
          </a:solidFill>
          <a:ln w="1905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5A5A5A"/>
                </a:solidFill>
                <a:latin typeface="Avenir Next LT Pro Demi"/>
              </a:rPr>
              <a:t>BASE · 50%</a:t>
            </a:r>
          </a:p>
          <a:p>
            <a:pPr algn="ctr"/>
            <a:r>
              <a:rPr sz="2400" b="1">
                <a:solidFill>
                  <a:srgbClr val="156082"/>
                </a:solidFill>
                <a:latin typeface="Avenir Next LT Pro Demi"/>
              </a:rPr>
              <a:t>~$504</a:t>
            </a:r>
          </a:p>
        </p:txBody>
      </p:sp>
      <p:sp>
        <p:nvSpPr>
          <p:cNvPr id="7" name="Rectangle 6"/>
          <p:cNvSpPr/>
          <p:nvPr/>
        </p:nvSpPr>
        <p:spPr>
          <a:xfrm>
            <a:off x="6035040" y="2240280"/>
            <a:ext cx="2651760" cy="914400"/>
          </a:xfrm>
          <a:prstGeom prst="rect">
            <a:avLst/>
          </a:prstGeom>
          <a:solidFill>
            <a:srgbClr val="E8E8E8"/>
          </a:solidFill>
          <a:ln w="19050">
            <a:solidFill>
              <a:srgbClr val="196B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5A5A5A"/>
                </a:solidFill>
                <a:latin typeface="Avenir Next LT Pro Demi"/>
              </a:rPr>
              <a:t>BULL · 25%</a:t>
            </a:r>
          </a:p>
          <a:p>
            <a:pPr algn="ctr"/>
            <a:r>
              <a:rPr sz="2400" b="1">
                <a:solidFill>
                  <a:srgbClr val="196B24"/>
                </a:solidFill>
                <a:latin typeface="Avenir Next LT Pro Demi"/>
              </a:rPr>
              <a:t>~$790</a:t>
            </a:r>
          </a:p>
        </p:txBody>
      </p:sp>
      <p:sp>
        <p:nvSpPr>
          <p:cNvPr id="8" name="Rectangle 7"/>
          <p:cNvSpPr/>
          <p:nvPr/>
        </p:nvSpPr>
        <p:spPr>
          <a:xfrm>
            <a:off x="457200" y="3429000"/>
            <a:ext cx="64008" cy="11155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410712"/>
            <a:ext cx="3776472" cy="1115568"/>
          </a:xfrm>
          <a:prstGeom prst="rect">
            <a:avLst/>
          </a:prstGeom>
          <a:noFill/>
        </p:spPr>
        <p:txBody>
          <a:bodyPr wrap="square">
            <a:spAutoFit/>
          </a:bodyPr>
          <a:lstStyle/>
          <a:p>
            <a:r>
              <a:rPr sz="1350" b="1">
                <a:solidFill>
                  <a:srgbClr val="0E2841"/>
                </a:solidFill>
                <a:latin typeface="Avenir Next LT Pro Demi"/>
              </a:rPr>
              <a:t>Bet on the operator</a:t>
            </a:r>
          </a:p>
          <a:p>
            <a:pPr>
              <a:spcBef>
                <a:spcPts val="200"/>
              </a:spcBef>
            </a:pPr>
            <a:r>
              <a:rPr sz="1050" b="0">
                <a:solidFill>
                  <a:srgbClr val="5A5A5A"/>
                </a:solidFill>
                <a:latin typeface="Avenir Next LT Pro"/>
              </a:rPr>
              <a:t>Friedman took Pottery Barn from $50M to $1B+ and built the Gallery model. Buying his own stock at $134–172 — an operator bet, not a macro bet.</a:t>
            </a:r>
          </a:p>
        </p:txBody>
      </p:sp>
      <p:sp>
        <p:nvSpPr>
          <p:cNvPr id="10" name="Rectangle 9"/>
          <p:cNvSpPr/>
          <p:nvPr/>
        </p:nvSpPr>
        <p:spPr>
          <a:xfrm>
            <a:off x="4709159" y="3429000"/>
            <a:ext cx="64008" cy="11155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73751" y="3410712"/>
            <a:ext cx="3776472" cy="1115568"/>
          </a:xfrm>
          <a:prstGeom prst="rect">
            <a:avLst/>
          </a:prstGeom>
          <a:noFill/>
        </p:spPr>
        <p:txBody>
          <a:bodyPr wrap="square">
            <a:spAutoFit/>
          </a:bodyPr>
          <a:lstStyle/>
          <a:p>
            <a:r>
              <a:rPr sz="1350" b="1">
                <a:solidFill>
                  <a:srgbClr val="0E2841"/>
                </a:solidFill>
                <a:latin typeface="Avenir Next LT Pro Demi"/>
              </a:rPr>
              <a:t>Estates decouples from housing</a:t>
            </a:r>
          </a:p>
          <a:p>
            <a:pPr>
              <a:spcBef>
                <a:spcPts val="200"/>
              </a:spcBef>
            </a:pPr>
            <a:r>
              <a:rPr sz="1050" b="0">
                <a:solidFill>
                  <a:srgbClr val="5A5A5A"/>
                </a:solidFill>
                <a:latin typeface="Avenir Next LT Pro"/>
              </a:rPr>
              <a:t>Targets rate-insensitive cash buyers at $20K+ pieces. In galleries covering 60–65% of the business by Sept 2026.</a:t>
            </a:r>
          </a:p>
        </p:txBody>
      </p:sp>
      <p:sp>
        <p:nvSpPr>
          <p:cNvPr id="12" name="Rectangle 11"/>
          <p:cNvSpPr/>
          <p:nvPr/>
        </p:nvSpPr>
        <p:spPr>
          <a:xfrm>
            <a:off x="457200" y="4727448"/>
            <a:ext cx="64008" cy="11155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4709160"/>
            <a:ext cx="3776472" cy="1115568"/>
          </a:xfrm>
          <a:prstGeom prst="rect">
            <a:avLst/>
          </a:prstGeom>
          <a:noFill/>
        </p:spPr>
        <p:txBody>
          <a:bodyPr wrap="square">
            <a:spAutoFit/>
          </a:bodyPr>
          <a:lstStyle/>
          <a:p>
            <a:r>
              <a:rPr sz="1350" b="1">
                <a:solidFill>
                  <a:srgbClr val="0E2841"/>
                </a:solidFill>
                <a:latin typeface="Avenir Next LT Pro Demi"/>
              </a:rPr>
              <a:t>Housing recovery = free upside</a:t>
            </a:r>
          </a:p>
          <a:p>
            <a:pPr>
              <a:spcBef>
                <a:spcPts val="200"/>
              </a:spcBef>
            </a:pPr>
            <a:r>
              <a:rPr sz="1050" b="0">
                <a:solidFill>
                  <a:srgbClr val="5A5A5A"/>
                </a:solidFill>
                <a:latin typeface="Avenir Next LT Pro"/>
              </a:rPr>
              <a:t>Base case assumes no recovery. If rates ease, a fixed cost base drives an earnings inflection that isn't priced in.</a:t>
            </a:r>
          </a:p>
        </p:txBody>
      </p:sp>
      <p:sp>
        <p:nvSpPr>
          <p:cNvPr id="14" name="Rectangle 13"/>
          <p:cNvSpPr/>
          <p:nvPr/>
        </p:nvSpPr>
        <p:spPr>
          <a:xfrm>
            <a:off x="4709159" y="4727448"/>
            <a:ext cx="64008" cy="11155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73751" y="4709160"/>
            <a:ext cx="3776472" cy="1115568"/>
          </a:xfrm>
          <a:prstGeom prst="rect">
            <a:avLst/>
          </a:prstGeom>
          <a:noFill/>
        </p:spPr>
        <p:txBody>
          <a:bodyPr wrap="square">
            <a:spAutoFit/>
          </a:bodyPr>
          <a:lstStyle/>
          <a:p>
            <a:r>
              <a:rPr sz="1350" b="1">
                <a:solidFill>
                  <a:srgbClr val="0E2841"/>
                </a:solidFill>
                <a:latin typeface="Avenir Next LT Pro Demi"/>
              </a:rPr>
              <a:t>Debt is the risk to respect</a:t>
            </a:r>
          </a:p>
          <a:p>
            <a:pPr>
              <a:spcBef>
                <a:spcPts val="200"/>
              </a:spcBef>
            </a:pPr>
            <a:r>
              <a:rPr sz="1050" b="0">
                <a:solidFill>
                  <a:srgbClr val="5A5A5A"/>
                </a:solidFill>
                <a:latin typeface="Avenir Next LT Pro"/>
              </a:rPr>
              <a:t>~$1.6B net debt at 3.2× EBITDA. FCF pays it down, but a prolonged freeze tightens the balance sheet — size accordingly.</a:t>
            </a:r>
          </a:p>
        </p:txBody>
      </p:sp>
      <p:sp>
        <p:nvSpPr>
          <p:cNvPr id="16" name="TextBox 15"/>
          <p:cNvSpPr txBox="1"/>
          <p:nvPr/>
        </p:nvSpPr>
        <p:spPr>
          <a:xfrm>
            <a:off x="457200" y="6419088"/>
            <a:ext cx="8229600" cy="365760"/>
          </a:xfrm>
          <a:prstGeom prst="rect">
            <a:avLst/>
          </a:prstGeom>
          <a:noFill/>
        </p:spPr>
        <p:txBody>
          <a:bodyPr wrap="square">
            <a:spAutoFit/>
          </a:bodyPr>
          <a:lstStyle/>
          <a:p>
            <a:r>
              <a:rPr sz="700" b="0">
                <a:solidFill>
                  <a:srgbClr val="5A5A5A"/>
                </a:solidFill>
                <a:latin typeface="Avenir Next LT Pro"/>
              </a:rPr>
              <a:t>Confidential — for discussion purposes only. Not investment advice.</a:t>
            </a:r>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extLst>
    <a:ext uri="{05A4C25C-085E-4340-85A3-A5531E510DB2}">
      <thm15:themeFamily xmlns:thm15="http://schemas.microsoft.com/office/thememl/2012/main" name="Theme1" id="{3BFAA7AE-A268-4826-9D8B-94FA75FEEF0F}" vid="{9E9B2CBF-1CCA-4D2A-AC69-DF77A87F1DC6}"/>
    </a:ext>
  </a:ext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47"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2EC8420-7163-49FF-8E4A-85261AD340AF}">
  <we:reference id="wa200010001" version="1.0.0.1" store="en-US" storeType="OMEX"/>
  <we:alternateReferences>
    <we:reference id="WA200010001" version="1.0.0.1" store="" storeType="OMEX"/>
  </we:alternateReferences>
  <we:properties>
    <we:property name="claude.fileId" value="&quot;66a6f049-fcc9-46c6-bfc3-b8f1fcac00f7&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3AA903C02CEB42B8ED53135F8CD172" ma:contentTypeVersion="19" ma:contentTypeDescription="Create a new document." ma:contentTypeScope="" ma:versionID="d26509f8eb1f4bd0cedb37206d7fe58d">
  <xsd:schema xmlns:xsd="http://www.w3.org/2001/XMLSchema" xmlns:xs="http://www.w3.org/2001/XMLSchema" xmlns:p="http://schemas.microsoft.com/office/2006/metadata/properties" xmlns:ns2="97990345-9152-4417-8f04-d1350c114d86" xmlns:ns3="60323a4b-ec8c-4870-a04a-4daeb2e428a0" xmlns:ns4="5684647e-1a6d-4b94-b02a-af0990aec00f" targetNamespace="http://schemas.microsoft.com/office/2006/metadata/properties" ma:root="true" ma:fieldsID="a00cabcfd3e433e5628bc08f43970357" ns2:_="" ns3:_="" ns4:_="">
    <xsd:import namespace="97990345-9152-4417-8f04-d1350c114d86"/>
    <xsd:import namespace="60323a4b-ec8c-4870-a04a-4daeb2e428a0"/>
    <xsd:import namespace="5684647e-1a6d-4b94-b02a-af0990aec00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element ref="ns2:MediaServiceDateTaken" minOccurs="0"/>
                <xsd:element ref="ns4:SharedWithUsers" minOccurs="0"/>
                <xsd:element ref="ns4:SharedWithDetails" minOccurs="0"/>
                <xsd:element ref="ns2:MediaServiceLocation"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990345-9152-4417-8f04-d1350c114d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27491e8-f4ef-4635-9e85-3146e5dcd3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0323a4b-ec8c-4870-a04a-4daeb2e428a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ab32fd4-b725-4246-ae97-00f2796f2d8b}" ma:internalName="TaxCatchAll" ma:showField="CatchAllData" ma:web="60323a4b-ec8c-4870-a04a-4daeb2e428a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684647e-1a6d-4b94-b02a-af0990aec00f" elementFormDefault="qualified">
    <xsd:import namespace="http://schemas.microsoft.com/office/2006/documentManagement/types"/>
    <xsd:import namespace="http://schemas.microsoft.com/office/infopath/2007/PartnerControls"/>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pc="http://schemas.microsoft.com/office/infopath/2007/PartnerControls" xmlns:xsi="http://www.w3.org/2001/XMLSchema-instance">
  <documentManagement>
    <lcf76f155ced4ddcb4097134ff3c332f xmlns="97990345-9152-4417-8f04-d1350c114d86">
      <Terms xmlns="http://schemas.microsoft.com/office/infopath/2007/PartnerControls"/>
    </lcf76f155ced4ddcb4097134ff3c332f>
    <TaxCatchAll xmlns="60323a4b-ec8c-4870-a04a-4daeb2e428a0" xsi:nil="true"/>
  </documentManagement>
</p:properties>
</file>

<file path=customXml/itemProps1.xml><?xml version="1.0" encoding="utf-8"?>
<ds:datastoreItem xmlns:ds="http://schemas.openxmlformats.org/officeDocument/2006/customXml" ds:itemID="{595B4667-E460-42B9-B123-AF1C3A04326C}">
  <ds:schemaRefs>
    <ds:schemaRef ds:uri="5684647e-1a6d-4b94-b02a-af0990aec00f"/>
    <ds:schemaRef ds:uri="60323a4b-ec8c-4870-a04a-4daeb2e428a0"/>
    <ds:schemaRef ds:uri="97990345-9152-4417-8f04-d1350c114d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FB15A05-7974-443B-B2C6-66CA14E10BBE}">
  <ds:schemaRefs>
    <ds:schemaRef ds:uri="http://schemas.microsoft.com/sharepoint/v3/contenttype/forms"/>
  </ds:schemaRefs>
</ds:datastoreItem>
</file>

<file path=customXml/itemProps3.xml><?xml version="1.0" encoding="utf-8"?>
<ds:datastoreItem xmlns:ds="http://schemas.openxmlformats.org/officeDocument/2006/customXml" ds:itemID="{F45B40EE-95C0-4252-9204-87A3C9A26B20}">
  <ds:schemaRefs>
    <ds:schemaRef ds:uri="http://www.w3.org/XML/1998/namespace"/>
    <ds:schemaRef ds:uri="http://purl.org/dc/elements/1.1/"/>
    <ds:schemaRef ds:uri="http://purl.org/dc/terms/"/>
    <ds:schemaRef ds:uri="http://purl.org/dc/dcmitype/"/>
    <ds:schemaRef ds:uri="5684647e-1a6d-4b94-b02a-af0990aec00f"/>
    <ds:schemaRef ds:uri="http://schemas.microsoft.com/office/2006/documentManagement/types"/>
    <ds:schemaRef ds:uri="http://schemas.openxmlformats.org/package/2006/metadata/core-properties"/>
    <ds:schemaRef ds:uri="http://schemas.microsoft.com/office/infopath/2007/PartnerControls"/>
    <ds:schemaRef ds:uri="60323a4b-ec8c-4870-a04a-4daeb2e428a0"/>
    <ds:schemaRef ds:uri="97990345-9152-4417-8f04-d1350c114d86"/>
    <ds:schemaRef ds:uri="http://schemas.microsoft.com/office/2006/metadata/properties"/>
  </ds:schemaRefs>
</ds:datastoreItem>
</file>

<file path=docMetadata/LabelInfo.xml><?xml version="1.0" encoding="utf-8"?>
<clbl:labelList xmlns:clbl="http://schemas.microsoft.com/office/2020/mipLabelMetadata">
  <clbl:label id="{c327fc46-d125-460c-9dec-2276c3cb8bf4}" enabled="0" method="" siteId="{c327fc46-d125-460c-9dec-2276c3cb8bf4}" removed="1"/>
</clbl:labelList>
</file>

<file path=docProps/app.xml><?xml version="1.0" encoding="utf-8"?>
<Properties xmlns="http://schemas.openxmlformats.org/officeDocument/2006/extended-properties" xmlns:vt="http://schemas.openxmlformats.org/officeDocument/2006/docPropsVTypes">
  <Template>Nike Stock Pitch</Template>
  <TotalTime>1</TotalTime>
  <Words>284</Words>
  <Application>Microsoft Office PowerPoint</Application>
  <PresentationFormat>On-screen Show (4:3)</PresentationFormat>
  <Paragraphs>29</Paragraphs>
  <Slides>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Avenir Next LT Pro</vt:lpstr>
      <vt:lpstr>Avenir Next LT Pro Demi</vt:lpstr>
      <vt:lpstr>Cambria</vt:lpstr>
      <vt:lpstr>Century Gothic</vt:lpstr>
      <vt:lpstr>Wingdings</vt:lpstr>
      <vt:lpstr>Theme1</vt:lpstr>
      <vt:lpstr>PowerPoint Presentation</vt:lpstr>
      <vt:lpstr>Table of Contents</vt:lpstr>
      <vt:lpstr>Investment thesis</vt:lpstr>
      <vt:lpstr>Stock Overview</vt:lpstr>
      <vt:lpstr>Valuation &amp; returns</vt:lpstr>
      <vt:lpstr>Competitive landscape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Derrick Chen</dc:creator>
  <cp:lastModifiedBy>Derrick Chen</cp:lastModifiedBy>
  <cp:revision>1</cp:revision>
  <cp:lastPrinted>2026-06-10T00:07:23Z</cp:lastPrinted>
  <dcterms:created xsi:type="dcterms:W3CDTF">2026-06-26T21:07:49Z</dcterms:created>
  <dcterms:modified xsi:type="dcterms:W3CDTF">2026-07-01T00:39:25Z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TC028048779991</vt:lpwstr>
  </property>
  <property fmtid="{D5CDD505-2E9C-101B-9397-08002B2CF9AE}" pid="3" name="Modified By">
    <vt:lpwstr>i:0#.f|membership|tramirez@kildarepartners.com</vt:lpwstr>
  </property>
  <property fmtid="{D5CDD505-2E9C-101B-9397-08002B2CF9AE}" pid="4" name="Created By">
    <vt:lpwstr>i:0#.f|membership|tramirez@kildarepartners.com</vt:lpwstr>
  </property>
  <property fmtid="{D5CDD505-2E9C-101B-9397-08002B2CF9AE}" pid="5" name="ContentTypeId">
    <vt:lpwstr>0x010100CF3AA903C02CEB42B8ED53135F8CD172</vt:lpwstr>
  </property>
  <property fmtid="{D5CDD505-2E9C-101B-9397-08002B2CF9AE}" pid="6" name="MediaServiceImageTags">
    <vt:lpwstr/>
  </property>
</Properties>
</file>