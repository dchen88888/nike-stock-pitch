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1"/>
  </p:notesMasterIdLst>
  <p:handoutMasterIdLst>
    <p:handoutMasterId r:id="rId12"/>
  </p:handoutMasterIdLst>
  <p:sldIdLst>
    <p:sldId id="422" r:id="rId5"/>
    <p:sldId id="433" r:id="rId6"/>
    <p:sldId id="483" r:id="rId7"/>
    <p:sldId id="481" r:id="rId8"/>
    <p:sldId id="482" r:id="rId9"/>
    <p:sldId id="506" r:id="rId10"/>
    <p:sldId id="507" r:id="rId20"/>
    <p:sldId id="508" r:id="rId21"/>
    <p:sldId id="509" r:id="rId22"/>
    <p:sldId id="510" r:id="rId23"/>
    <p:sldId id="511" r:id="rId24"/>
  </p:sldIdLst>
  <p:sldSz cx="9144000" cy="6858000" type="screen4x3"/>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932" userDrawn="1">
          <p15:clr>
            <a:srgbClr val="A4A3A4"/>
          </p15:clr>
        </p15:guide>
        <p15:guide id="2" pos="2213"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46"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8C49"/>
    <a:srgbClr val="769FB9"/>
    <a:srgbClr val="156082"/>
    <a:srgbClr val="769FB6"/>
    <a:srgbClr val="4F505D"/>
    <a:srgbClr val="FFCFD2"/>
    <a:srgbClr val="EC9A07"/>
    <a:srgbClr val="00B050"/>
    <a:srgbClr val="FFA97B"/>
    <a:srgbClr val="DD20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3A0DAA-6AF3-43AB-8588-CEC1D06C72B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660"/>
  </p:normalViewPr>
  <p:slideViewPr>
    <p:cSldViewPr snapToGrid="0">
      <p:cViewPr varScale="1">
        <p:scale>
          <a:sx n="115" d="100"/>
          <a:sy n="115" d="100"/>
        </p:scale>
        <p:origin x="1848" y="72"/>
      </p:cViewPr>
      <p:guideLst>
        <p:guide pos="2880"/>
        <p:guide orient="horz" pos="2160"/>
      </p:guideLst>
    </p:cSldViewPr>
  </p:slideViewPr>
  <p:notesTextViewPr>
    <p:cViewPr>
      <p:scale>
        <a:sx n="1" d="1"/>
        <a:sy n="1" d="1"/>
      </p:scale>
      <p:origin x="0" y="0"/>
    </p:cViewPr>
  </p:notesTextViewPr>
  <p:notesViewPr>
    <p:cSldViewPr snapToGrid="0">
      <p:cViewPr>
        <p:scale>
          <a:sx n="1" d="2"/>
          <a:sy n="1" d="2"/>
        </p:scale>
        <p:origin x="0" y="0"/>
      </p:cViewPr>
      <p:guideLst>
        <p:guide orient="horz" pos="2932"/>
        <p:guide pos="2213"/>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6/11/relationships/changesInfo" Target="changesInfos/changesInfo1.xml"/><Relationship Id="rId19" Type="http://schemas.microsoft.com/office/2018/10/relationships/authors" Target="authors.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rrick Chen" userId="c17abf16-4572-4718-92d2-b565decf0b0c" providerId="ADAL" clId="{26BCF191-4B8C-46F4-B4E0-CF774475ACF2}"/>
    <pc:docChg chg="delSld modSld">
      <pc:chgData name="Derrick Chen" userId="c17abf16-4572-4718-92d2-b565decf0b0c" providerId="ADAL" clId="{26BCF191-4B8C-46F4-B4E0-CF774475ACF2}" dt="2026-07-01T00:39:15.710" v="37" actId="47"/>
      <pc:docMkLst>
        <pc:docMk/>
      </pc:docMkLst>
      <pc:sldChg chg="modSp mod">
        <pc:chgData name="Derrick Chen" userId="c17abf16-4572-4718-92d2-b565decf0b0c" providerId="ADAL" clId="{26BCF191-4B8C-46F4-B4E0-CF774475ACF2}" dt="2026-06-26T21:09:21.628" v="25" actId="20577"/>
        <pc:sldMkLst>
          <pc:docMk/>
          <pc:sldMk cId="2627608767" sldId="422"/>
        </pc:sldMkLst>
        <pc:spChg chg="mod">
          <ac:chgData name="Derrick Chen" userId="c17abf16-4572-4718-92d2-b565decf0b0c" providerId="ADAL" clId="{26BCF191-4B8C-46F4-B4E0-CF774475ACF2}" dt="2026-06-26T21:09:21.628" v="25" actId="20577"/>
          <ac:spMkLst>
            <pc:docMk/>
            <pc:sldMk cId="2627608767" sldId="422"/>
            <ac:spMk id="3" creationId="{59638BFF-4FC7-3F12-DDB4-5547AEC40B4E}"/>
          </ac:spMkLst>
        </pc:spChg>
      </pc:sldChg>
      <pc:sldChg chg="del">
        <pc:chgData name="Derrick Chen" userId="c17abf16-4572-4718-92d2-b565decf0b0c" providerId="ADAL" clId="{26BCF191-4B8C-46F4-B4E0-CF774475ACF2}" dt="2026-07-01T00:39:06.980" v="29" actId="47"/>
        <pc:sldMkLst>
          <pc:docMk/>
          <pc:sldMk cId="2497924218" sldId="489"/>
        </pc:sldMkLst>
      </pc:sldChg>
      <pc:sldChg chg="del">
        <pc:chgData name="Derrick Chen" userId="c17abf16-4572-4718-92d2-b565decf0b0c" providerId="ADAL" clId="{26BCF191-4B8C-46F4-B4E0-CF774475ACF2}" dt="2026-07-01T00:39:14.854" v="36" actId="47"/>
        <pc:sldMkLst>
          <pc:docMk/>
          <pc:sldMk cId="637616509" sldId="492"/>
        </pc:sldMkLst>
      </pc:sldChg>
      <pc:sldChg chg="del">
        <pc:chgData name="Derrick Chen" userId="c17abf16-4572-4718-92d2-b565decf0b0c" providerId="ADAL" clId="{26BCF191-4B8C-46F4-B4E0-CF774475ACF2}" dt="2026-07-01T00:39:08.105" v="31" actId="47"/>
        <pc:sldMkLst>
          <pc:docMk/>
          <pc:sldMk cId="2727070108" sldId="493"/>
        </pc:sldMkLst>
      </pc:sldChg>
      <pc:sldChg chg="del">
        <pc:chgData name="Derrick Chen" userId="c17abf16-4572-4718-92d2-b565decf0b0c" providerId="ADAL" clId="{26BCF191-4B8C-46F4-B4E0-CF774475ACF2}" dt="2026-07-01T00:39:15.710" v="37" actId="47"/>
        <pc:sldMkLst>
          <pc:docMk/>
          <pc:sldMk cId="3714223132" sldId="495"/>
        </pc:sldMkLst>
      </pc:sldChg>
      <pc:sldChg chg="del">
        <pc:chgData name="Derrick Chen" userId="c17abf16-4572-4718-92d2-b565decf0b0c" providerId="ADAL" clId="{26BCF191-4B8C-46F4-B4E0-CF774475ACF2}" dt="2026-07-01T00:39:11.445" v="33" actId="47"/>
        <pc:sldMkLst>
          <pc:docMk/>
          <pc:sldMk cId="2747759066" sldId="496"/>
        </pc:sldMkLst>
      </pc:sldChg>
      <pc:sldChg chg="del">
        <pc:chgData name="Derrick Chen" userId="c17abf16-4572-4718-92d2-b565decf0b0c" providerId="ADAL" clId="{26BCF191-4B8C-46F4-B4E0-CF774475ACF2}" dt="2026-07-01T00:39:07.655" v="30" actId="47"/>
        <pc:sldMkLst>
          <pc:docMk/>
          <pc:sldMk cId="803245848" sldId="497"/>
        </pc:sldMkLst>
      </pc:sldChg>
      <pc:sldChg chg="del">
        <pc:chgData name="Derrick Chen" userId="c17abf16-4572-4718-92d2-b565decf0b0c" providerId="ADAL" clId="{26BCF191-4B8C-46F4-B4E0-CF774475ACF2}" dt="2026-07-01T00:39:02.384" v="26" actId="47"/>
        <pc:sldMkLst>
          <pc:docMk/>
          <pc:sldMk cId="2128817963" sldId="500"/>
        </pc:sldMkLst>
      </pc:sldChg>
      <pc:sldChg chg="del">
        <pc:chgData name="Derrick Chen" userId="c17abf16-4572-4718-92d2-b565decf0b0c" providerId="ADAL" clId="{26BCF191-4B8C-46F4-B4E0-CF774475ACF2}" dt="2026-07-01T00:39:06.286" v="28" actId="47"/>
        <pc:sldMkLst>
          <pc:docMk/>
          <pc:sldMk cId="2819474060" sldId="501"/>
        </pc:sldMkLst>
      </pc:sldChg>
      <pc:sldChg chg="del">
        <pc:chgData name="Derrick Chen" userId="c17abf16-4572-4718-92d2-b565decf0b0c" providerId="ADAL" clId="{26BCF191-4B8C-46F4-B4E0-CF774475ACF2}" dt="2026-07-01T00:39:08.637" v="32" actId="47"/>
        <pc:sldMkLst>
          <pc:docMk/>
          <pc:sldMk cId="2412664316" sldId="503"/>
        </pc:sldMkLst>
      </pc:sldChg>
      <pc:sldChg chg="del">
        <pc:chgData name="Derrick Chen" userId="c17abf16-4572-4718-92d2-b565decf0b0c" providerId="ADAL" clId="{26BCF191-4B8C-46F4-B4E0-CF774475ACF2}" dt="2026-07-01T00:39:03.402" v="27" actId="47"/>
        <pc:sldMkLst>
          <pc:docMk/>
          <pc:sldMk cId="1480335235" sldId="504"/>
        </pc:sldMkLst>
      </pc:sldChg>
      <pc:sldChg chg="del">
        <pc:chgData name="Derrick Chen" userId="c17abf16-4572-4718-92d2-b565decf0b0c" providerId="ADAL" clId="{26BCF191-4B8C-46F4-B4E0-CF774475ACF2}" dt="2026-07-01T00:39:11.912" v="34" actId="47"/>
        <pc:sldMkLst>
          <pc:docMk/>
          <pc:sldMk cId="2054142428" sldId="505"/>
        </pc:sldMkLst>
      </pc:sldChg>
      <pc:sldChg chg="del">
        <pc:chgData name="Derrick Chen" userId="c17abf16-4572-4718-92d2-b565decf0b0c" providerId="ADAL" clId="{26BCF191-4B8C-46F4-B4E0-CF774475ACF2}" dt="2026-07-01T00:39:12.514" v="35" actId="47"/>
        <pc:sldMkLst>
          <pc:docMk/>
          <pc:sldMk cId="1932589684" sldId="50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sz="quarter" idx="1"/>
          </p:nvPr>
        </p:nvSpPr>
        <p:spPr>
          <a:xfrm>
            <a:off x="3978136" y="3"/>
            <a:ext cx="3043342" cy="465455"/>
          </a:xfrm>
          <a:prstGeom prst="rect">
            <a:avLst/>
          </a:prstGeom>
        </p:spPr>
        <p:txBody>
          <a:bodyPr vert="horz" lIns="93969" tIns="46985" rIns="93969" bIns="46985" rtlCol="0"/>
          <a:lstStyle>
            <a:lvl1pPr algn="r">
              <a:defRPr sz="1200"/>
            </a:lvl1pPr>
          </a:lstStyle>
          <a:p>
            <a:fld id="{128FCA9C-FF92-4024-BDEC-A6D3B663DC09}" type="datetimeFigureOut">
              <a:rPr lang="en-US"/>
              <a:t>6/30/2026</a:t>
            </a:fld>
            <a:endParaRPr/>
          </a:p>
        </p:txBody>
      </p:sp>
      <p:sp>
        <p:nvSpPr>
          <p:cNvPr id="4" name="Footer Placeholder 3"/>
          <p:cNvSpPr>
            <a:spLocks noGrp="1"/>
          </p:cNvSpPr>
          <p:nvPr>
            <p:ph type="ftr" sz="quarter" idx="2"/>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5" name="Slide Number Placeholder 4"/>
          <p:cNvSpPr>
            <a:spLocks noGrp="1"/>
          </p:cNvSpPr>
          <p:nvPr>
            <p:ph type="sldNum" sz="quarter" idx="3"/>
          </p:nvPr>
        </p:nvSpPr>
        <p:spPr>
          <a:xfrm>
            <a:off x="3978136" y="8842031"/>
            <a:ext cx="3043342" cy="465455"/>
          </a:xfrm>
          <a:prstGeom prst="rect">
            <a:avLst/>
          </a:prstGeom>
        </p:spPr>
        <p:txBody>
          <a:bodyPr vert="horz" lIns="93969" tIns="46985" rIns="93969" bIns="46985" rtlCol="0" anchor="b"/>
          <a:lstStyle>
            <a:lvl1pPr algn="r">
              <a:defRPr sz="1200"/>
            </a:lvl1pPr>
          </a:lstStyle>
          <a:p>
            <a:fld id="{A446DCAE-1661-43FF-8A44-43DAFDC1FD90}" type="slidenum">
              <a:rPr/>
              <a:t>‹#›</a:t>
            </a:fld>
            <a:endParaRPr/>
          </a:p>
        </p:txBody>
      </p:sp>
    </p:spTree>
    <p:extLst>
      <p:ext uri="{BB962C8B-B14F-4D97-AF65-F5344CB8AC3E}">
        <p14:creationId xmlns:p14="http://schemas.microsoft.com/office/powerpoint/2010/main" val="2919805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3"/>
            <a:ext cx="3043342" cy="465455"/>
          </a:xfrm>
          <a:prstGeom prst="rect">
            <a:avLst/>
          </a:prstGeom>
        </p:spPr>
        <p:txBody>
          <a:bodyPr vert="horz" lIns="93969" tIns="46985" rIns="93969" bIns="46985" rtlCol="0"/>
          <a:lstStyle>
            <a:lvl1pPr algn="l">
              <a:defRPr sz="1200"/>
            </a:lvl1pPr>
          </a:lstStyle>
          <a:p>
            <a:endParaRPr/>
          </a:p>
        </p:txBody>
      </p:sp>
      <p:sp>
        <p:nvSpPr>
          <p:cNvPr id="3" name="Date Placeholder 2"/>
          <p:cNvSpPr>
            <a:spLocks noGrp="1"/>
          </p:cNvSpPr>
          <p:nvPr>
            <p:ph type="dt" idx="1"/>
          </p:nvPr>
        </p:nvSpPr>
        <p:spPr>
          <a:xfrm>
            <a:off x="3978136" y="3"/>
            <a:ext cx="3043342" cy="465455"/>
          </a:xfrm>
          <a:prstGeom prst="rect">
            <a:avLst/>
          </a:prstGeom>
        </p:spPr>
        <p:txBody>
          <a:bodyPr vert="horz" lIns="93969" tIns="46985" rIns="93969" bIns="46985" rtlCol="0"/>
          <a:lstStyle>
            <a:lvl1pPr algn="r">
              <a:defRPr sz="1200"/>
            </a:lvl1pPr>
          </a:lstStyle>
          <a:p>
            <a:fld id="{772AB877-E7B1-4681-847E-D0918612832B}" type="datetimeFigureOut">
              <a:rPr lang="en-US"/>
              <a:t>6/30/2026</a:t>
            </a:fld>
            <a:endParaRPr/>
          </a:p>
        </p:txBody>
      </p:sp>
      <p:sp>
        <p:nvSpPr>
          <p:cNvPr id="4" name="Slide Image Placeholder 3"/>
          <p:cNvSpPr>
            <a:spLocks noGrp="1" noRot="1" noChangeAspect="1"/>
          </p:cNvSpPr>
          <p:nvPr>
            <p:ph type="sldImg" idx="2"/>
          </p:nvPr>
        </p:nvSpPr>
        <p:spPr>
          <a:xfrm>
            <a:off x="1184275" y="698500"/>
            <a:ext cx="4654550" cy="3490913"/>
          </a:xfrm>
          <a:prstGeom prst="rect">
            <a:avLst/>
          </a:prstGeom>
          <a:noFill/>
          <a:ln w="12700">
            <a:solidFill>
              <a:prstClr val="black"/>
            </a:solidFill>
          </a:ln>
        </p:spPr>
        <p:txBody>
          <a:bodyPr vert="horz" lIns="93969" tIns="46985" rIns="93969" bIns="46985" rtlCol="0" anchor="ctr"/>
          <a:lstStyle/>
          <a:p>
            <a:endParaRPr/>
          </a:p>
        </p:txBody>
      </p:sp>
      <p:sp>
        <p:nvSpPr>
          <p:cNvPr id="5" name="Notes Placeholder 4"/>
          <p:cNvSpPr>
            <a:spLocks noGrp="1"/>
          </p:cNvSpPr>
          <p:nvPr>
            <p:ph type="body" sz="quarter" idx="3"/>
          </p:nvPr>
        </p:nvSpPr>
        <p:spPr>
          <a:xfrm>
            <a:off x="702311" y="4421824"/>
            <a:ext cx="5618480" cy="4189095"/>
          </a:xfrm>
          <a:prstGeom prst="rect">
            <a:avLst/>
          </a:prstGeom>
        </p:spPr>
        <p:txBody>
          <a:bodyPr vert="horz" lIns="93969" tIns="46985" rIns="93969" bIns="46985"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5" y="8842031"/>
            <a:ext cx="3043342" cy="465455"/>
          </a:xfrm>
          <a:prstGeom prst="rect">
            <a:avLst/>
          </a:prstGeom>
        </p:spPr>
        <p:txBody>
          <a:bodyPr vert="horz" lIns="93969" tIns="46985" rIns="93969" bIns="46985" rtlCol="0" anchor="b"/>
          <a:lstStyle>
            <a:lvl1pPr algn="l">
              <a:defRPr sz="1200"/>
            </a:lvl1pPr>
          </a:lstStyle>
          <a:p>
            <a:endParaRPr/>
          </a:p>
        </p:txBody>
      </p:sp>
      <p:sp>
        <p:nvSpPr>
          <p:cNvPr id="7" name="Slide Number Placeholder 6"/>
          <p:cNvSpPr>
            <a:spLocks noGrp="1"/>
          </p:cNvSpPr>
          <p:nvPr>
            <p:ph type="sldNum" sz="quarter" idx="5"/>
          </p:nvPr>
        </p:nvSpPr>
        <p:spPr>
          <a:xfrm>
            <a:off x="3978136" y="8842031"/>
            <a:ext cx="3043342" cy="465455"/>
          </a:xfrm>
          <a:prstGeom prst="rect">
            <a:avLst/>
          </a:prstGeom>
        </p:spPr>
        <p:txBody>
          <a:bodyPr vert="horz" lIns="93969" tIns="46985" rIns="93969" bIns="46985" rtlCol="0" anchor="b"/>
          <a:lstStyle>
            <a:lvl1pPr algn="r">
              <a:defRPr sz="1200"/>
            </a:lvl1pPr>
          </a:lstStyle>
          <a:p>
            <a:fld id="{69C971FF-EF28-4195-A575-329446EFAA55}" type="slidenum">
              <a:rPr/>
              <a:t>‹#›</a:t>
            </a:fld>
            <a:endParaRPr/>
          </a:p>
        </p:txBody>
      </p:sp>
    </p:spTree>
    <p:extLst>
      <p:ext uri="{BB962C8B-B14F-4D97-AF65-F5344CB8AC3E}">
        <p14:creationId xmlns:p14="http://schemas.microsoft.com/office/powerpoint/2010/main" val="13989950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lumMod val="50000"/>
          </a:schemeClr>
        </a:solidFill>
        <a:latin typeface="+mn-lt"/>
        <a:ea typeface="+mn-ea"/>
        <a:cs typeface="+mn-cs"/>
      </a:defRPr>
    </a:lvl1pPr>
    <a:lvl2pPr marL="457200" algn="l" defTabSz="914400" rtl="0" eaLnBrk="1" latinLnBrk="0" hangingPunct="1">
      <a:defRPr sz="1200" kern="1200">
        <a:solidFill>
          <a:schemeClr val="tx1">
            <a:lumMod val="50000"/>
          </a:schemeClr>
        </a:solidFill>
        <a:latin typeface="+mn-lt"/>
        <a:ea typeface="+mn-ea"/>
        <a:cs typeface="+mn-cs"/>
      </a:defRPr>
    </a:lvl2pPr>
    <a:lvl3pPr marL="914400" algn="l" defTabSz="914400" rtl="0" eaLnBrk="1" latinLnBrk="0" hangingPunct="1">
      <a:defRPr sz="1200" kern="1200">
        <a:solidFill>
          <a:schemeClr val="tx1">
            <a:lumMod val="50000"/>
          </a:schemeClr>
        </a:solidFill>
        <a:latin typeface="+mn-lt"/>
        <a:ea typeface="+mn-ea"/>
        <a:cs typeface="+mn-cs"/>
      </a:defRPr>
    </a:lvl3pPr>
    <a:lvl4pPr marL="1371600" algn="l" defTabSz="914400" rtl="0" eaLnBrk="1" latinLnBrk="0" hangingPunct="1">
      <a:defRPr sz="1200" kern="1200">
        <a:solidFill>
          <a:schemeClr val="tx1">
            <a:lumMod val="50000"/>
          </a:schemeClr>
        </a:solidFill>
        <a:latin typeface="+mn-lt"/>
        <a:ea typeface="+mn-ea"/>
        <a:cs typeface="+mn-cs"/>
      </a:defRPr>
    </a:lvl4pPr>
    <a:lvl5pPr marL="1828800" algn="l" defTabSz="914400" rtl="0" eaLnBrk="1" latinLnBrk="0" hangingPunct="1">
      <a:defRPr sz="1200" kern="1200">
        <a:solidFill>
          <a:schemeClr val="tx1">
            <a:lumMod val="50000"/>
          </a:schemeClr>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16013" y="679450"/>
            <a:ext cx="4510087" cy="33845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9C971FF-EF28-4195-A575-329446EFAA55}" type="slidenum">
              <a:rPr lang="en-US" smtClean="0"/>
              <a:t>1</a:t>
            </a:fld>
            <a:endParaRPr lang="en-US"/>
          </a:p>
        </p:txBody>
      </p:sp>
    </p:spTree>
    <p:extLst>
      <p:ext uri="{BB962C8B-B14F-4D97-AF65-F5344CB8AC3E}">
        <p14:creationId xmlns:p14="http://schemas.microsoft.com/office/powerpoint/2010/main" val="1795011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7" name="Subtitle 2"/>
          <p:cNvSpPr>
            <a:spLocks noGrp="1"/>
          </p:cNvSpPr>
          <p:nvPr>
            <p:ph type="subTitle" idx="1"/>
          </p:nvPr>
        </p:nvSpPr>
        <p:spPr>
          <a:xfrm>
            <a:off x="1801232" y="5715000"/>
            <a:ext cx="5541537" cy="533400"/>
          </a:xfrm>
          <a:noFill/>
        </p:spPr>
        <p:txBody>
          <a:bodyPr>
            <a:normAutofit/>
          </a:bodyPr>
          <a:lstStyle>
            <a:lvl1pPr marL="0" indent="0" algn="ctr">
              <a:spcBef>
                <a:spcPts val="0"/>
              </a:spcBef>
              <a:buNone/>
              <a:defRPr sz="1800" i="0">
                <a:solidFill>
                  <a:schemeClr val="tx1"/>
                </a:solidFill>
                <a:latin typeface="Avenir Next LT Pro" panose="020B0504020202020204" pitchFamily="34" charset="0"/>
              </a:defRPr>
            </a:lvl1pPr>
            <a:lvl2pPr marL="342991" indent="0" algn="ctr">
              <a:buNone/>
              <a:defRPr>
                <a:solidFill>
                  <a:schemeClr val="tx1">
                    <a:tint val="75000"/>
                  </a:schemeClr>
                </a:solidFill>
              </a:defRPr>
            </a:lvl2pPr>
            <a:lvl3pPr marL="685983" indent="0" algn="ctr">
              <a:buNone/>
              <a:defRPr>
                <a:solidFill>
                  <a:schemeClr val="tx1">
                    <a:tint val="75000"/>
                  </a:schemeClr>
                </a:solidFill>
              </a:defRPr>
            </a:lvl3pPr>
            <a:lvl4pPr marL="1028974" indent="0" algn="ctr">
              <a:buNone/>
              <a:defRPr>
                <a:solidFill>
                  <a:schemeClr val="tx1">
                    <a:tint val="75000"/>
                  </a:schemeClr>
                </a:solidFill>
              </a:defRPr>
            </a:lvl4pPr>
            <a:lvl5pPr marL="1371966" indent="0" algn="ctr">
              <a:buNone/>
              <a:defRPr>
                <a:solidFill>
                  <a:schemeClr val="tx1">
                    <a:tint val="75000"/>
                  </a:schemeClr>
                </a:solidFill>
              </a:defRPr>
            </a:lvl5pPr>
            <a:lvl6pPr marL="1714957" indent="0" algn="ctr">
              <a:buNone/>
              <a:defRPr>
                <a:solidFill>
                  <a:schemeClr val="tx1">
                    <a:tint val="75000"/>
                  </a:schemeClr>
                </a:solidFill>
              </a:defRPr>
            </a:lvl6pPr>
            <a:lvl7pPr marL="2057949" indent="0" algn="ctr">
              <a:buNone/>
              <a:defRPr>
                <a:solidFill>
                  <a:schemeClr val="tx1">
                    <a:tint val="75000"/>
                  </a:schemeClr>
                </a:solidFill>
              </a:defRPr>
            </a:lvl7pPr>
            <a:lvl8pPr marL="2400940" indent="0" algn="ctr">
              <a:buNone/>
              <a:defRPr>
                <a:solidFill>
                  <a:schemeClr val="tx1">
                    <a:tint val="75000"/>
                  </a:schemeClr>
                </a:solidFill>
              </a:defRPr>
            </a:lvl8pPr>
            <a:lvl9pPr marL="2743932" indent="0" algn="ctr">
              <a:buNone/>
              <a:defRPr>
                <a:solidFill>
                  <a:schemeClr val="tx1">
                    <a:tint val="75000"/>
                  </a:schemeClr>
                </a:solidFill>
              </a:defRPr>
            </a:lvl9pPr>
          </a:lstStyle>
          <a:p>
            <a:r>
              <a:rPr lang="en-US"/>
              <a:t>Click to edit Master subtitle style</a:t>
            </a:r>
            <a:endParaRPr/>
          </a:p>
        </p:txBody>
      </p:sp>
      <p:sp>
        <p:nvSpPr>
          <p:cNvPr id="8" name="Title 6"/>
          <p:cNvSpPr>
            <a:spLocks noGrp="1"/>
          </p:cNvSpPr>
          <p:nvPr>
            <p:ph type="title"/>
          </p:nvPr>
        </p:nvSpPr>
        <p:spPr>
          <a:xfrm>
            <a:off x="1800003" y="4714977"/>
            <a:ext cx="5543995" cy="923823"/>
          </a:xfrm>
          <a:prstGeom prst="rect">
            <a:avLst/>
          </a:prstGeom>
          <a:noFill/>
        </p:spPr>
        <p:txBody>
          <a:bodyPr anchor="b" anchorCtr="0">
            <a:normAutofit/>
          </a:bodyPr>
          <a:lstStyle>
            <a:lvl1pPr marL="0" algn="ctr" defTabSz="914400" rtl="0" eaLnBrk="1" latinLnBrk="0" hangingPunct="1">
              <a:lnSpc>
                <a:spcPct val="90000"/>
              </a:lnSpc>
              <a:defRPr lang="en-US" sz="2600" kern="1200" cap="none" baseline="0" dirty="0">
                <a:ln w="0"/>
                <a:solidFill>
                  <a:schemeClr val="tx1"/>
                </a:solidFill>
                <a:effectLst/>
                <a:latin typeface="Avenir Next LT Pro" panose="020B0504020202020204" pitchFamily="34" charset="0"/>
                <a:ea typeface="+mn-ea"/>
                <a:cs typeface="+mn-cs"/>
              </a:defRPr>
            </a:lvl1pPr>
          </a:lstStyle>
          <a:p>
            <a:r>
              <a:rPr lang="en-US"/>
              <a:t>Click to edit Master title style</a:t>
            </a:r>
          </a:p>
        </p:txBody>
      </p:sp>
      <p:sp>
        <p:nvSpPr>
          <p:cNvPr id="10" name="Rectangle 9"/>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889714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2"/>
          <p:cNvSpPr>
            <a:spLocks noGrp="1"/>
          </p:cNvSpPr>
          <p:nvPr>
            <p:ph idx="1"/>
          </p:nvPr>
        </p:nvSpPr>
        <p:spPr>
          <a:xfrm>
            <a:off x="228600" y="838200"/>
            <a:ext cx="8679365" cy="5562600"/>
          </a:xfrm>
        </p:spPr>
        <p:txBody>
          <a:bodyPr>
            <a:normAutofit/>
          </a:bodyPr>
          <a:lstStyle>
            <a:lvl1pPr marL="205795" indent="-171496">
              <a:buClr>
                <a:schemeClr val="bg1">
                  <a:lumMod val="50000"/>
                </a:schemeClr>
              </a:buClr>
              <a:buSzPct val="105000"/>
              <a:buFont typeface="Wingdings" panose="05000000000000000000" pitchFamily="2" charset="2"/>
              <a:buChar char="§"/>
              <a:defRPr sz="1200">
                <a:latin typeface="Avenir Next LT Pro" panose="020B0504020202020204" pitchFamily="34" charset="0"/>
              </a:defRPr>
            </a:lvl1pPr>
            <a:lvl2pPr marL="377291"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2pPr>
            <a:lvl3pPr marL="548786"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Title 1"/>
          <p:cNvSpPr>
            <a:spLocks noGrp="1"/>
          </p:cNvSpPr>
          <p:nvPr>
            <p:ph type="title"/>
          </p:nvPr>
        </p:nvSpPr>
        <p:spPr>
          <a:xfrm>
            <a:off x="228600" y="228600"/>
            <a:ext cx="8679366" cy="478756"/>
          </a:xfrm>
          <a:prstGeom prst="rect">
            <a:avLst/>
          </a:prstGeom>
        </p:spPr>
        <p:txBody>
          <a:bodyPr anchor="b" anchorCtr="0">
            <a:normAutofit/>
          </a:bodyPr>
          <a:lstStyle>
            <a:lvl1pPr algn="r">
              <a:defRPr lang="en-GB" sz="1300" b="0" kern="1200" cap="all" baseline="0" dirty="0">
                <a:solidFill>
                  <a:schemeClr val="tx1"/>
                </a:solidFill>
                <a:latin typeface="Avenir Next LT Pro Demi" panose="020B0704020202020204" pitchFamily="34" charset="0"/>
                <a:ea typeface="+mj-ea"/>
                <a:cs typeface="+mj-cs"/>
              </a:defRPr>
            </a:lvl1pPr>
          </a:lstStyle>
          <a:p>
            <a:r>
              <a:rPr lang="en-US"/>
              <a:t>Click to edit Master title style</a:t>
            </a:r>
            <a:endParaRPr lang="en-GB"/>
          </a:p>
        </p:txBody>
      </p:sp>
      <p:cxnSp>
        <p:nvCxnSpPr>
          <p:cNvPr id="15" name="Straight Connector 14"/>
          <p:cNvCxnSpPr/>
          <p:nvPr/>
        </p:nvCxnSpPr>
        <p:spPr>
          <a:xfrm>
            <a:off x="233172" y="762000"/>
            <a:ext cx="867765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21" name="Rectangle 20"/>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latin typeface="Avenir Next LT Pro" panose="020B0504020202020204" pitchFamily="34" charset="0"/>
            </a:endParaRPr>
          </a:p>
        </p:txBody>
      </p:sp>
      <p:cxnSp>
        <p:nvCxnSpPr>
          <p:cNvPr id="22" name="Straight Connector 21"/>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3" name="Slide Number Placeholder 9"/>
          <p:cNvSpPr txBox="1">
            <a:spLocks/>
          </p:cNvSpPr>
          <p:nvPr userDrawn="1"/>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4"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Tree>
    <p:extLst>
      <p:ext uri="{BB962C8B-B14F-4D97-AF65-F5344CB8AC3E}">
        <p14:creationId xmlns:p14="http://schemas.microsoft.com/office/powerpoint/2010/main" val="1918354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913448" y="3135710"/>
            <a:ext cx="7317105" cy="586581"/>
          </a:xfrm>
        </p:spPr>
        <p:txBody>
          <a:bodyPr anchor="ctr">
            <a:noAutofit/>
          </a:bodyPr>
          <a:lstStyle>
            <a:lvl1pPr algn="ctr" defTabSz="685983" rtl="0" eaLnBrk="1" latinLnBrk="0" hangingPunct="1">
              <a:lnSpc>
                <a:spcPct val="90000"/>
              </a:lnSpc>
              <a:spcBef>
                <a:spcPct val="0"/>
              </a:spcBef>
              <a:buNone/>
              <a:defRPr lang="en-GB" sz="2400" b="0" kern="1200" cap="all" baseline="0" dirty="0">
                <a:solidFill>
                  <a:srgbClr val="AF8C49"/>
                </a:solidFill>
                <a:latin typeface="Avenir Next LT Pro" panose="020B0504020202020204" pitchFamily="34" charset="0"/>
                <a:ea typeface="+mj-ea"/>
                <a:cs typeface="+mj-cs"/>
              </a:defRPr>
            </a:lvl1pPr>
          </a:lstStyle>
          <a:p>
            <a:r>
              <a:rPr lang="en-US"/>
              <a:t>Click to edit Master title style</a:t>
            </a:r>
            <a:endParaRPr/>
          </a:p>
        </p:txBody>
      </p:sp>
      <p:sp>
        <p:nvSpPr>
          <p:cNvPr id="12"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tx1"/>
                </a:solidFill>
                <a:latin typeface="Avenir Next LT Pro" panose="020B0504020202020204" pitchFamily="34" charset="0"/>
              </a:rPr>
              <a:t>Kildare Partners</a:t>
            </a:r>
          </a:p>
        </p:txBody>
      </p:sp>
      <p:sp>
        <p:nvSpPr>
          <p:cNvPr id="13" name="Rectangle 12"/>
          <p:cNvSpPr/>
          <p:nvPr/>
        </p:nvSpPr>
        <p:spPr>
          <a:xfrm>
            <a:off x="152400" y="143252"/>
            <a:ext cx="8839200" cy="6571496"/>
          </a:xfrm>
          <a:prstGeom prst="rect">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cxnSp>
        <p:nvCxnSpPr>
          <p:cNvPr id="14" name="Straight Connector 13"/>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cxnSp>
        <p:nvCxnSpPr>
          <p:cNvPr id="9" name="Straight Connector 8"/>
          <p:cNvCxnSpPr/>
          <p:nvPr userDrawn="1"/>
        </p:nvCxnSpPr>
        <p:spPr>
          <a:xfrm>
            <a:off x="420752" y="845820"/>
            <a:ext cx="8302496" cy="0"/>
          </a:xfrm>
          <a:prstGeom prst="line">
            <a:avLst/>
          </a:prstGeom>
          <a:ln w="1905">
            <a:solidFill>
              <a:schemeClr val="accent6">
                <a:lumMod val="50000"/>
              </a:schemeClr>
            </a:solidFill>
            <a:prstDash val="solid"/>
          </a:ln>
          <a:effectLst/>
        </p:spPr>
        <p:style>
          <a:lnRef idx="3">
            <a:schemeClr val="accent6"/>
          </a:lnRef>
          <a:fillRef idx="0">
            <a:schemeClr val="accent6"/>
          </a:fillRef>
          <a:effectRef idx="2">
            <a:schemeClr val="accent6"/>
          </a:effectRef>
          <a:fontRef idx="minor">
            <a:schemeClr val="tx1"/>
          </a:fontRef>
        </p:style>
      </p:cxnSp>
      <p:sp>
        <p:nvSpPr>
          <p:cNvPr id="10" name="Slide Number Placeholder 9"/>
          <p:cNvSpPr txBox="1">
            <a:spLocks/>
          </p:cNvSpPr>
          <p:nvPr userDrawn="1"/>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2" name="Rectangle 1">
            <a:extLst>
              <a:ext uri="{FF2B5EF4-FFF2-40B4-BE49-F238E27FC236}">
                <a16:creationId xmlns:a16="http://schemas.microsoft.com/office/drawing/2014/main" id="{C3C3C381-A40D-8C46-E61E-BFF1FE6905FC}"/>
              </a:ext>
            </a:extLst>
          </p:cNvPr>
          <p:cNvSpPr/>
          <p:nvPr userDrawn="1"/>
        </p:nvSpPr>
        <p:spPr>
          <a:xfrm>
            <a:off x="304800" y="609600"/>
            <a:ext cx="8534400" cy="533399"/>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214843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pic>
        <p:nvPicPr>
          <p:cNvPr id="13" name="Picture 12"/>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a:noFill/>
        </p:spPr>
      </p:pic>
      <p:sp>
        <p:nvSpPr>
          <p:cNvPr id="14" name="Content Placeholder 2"/>
          <p:cNvSpPr>
            <a:spLocks noGrp="1"/>
          </p:cNvSpPr>
          <p:nvPr>
            <p:ph idx="1"/>
          </p:nvPr>
        </p:nvSpPr>
        <p:spPr>
          <a:xfrm>
            <a:off x="4400508" y="685800"/>
            <a:ext cx="4230202" cy="5486400"/>
          </a:xfrm>
        </p:spPr>
        <p:txBody>
          <a:bodyPr>
            <a:normAutofit/>
          </a:bodyPr>
          <a:lstStyle>
            <a:lvl1pPr>
              <a:defRPr sz="1800">
                <a:latin typeface="Avenir Next LT Pro" panose="020B0504020202020204" pitchFamily="34" charset="0"/>
              </a:defRPr>
            </a:lvl1pPr>
            <a:lvl2pPr marL="377291" marR="0" indent="-171496" algn="l" defTabSz="685983" rtl="0" eaLnBrk="1" fontAlgn="auto" latinLnBrk="0" hangingPunct="1">
              <a:lnSpc>
                <a:spcPct val="90000"/>
              </a:lnSpc>
              <a:spcBef>
                <a:spcPts val="450"/>
              </a:spcBef>
              <a:spcAft>
                <a:spcPts val="0"/>
              </a:spcAft>
              <a:buClr>
                <a:schemeClr val="bg1">
                  <a:lumMod val="50000"/>
                </a:schemeClr>
              </a:buClr>
              <a:buSzPct val="105000"/>
              <a:buFont typeface="Cambria" panose="02040503050406030204" pitchFamily="18" charset="0"/>
              <a:buChar char="–"/>
              <a:tabLst/>
              <a:defRPr sz="1200">
                <a:latin typeface="Avenir Next LT Pro" panose="020B0504020202020204" pitchFamily="34" charset="0"/>
              </a:defRPr>
            </a:lvl2pPr>
            <a:lvl3pPr marL="548786"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3pPr>
            <a:lvl4pPr marL="720282"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4pPr>
            <a:lvl5pPr marL="891778" indent="-171496" algn="l" defTabSz="685983" rtl="0" eaLnBrk="1" latinLnBrk="0" hangingPunct="1">
              <a:lnSpc>
                <a:spcPct val="90000"/>
              </a:lnSpc>
              <a:spcBef>
                <a:spcPts val="450"/>
              </a:spcBef>
              <a:buClr>
                <a:schemeClr val="bg1">
                  <a:lumMod val="50000"/>
                </a:schemeClr>
              </a:buClr>
              <a:buSzPct val="105000"/>
              <a:buFont typeface="Cambria" panose="02040503050406030204" pitchFamily="18" charset="0"/>
              <a:buChar char="–"/>
              <a:defRPr sz="1200">
                <a:latin typeface="Avenir Next LT Pro" panose="020B0504020202020204" pitchFamily="34" charset="0"/>
              </a:defRPr>
            </a:lvl5pPr>
            <a:lvl6pPr>
              <a:defRPr sz="1200"/>
            </a:lvl6pPr>
            <a:lvl7pPr>
              <a:defRPr sz="1200"/>
            </a:lvl7pPr>
            <a:lvl8pPr>
              <a:defRPr sz="1200"/>
            </a:lvl8pPr>
            <a:lvl9pPr>
              <a:defRPr sz="1200"/>
            </a:lvl9pPr>
          </a:lstStyle>
          <a:p>
            <a:pPr marL="155335" marR="0" lvl="0"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Click to edit Master text styles</a:t>
            </a:r>
          </a:p>
          <a:p>
            <a:pPr marL="155335" marR="0" lvl="1"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Second level</a:t>
            </a:r>
          </a:p>
          <a:p>
            <a:pPr marL="155335" marR="0" lvl="2"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Third level</a:t>
            </a:r>
          </a:p>
          <a:p>
            <a:pPr marL="155335" marR="0" lvl="3"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Fourth level</a:t>
            </a:r>
          </a:p>
          <a:p>
            <a:pPr marL="155335" marR="0" lvl="4" indent="-155335" algn="l" defTabSz="685983" rtl="0" eaLnBrk="1" fontAlgn="auto" latinLnBrk="0" hangingPunct="1">
              <a:lnSpc>
                <a:spcPct val="100000"/>
              </a:lnSpc>
              <a:spcBef>
                <a:spcPts val="240"/>
              </a:spcBef>
              <a:spcAft>
                <a:spcPts val="0"/>
              </a:spcAft>
              <a:buClr>
                <a:schemeClr val="bg1">
                  <a:lumMod val="50000"/>
                </a:schemeClr>
              </a:buClr>
              <a:buSzPct val="105000"/>
              <a:buFont typeface="Wingdings" pitchFamily="2" charset="2"/>
              <a:buChar char="§"/>
              <a:tabLst/>
              <a:defRPr/>
            </a:pPr>
            <a:r>
              <a:rPr lang="en-US"/>
              <a:t>Fifth level</a:t>
            </a:r>
          </a:p>
        </p:txBody>
      </p:sp>
      <p:sp>
        <p:nvSpPr>
          <p:cNvPr id="15"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sp>
        <p:nvSpPr>
          <p:cNvPr id="16"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153696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pic>
        <p:nvPicPr>
          <p:cNvPr id="12" name="Picture 11"/>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0"/>
            <a:ext cx="3886200" cy="6858000"/>
          </a:xfrm>
          <a:prstGeom prst="rect">
            <a:avLst/>
          </a:prstGeom>
        </p:spPr>
      </p:pic>
      <p:sp>
        <p:nvSpPr>
          <p:cNvPr id="13" name="Picture Placeholder 2"/>
          <p:cNvSpPr>
            <a:spLocks noGrp="1"/>
          </p:cNvSpPr>
          <p:nvPr>
            <p:ph type="pic" idx="1"/>
          </p:nvPr>
        </p:nvSpPr>
        <p:spPr>
          <a:xfrm>
            <a:off x="4400508" y="685800"/>
            <a:ext cx="4230202" cy="5486400"/>
          </a:xfrm>
          <a:solidFill>
            <a:schemeClr val="bg1">
              <a:lumMod val="95000"/>
            </a:schemeClr>
          </a:solidFill>
          <a:ln w="3175">
            <a:solidFill>
              <a:schemeClr val="bg1">
                <a:lumMod val="75000"/>
              </a:schemeClr>
            </a:solidFill>
            <a:miter lim="800000"/>
          </a:ln>
        </p:spPr>
        <p:txBody>
          <a:bodyPr tIns="914400">
            <a:normAutofit/>
          </a:bodyPr>
          <a:lstStyle>
            <a:lvl1pPr marL="0" indent="0" algn="ctr">
              <a:buNone/>
              <a:defRPr sz="1800">
                <a:latin typeface="Avenir Next LT Pro" panose="020B0504020202020204" pitchFamily="34" charset="0"/>
              </a:defRPr>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r>
              <a:rPr lang="en-US"/>
              <a:t>Click icon to add picture</a:t>
            </a:r>
            <a:endParaRPr/>
          </a:p>
        </p:txBody>
      </p:sp>
      <p:sp>
        <p:nvSpPr>
          <p:cNvPr id="14" name="Slide Number Placeholder 9"/>
          <p:cNvSpPr txBox="1">
            <a:spLocks/>
          </p:cNvSpPr>
          <p:nvPr/>
        </p:nvSpPr>
        <p:spPr>
          <a:xfrm>
            <a:off x="228600" y="6477000"/>
            <a:ext cx="3017520" cy="180974"/>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cap="none" spc="0" baseline="0">
                <a:solidFill>
                  <a:schemeClr val="bg1"/>
                </a:solidFill>
                <a:latin typeface="Avenir Next LT Pro" panose="020B0504020202020204" pitchFamily="34" charset="0"/>
              </a:rPr>
              <a:t>Kildare Partners</a:t>
            </a:r>
          </a:p>
        </p:txBody>
      </p:sp>
      <p:sp>
        <p:nvSpPr>
          <p:cNvPr id="16" name="Slide Number Placeholder 9"/>
          <p:cNvSpPr txBox="1">
            <a:spLocks/>
          </p:cNvSpPr>
          <p:nvPr/>
        </p:nvSpPr>
        <p:spPr>
          <a:xfrm>
            <a:off x="7278496" y="6490519"/>
            <a:ext cx="1636904" cy="153936"/>
          </a:xfrm>
          <a:prstGeom prst="rect">
            <a:avLst/>
          </a:prstGeom>
        </p:spPr>
        <p:txBody>
          <a:bodyPr vert="horz" lIns="91440" tIns="45720" rIns="91440" bIns="45720" rtlCol="0" anchor="ctr"/>
          <a:lstStyle>
            <a:defPPr>
              <a:defRPr lang="en-US"/>
            </a:defPPr>
            <a:lvl1pPr marL="0" algn="r" defTabSz="914400" rtl="0" eaLnBrk="1" latinLnBrk="0" hangingPunct="1">
              <a:defRPr lang="en-US" sz="825" kern="1200" cap="all" spc="300" baseline="0" smtClean="0">
                <a:solidFill>
                  <a:srgbClr val="004C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pc="0" baseline="0">
                <a:solidFill>
                  <a:schemeClr val="tx1"/>
                </a:solidFill>
                <a:latin typeface="Avenir Next LT Pro" panose="020B0504020202020204" pitchFamily="34" charset="0"/>
              </a:rPr>
              <a:t>CONFIDENTIAL | PAGE </a:t>
            </a:r>
            <a:fld id="{F36C87F6-986D-49E6-AF40-1B3A1EE8064D}" type="slidenum">
              <a:rPr lang="en-US" spc="0" baseline="0" smtClean="0">
                <a:solidFill>
                  <a:schemeClr val="tx1"/>
                </a:solidFill>
                <a:latin typeface="Avenir Next LT Pro" panose="020B0504020202020204" pitchFamily="34" charset="0"/>
              </a:rPr>
              <a:pPr/>
              <a:t>‹#›</a:t>
            </a:fld>
            <a:endParaRPr lang="en-US" spc="0" baseline="0">
              <a:solidFill>
                <a:schemeClr val="tx1"/>
              </a:solidFill>
              <a:latin typeface="Avenir Next LT Pro" panose="020B0504020202020204" pitchFamily="34" charset="0"/>
            </a:endParaRPr>
          </a:p>
        </p:txBody>
      </p:sp>
      <p:cxnSp>
        <p:nvCxnSpPr>
          <p:cNvPr id="18" name="Straight Connector 17"/>
          <p:cNvCxnSpPr/>
          <p:nvPr/>
        </p:nvCxnSpPr>
        <p:spPr>
          <a:xfrm>
            <a:off x="233172" y="6462132"/>
            <a:ext cx="8677656" cy="0"/>
          </a:xfrm>
          <a:prstGeom prst="line">
            <a:avLst/>
          </a:prstGeom>
          <a:ln w="1905">
            <a:solidFill>
              <a:schemeClr val="tx1"/>
            </a:solidFill>
            <a:prstDash val="solid"/>
          </a:ln>
          <a:effectLst/>
        </p:spPr>
        <p:style>
          <a:lnRef idx="3">
            <a:schemeClr val="accent6"/>
          </a:lnRef>
          <a:fillRef idx="0">
            <a:schemeClr val="accent6"/>
          </a:fillRef>
          <a:effectRef idx="2">
            <a:schemeClr val="accent6"/>
          </a:effectRef>
          <a:fontRef idx="minor">
            <a:schemeClr val="tx1"/>
          </a:fontRef>
        </p:style>
      </p:cxnSp>
      <p:sp>
        <p:nvSpPr>
          <p:cNvPr id="19" name="Title 1"/>
          <p:cNvSpPr>
            <a:spLocks noGrp="1"/>
          </p:cNvSpPr>
          <p:nvPr>
            <p:ph type="title"/>
          </p:nvPr>
        </p:nvSpPr>
        <p:spPr>
          <a:xfrm>
            <a:off x="513296" y="685800"/>
            <a:ext cx="2915409" cy="4038600"/>
          </a:xfrm>
        </p:spPr>
        <p:txBody>
          <a:bodyPr anchor="b">
            <a:noAutofit/>
          </a:bodyPr>
          <a:lstStyle>
            <a:lvl1pPr algn="l">
              <a:defRPr sz="2800" b="0">
                <a:solidFill>
                  <a:srgbClr val="AF8C49"/>
                </a:solidFill>
                <a:latin typeface="Avenir Next LT Pro Demi" panose="020B0704020202020204" pitchFamily="34" charset="0"/>
              </a:defRPr>
            </a:lvl1pPr>
          </a:lstStyle>
          <a:p>
            <a:r>
              <a:rPr lang="en-US"/>
              <a:t>Click to edit Master title style</a:t>
            </a:r>
            <a:endParaRPr/>
          </a:p>
        </p:txBody>
      </p:sp>
      <p:sp>
        <p:nvSpPr>
          <p:cNvPr id="20" name="Text Placeholder 3"/>
          <p:cNvSpPr>
            <a:spLocks noGrp="1"/>
          </p:cNvSpPr>
          <p:nvPr>
            <p:ph type="body" sz="half" idx="2"/>
          </p:nvPr>
        </p:nvSpPr>
        <p:spPr>
          <a:xfrm>
            <a:off x="513296" y="4876800"/>
            <a:ext cx="2915409" cy="1295400"/>
          </a:xfrm>
        </p:spPr>
        <p:txBody>
          <a:bodyPr>
            <a:normAutofit/>
          </a:bodyPr>
          <a:lstStyle>
            <a:lvl1pPr marL="0" indent="0">
              <a:spcBef>
                <a:spcPts val="0"/>
              </a:spcBef>
              <a:buNone/>
              <a:defRPr sz="1400">
                <a:solidFill>
                  <a:schemeClr val="bg1"/>
                </a:solidFill>
                <a:latin typeface="Avenir Next LT Pro" panose="020B0504020202020204" pitchFamily="34" charset="0"/>
              </a:defRPr>
            </a:lvl1pPr>
            <a:lvl2pPr marL="342991" indent="0">
              <a:buNone/>
              <a:defRPr sz="900"/>
            </a:lvl2pPr>
            <a:lvl3pPr marL="685983" indent="0">
              <a:buNone/>
              <a:defRPr sz="750"/>
            </a:lvl3pPr>
            <a:lvl4pPr marL="1028974" indent="0">
              <a:buNone/>
              <a:defRPr sz="675"/>
            </a:lvl4pPr>
            <a:lvl5pPr marL="1371966" indent="0">
              <a:buNone/>
              <a:defRPr sz="675"/>
            </a:lvl5pPr>
            <a:lvl6pPr marL="1714957" indent="0">
              <a:buNone/>
              <a:defRPr sz="675"/>
            </a:lvl6pPr>
            <a:lvl7pPr marL="2057949" indent="0">
              <a:buNone/>
              <a:defRPr sz="675"/>
            </a:lvl7pPr>
            <a:lvl8pPr marL="2400940" indent="0">
              <a:buNone/>
              <a:defRPr sz="675"/>
            </a:lvl8pPr>
            <a:lvl9pPr marL="2743932" indent="0">
              <a:buNone/>
              <a:defRPr sz="675"/>
            </a:lvl9pPr>
          </a:lstStyle>
          <a:p>
            <a:pPr lvl="0"/>
            <a:r>
              <a:rPr lang="en-US"/>
              <a:t>Click to edit Master text styles</a:t>
            </a:r>
          </a:p>
        </p:txBody>
      </p:sp>
      <p:pic>
        <p:nvPicPr>
          <p:cNvPr id="21" name="Picture 20"/>
          <p:cNvPicPr>
            <a:picLocks noChangeAspect="1"/>
          </p:cNvPicPr>
          <p:nvPr/>
        </p:nvPicPr>
        <p:blipFill>
          <a:blip r:embed="rId3" cstate="print">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228600" y="201689"/>
            <a:ext cx="1371600" cy="636511"/>
          </a:xfrm>
          <a:prstGeom prst="rect">
            <a:avLst/>
          </a:prstGeom>
        </p:spPr>
      </p:pic>
    </p:spTree>
    <p:extLst>
      <p:ext uri="{BB962C8B-B14F-4D97-AF65-F5344CB8AC3E}">
        <p14:creationId xmlns:p14="http://schemas.microsoft.com/office/powerpoint/2010/main" val="3407000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bg1">
                <a:lumMod val="100000"/>
              </a:schemeClr>
            </a:gs>
            <a:gs pos="100000">
              <a:schemeClr val="bg1">
                <a:lumMod val="85000"/>
              </a:schemeClr>
            </a:gs>
          </a:gsLst>
          <a:path path="circle">
            <a:fillToRect l="100000" b="10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451" y="274638"/>
            <a:ext cx="7317105" cy="13255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913451" y="1828800"/>
            <a:ext cx="7317105"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115455" y="6448427"/>
            <a:ext cx="894946"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endParaRPr lang="en-US"/>
          </a:p>
        </p:txBody>
      </p:sp>
      <p:sp>
        <p:nvSpPr>
          <p:cNvPr id="5" name="Footer Placeholder 4"/>
          <p:cNvSpPr>
            <a:spLocks noGrp="1"/>
          </p:cNvSpPr>
          <p:nvPr>
            <p:ph type="ftr" sz="quarter" idx="3"/>
          </p:nvPr>
        </p:nvSpPr>
        <p:spPr>
          <a:xfrm>
            <a:off x="906865" y="6448427"/>
            <a:ext cx="4979929" cy="180974"/>
          </a:xfrm>
          <a:prstGeom prst="rect">
            <a:avLst/>
          </a:prstGeom>
        </p:spPr>
        <p:txBody>
          <a:bodyPr vert="horz" lIns="91440" tIns="45720" rIns="91440" bIns="45720" rtlCol="0" anchor="ctr"/>
          <a:lstStyle>
            <a:lvl1pPr algn="l">
              <a:defRPr sz="750" cap="all" baseline="0">
                <a:solidFill>
                  <a:schemeClr val="tx1"/>
                </a:solidFill>
                <a:latin typeface="Avenir Next LT Pro" panose="020B0504020202020204" pitchFamily="34" charset="0"/>
              </a:defRPr>
            </a:lvl1pPr>
          </a:lstStyle>
          <a:p>
            <a:r>
              <a:rPr lang="en-US"/>
              <a:t>KILDARE PARTNERS</a:t>
            </a:r>
          </a:p>
        </p:txBody>
      </p:sp>
      <p:sp>
        <p:nvSpPr>
          <p:cNvPr id="6" name="Slide Number Placeholder 5"/>
          <p:cNvSpPr>
            <a:spLocks noGrp="1"/>
          </p:cNvSpPr>
          <p:nvPr>
            <p:ph type="sldNum" sz="quarter" idx="4"/>
          </p:nvPr>
        </p:nvSpPr>
        <p:spPr>
          <a:xfrm>
            <a:off x="7239000" y="6448427"/>
            <a:ext cx="991554" cy="180974"/>
          </a:xfrm>
          <a:prstGeom prst="rect">
            <a:avLst/>
          </a:prstGeom>
        </p:spPr>
        <p:txBody>
          <a:bodyPr vert="horz" lIns="91440" tIns="45720" rIns="91440" bIns="45720" rtlCol="0" anchor="ctr"/>
          <a:lstStyle>
            <a:lvl1pPr algn="r">
              <a:defRPr sz="750">
                <a:solidFill>
                  <a:schemeClr val="tx1"/>
                </a:solidFill>
                <a:latin typeface="Avenir Next LT Pro" panose="020B0504020202020204" pitchFamily="34" charset="0"/>
              </a:defRPr>
            </a:lvl1pPr>
          </a:lstStyle>
          <a:p>
            <a:r>
              <a:rPr lang="en-US"/>
              <a:t>Confidential | </a:t>
            </a:r>
            <a:fld id="{F36C87F6-986D-49E6-AF40-1B3A1EE8064D}" type="slidenum">
              <a:rPr lang="en-US" smtClean="0"/>
              <a:pPr/>
              <a:t>‹#›</a:t>
            </a:fld>
            <a:endParaRPr lang="en-US"/>
          </a:p>
        </p:txBody>
      </p:sp>
      <p:sp>
        <p:nvSpPr>
          <p:cNvPr id="7" name="TextBox 6"/>
          <p:cNvSpPr txBox="1"/>
          <p:nvPr userDrawn="1"/>
        </p:nvSpPr>
        <p:spPr>
          <a:xfrm>
            <a:off x="-888521" y="0"/>
            <a:ext cx="838200" cy="203133"/>
          </a:xfrm>
          <a:prstGeom prst="rect">
            <a:avLst/>
          </a:prstGeom>
          <a:solidFill>
            <a:srgbClr val="AF8C49"/>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AF8C49</a:t>
            </a:r>
          </a:p>
        </p:txBody>
      </p:sp>
      <p:sp>
        <p:nvSpPr>
          <p:cNvPr id="10" name="TextBox 9">
            <a:extLst>
              <a:ext uri="{FF2B5EF4-FFF2-40B4-BE49-F238E27FC236}">
                <a16:creationId xmlns:a16="http://schemas.microsoft.com/office/drawing/2014/main" id="{215E4D0A-4535-9DCC-30EC-115F63F87340}"/>
              </a:ext>
            </a:extLst>
          </p:cNvPr>
          <p:cNvSpPr txBox="1"/>
          <p:nvPr userDrawn="1"/>
        </p:nvSpPr>
        <p:spPr>
          <a:xfrm>
            <a:off x="-888521" y="253072"/>
            <a:ext cx="838200" cy="203133"/>
          </a:xfrm>
          <a:prstGeom prst="rect">
            <a:avLst/>
          </a:prstGeom>
          <a:solidFill>
            <a:srgbClr val="1442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14425D</a:t>
            </a:r>
          </a:p>
        </p:txBody>
      </p:sp>
      <p:sp>
        <p:nvSpPr>
          <p:cNvPr id="11" name="TextBox 10">
            <a:extLst>
              <a:ext uri="{FF2B5EF4-FFF2-40B4-BE49-F238E27FC236}">
                <a16:creationId xmlns:a16="http://schemas.microsoft.com/office/drawing/2014/main" id="{A0ADA7A3-4A4C-2191-5488-71A26B234E8D}"/>
              </a:ext>
            </a:extLst>
          </p:cNvPr>
          <p:cNvSpPr txBox="1"/>
          <p:nvPr userDrawn="1"/>
        </p:nvSpPr>
        <p:spPr>
          <a:xfrm>
            <a:off x="-888521" y="506144"/>
            <a:ext cx="838200" cy="203133"/>
          </a:xfrm>
          <a:prstGeom prst="rect">
            <a:avLst/>
          </a:prstGeom>
          <a:solidFill>
            <a:srgbClr val="280003"/>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280003</a:t>
            </a:r>
          </a:p>
        </p:txBody>
      </p:sp>
      <p:sp>
        <p:nvSpPr>
          <p:cNvPr id="12" name="TextBox 11">
            <a:extLst>
              <a:ext uri="{FF2B5EF4-FFF2-40B4-BE49-F238E27FC236}">
                <a16:creationId xmlns:a16="http://schemas.microsoft.com/office/drawing/2014/main" id="{F704D1EF-97DC-7BC5-3A14-30C0D04058D6}"/>
              </a:ext>
            </a:extLst>
          </p:cNvPr>
          <p:cNvSpPr txBox="1"/>
          <p:nvPr userDrawn="1"/>
        </p:nvSpPr>
        <p:spPr>
          <a:xfrm>
            <a:off x="-888521" y="757886"/>
            <a:ext cx="838200" cy="203133"/>
          </a:xfrm>
          <a:prstGeom prst="rect">
            <a:avLst/>
          </a:prstGeom>
          <a:solidFill>
            <a:srgbClr val="4F505D"/>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4F505D</a:t>
            </a:r>
          </a:p>
        </p:txBody>
      </p:sp>
      <p:sp>
        <p:nvSpPr>
          <p:cNvPr id="13" name="TextBox 12">
            <a:extLst>
              <a:ext uri="{FF2B5EF4-FFF2-40B4-BE49-F238E27FC236}">
                <a16:creationId xmlns:a16="http://schemas.microsoft.com/office/drawing/2014/main" id="{3405E372-FAEB-E166-F39E-B06223EE3FFD}"/>
              </a:ext>
            </a:extLst>
          </p:cNvPr>
          <p:cNvSpPr txBox="1"/>
          <p:nvPr userDrawn="1"/>
        </p:nvSpPr>
        <p:spPr>
          <a:xfrm>
            <a:off x="-888521" y="1009628"/>
            <a:ext cx="838200" cy="203133"/>
          </a:xfrm>
          <a:prstGeom prst="rect">
            <a:avLst/>
          </a:prstGeom>
          <a:solidFill>
            <a:srgbClr val="769FB6"/>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769FB6</a:t>
            </a:r>
          </a:p>
        </p:txBody>
      </p:sp>
      <p:sp>
        <p:nvSpPr>
          <p:cNvPr id="14" name="TextBox 13">
            <a:extLst>
              <a:ext uri="{FF2B5EF4-FFF2-40B4-BE49-F238E27FC236}">
                <a16:creationId xmlns:a16="http://schemas.microsoft.com/office/drawing/2014/main" id="{1E4BBA53-6D09-8782-B5B9-E9A5BECF8AD0}"/>
              </a:ext>
            </a:extLst>
          </p:cNvPr>
          <p:cNvSpPr txBox="1"/>
          <p:nvPr userDrawn="1"/>
        </p:nvSpPr>
        <p:spPr>
          <a:xfrm>
            <a:off x="-888521" y="1261370"/>
            <a:ext cx="838200" cy="203133"/>
          </a:xfrm>
          <a:prstGeom prst="rect">
            <a:avLst/>
          </a:prstGeom>
          <a:solidFill>
            <a:srgbClr val="FFCFD2"/>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FFCFD2</a:t>
            </a:r>
          </a:p>
        </p:txBody>
      </p:sp>
      <p:sp>
        <p:nvSpPr>
          <p:cNvPr id="15" name="TextBox 14">
            <a:extLst>
              <a:ext uri="{FF2B5EF4-FFF2-40B4-BE49-F238E27FC236}">
                <a16:creationId xmlns:a16="http://schemas.microsoft.com/office/drawing/2014/main" id="{01F61B67-6E0E-07C7-E37E-D7FC9728B8B6}"/>
              </a:ext>
            </a:extLst>
          </p:cNvPr>
          <p:cNvSpPr txBox="1"/>
          <p:nvPr userDrawn="1"/>
        </p:nvSpPr>
        <p:spPr>
          <a:xfrm>
            <a:off x="-888521" y="1513112"/>
            <a:ext cx="838200" cy="203133"/>
          </a:xfrm>
          <a:prstGeom prst="rect">
            <a:avLst/>
          </a:prstGeom>
          <a:solidFill>
            <a:srgbClr val="EC9A07"/>
          </a:solidFill>
          <a:ln w="6350">
            <a:solidFill>
              <a:schemeClr val="tx1"/>
            </a:solidFill>
          </a:ln>
        </p:spPr>
        <p:txBody>
          <a:bodyPr wrap="square" rtlCol="0">
            <a:spAutoFit/>
          </a:bodyPr>
          <a:lstStyle/>
          <a:p>
            <a:pPr algn="ctr">
              <a:lnSpc>
                <a:spcPct val="90000"/>
              </a:lnSpc>
            </a:pPr>
            <a:r>
              <a:rPr lang="en-GB" sz="800">
                <a:solidFill>
                  <a:schemeClr val="tx1"/>
                </a:solidFill>
                <a:latin typeface="Avenir Next LT Pro" panose="020B0504020202020204" pitchFamily="34" charset="0"/>
              </a:rPr>
              <a:t>EC9A07</a:t>
            </a:r>
          </a:p>
        </p:txBody>
      </p:sp>
      <p:sp>
        <p:nvSpPr>
          <p:cNvPr id="16" name="TextBox 15">
            <a:extLst>
              <a:ext uri="{FF2B5EF4-FFF2-40B4-BE49-F238E27FC236}">
                <a16:creationId xmlns:a16="http://schemas.microsoft.com/office/drawing/2014/main" id="{EA51C9DA-77AA-6EB7-9BE0-9B4FF8AC0A98}"/>
              </a:ext>
            </a:extLst>
          </p:cNvPr>
          <p:cNvSpPr txBox="1"/>
          <p:nvPr userDrawn="1"/>
        </p:nvSpPr>
        <p:spPr>
          <a:xfrm>
            <a:off x="-888521" y="1764854"/>
            <a:ext cx="838200" cy="203133"/>
          </a:xfrm>
          <a:prstGeom prst="rect">
            <a:avLst/>
          </a:prstGeom>
          <a:solidFill>
            <a:srgbClr val="00B050"/>
          </a:solidFill>
          <a:ln w="6350">
            <a:solidFill>
              <a:schemeClr val="tx1"/>
            </a:solidFill>
          </a:ln>
        </p:spPr>
        <p:txBody>
          <a:bodyPr wrap="square" rtlCol="0">
            <a:spAutoFit/>
          </a:bodyPr>
          <a:lstStyle/>
          <a:p>
            <a:pPr algn="ctr">
              <a:lnSpc>
                <a:spcPct val="90000"/>
              </a:lnSpc>
            </a:pPr>
            <a:r>
              <a:rPr lang="en-GB" sz="800">
                <a:solidFill>
                  <a:schemeClr val="bg1"/>
                </a:solidFill>
                <a:latin typeface="Avenir Next LT Pro" panose="020B0504020202020204" pitchFamily="34" charset="0"/>
              </a:rPr>
              <a:t>00B050</a:t>
            </a:r>
          </a:p>
        </p:txBody>
      </p:sp>
    </p:spTree>
    <p:extLst>
      <p:ext uri="{BB962C8B-B14F-4D97-AF65-F5344CB8AC3E}">
        <p14:creationId xmlns:p14="http://schemas.microsoft.com/office/powerpoint/2010/main" val="1489234859"/>
      </p:ext>
    </p:extLst>
  </p:cSld>
  <p:clrMap bg1="lt1" tx1="dk1" bg2="lt2" tx2="dk2" accent1="accent1" accent2="accent2" accent3="accent3" accent4="accent4" accent5="accent5" accent6="accent6" hlink="hlink" folHlink="folHlink"/>
  <p:sldLayoutIdLst>
    <p:sldLayoutId id="2147483661" r:id="rId1"/>
    <p:sldLayoutId id="2147483663" r:id="rId2"/>
    <p:sldLayoutId id="2147483664" r:id="rId3"/>
    <p:sldLayoutId id="2147483669" r:id="rId4"/>
    <p:sldLayoutId id="2147483670"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685983" rtl="0" eaLnBrk="1" latinLnBrk="0" hangingPunct="1">
        <a:lnSpc>
          <a:spcPct val="90000"/>
        </a:lnSpc>
        <a:spcBef>
          <a:spcPct val="0"/>
        </a:spcBef>
        <a:buNone/>
        <a:defRPr sz="3001" kern="1200" cap="all" baseline="0">
          <a:solidFill>
            <a:schemeClr val="tx1">
              <a:lumMod val="50000"/>
            </a:schemeClr>
          </a:solidFill>
          <a:latin typeface="Avenir Next LT Pro" panose="020B0504020202020204" pitchFamily="34" charset="0"/>
          <a:ea typeface="+mj-ea"/>
          <a:cs typeface="+mj-cs"/>
        </a:defRPr>
      </a:lvl1pPr>
    </p:titleStyle>
    <p:bodyStyle>
      <a:lvl1pPr marL="205795" indent="-171496" algn="l" defTabSz="685983" rtl="0" eaLnBrk="1" latinLnBrk="0" hangingPunct="1">
        <a:lnSpc>
          <a:spcPct val="90000"/>
        </a:lnSpc>
        <a:spcBef>
          <a:spcPts val="1350"/>
        </a:spcBef>
        <a:buClr>
          <a:schemeClr val="tx1"/>
        </a:buClr>
        <a:buSzPct val="80000"/>
        <a:buFont typeface="Arial" pitchFamily="34" charset="0"/>
        <a:buChar char="•"/>
        <a:defRPr sz="1800" kern="1200">
          <a:solidFill>
            <a:schemeClr val="tx1"/>
          </a:solidFill>
          <a:latin typeface="Avenir Next LT Pro" panose="020B0504020202020204" pitchFamily="34" charset="0"/>
          <a:ea typeface="+mn-ea"/>
          <a:cs typeface="+mn-cs"/>
        </a:defRPr>
      </a:lvl1pPr>
      <a:lvl2pPr marL="377291" indent="-171496" algn="l" defTabSz="685983" rtl="0" eaLnBrk="1" latinLnBrk="0" hangingPunct="1">
        <a:lnSpc>
          <a:spcPct val="90000"/>
        </a:lnSpc>
        <a:spcBef>
          <a:spcPts val="450"/>
        </a:spcBef>
        <a:buClr>
          <a:schemeClr val="tx1"/>
        </a:buClr>
        <a:buSzPct val="80000"/>
        <a:buFont typeface="Arial" pitchFamily="34" charset="0"/>
        <a:buChar char="•"/>
        <a:defRPr sz="1500" kern="1200">
          <a:solidFill>
            <a:schemeClr val="tx1"/>
          </a:solidFill>
          <a:latin typeface="Avenir Next LT Pro" panose="020B0504020202020204" pitchFamily="34" charset="0"/>
          <a:ea typeface="+mn-ea"/>
          <a:cs typeface="+mn-cs"/>
        </a:defRPr>
      </a:lvl2pPr>
      <a:lvl3pPr marL="548786" indent="-171496" algn="l" defTabSz="685983" rtl="0" eaLnBrk="1" latinLnBrk="0" hangingPunct="1">
        <a:lnSpc>
          <a:spcPct val="90000"/>
        </a:lnSpc>
        <a:spcBef>
          <a:spcPts val="450"/>
        </a:spcBef>
        <a:buClr>
          <a:schemeClr val="tx1"/>
        </a:buClr>
        <a:buSzPct val="80000"/>
        <a:buFont typeface="Arial" pitchFamily="34" charset="0"/>
        <a:buChar char="•"/>
        <a:defRPr sz="1350" kern="1200">
          <a:solidFill>
            <a:schemeClr val="tx1"/>
          </a:solidFill>
          <a:latin typeface="Avenir Next LT Pro" panose="020B0504020202020204" pitchFamily="34" charset="0"/>
          <a:ea typeface="+mn-ea"/>
          <a:cs typeface="+mn-cs"/>
        </a:defRPr>
      </a:lvl3pPr>
      <a:lvl4pPr marL="720282"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4pPr>
      <a:lvl5pPr marL="891778" indent="-171496" algn="l" defTabSz="685983" rtl="0" eaLnBrk="1" latinLnBrk="0" hangingPunct="1">
        <a:lnSpc>
          <a:spcPct val="90000"/>
        </a:lnSpc>
        <a:spcBef>
          <a:spcPts val="450"/>
        </a:spcBef>
        <a:buClr>
          <a:schemeClr val="tx1"/>
        </a:buClr>
        <a:buSzPct val="80000"/>
        <a:buFont typeface="Arial" pitchFamily="34" charset="0"/>
        <a:buChar char="•"/>
        <a:defRPr sz="1200" kern="1200">
          <a:solidFill>
            <a:schemeClr val="tx1"/>
          </a:solidFill>
          <a:latin typeface="Avenir Next LT Pro" panose="020B0504020202020204" pitchFamily="34" charset="0"/>
          <a:ea typeface="+mn-ea"/>
          <a:cs typeface="+mn-cs"/>
        </a:defRPr>
      </a:lvl5pPr>
      <a:lvl6pPr marL="1063273"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6pPr>
      <a:lvl7pPr marL="1234769"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7pPr>
      <a:lvl8pPr marL="1406265" indent="-171496" algn="l" defTabSz="685983" rtl="0" eaLnBrk="1" latinLnBrk="0" hangingPunct="1">
        <a:spcBef>
          <a:spcPts val="450"/>
        </a:spcBef>
        <a:buSzPct val="80000"/>
        <a:buFont typeface="Arial" pitchFamily="34" charset="0"/>
        <a:buChar char="•"/>
        <a:defRPr sz="1200" kern="1200">
          <a:solidFill>
            <a:schemeClr val="tx1"/>
          </a:solidFill>
          <a:latin typeface="+mn-lt"/>
          <a:ea typeface="+mn-ea"/>
          <a:cs typeface="+mn-cs"/>
        </a:defRPr>
      </a:lvl8pPr>
      <a:lvl9pPr marL="1577761" indent="-171496" algn="l" defTabSz="685983" rtl="0" eaLnBrk="1" latinLnBrk="0" hangingPunct="1">
        <a:spcBef>
          <a:spcPts val="450"/>
        </a:spcBef>
        <a:buSzPct val="80000"/>
        <a:buFont typeface="Arial" pitchFamily="34" charset="0"/>
        <a:buChar char="•"/>
        <a:defRPr sz="1200" kern="1200" baseline="0">
          <a:solidFill>
            <a:schemeClr val="tx1"/>
          </a:solidFill>
          <a:latin typeface="+mn-lt"/>
          <a:ea typeface="+mn-ea"/>
          <a:cs typeface="+mn-cs"/>
        </a:defRPr>
      </a:lvl9pPr>
    </p:bodyStyle>
    <p:otherStyle>
      <a:defPPr>
        <a:defRPr/>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2160" userDrawn="1">
          <p15:clr>
            <a:srgbClr val="F26B43"/>
          </p15:clr>
        </p15:guide>
        <p15:guide id="1"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4A37A1-7D8A-6F00-8812-7226595E3D4B}"/>
              </a:ext>
            </a:extLst>
          </p:cNvPr>
          <p:cNvSpPr/>
          <p:nvPr/>
        </p:nvSpPr>
        <p:spPr>
          <a:xfrm>
            <a:off x="147856" y="5619750"/>
            <a:ext cx="8839200" cy="1043876"/>
          </a:xfrm>
          <a:prstGeom prst="rect">
            <a:avLst/>
          </a:prstGeom>
        </p:spPr>
        <p:txBody>
          <a:bodyPr wrap="square">
            <a:spAutoFit/>
          </a:bodyPr>
          <a:lstStyle/>
          <a:p>
            <a:pPr algn="just" eaLnBrk="0" hangingPunct="0">
              <a:spcAft>
                <a:spcPts val="400"/>
              </a:spcAft>
            </a:pPr>
            <a:r>
              <a:rPr lang="en-US" sz="650" i="1">
                <a:latin typeface="Avenir Next LT Pro" panose="020B0504020202020204" pitchFamily="34" charset="0"/>
              </a:rPr>
              <a:t>The contents of this presentation are confidential and for discussion purposes only. The delivery of this presentation and its contents do not constitute an offer of securities in any existing or to-be-formed issuer or a solicitation of an offer to purchase any such securities by any person.  Offers of securities will only be made by delivery of a Confidential Private Placement Memorandum.  </a:t>
            </a:r>
          </a:p>
          <a:p>
            <a:pPr algn="just" eaLnBrk="0" hangingPunct="0"/>
            <a:r>
              <a:rPr lang="en-US" sz="650" i="1">
                <a:latin typeface="Avenir Next LT Pro" panose="020B0504020202020204" pitchFamily="34" charset="0"/>
              </a:rPr>
              <a:t>The materials herein are confidential and proprietary.  Accordingly, this presentation is to be treated as strictly confidential and not disclosed, directly or indirectly, to any party other than the person to whom it has been delivered and such person’s professional advisors.  Any distribution of this presentation, in whole or in part, or the divulgence of any of its contents, is unauthorized. Past performance is not an indication of future results, and no representation or warranty is made as to the returns which may be experienced by an investor.</a:t>
            </a:r>
          </a:p>
          <a:p>
            <a:pPr algn="just" eaLnBrk="0" hangingPunct="0"/>
            <a:endParaRPr lang="en-US" sz="650" i="1">
              <a:latin typeface="Avenir Next LT Pro" panose="020B0504020202020204" pitchFamily="34" charset="0"/>
            </a:endParaRPr>
          </a:p>
          <a:p>
            <a:pPr algn="just" eaLnBrk="0" hangingPunct="0"/>
            <a:r>
              <a:rPr lang="en-US" sz="650" i="1">
                <a:latin typeface="Avenir Next LT Pro" panose="020B0504020202020204" pitchFamily="34" charset="0"/>
              </a:rPr>
              <a:t>The information in this presentation contains forward-looking statements regarding future events, targets or expectations. The commercial real estate market is volatile and unpredictable. There are no guarantees that the historical performance of an investment, Portfolio, or asset class will have a direct correlation with its future performance. The information in this presentation is based on current market conditions, which will fluctuate and may be superseded by subsequent market events or for other reasons.</a:t>
            </a:r>
          </a:p>
        </p:txBody>
      </p:sp>
      <p:sp>
        <p:nvSpPr>
          <p:cNvPr id="5" name="Subtitle 4"/>
          <p:cNvSpPr>
            <a:spLocks noGrp="1"/>
          </p:cNvSpPr>
          <p:nvPr>
            <p:ph type="subTitle" idx="1"/>
          </p:nvPr>
        </p:nvSpPr>
        <p:spPr>
          <a:xfrm>
            <a:off x="158338" y="4735007"/>
            <a:ext cx="8839200" cy="533400"/>
          </a:xfrm>
        </p:spPr>
        <p:txBody>
          <a:bodyPr>
            <a:normAutofit/>
          </a:bodyPr>
          <a:lstStyle/>
          <a:p>
            <a:endParaRPr lang="en-US" sz="1600">
              <a:latin typeface="Avenir Next LT Pro" panose="020B0504020202020204" pitchFamily="34" charset="0"/>
            </a:endParaRPr>
          </a:p>
        </p:txBody>
      </p:sp>
      <p:sp>
        <p:nvSpPr>
          <p:cNvPr id="3" name="TextBox 2">
            <a:extLst>
              <a:ext uri="{FF2B5EF4-FFF2-40B4-BE49-F238E27FC236}">
                <a16:creationId xmlns:a16="http://schemas.microsoft.com/office/drawing/2014/main" id="{59638BFF-4FC7-3F12-DDB4-5547AEC40B4E}"/>
              </a:ext>
            </a:extLst>
          </p:cNvPr>
          <p:cNvSpPr txBox="1"/>
          <p:nvPr/>
        </p:nvSpPr>
        <p:spPr>
          <a:xfrm>
            <a:off x="153794" y="3949859"/>
            <a:ext cx="8848288" cy="609600"/>
          </a:xfrm>
          <a:prstGeom prst="rect">
            <a:avLst/>
          </a:prstGeom>
          <a:noFill/>
          <a:ln w="6350">
            <a:noFill/>
          </a:ln>
          <a:effectLst/>
        </p:spPr>
        <p:txBody>
          <a:bodyPr vert="horz" wrap="square" lIns="73152" tIns="42203" rIns="73152" bIns="42203" rtlCol="0" anchor="ctr" anchorCtr="0">
            <a:noAutofit/>
          </a:bodyPr>
          <a:lstStyle/>
          <a:p>
            <a:pPr algn="ctr"/>
            <a:r>
              <a:rPr lang="en-US" sz="2400" dirty="0">
                <a:latin typeface="Avenir Next LT Pro Demi" panose="020B0704020202020204" pitchFamily="34" charset="0"/>
              </a:rPr>
              <a:t>Restoration Hardware </a:t>
            </a:r>
            <a:r>
              <a:rPr lang="en-US" sz="2400">
                <a:latin typeface="Avenir Next LT Pro Demi" panose="020B0704020202020204" pitchFamily="34" charset="0"/>
              </a:rPr>
              <a:t>(RH) Stock </a:t>
            </a:r>
            <a:r>
              <a:rPr lang="en-US" sz="2400" dirty="0">
                <a:latin typeface="Avenir Next LT Pro Demi" panose="020B0704020202020204" pitchFamily="34" charset="0"/>
              </a:rPr>
              <a:t>Pitch</a:t>
            </a:r>
          </a:p>
        </p:txBody>
      </p:sp>
      <p:pic>
        <p:nvPicPr>
          <p:cNvPr id="4" name="Picture 3">
            <a:extLst>
              <a:ext uri="{FF2B5EF4-FFF2-40B4-BE49-F238E27FC236}">
                <a16:creationId xmlns:a16="http://schemas.microsoft.com/office/drawing/2014/main" id="{18A7F065-9AC5-5E17-3645-8A09D7A7ABF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5920" y="911357"/>
            <a:ext cx="5852160" cy="1539915"/>
          </a:xfrm>
          <a:prstGeom prst="rect">
            <a:avLst/>
          </a:prstGeom>
        </p:spPr>
      </p:pic>
    </p:spTree>
    <p:extLst>
      <p:ext uri="{BB962C8B-B14F-4D97-AF65-F5344CB8AC3E}">
        <p14:creationId xmlns:p14="http://schemas.microsoft.com/office/powerpoint/2010/main" val="2627608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4A3F6-56BE-9745-691F-5DDCD589A1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84B421E-9E49-3211-883A-EDF9D07FE1F5}"/>
              </a:ext>
            </a:extLst>
          </p:cNvPr>
          <p:cNvSpPr>
            <a:spLocks noGrp="1"/>
          </p:cNvSpPr>
          <p:nvPr>
            <p:ph type="title"/>
          </p:nvPr>
        </p:nvSpPr>
        <p:spPr/>
        <p:txBody>
          <a:bodyPr/>
          <a:lstStyle/>
          <a:p>
            <a:r>
              <a:rPr lang="en-US"/>
              <a:t>Table of Contents</a:t>
            </a:r>
          </a:p>
        </p:txBody>
      </p:sp>
      <p:graphicFrame>
        <p:nvGraphicFramePr>
          <p:cNvPr id="2" name="Table 1">
            <a:extLst>
              <a:ext uri="{FF2B5EF4-FFF2-40B4-BE49-F238E27FC236}">
                <a16:creationId xmlns:a16="http://schemas.microsoft.com/office/drawing/2014/main" id="{B661FD0E-1B52-5132-0BF5-35BE33B1205E}"/>
              </a:ext>
            </a:extLst>
          </p:cNvPr>
          <p:cNvGraphicFramePr>
            <a:graphicFrameLocks noGrp="1"/>
          </p:cNvGraphicFramePr>
          <p:nvPr>
            <p:extLst>
              <p:ext uri="{D42A27DB-BD31-4B8C-83A1-F6EECF244321}">
                <p14:modId xmlns:p14="http://schemas.microsoft.com/office/powerpoint/2010/main" val="4186093786"/>
              </p:ext>
            </p:extLst>
          </p:nvPr>
        </p:nvGraphicFramePr>
        <p:xfrm>
          <a:off x="361461" y="1270173"/>
          <a:ext cx="5164015" cy="3942688"/>
        </p:xfrm>
        <a:graphic>
          <a:graphicData uri="http://schemas.openxmlformats.org/drawingml/2006/table">
            <a:tbl>
              <a:tblPr firstRow="1" bandRow="1">
                <a:tableStyleId>{5940675A-B579-460E-94D1-54222C63F5DA}</a:tableStyleId>
              </a:tblPr>
              <a:tblGrid>
                <a:gridCol w="4258048">
                  <a:extLst>
                    <a:ext uri="{9D8B030D-6E8A-4147-A177-3AD203B41FA5}">
                      <a16:colId xmlns:a16="http://schemas.microsoft.com/office/drawing/2014/main" val="3371369022"/>
                    </a:ext>
                  </a:extLst>
                </a:gridCol>
                <a:gridCol w="905967">
                  <a:extLst>
                    <a:ext uri="{9D8B030D-6E8A-4147-A177-3AD203B41FA5}">
                      <a16:colId xmlns:a16="http://schemas.microsoft.com/office/drawing/2014/main" val="3756833042"/>
                    </a:ext>
                  </a:extLst>
                </a:gridCol>
              </a:tblGrid>
              <a:tr h="829499">
                <a:tc>
                  <a:txBody>
                    <a:bodyPr/>
                    <a:lstStyle/>
                    <a:p>
                      <a:r>
                        <a:rPr lang="en-US" sz="1400" b="1">
                          <a:solidFill>
                            <a:schemeClr val="tx1"/>
                          </a:solidFill>
                        </a:rPr>
                        <a:t>Section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sz="1400" b="1">
                          <a:solidFill>
                            <a:schemeClr val="tx1"/>
                          </a:solidFill>
                        </a:rPr>
                        <a:t>Page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23660340"/>
                  </a:ext>
                </a:extLst>
              </a:tr>
              <a:tr h="829499">
                <a:tc>
                  <a:txBody>
                    <a:bodyPr/>
                    <a:lstStyle/>
                    <a:p>
                      <a:r>
                        <a:rPr lang="en-US" sz="1400">
                          <a:solidFill>
                            <a:schemeClr val="bg1">
                              <a:lumMod val="50000"/>
                            </a:schemeClr>
                          </a:solidFill>
                        </a:rPr>
                        <a:t>1.  Investment Thesis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58414655"/>
                  </a:ext>
                </a:extLst>
              </a:tr>
              <a:tr h="829499">
                <a:tc>
                  <a:txBody>
                    <a:bodyPr/>
                    <a:lstStyle/>
                    <a:p>
                      <a:r>
                        <a:rPr lang="en-US" sz="1400">
                          <a:solidFill>
                            <a:schemeClr val="bg1">
                              <a:lumMod val="50000"/>
                            </a:schemeClr>
                          </a:solidFill>
                        </a:rPr>
                        <a:t>2.  Stock Overview</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6</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220369599"/>
                  </a:ext>
                </a:extLst>
              </a:tr>
              <a:tr h="1454191">
                <a:tc>
                  <a:txBody>
                    <a:bodyPr/>
                    <a:lstStyle/>
                    <a:p>
                      <a:pPr marL="228600" indent="-228600">
                        <a:buAutoNum type="arabicPeriod" startAt="3"/>
                      </a:pPr>
                      <a:r>
                        <a:rPr lang="en-US" sz="1400">
                          <a:solidFill>
                            <a:schemeClr val="bg1">
                              <a:lumMod val="50000"/>
                            </a:schemeClr>
                          </a:solidFill>
                        </a:rPr>
                        <a:t>Valuation &amp; Returns</a:t>
                      </a: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endParaRPr lang="en-US" sz="1400">
                        <a:solidFill>
                          <a:schemeClr val="bg1">
                            <a:lumMod val="50000"/>
                          </a:schemeClr>
                        </a:solidFill>
                      </a:endParaRPr>
                    </a:p>
                    <a:p>
                      <a:pPr marL="228600" indent="-228600">
                        <a:buAutoNum type="arabicPeriod" startAt="3"/>
                      </a:pPr>
                      <a:r>
                        <a:rPr lang="en-US" sz="1400">
                          <a:solidFill>
                            <a:schemeClr val="bg1">
                              <a:lumMod val="50000"/>
                            </a:schemeClr>
                          </a:solidFill>
                        </a:rPr>
                        <a:t>Competitors</a:t>
                      </a:r>
                      <a:endParaRPr lang="en-US" sz="1400">
                        <a:solidFill>
                          <a:schemeClr val="tx1"/>
                        </a:solidFill>
                      </a:endParaRPr>
                    </a:p>
                  </a:txBody>
                  <a:tcPr marL="137160">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13</a:t>
                      </a: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Avenir Next LT Pro"/>
                        <a:ea typeface="+mn-ea"/>
                        <a:cs typeface="+mn-cs"/>
                      </a:endParaRPr>
                    </a:p>
                    <a:p>
                      <a:pPr marL="0" marR="0" lvl="0" indent="0" algn="ctr" defTabSz="685983"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venir Next LT Pro"/>
                          <a:ea typeface="+mn-ea"/>
                          <a:cs typeface="+mn-cs"/>
                        </a:rPr>
                        <a:t>17</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375359035"/>
                  </a:ext>
                </a:extLst>
              </a:tr>
            </a:tbl>
          </a:graphicData>
        </a:graphic>
      </p:graphicFrame>
    </p:spTree>
    <p:extLst>
      <p:ext uri="{BB962C8B-B14F-4D97-AF65-F5344CB8AC3E}">
        <p14:creationId xmlns:p14="http://schemas.microsoft.com/office/powerpoint/2010/main" val="39147151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4F2F2-7CB4-C805-D8CF-2A95F47E6D33}"/>
              </a:ext>
            </a:extLst>
          </p:cNvPr>
          <p:cNvSpPr>
            <a:spLocks noGrp="1"/>
          </p:cNvSpPr>
          <p:nvPr>
            <p:ph type="title"/>
          </p:nvPr>
        </p:nvSpPr>
        <p:spPr/>
        <p:txBody>
          <a:bodyPr/>
          <a:lstStyle/>
          <a:p>
            <a:r>
              <a:rPr lang="en-US"/>
              <a:t>Investment thesis</a:t>
            </a:r>
          </a:p>
        </p:txBody>
      </p:sp>
    </p:spTree>
    <p:extLst>
      <p:ext uri="{BB962C8B-B14F-4D97-AF65-F5344CB8AC3E}">
        <p14:creationId xmlns:p14="http://schemas.microsoft.com/office/powerpoint/2010/main" val="345621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9AC4-5F7C-A2D7-D6B4-5016F0DAC4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35ACC6-6C7A-527D-E401-ADAD448F3BB9}"/>
              </a:ext>
            </a:extLst>
          </p:cNvPr>
          <p:cNvSpPr>
            <a:spLocks noGrp="1"/>
          </p:cNvSpPr>
          <p:nvPr>
            <p:ph type="title"/>
          </p:nvPr>
        </p:nvSpPr>
        <p:spPr/>
        <p:txBody>
          <a:bodyPr/>
          <a:lstStyle/>
          <a:p>
            <a:r>
              <a:rPr lang="en-US"/>
              <a:t>Stock</a:t>
            </a:r>
            <a:br>
              <a:rPr lang="en-US"/>
            </a:br>
            <a:r>
              <a:rPr lang="en-US" sz="1800"/>
              <a:t>Overview</a:t>
            </a:r>
          </a:p>
        </p:txBody>
      </p:sp>
    </p:spTree>
    <p:extLst>
      <p:ext uri="{BB962C8B-B14F-4D97-AF65-F5344CB8AC3E}">
        <p14:creationId xmlns:p14="http://schemas.microsoft.com/office/powerpoint/2010/main" val="3862385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6EAD30-CEA1-8508-C4C6-5800B2CA8846}"/>
              </a:ext>
            </a:extLst>
          </p:cNvPr>
          <p:cNvSpPr>
            <a:spLocks noGrp="1"/>
          </p:cNvSpPr>
          <p:nvPr>
            <p:ph type="title"/>
          </p:nvPr>
        </p:nvSpPr>
        <p:spPr/>
        <p:txBody>
          <a:bodyPr/>
          <a:lstStyle/>
          <a:p>
            <a:r>
              <a:rPr lang="en-US"/>
              <a:t>Valuation &amp; returns</a:t>
            </a:r>
          </a:p>
        </p:txBody>
      </p:sp>
    </p:spTree>
    <p:extLst>
      <p:ext uri="{BB962C8B-B14F-4D97-AF65-F5344CB8AC3E}">
        <p14:creationId xmlns:p14="http://schemas.microsoft.com/office/powerpoint/2010/main" val="1202939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0880E-3485-E4DD-E794-98A7729742E7}"/>
              </a:ext>
            </a:extLst>
          </p:cNvPr>
          <p:cNvSpPr>
            <a:spLocks noGrp="1"/>
          </p:cNvSpPr>
          <p:nvPr>
            <p:ph type="title"/>
          </p:nvPr>
        </p:nvSpPr>
        <p:spPr/>
        <p:txBody>
          <a:bodyPr/>
          <a:lstStyle/>
          <a:p>
            <a:r>
              <a:rPr lang="en-US"/>
              <a:t>Competitive landscape</a:t>
            </a:r>
          </a:p>
        </p:txBody>
      </p:sp>
    </p:spTree>
    <p:extLst>
      <p:ext uri="{BB962C8B-B14F-4D97-AF65-F5344CB8AC3E}">
        <p14:creationId xmlns:p14="http://schemas.microsoft.com/office/powerpoint/2010/main" val="1829529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300" b="0" i="0">
                <a:solidFill>
                  <a:srgbClr val="0E2841"/>
                </a:solidFill>
                <a:latin typeface="Avenir Next LT Pro Demi"/>
              </a:rPr>
              <a:t>Financial Performance — Trough to Recovery</a:t>
            </a:r>
          </a:p>
        </p:txBody>
      </p:sp>
      <p:sp>
        <p:nvSpPr>
          <p:cNvPr id="3" name="Rectangle 2"/>
          <p:cNvSpPr/>
          <p:nvPr/>
        </p:nvSpPr>
        <p:spPr>
          <a:xfrm>
            <a:off x="457200" y="932688"/>
            <a:ext cx="8229600" cy="2743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8229600" cy="365760"/>
          </a:xfrm>
          <a:prstGeom prst="rect">
            <a:avLst/>
          </a:prstGeom>
          <a:noFill/>
        </p:spPr>
        <p:txBody>
          <a:bodyPr wrap="none">
            <a:spAutoFit/>
          </a:bodyPr>
          <a:lstStyle/>
          <a:p>
            <a:r>
              <a:rPr sz="700" b="0" i="0">
                <a:solidFill>
                  <a:srgbClr val="5A5A5A"/>
                </a:solidFill>
                <a:latin typeface="Avenir Next LT Pro"/>
              </a:rPr>
              <a:t>Confidential — for discussion purposes only. Not investment advice.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nvGraphicFramePr>
        <p:xfrm>
          <a:off x="457200" y="1417320"/>
          <a:ext cx="8229600" cy="3456432"/>
        </p:xfrm>
        <a:graphic>
          <a:graphicData uri="http://schemas.openxmlformats.org/drawingml/2006/table">
            <a:tbl>
              <a:tblPr>
                <a:tableStyleId>{5C22544A-7EE6-4342-B048-85BDC9FD1C3A}</a:tableStyleId>
              </a:tblPr>
              <a:tblGrid>
                <a:gridCol w="2377440"/>
                <a:gridCol w="1170432"/>
                <a:gridCol w="1170432"/>
                <a:gridCol w="1170432"/>
                <a:gridCol w="1170432"/>
                <a:gridCol w="1170432"/>
              </a:tblGrid>
              <a:tr h="384048">
                <a:tc>
                  <a:txBody>
                    <a:bodyPr/>
                    <a:lstStyle/>
                    <a:p>
                      <a:pPr algn="l"/>
                      <a:r>
                        <a:rPr sz="1050" b="1" i="0">
                          <a:solidFill>
                            <a:srgbClr val="FFFFFF"/>
                          </a:solidFill>
                          <a:latin typeface="Avenir Next LT Pro Demi"/>
                        </a:rPr>
                        <a:t>Metric ($M unless noted)</a:t>
                      </a:r>
                    </a:p>
                  </a:txBody>
                  <a:tcPr marL="73152" marR="73152" marT="18288" marB="18288" anchor="ctr">
                    <a:solidFill>
                      <a:srgbClr val="0E2841"/>
                    </a:solidFill>
                  </a:tcPr>
                </a:tc>
                <a:tc>
                  <a:txBody>
                    <a:bodyPr/>
                    <a:lstStyle/>
                    <a:p>
                      <a:pPr algn="ctr"/>
                      <a:r>
                        <a:rPr sz="1050" b="1" i="0">
                          <a:solidFill>
                            <a:srgbClr val="FFFFFF"/>
                          </a:solidFill>
                          <a:latin typeface="Avenir Next LT Pro Demi"/>
                        </a:rPr>
                        <a:t>FY23</a:t>
                      </a:r>
                    </a:p>
                  </a:txBody>
                  <a:tcPr marL="73152" marR="73152" marT="18288" marB="18288" anchor="ctr">
                    <a:solidFill>
                      <a:srgbClr val="0E2841"/>
                    </a:solidFill>
                  </a:tcPr>
                </a:tc>
                <a:tc>
                  <a:txBody>
                    <a:bodyPr/>
                    <a:lstStyle/>
                    <a:p>
                      <a:pPr algn="ctr"/>
                      <a:r>
                        <a:rPr sz="1050" b="1" i="0">
                          <a:solidFill>
                            <a:srgbClr val="FFFFFF"/>
                          </a:solidFill>
                          <a:latin typeface="Avenir Next LT Pro Demi"/>
                        </a:rPr>
                        <a:t>FY24</a:t>
                      </a:r>
                    </a:p>
                  </a:txBody>
                  <a:tcPr marL="73152" marR="73152" marT="18288" marB="18288" anchor="ctr">
                    <a:solidFill>
                      <a:srgbClr val="0E2841"/>
                    </a:solidFill>
                  </a:tcPr>
                </a:tc>
                <a:tc>
                  <a:txBody>
                    <a:bodyPr/>
                    <a:lstStyle/>
                    <a:p>
                      <a:pPr algn="ctr"/>
                      <a:r>
                        <a:rPr sz="1050" b="1" i="0">
                          <a:solidFill>
                            <a:srgbClr val="FFFFFF"/>
                          </a:solidFill>
                          <a:latin typeface="Avenir Next LT Pro Demi"/>
                        </a:rPr>
                        <a:t>FY25</a:t>
                      </a:r>
                    </a:p>
                  </a:txBody>
                  <a:tcPr marL="73152" marR="73152" marT="18288" marB="18288" anchor="ctr">
                    <a:solidFill>
                      <a:srgbClr val="0E2841"/>
                    </a:solidFill>
                  </a:tcPr>
                </a:tc>
                <a:tc>
                  <a:txBody>
                    <a:bodyPr/>
                    <a:lstStyle/>
                    <a:p>
                      <a:pPr algn="ctr"/>
                      <a:r>
                        <a:rPr sz="1050" b="1" i="0">
                          <a:solidFill>
                            <a:srgbClr val="FFFFFF"/>
                          </a:solidFill>
                          <a:latin typeface="Avenir Next LT Pro Demi"/>
                        </a:rPr>
                        <a:t>FY26E</a:t>
                      </a:r>
                    </a:p>
                  </a:txBody>
                  <a:tcPr marL="73152" marR="73152" marT="18288" marB="18288" anchor="ctr">
                    <a:solidFill>
                      <a:srgbClr val="0E2841"/>
                    </a:solidFill>
                  </a:tcPr>
                </a:tc>
                <a:tc>
                  <a:txBody>
                    <a:bodyPr/>
                    <a:lstStyle/>
                    <a:p>
                      <a:pPr algn="ctr"/>
                      <a:r>
                        <a:rPr sz="1050" b="1" i="0">
                          <a:solidFill>
                            <a:srgbClr val="FFFFFF"/>
                          </a:solidFill>
                          <a:latin typeface="Avenir Next LT Pro Demi"/>
                        </a:rPr>
                        <a:t>FY27E</a:t>
                      </a:r>
                    </a:p>
                  </a:txBody>
                  <a:tcPr marL="73152" marR="73152" marT="18288" marB="18288" anchor="ctr">
                    <a:solidFill>
                      <a:srgbClr val="0E2841"/>
                    </a:solidFill>
                  </a:tcPr>
                </a:tc>
              </a:tr>
              <a:tr h="384048">
                <a:tc>
                  <a:txBody>
                    <a:bodyPr/>
                    <a:lstStyle/>
                    <a:p>
                      <a:pPr algn="l"/>
                      <a:r>
                        <a:rPr sz="1100" b="1" i="0">
                          <a:solidFill>
                            <a:srgbClr val="0E2841"/>
                          </a:solidFill>
                          <a:latin typeface="Avenir Next LT Pro Demi"/>
                        </a:rPr>
                        <a:t>Revenue</a:t>
                      </a:r>
                    </a:p>
                  </a:txBody>
                  <a:tcPr marL="73152" marR="73152" marT="18288" marB="18288" anchor="ctr">
                    <a:solidFill>
                      <a:srgbClr val="FFFFFF"/>
                    </a:solidFill>
                  </a:tcPr>
                </a:tc>
                <a:tc>
                  <a:txBody>
                    <a:bodyPr/>
                    <a:lstStyle/>
                    <a:p>
                      <a:pPr algn="ctr"/>
                      <a:r>
                        <a:rPr sz="1100" b="0" i="0">
                          <a:solidFill>
                            <a:srgbClr val="5A5A5A"/>
                          </a:solidFill>
                          <a:latin typeface="Avenir Next LT Pro"/>
                        </a:rPr>
                        <a:t>3,032</a:t>
                      </a:r>
                    </a:p>
                  </a:txBody>
                  <a:tcPr marL="73152" marR="73152" marT="18288" marB="18288" anchor="ctr">
                    <a:solidFill>
                      <a:srgbClr val="FFFFFF"/>
                    </a:solidFill>
                  </a:tcPr>
                </a:tc>
                <a:tc>
                  <a:txBody>
                    <a:bodyPr/>
                    <a:lstStyle/>
                    <a:p>
                      <a:pPr algn="ctr"/>
                      <a:r>
                        <a:rPr sz="1100" b="0" i="0">
                          <a:solidFill>
                            <a:srgbClr val="5A5A5A"/>
                          </a:solidFill>
                          <a:latin typeface="Avenir Next LT Pro"/>
                        </a:rPr>
                        <a:t>3,182</a:t>
                      </a:r>
                    </a:p>
                  </a:txBody>
                  <a:tcPr marL="73152" marR="73152" marT="18288" marB="18288" anchor="ctr">
                    <a:solidFill>
                      <a:srgbClr val="FFFFFF"/>
                    </a:solidFill>
                  </a:tcPr>
                </a:tc>
                <a:tc>
                  <a:txBody>
                    <a:bodyPr/>
                    <a:lstStyle/>
                    <a:p>
                      <a:pPr algn="ctr"/>
                      <a:r>
                        <a:rPr sz="1100" b="0" i="0">
                          <a:solidFill>
                            <a:srgbClr val="5A5A5A"/>
                          </a:solidFill>
                          <a:latin typeface="Avenir Next LT Pro"/>
                        </a:rPr>
                        <a:t>3,440</a:t>
                      </a:r>
                    </a:p>
                  </a:txBody>
                  <a:tcPr marL="73152" marR="73152" marT="18288" marB="18288" anchor="ctr">
                    <a:solidFill>
                      <a:srgbClr val="FFFFFF"/>
                    </a:solidFill>
                  </a:tcPr>
                </a:tc>
                <a:tc>
                  <a:txBody>
                    <a:bodyPr/>
                    <a:lstStyle/>
                    <a:p>
                      <a:pPr algn="ctr"/>
                      <a:r>
                        <a:rPr sz="1100" b="0" i="0">
                          <a:solidFill>
                            <a:srgbClr val="5A5A5A"/>
                          </a:solidFill>
                          <a:latin typeface="Avenir Next LT Pro"/>
                        </a:rPr>
                        <a:t>3,780</a:t>
                      </a:r>
                    </a:p>
                  </a:txBody>
                  <a:tcPr marL="73152" marR="73152" marT="18288" marB="18288" anchor="ctr">
                    <a:solidFill>
                      <a:srgbClr val="FFFFFF"/>
                    </a:solidFill>
                  </a:tcPr>
                </a:tc>
                <a:tc>
                  <a:txBody>
                    <a:bodyPr/>
                    <a:lstStyle/>
                    <a:p>
                      <a:pPr algn="ctr"/>
                      <a:r>
                        <a:rPr sz="1100" b="0" i="0">
                          <a:solidFill>
                            <a:srgbClr val="5A5A5A"/>
                          </a:solidFill>
                          <a:latin typeface="Avenir Next LT Pro"/>
                        </a:rPr>
                        <a:t>4,220</a:t>
                      </a:r>
                    </a:p>
                  </a:txBody>
                  <a:tcPr marL="73152" marR="73152" marT="18288" marB="18288" anchor="ctr">
                    <a:solidFill>
                      <a:srgbClr val="FFFFFF"/>
                    </a:solidFill>
                  </a:tcPr>
                </a:tc>
              </a:tr>
              <a:tr h="384048">
                <a:tc>
                  <a:txBody>
                    <a:bodyPr/>
                    <a:lstStyle/>
                    <a:p>
                      <a:pPr algn="l"/>
                      <a:r>
                        <a:rPr sz="1100" b="1" i="0">
                          <a:solidFill>
                            <a:srgbClr val="0E2841"/>
                          </a:solidFill>
                          <a:latin typeface="Avenir Next LT Pro Demi"/>
                        </a:rPr>
                        <a:t>YoY Growth</a:t>
                      </a:r>
                    </a:p>
                  </a:txBody>
                  <a:tcPr marL="73152" marR="73152" marT="18288" marB="18288" anchor="ctr">
                    <a:solidFill>
                      <a:srgbClr val="F4F6F8"/>
                    </a:solidFill>
                  </a:tcPr>
                </a:tc>
                <a:tc>
                  <a:txBody>
                    <a:bodyPr/>
                    <a:lstStyle/>
                    <a:p>
                      <a:pPr algn="ctr"/>
                      <a:r>
                        <a:rPr sz="1100" b="0" i="0">
                          <a:solidFill>
                            <a:srgbClr val="5A5A5A"/>
                          </a:solidFill>
                          <a:latin typeface="Avenir Next LT Pro"/>
                        </a:rPr>
                        <a:t>-17.8%</a:t>
                      </a:r>
                    </a:p>
                  </a:txBody>
                  <a:tcPr marL="73152" marR="73152" marT="18288" marB="18288" anchor="ctr">
                    <a:solidFill>
                      <a:srgbClr val="F4F6F8"/>
                    </a:solidFill>
                  </a:tcPr>
                </a:tc>
                <a:tc>
                  <a:txBody>
                    <a:bodyPr/>
                    <a:lstStyle/>
                    <a:p>
                      <a:pPr algn="ctr"/>
                      <a:r>
                        <a:rPr sz="1100" b="0" i="0">
                          <a:solidFill>
                            <a:srgbClr val="5A5A5A"/>
                          </a:solidFill>
                          <a:latin typeface="Avenir Next LT Pro"/>
                        </a:rPr>
                        <a:t>+4.9%</a:t>
                      </a:r>
                    </a:p>
                  </a:txBody>
                  <a:tcPr marL="73152" marR="73152" marT="18288" marB="18288" anchor="ctr">
                    <a:solidFill>
                      <a:srgbClr val="F4F6F8"/>
                    </a:solidFill>
                  </a:tcPr>
                </a:tc>
                <a:tc>
                  <a:txBody>
                    <a:bodyPr/>
                    <a:lstStyle/>
                    <a:p>
                      <a:pPr algn="ctr"/>
                      <a:r>
                        <a:rPr sz="1100" b="0" i="0">
                          <a:solidFill>
                            <a:srgbClr val="5A5A5A"/>
                          </a:solidFill>
                          <a:latin typeface="Avenir Next LT Pro"/>
                        </a:rPr>
                        <a:t>+8.1%</a:t>
                      </a:r>
                    </a:p>
                  </a:txBody>
                  <a:tcPr marL="73152" marR="73152" marT="18288" marB="18288" anchor="ctr">
                    <a:solidFill>
                      <a:srgbClr val="F4F6F8"/>
                    </a:solidFill>
                  </a:tcPr>
                </a:tc>
                <a:tc>
                  <a:txBody>
                    <a:bodyPr/>
                    <a:lstStyle/>
                    <a:p>
                      <a:pPr algn="ctr"/>
                      <a:r>
                        <a:rPr sz="1100" b="0" i="0">
                          <a:solidFill>
                            <a:srgbClr val="5A5A5A"/>
                          </a:solidFill>
                          <a:latin typeface="Avenir Next LT Pro"/>
                        </a:rPr>
                        <a:t>+9.9%</a:t>
                      </a:r>
                    </a:p>
                  </a:txBody>
                  <a:tcPr marL="73152" marR="73152" marT="18288" marB="18288" anchor="ctr">
                    <a:solidFill>
                      <a:srgbClr val="F4F6F8"/>
                    </a:solidFill>
                  </a:tcPr>
                </a:tc>
                <a:tc>
                  <a:txBody>
                    <a:bodyPr/>
                    <a:lstStyle/>
                    <a:p>
                      <a:pPr algn="ctr"/>
                      <a:r>
                        <a:rPr sz="1100" b="0" i="0">
                          <a:solidFill>
                            <a:srgbClr val="5A5A5A"/>
                          </a:solidFill>
                          <a:latin typeface="Avenir Next LT Pro"/>
                        </a:rPr>
                        <a:t>+11.6%</a:t>
                      </a:r>
                    </a:p>
                  </a:txBody>
                  <a:tcPr marL="73152" marR="73152" marT="18288" marB="18288" anchor="ctr">
                    <a:solidFill>
                      <a:srgbClr val="F4F6F8"/>
                    </a:solidFill>
                  </a:tcPr>
                </a:tc>
              </a:tr>
              <a:tr h="384048">
                <a:tc>
                  <a:txBody>
                    <a:bodyPr/>
                    <a:lstStyle/>
                    <a:p>
                      <a:pPr algn="l"/>
                      <a:r>
                        <a:rPr sz="1100" b="1" i="0">
                          <a:solidFill>
                            <a:srgbClr val="0E2841"/>
                          </a:solidFill>
                          <a:latin typeface="Avenir Next LT Pro Demi"/>
                        </a:rPr>
                        <a:t>Gross Margin</a:t>
                      </a:r>
                    </a:p>
                  </a:txBody>
                  <a:tcPr marL="73152" marR="73152" marT="18288" marB="18288" anchor="ctr">
                    <a:solidFill>
                      <a:srgbClr val="FFFFFF"/>
                    </a:solidFill>
                  </a:tcPr>
                </a:tc>
                <a:tc>
                  <a:txBody>
                    <a:bodyPr/>
                    <a:lstStyle/>
                    <a:p>
                      <a:pPr algn="ctr"/>
                      <a:r>
                        <a:rPr sz="1100" b="0" i="0">
                          <a:solidFill>
                            <a:srgbClr val="5A5A5A"/>
                          </a:solidFill>
                          <a:latin typeface="Avenir Next LT Pro"/>
                        </a:rPr>
                        <a:t>44.7%</a:t>
                      </a:r>
                    </a:p>
                  </a:txBody>
                  <a:tcPr marL="73152" marR="73152" marT="18288" marB="18288" anchor="ctr">
                    <a:solidFill>
                      <a:srgbClr val="FFFFFF"/>
                    </a:solidFill>
                  </a:tcPr>
                </a:tc>
                <a:tc>
                  <a:txBody>
                    <a:bodyPr/>
                    <a:lstStyle/>
                    <a:p>
                      <a:pPr algn="ctr"/>
                      <a:r>
                        <a:rPr sz="1100" b="0" i="0">
                          <a:solidFill>
                            <a:srgbClr val="5A5A5A"/>
                          </a:solidFill>
                          <a:latin typeface="Avenir Next LT Pro"/>
                        </a:rPr>
                        <a:t>46.3%</a:t>
                      </a:r>
                    </a:p>
                  </a:txBody>
                  <a:tcPr marL="73152" marR="73152" marT="18288" marB="18288" anchor="ctr">
                    <a:solidFill>
                      <a:srgbClr val="FFFFFF"/>
                    </a:solidFill>
                  </a:tcPr>
                </a:tc>
                <a:tc>
                  <a:txBody>
                    <a:bodyPr/>
                    <a:lstStyle/>
                    <a:p>
                      <a:pPr algn="ctr"/>
                      <a:r>
                        <a:rPr sz="1100" b="0" i="0">
                          <a:solidFill>
                            <a:srgbClr val="5A5A5A"/>
                          </a:solidFill>
                          <a:latin typeface="Avenir Next LT Pro"/>
                        </a:rPr>
                        <a:t>48.5%</a:t>
                      </a:r>
                    </a:p>
                  </a:txBody>
                  <a:tcPr marL="73152" marR="73152" marT="18288" marB="18288" anchor="ctr">
                    <a:solidFill>
                      <a:srgbClr val="FFFFFF"/>
                    </a:solidFill>
                  </a:tcPr>
                </a:tc>
                <a:tc>
                  <a:txBody>
                    <a:bodyPr/>
                    <a:lstStyle/>
                    <a:p>
                      <a:pPr algn="ctr"/>
                      <a:r>
                        <a:rPr sz="1100" b="0" i="0">
                          <a:solidFill>
                            <a:srgbClr val="5A5A5A"/>
                          </a:solidFill>
                          <a:latin typeface="Avenir Next LT Pro"/>
                        </a:rPr>
                        <a:t>49.5%</a:t>
                      </a:r>
                    </a:p>
                  </a:txBody>
                  <a:tcPr marL="73152" marR="73152" marT="18288" marB="18288" anchor="ctr">
                    <a:solidFill>
                      <a:srgbClr val="FFFFFF"/>
                    </a:solidFill>
                  </a:tcPr>
                </a:tc>
                <a:tc>
                  <a:txBody>
                    <a:bodyPr/>
                    <a:lstStyle/>
                    <a:p>
                      <a:pPr algn="ctr"/>
                      <a:r>
                        <a:rPr sz="1100" b="0" i="0">
                          <a:solidFill>
                            <a:srgbClr val="5A5A5A"/>
                          </a:solidFill>
                          <a:latin typeface="Avenir Next LT Pro"/>
                        </a:rPr>
                        <a:t>50.5%</a:t>
                      </a:r>
                    </a:p>
                  </a:txBody>
                  <a:tcPr marL="73152" marR="73152" marT="18288" marB="18288" anchor="ctr">
                    <a:solidFill>
                      <a:srgbClr val="FFFFFF"/>
                    </a:solidFill>
                  </a:tcPr>
                </a:tc>
              </a:tr>
              <a:tr h="384048">
                <a:tc>
                  <a:txBody>
                    <a:bodyPr/>
                    <a:lstStyle/>
                    <a:p>
                      <a:pPr algn="l"/>
                      <a:r>
                        <a:rPr sz="1100" b="1" i="0">
                          <a:solidFill>
                            <a:srgbClr val="0E2841"/>
                          </a:solidFill>
                          <a:latin typeface="Avenir Next LT Pro Demi"/>
                        </a:rPr>
                        <a:t>Adj. EBITDA</a:t>
                      </a:r>
                    </a:p>
                  </a:txBody>
                  <a:tcPr marL="73152" marR="73152" marT="18288" marB="18288" anchor="ctr">
                    <a:solidFill>
                      <a:srgbClr val="F4F6F8"/>
                    </a:solidFill>
                  </a:tcPr>
                </a:tc>
                <a:tc>
                  <a:txBody>
                    <a:bodyPr/>
                    <a:lstStyle/>
                    <a:p>
                      <a:pPr algn="ctr"/>
                      <a:r>
                        <a:rPr sz="1100" b="0" i="0">
                          <a:solidFill>
                            <a:srgbClr val="5A5A5A"/>
                          </a:solidFill>
                          <a:latin typeface="Avenir Next LT Pro"/>
                        </a:rPr>
                        <a:t>512</a:t>
                      </a:r>
                    </a:p>
                  </a:txBody>
                  <a:tcPr marL="73152" marR="73152" marT="18288" marB="18288" anchor="ctr">
                    <a:solidFill>
                      <a:srgbClr val="F4F6F8"/>
                    </a:solidFill>
                  </a:tcPr>
                </a:tc>
                <a:tc>
                  <a:txBody>
                    <a:bodyPr/>
                    <a:lstStyle/>
                    <a:p>
                      <a:pPr algn="ctr"/>
                      <a:r>
                        <a:rPr sz="1100" b="0" i="0">
                          <a:solidFill>
                            <a:srgbClr val="5A5A5A"/>
                          </a:solidFill>
                          <a:latin typeface="Avenir Next LT Pro"/>
                        </a:rPr>
                        <a:t>538</a:t>
                      </a:r>
                    </a:p>
                  </a:txBody>
                  <a:tcPr marL="73152" marR="73152" marT="18288" marB="18288" anchor="ctr">
                    <a:solidFill>
                      <a:srgbClr val="F4F6F8"/>
                    </a:solidFill>
                  </a:tcPr>
                </a:tc>
                <a:tc>
                  <a:txBody>
                    <a:bodyPr/>
                    <a:lstStyle/>
                    <a:p>
                      <a:pPr algn="ctr"/>
                      <a:r>
                        <a:rPr sz="1100" b="0" i="0">
                          <a:solidFill>
                            <a:srgbClr val="5A5A5A"/>
                          </a:solidFill>
                          <a:latin typeface="Avenir Next LT Pro"/>
                        </a:rPr>
                        <a:t>597</a:t>
                      </a:r>
                    </a:p>
                  </a:txBody>
                  <a:tcPr marL="73152" marR="73152" marT="18288" marB="18288" anchor="ctr">
                    <a:solidFill>
                      <a:srgbClr val="F4F6F8"/>
                    </a:solidFill>
                  </a:tcPr>
                </a:tc>
                <a:tc>
                  <a:txBody>
                    <a:bodyPr/>
                    <a:lstStyle/>
                    <a:p>
                      <a:pPr algn="ctr"/>
                      <a:r>
                        <a:rPr sz="1100" b="0" i="0">
                          <a:solidFill>
                            <a:srgbClr val="5A5A5A"/>
                          </a:solidFill>
                          <a:latin typeface="Avenir Next LT Pro"/>
                        </a:rPr>
                        <a:t>680</a:t>
                      </a:r>
                    </a:p>
                  </a:txBody>
                  <a:tcPr marL="73152" marR="73152" marT="18288" marB="18288" anchor="ctr">
                    <a:solidFill>
                      <a:srgbClr val="F4F6F8"/>
                    </a:solidFill>
                  </a:tcPr>
                </a:tc>
                <a:tc>
                  <a:txBody>
                    <a:bodyPr/>
                    <a:lstStyle/>
                    <a:p>
                      <a:pPr algn="ctr"/>
                      <a:r>
                        <a:rPr sz="1100" b="0" i="0">
                          <a:solidFill>
                            <a:srgbClr val="5A5A5A"/>
                          </a:solidFill>
                          <a:latin typeface="Avenir Next LT Pro"/>
                        </a:rPr>
                        <a:t>844</a:t>
                      </a:r>
                    </a:p>
                  </a:txBody>
                  <a:tcPr marL="73152" marR="73152" marT="18288" marB="18288" anchor="ctr">
                    <a:solidFill>
                      <a:srgbClr val="F4F6F8"/>
                    </a:solidFill>
                  </a:tcPr>
                </a:tc>
              </a:tr>
              <a:tr h="384048">
                <a:tc>
                  <a:txBody>
                    <a:bodyPr/>
                    <a:lstStyle/>
                    <a:p>
                      <a:pPr algn="l"/>
                      <a:r>
                        <a:rPr sz="1100" b="1" i="0">
                          <a:solidFill>
                            <a:srgbClr val="0E2841"/>
                          </a:solidFill>
                          <a:latin typeface="Avenir Next LT Pro Demi"/>
                        </a:rPr>
                        <a:t>EBITDA Margin</a:t>
                      </a:r>
                    </a:p>
                  </a:txBody>
                  <a:tcPr marL="73152" marR="73152" marT="18288" marB="18288" anchor="ctr">
                    <a:solidFill>
                      <a:srgbClr val="FFFFFF"/>
                    </a:solidFill>
                  </a:tcPr>
                </a:tc>
                <a:tc>
                  <a:txBody>
                    <a:bodyPr/>
                    <a:lstStyle/>
                    <a:p>
                      <a:pPr algn="ctr"/>
                      <a:r>
                        <a:rPr sz="1100" b="0" i="0">
                          <a:solidFill>
                            <a:srgbClr val="5A5A5A"/>
                          </a:solidFill>
                          <a:latin typeface="Avenir Next LT Pro"/>
                        </a:rPr>
                        <a:t>16.9%</a:t>
                      </a:r>
                    </a:p>
                  </a:txBody>
                  <a:tcPr marL="73152" marR="73152" marT="18288" marB="18288" anchor="ctr">
                    <a:solidFill>
                      <a:srgbClr val="FFFFFF"/>
                    </a:solidFill>
                  </a:tcPr>
                </a:tc>
                <a:tc>
                  <a:txBody>
                    <a:bodyPr/>
                    <a:lstStyle/>
                    <a:p>
                      <a:pPr algn="ctr"/>
                      <a:r>
                        <a:rPr sz="1100" b="0" i="0">
                          <a:solidFill>
                            <a:srgbClr val="5A5A5A"/>
                          </a:solidFill>
                          <a:latin typeface="Avenir Next LT Pro"/>
                        </a:rPr>
                        <a:t>16.9%</a:t>
                      </a:r>
                    </a:p>
                  </a:txBody>
                  <a:tcPr marL="73152" marR="73152" marT="18288" marB="18288" anchor="ctr">
                    <a:solidFill>
                      <a:srgbClr val="FFFFFF"/>
                    </a:solidFill>
                  </a:tcPr>
                </a:tc>
                <a:tc>
                  <a:txBody>
                    <a:bodyPr/>
                    <a:lstStyle/>
                    <a:p>
                      <a:pPr algn="ctr"/>
                      <a:r>
                        <a:rPr sz="1100" b="0" i="0">
                          <a:solidFill>
                            <a:srgbClr val="5A5A5A"/>
                          </a:solidFill>
                          <a:latin typeface="Avenir Next LT Pro"/>
                        </a:rPr>
                        <a:t>17.3%</a:t>
                      </a:r>
                    </a:p>
                  </a:txBody>
                  <a:tcPr marL="73152" marR="73152" marT="18288" marB="18288" anchor="ctr">
                    <a:solidFill>
                      <a:srgbClr val="FFFFFF"/>
                    </a:solidFill>
                  </a:tcPr>
                </a:tc>
                <a:tc>
                  <a:txBody>
                    <a:bodyPr/>
                    <a:lstStyle/>
                    <a:p>
                      <a:pPr algn="ctr"/>
                      <a:r>
                        <a:rPr sz="1100" b="0" i="0">
                          <a:solidFill>
                            <a:srgbClr val="5A5A5A"/>
                          </a:solidFill>
                          <a:latin typeface="Avenir Next LT Pro"/>
                        </a:rPr>
                        <a:t>18.0%</a:t>
                      </a:r>
                    </a:p>
                  </a:txBody>
                  <a:tcPr marL="73152" marR="73152" marT="18288" marB="18288" anchor="ctr">
                    <a:solidFill>
                      <a:srgbClr val="FFFFFF"/>
                    </a:solidFill>
                  </a:tcPr>
                </a:tc>
                <a:tc>
                  <a:txBody>
                    <a:bodyPr/>
                    <a:lstStyle/>
                    <a:p>
                      <a:pPr algn="ctr"/>
                      <a:r>
                        <a:rPr sz="1100" b="0" i="0">
                          <a:solidFill>
                            <a:srgbClr val="5A5A5A"/>
                          </a:solidFill>
                          <a:latin typeface="Avenir Next LT Pro"/>
                        </a:rPr>
                        <a:t>20.0%</a:t>
                      </a:r>
                    </a:p>
                  </a:txBody>
                  <a:tcPr marL="73152" marR="73152" marT="18288" marB="18288" anchor="ctr">
                    <a:solidFill>
                      <a:srgbClr val="FFFFFF"/>
                    </a:solidFill>
                  </a:tcPr>
                </a:tc>
              </a:tr>
              <a:tr h="384048">
                <a:tc>
                  <a:txBody>
                    <a:bodyPr/>
                    <a:lstStyle/>
                    <a:p>
                      <a:pPr algn="l"/>
                      <a:r>
                        <a:rPr sz="1100" b="1" i="0">
                          <a:solidFill>
                            <a:srgbClr val="0E2841"/>
                          </a:solidFill>
                          <a:latin typeface="Avenir Next LT Pro Demi"/>
                        </a:rPr>
                        <a:t>Adj. EPS</a:t>
                      </a:r>
                    </a:p>
                  </a:txBody>
                  <a:tcPr marL="73152" marR="73152" marT="18288" marB="18288" anchor="ctr">
                    <a:solidFill>
                      <a:srgbClr val="F4F6F8"/>
                    </a:solidFill>
                  </a:tcPr>
                </a:tc>
                <a:tc>
                  <a:txBody>
                    <a:bodyPr/>
                    <a:lstStyle/>
                    <a:p>
                      <a:pPr algn="ctr"/>
                      <a:r>
                        <a:rPr sz="1100" b="0" i="0">
                          <a:solidFill>
                            <a:srgbClr val="5A5A5A"/>
                          </a:solidFill>
                          <a:latin typeface="Avenir Next LT Pro"/>
                        </a:rPr>
                        <a:t>$11.97</a:t>
                      </a:r>
                    </a:p>
                  </a:txBody>
                  <a:tcPr marL="73152" marR="73152" marT="18288" marB="18288" anchor="ctr">
                    <a:solidFill>
                      <a:srgbClr val="F4F6F8"/>
                    </a:solidFill>
                  </a:tcPr>
                </a:tc>
                <a:tc>
                  <a:txBody>
                    <a:bodyPr/>
                    <a:lstStyle/>
                    <a:p>
                      <a:pPr algn="ctr"/>
                      <a:r>
                        <a:rPr sz="1100" b="0" i="0">
                          <a:solidFill>
                            <a:srgbClr val="5A5A5A"/>
                          </a:solidFill>
                          <a:latin typeface="Avenir Next LT Pro"/>
                        </a:rPr>
                        <a:t>$15.07</a:t>
                      </a:r>
                    </a:p>
                  </a:txBody>
                  <a:tcPr marL="73152" marR="73152" marT="18288" marB="18288" anchor="ctr">
                    <a:solidFill>
                      <a:srgbClr val="F4F6F8"/>
                    </a:solidFill>
                  </a:tcPr>
                </a:tc>
                <a:tc>
                  <a:txBody>
                    <a:bodyPr/>
                    <a:lstStyle/>
                    <a:p>
                      <a:pPr algn="ctr"/>
                      <a:r>
                        <a:rPr sz="1100" b="0" i="0">
                          <a:solidFill>
                            <a:srgbClr val="5A5A5A"/>
                          </a:solidFill>
                          <a:latin typeface="Avenir Next LT Pro"/>
                        </a:rPr>
                        <a:t>$18.40</a:t>
                      </a:r>
                    </a:p>
                  </a:txBody>
                  <a:tcPr marL="73152" marR="73152" marT="18288" marB="18288" anchor="ctr">
                    <a:solidFill>
                      <a:srgbClr val="F4F6F8"/>
                    </a:solidFill>
                  </a:tcPr>
                </a:tc>
                <a:tc>
                  <a:txBody>
                    <a:bodyPr/>
                    <a:lstStyle/>
                    <a:p>
                      <a:pPr algn="ctr"/>
                      <a:r>
                        <a:rPr sz="1100" b="0" i="0">
                          <a:solidFill>
                            <a:srgbClr val="5A5A5A"/>
                          </a:solidFill>
                          <a:latin typeface="Avenir Next LT Pro"/>
                        </a:rPr>
                        <a:t>$22.50</a:t>
                      </a:r>
                    </a:p>
                  </a:txBody>
                  <a:tcPr marL="73152" marR="73152" marT="18288" marB="18288" anchor="ctr">
                    <a:solidFill>
                      <a:srgbClr val="F4F6F8"/>
                    </a:solidFill>
                  </a:tcPr>
                </a:tc>
                <a:tc>
                  <a:txBody>
                    <a:bodyPr/>
                    <a:lstStyle/>
                    <a:p>
                      <a:pPr algn="ctr"/>
                      <a:r>
                        <a:rPr sz="1100" b="0" i="0">
                          <a:solidFill>
                            <a:srgbClr val="5A5A5A"/>
                          </a:solidFill>
                          <a:latin typeface="Avenir Next LT Pro"/>
                        </a:rPr>
                        <a:t>$29.50</a:t>
                      </a:r>
                    </a:p>
                  </a:txBody>
                  <a:tcPr marL="73152" marR="73152" marT="18288" marB="18288" anchor="ctr">
                    <a:solidFill>
                      <a:srgbClr val="F4F6F8"/>
                    </a:solidFill>
                  </a:tcPr>
                </a:tc>
              </a:tr>
              <a:tr h="384048">
                <a:tc>
                  <a:txBody>
                    <a:bodyPr/>
                    <a:lstStyle/>
                    <a:p>
                      <a:pPr algn="l"/>
                      <a:r>
                        <a:rPr sz="1100" b="1" i="0">
                          <a:solidFill>
                            <a:srgbClr val="0E2841"/>
                          </a:solidFill>
                          <a:latin typeface="Avenir Next LT Pro Demi"/>
                        </a:rPr>
                        <a:t>Free Cash Flow</a:t>
                      </a:r>
                    </a:p>
                  </a:txBody>
                  <a:tcPr marL="73152" marR="73152" marT="18288" marB="18288" anchor="ctr">
                    <a:solidFill>
                      <a:srgbClr val="FFFFFF"/>
                    </a:solidFill>
                  </a:tcPr>
                </a:tc>
                <a:tc>
                  <a:txBody>
                    <a:bodyPr/>
                    <a:lstStyle/>
                    <a:p>
                      <a:pPr algn="ctr"/>
                      <a:r>
                        <a:rPr sz="1100" b="0" i="0">
                          <a:solidFill>
                            <a:srgbClr val="5A5A5A"/>
                          </a:solidFill>
                          <a:latin typeface="Avenir Next LT Pro"/>
                        </a:rPr>
                        <a:t>neg</a:t>
                      </a:r>
                    </a:p>
                  </a:txBody>
                  <a:tcPr marL="73152" marR="73152" marT="18288" marB="18288" anchor="ctr">
                    <a:solidFill>
                      <a:srgbClr val="FFFFFF"/>
                    </a:solidFill>
                  </a:tcPr>
                </a:tc>
                <a:tc>
                  <a:txBody>
                    <a:bodyPr/>
                    <a:lstStyle/>
                    <a:p>
                      <a:pPr algn="ctr"/>
                      <a:r>
                        <a:rPr sz="1100" b="0" i="0">
                          <a:solidFill>
                            <a:srgbClr val="5A5A5A"/>
                          </a:solidFill>
                          <a:latin typeface="Avenir Next LT Pro"/>
                        </a:rPr>
                        <a:t>180</a:t>
                      </a:r>
                    </a:p>
                  </a:txBody>
                  <a:tcPr marL="73152" marR="73152" marT="18288" marB="18288" anchor="ctr">
                    <a:solidFill>
                      <a:srgbClr val="FFFFFF"/>
                    </a:solidFill>
                  </a:tcPr>
                </a:tc>
                <a:tc>
                  <a:txBody>
                    <a:bodyPr/>
                    <a:lstStyle/>
                    <a:p>
                      <a:pPr algn="ctr"/>
                      <a:r>
                        <a:rPr sz="1100" b="0" i="0">
                          <a:solidFill>
                            <a:srgbClr val="5A5A5A"/>
                          </a:solidFill>
                          <a:latin typeface="Avenir Next LT Pro"/>
                        </a:rPr>
                        <a:t>~320</a:t>
                      </a:r>
                    </a:p>
                  </a:txBody>
                  <a:tcPr marL="73152" marR="73152" marT="18288" marB="18288" anchor="ctr">
                    <a:solidFill>
                      <a:srgbClr val="FFFFFF"/>
                    </a:solidFill>
                  </a:tcPr>
                </a:tc>
                <a:tc>
                  <a:txBody>
                    <a:bodyPr/>
                    <a:lstStyle/>
                    <a:p>
                      <a:pPr algn="ctr"/>
                      <a:r>
                        <a:rPr sz="1100" b="0" i="0">
                          <a:solidFill>
                            <a:srgbClr val="5A5A5A"/>
                          </a:solidFill>
                          <a:latin typeface="Avenir Next LT Pro"/>
                        </a:rPr>
                        <a:t>~400</a:t>
                      </a:r>
                    </a:p>
                  </a:txBody>
                  <a:tcPr marL="73152" marR="73152" marT="18288" marB="18288" anchor="ctr">
                    <a:solidFill>
                      <a:srgbClr val="FFFFFF"/>
                    </a:solidFill>
                  </a:tcPr>
                </a:tc>
                <a:tc>
                  <a:txBody>
                    <a:bodyPr/>
                    <a:lstStyle/>
                    <a:p>
                      <a:pPr algn="ctr"/>
                      <a:r>
                        <a:rPr sz="1100" b="0" i="0">
                          <a:solidFill>
                            <a:srgbClr val="5A5A5A"/>
                          </a:solidFill>
                          <a:latin typeface="Avenir Next LT Pro"/>
                        </a:rPr>
                        <a:t>~540</a:t>
                      </a:r>
                    </a:p>
                  </a:txBody>
                  <a:tcPr marL="73152" marR="73152" marT="18288" marB="18288" anchor="ctr">
                    <a:solidFill>
                      <a:srgbClr val="FFFFFF"/>
                    </a:solidFill>
                  </a:tcPr>
                </a:tc>
              </a:tr>
              <a:tr h="384048">
                <a:tc>
                  <a:txBody>
                    <a:bodyPr/>
                    <a:lstStyle/>
                    <a:p>
                      <a:pPr algn="l"/>
                      <a:r>
                        <a:rPr sz="1100" b="1" i="0">
                          <a:solidFill>
                            <a:srgbClr val="0E2841"/>
                          </a:solidFill>
                          <a:latin typeface="Avenir Next LT Pro Demi"/>
                        </a:rPr>
                        <a:t>Net Debt</a:t>
                      </a:r>
                    </a:p>
                  </a:txBody>
                  <a:tcPr marL="73152" marR="73152" marT="18288" marB="18288" anchor="ctr">
                    <a:solidFill>
                      <a:srgbClr val="F4F6F8"/>
                    </a:solidFill>
                  </a:tcPr>
                </a:tc>
                <a:tc>
                  <a:txBody>
                    <a:bodyPr/>
                    <a:lstStyle/>
                    <a:p>
                      <a:pPr algn="ctr"/>
                      <a:r>
                        <a:rPr sz="1100" b="0" i="0">
                          <a:solidFill>
                            <a:srgbClr val="5A5A5A"/>
                          </a:solidFill>
                          <a:latin typeface="Avenir Next LT Pro"/>
                        </a:rPr>
                        <a:t>1,960</a:t>
                      </a:r>
                    </a:p>
                  </a:txBody>
                  <a:tcPr marL="73152" marR="73152" marT="18288" marB="18288" anchor="ctr">
                    <a:solidFill>
                      <a:srgbClr val="F4F6F8"/>
                    </a:solidFill>
                  </a:tcPr>
                </a:tc>
                <a:tc>
                  <a:txBody>
                    <a:bodyPr/>
                    <a:lstStyle/>
                    <a:p>
                      <a:pPr algn="ctr"/>
                      <a:r>
                        <a:rPr sz="1100" b="0" i="0">
                          <a:solidFill>
                            <a:srgbClr val="5A5A5A"/>
                          </a:solidFill>
                          <a:latin typeface="Avenir Next LT Pro"/>
                        </a:rPr>
                        <a:t>1,920</a:t>
                      </a:r>
                    </a:p>
                  </a:txBody>
                  <a:tcPr marL="73152" marR="73152" marT="18288" marB="18288" anchor="ctr">
                    <a:solidFill>
                      <a:srgbClr val="F4F6F8"/>
                    </a:solidFill>
                  </a:tcPr>
                </a:tc>
                <a:tc>
                  <a:txBody>
                    <a:bodyPr/>
                    <a:lstStyle/>
                    <a:p>
                      <a:pPr algn="ctr"/>
                      <a:r>
                        <a:rPr sz="1100" b="0" i="0">
                          <a:solidFill>
                            <a:srgbClr val="5A5A5A"/>
                          </a:solidFill>
                          <a:latin typeface="Avenir Next LT Pro"/>
                        </a:rPr>
                        <a:t>1,880</a:t>
                      </a:r>
                    </a:p>
                  </a:txBody>
                  <a:tcPr marL="73152" marR="73152" marT="18288" marB="18288" anchor="ctr">
                    <a:solidFill>
                      <a:srgbClr val="F4F6F8"/>
                    </a:solidFill>
                  </a:tcPr>
                </a:tc>
                <a:tc>
                  <a:txBody>
                    <a:bodyPr/>
                    <a:lstStyle/>
                    <a:p>
                      <a:pPr algn="ctr"/>
                      <a:r>
                        <a:rPr sz="1100" b="0" i="0">
                          <a:solidFill>
                            <a:srgbClr val="5A5A5A"/>
                          </a:solidFill>
                          <a:latin typeface="Avenir Next LT Pro"/>
                        </a:rPr>
                        <a:t>1,750</a:t>
                      </a:r>
                    </a:p>
                  </a:txBody>
                  <a:tcPr marL="73152" marR="73152" marT="18288" marB="18288" anchor="ctr">
                    <a:solidFill>
                      <a:srgbClr val="F4F6F8"/>
                    </a:solidFill>
                  </a:tcPr>
                </a:tc>
                <a:tc>
                  <a:txBody>
                    <a:bodyPr/>
                    <a:lstStyle/>
                    <a:p>
                      <a:pPr algn="ctr"/>
                      <a:r>
                        <a:rPr sz="1100" b="0" i="0">
                          <a:solidFill>
                            <a:srgbClr val="5A5A5A"/>
                          </a:solidFill>
                          <a:latin typeface="Avenir Next LT Pro"/>
                        </a:rPr>
                        <a:t>1,400</a:t>
                      </a:r>
                    </a:p>
                  </a:txBody>
                  <a:tcPr marL="73152" marR="73152" marT="18288" marB="18288" anchor="ctr">
                    <a:solidFill>
                      <a:srgbClr val="F4F6F8"/>
                    </a:solidFill>
                  </a:tcPr>
                </a:tc>
              </a:tr>
            </a:tbl>
          </a:graphicData>
        </a:graphic>
      </p:graphicFrame>
      <p:sp>
        <p:nvSpPr>
          <p:cNvPr id="7" name="TextBox 6"/>
          <p:cNvSpPr txBox="1"/>
          <p:nvPr/>
        </p:nvSpPr>
        <p:spPr>
          <a:xfrm>
            <a:off x="457200" y="5120640"/>
            <a:ext cx="8229600" cy="274320"/>
          </a:xfrm>
          <a:prstGeom prst="rect">
            <a:avLst/>
          </a:prstGeom>
          <a:noFill/>
        </p:spPr>
        <p:txBody>
          <a:bodyPr wrap="none">
            <a:spAutoFit/>
          </a:bodyPr>
          <a:lstStyle/>
          <a:p>
            <a:r>
              <a:rPr sz="1000" b="1" i="0">
                <a:solidFill>
                  <a:srgbClr val="156082"/>
                </a:solidFill>
                <a:latin typeface="Avenir Next LT Pro"/>
              </a:rPr>
              <a:t>Story: revenue recovers modestly · margin re-expands 17% → 20% (operating leverage) · FCF pays debt down $1.9B → $1.4B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300" b="0" i="0">
                <a:solidFill>
                  <a:srgbClr val="0E2841"/>
                </a:solidFill>
                <a:latin typeface="Avenir Next LT Pro Demi"/>
              </a:rPr>
              <a:t>Valuation — EV/EBITDA, FY2027E</a:t>
            </a:r>
          </a:p>
        </p:txBody>
      </p:sp>
      <p:sp>
        <p:nvSpPr>
          <p:cNvPr id="3" name="Rectangle 2"/>
          <p:cNvSpPr/>
          <p:nvPr/>
        </p:nvSpPr>
        <p:spPr>
          <a:xfrm>
            <a:off x="457200" y="932688"/>
            <a:ext cx="8229600" cy="2743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8229600" cy="365760"/>
          </a:xfrm>
          <a:prstGeom prst="rect">
            <a:avLst/>
          </a:prstGeom>
          <a:noFill/>
        </p:spPr>
        <p:txBody>
          <a:bodyPr wrap="none">
            <a:spAutoFit/>
          </a:bodyPr>
          <a:lstStyle/>
          <a:p>
            <a:r>
              <a:rPr sz="700" b="0" i="0">
                <a:solidFill>
                  <a:srgbClr val="5A5A5A"/>
                </a:solidFill>
                <a:latin typeface="Avenir Next LT Pro"/>
              </a:rPr>
              <a:t>Confidential — for discussion purposes only. Not investment advice.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sp>
        <p:nvSpPr>
          <p:cNvPr id="6" name="Rectangle 5"/>
          <p:cNvSpPr/>
          <p:nvPr/>
        </p:nvSpPr>
        <p:spPr>
          <a:xfrm>
            <a:off x="457200" y="1508760"/>
            <a:ext cx="1572768" cy="914400"/>
          </a:xfrm>
          <a:prstGeom prst="rect">
            <a:avLst/>
          </a:prstGeom>
          <a:solidFill>
            <a:srgbClr val="E8E8E8"/>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5A5A5A"/>
                </a:solidFill>
                <a:latin typeface="Avenir Next LT Pro Demi"/>
              </a:rPr>
              <a:t>FY27E EBITDA</a:t>
            </a:r>
          </a:p>
          <a:p>
            <a:pPr algn="ctr"/>
            <a:r>
              <a:rPr sz="1700" b="1" i="0">
                <a:solidFill>
                  <a:srgbClr val="0E2841"/>
                </a:solidFill>
                <a:latin typeface="Avenir Next LT Pro Demi"/>
              </a:rPr>
              <a:t>$844M</a:t>
            </a:r>
          </a:p>
        </p:txBody>
      </p:sp>
      <p:sp>
        <p:nvSpPr>
          <p:cNvPr id="7" name="Rectangle 6"/>
          <p:cNvSpPr/>
          <p:nvPr/>
        </p:nvSpPr>
        <p:spPr>
          <a:xfrm>
            <a:off x="2084832" y="1508760"/>
            <a:ext cx="1572768" cy="914400"/>
          </a:xfrm>
          <a:prstGeom prst="rect">
            <a:avLst/>
          </a:prstGeom>
          <a:solidFill>
            <a:srgbClr val="E8E8E8"/>
          </a:solidFill>
          <a:ln w="15875">
            <a:solidFill>
              <a:srgbClr val="15608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5A5A5A"/>
                </a:solidFill>
                <a:latin typeface="Avenir Next LT Pro Demi"/>
              </a:rPr>
              <a:t>× Exit Multiple</a:t>
            </a:r>
          </a:p>
          <a:p>
            <a:pPr algn="ctr"/>
            <a:r>
              <a:rPr sz="1700" b="1" i="0">
                <a:solidFill>
                  <a:srgbClr val="156082"/>
                </a:solidFill>
                <a:latin typeface="Avenir Next LT Pro Demi"/>
              </a:rPr>
              <a:t>13×</a:t>
            </a:r>
          </a:p>
        </p:txBody>
      </p:sp>
      <p:sp>
        <p:nvSpPr>
          <p:cNvPr id="8" name="Rectangle 7"/>
          <p:cNvSpPr/>
          <p:nvPr/>
        </p:nvSpPr>
        <p:spPr>
          <a:xfrm>
            <a:off x="3712464" y="1508760"/>
            <a:ext cx="1572768" cy="914400"/>
          </a:xfrm>
          <a:prstGeom prst="rect">
            <a:avLst/>
          </a:prstGeom>
          <a:solidFill>
            <a:srgbClr val="E8E8E8"/>
          </a:solidFill>
          <a:ln w="15875">
            <a:solidFill>
              <a:srgbClr val="0E284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5A5A5A"/>
                </a:solidFill>
                <a:latin typeface="Avenir Next LT Pro Demi"/>
              </a:rPr>
              <a:t>= Enterprise Value</a:t>
            </a:r>
          </a:p>
          <a:p>
            <a:pPr algn="ctr"/>
            <a:r>
              <a:rPr sz="1700" b="1" i="0">
                <a:solidFill>
                  <a:srgbClr val="0E2841"/>
                </a:solidFill>
                <a:latin typeface="Avenir Next LT Pro Demi"/>
              </a:rPr>
              <a:t>~$11.0B</a:t>
            </a:r>
          </a:p>
        </p:txBody>
      </p:sp>
      <p:sp>
        <p:nvSpPr>
          <p:cNvPr id="9" name="Rectangle 8"/>
          <p:cNvSpPr/>
          <p:nvPr/>
        </p:nvSpPr>
        <p:spPr>
          <a:xfrm>
            <a:off x="5340096" y="1508760"/>
            <a:ext cx="1572768" cy="914400"/>
          </a:xfrm>
          <a:prstGeom prst="rect">
            <a:avLst/>
          </a:prstGeom>
          <a:solidFill>
            <a:srgbClr val="E8E8E8"/>
          </a:solidFill>
          <a:ln w="15875">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5A5A5A"/>
                </a:solidFill>
                <a:latin typeface="Avenir Next LT Pro Demi"/>
              </a:rPr>
              <a:t>− Net Debt</a:t>
            </a:r>
          </a:p>
          <a:p>
            <a:pPr algn="ctr"/>
            <a:r>
              <a:rPr sz="1700" b="1" i="0">
                <a:solidFill>
                  <a:srgbClr val="E97132"/>
                </a:solidFill>
                <a:latin typeface="Avenir Next LT Pro Demi"/>
              </a:rPr>
              <a:t>$1.4B</a:t>
            </a:r>
          </a:p>
        </p:txBody>
      </p:sp>
      <p:sp>
        <p:nvSpPr>
          <p:cNvPr id="10" name="Rectangle 9"/>
          <p:cNvSpPr/>
          <p:nvPr/>
        </p:nvSpPr>
        <p:spPr>
          <a:xfrm>
            <a:off x="6967728" y="1508760"/>
            <a:ext cx="1572768" cy="914400"/>
          </a:xfrm>
          <a:prstGeom prst="rect">
            <a:avLst/>
          </a:prstGeom>
          <a:solidFill>
            <a:srgbClr val="E8E8E8"/>
          </a:solidFill>
          <a:ln w="15875">
            <a:solidFill>
              <a:srgbClr val="196B2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i="0">
                <a:solidFill>
                  <a:srgbClr val="5A5A5A"/>
                </a:solidFill>
                <a:latin typeface="Avenir Next LT Pro Demi"/>
              </a:rPr>
              <a:t>÷ Shares (19M)</a:t>
            </a:r>
          </a:p>
          <a:p>
            <a:pPr algn="ctr"/>
            <a:r>
              <a:rPr sz="1700" b="1" i="0">
                <a:solidFill>
                  <a:srgbClr val="196B24"/>
                </a:solidFill>
                <a:latin typeface="Avenir Next LT Pro Demi"/>
              </a:rPr>
              <a:t>= ~$504</a:t>
            </a:r>
          </a:p>
        </p:txBody>
      </p:sp>
      <p:graphicFrame>
        <p:nvGraphicFramePr>
          <p:cNvPr id="11" name="Table 10"/>
          <p:cNvGraphicFramePr>
            <a:graphicFrameLocks noGrp="1"/>
          </p:cNvGraphicFramePr>
          <p:nvPr/>
        </p:nvGraphicFramePr>
        <p:xfrm>
          <a:off x="457200" y="2880360"/>
          <a:ext cx="8229600" cy="1536192"/>
        </p:xfrm>
        <a:graphic>
          <a:graphicData uri="http://schemas.openxmlformats.org/drawingml/2006/table">
            <a:tbl>
              <a:tblPr>
                <a:tableStyleId>{5C22544A-7EE6-4342-B048-85BDC9FD1C3A}</a:tableStyleId>
              </a:tblPr>
              <a:tblGrid>
                <a:gridCol w="1554480"/>
                <a:gridCol w="1335024"/>
                <a:gridCol w="1335024"/>
                <a:gridCol w="1335024"/>
                <a:gridCol w="1335024"/>
                <a:gridCol w="1335024"/>
              </a:tblGrid>
              <a:tr h="384048">
                <a:tc>
                  <a:txBody>
                    <a:bodyPr/>
                    <a:lstStyle/>
                    <a:p>
                      <a:pPr algn="l"/>
                      <a:r>
                        <a:rPr sz="1000" b="1" i="0">
                          <a:solidFill>
                            <a:srgbClr val="FFFFFF"/>
                          </a:solidFill>
                          <a:latin typeface="Avenir Next LT Pro Demi"/>
                        </a:rPr>
                        <a:t>Scenario</a:t>
                      </a:r>
                    </a:p>
                  </a:txBody>
                  <a:tcPr marL="73152" marR="73152" marT="18288" marB="18288" anchor="ctr">
                    <a:solidFill>
                      <a:srgbClr val="0E2841"/>
                    </a:solidFill>
                  </a:tcPr>
                </a:tc>
                <a:tc>
                  <a:txBody>
                    <a:bodyPr/>
                    <a:lstStyle/>
                    <a:p>
                      <a:pPr algn="ctr"/>
                      <a:r>
                        <a:rPr sz="1000" b="1" i="0">
                          <a:solidFill>
                            <a:srgbClr val="FFFFFF"/>
                          </a:solidFill>
                          <a:latin typeface="Avenir Next LT Pro Demi"/>
                        </a:rPr>
                        <a:t>Rev CAGR</a:t>
                      </a:r>
                    </a:p>
                  </a:txBody>
                  <a:tcPr marL="73152" marR="73152" marT="18288" marB="18288" anchor="ctr">
                    <a:solidFill>
                      <a:srgbClr val="0E2841"/>
                    </a:solidFill>
                  </a:tcPr>
                </a:tc>
                <a:tc>
                  <a:txBody>
                    <a:bodyPr/>
                    <a:lstStyle/>
                    <a:p>
                      <a:pPr algn="ctr"/>
                      <a:r>
                        <a:rPr sz="1000" b="1" i="0">
                          <a:solidFill>
                            <a:srgbClr val="FFFFFF"/>
                          </a:solidFill>
                          <a:latin typeface="Avenir Next LT Pro Demi"/>
                        </a:rPr>
                        <a:t>EBITDA Mgn</a:t>
                      </a:r>
                    </a:p>
                  </a:txBody>
                  <a:tcPr marL="73152" marR="73152" marT="18288" marB="18288" anchor="ctr">
                    <a:solidFill>
                      <a:srgbClr val="0E2841"/>
                    </a:solidFill>
                  </a:tcPr>
                </a:tc>
                <a:tc>
                  <a:txBody>
                    <a:bodyPr/>
                    <a:lstStyle/>
                    <a:p>
                      <a:pPr algn="ctr"/>
                      <a:r>
                        <a:rPr sz="1000" b="1" i="0">
                          <a:solidFill>
                            <a:srgbClr val="FFFFFF"/>
                          </a:solidFill>
                          <a:latin typeface="Avenir Next LT Pro Demi"/>
                        </a:rPr>
                        <a:t>Exit Mult</a:t>
                      </a:r>
                    </a:p>
                  </a:txBody>
                  <a:tcPr marL="73152" marR="73152" marT="18288" marB="18288" anchor="ctr">
                    <a:solidFill>
                      <a:srgbClr val="0E2841"/>
                    </a:solidFill>
                  </a:tcPr>
                </a:tc>
                <a:tc>
                  <a:txBody>
                    <a:bodyPr/>
                    <a:lstStyle/>
                    <a:p>
                      <a:pPr algn="ctr"/>
                      <a:r>
                        <a:rPr sz="1000" b="1" i="0">
                          <a:solidFill>
                            <a:srgbClr val="FFFFFF"/>
                          </a:solidFill>
                          <a:latin typeface="Avenir Next LT Pro Demi"/>
                        </a:rPr>
                        <a:t>Implied Price</a:t>
                      </a:r>
                    </a:p>
                  </a:txBody>
                  <a:tcPr marL="73152" marR="73152" marT="18288" marB="18288" anchor="ctr">
                    <a:solidFill>
                      <a:srgbClr val="0E2841"/>
                    </a:solidFill>
                  </a:tcPr>
                </a:tc>
                <a:tc>
                  <a:txBody>
                    <a:bodyPr/>
                    <a:lstStyle/>
                    <a:p>
                      <a:pPr algn="ctr"/>
                      <a:r>
                        <a:rPr sz="1000" b="1" i="0">
                          <a:solidFill>
                            <a:srgbClr val="FFFFFF"/>
                          </a:solidFill>
                          <a:latin typeface="Avenir Next LT Pro Demi"/>
                        </a:rPr>
                        <a:t>Prob.</a:t>
                      </a:r>
                    </a:p>
                  </a:txBody>
                  <a:tcPr marL="73152" marR="73152" marT="18288" marB="18288" anchor="ctr">
                    <a:solidFill>
                      <a:srgbClr val="0E2841"/>
                    </a:solidFill>
                  </a:tcPr>
                </a:tc>
              </a:tr>
              <a:tr h="384048">
                <a:tc>
                  <a:txBody>
                    <a:bodyPr/>
                    <a:lstStyle/>
                    <a:p>
                      <a:pPr algn="l"/>
                      <a:r>
                        <a:rPr sz="1100" b="1" i="0">
                          <a:solidFill>
                            <a:srgbClr val="0E2841"/>
                          </a:solidFill>
                          <a:latin typeface="Avenir Next LT Pro Demi"/>
                        </a:rPr>
                        <a:t>Bull</a:t>
                      </a:r>
                    </a:p>
                  </a:txBody>
                  <a:tcPr marL="73152" marR="73152" marT="18288" marB="18288" anchor="ctr">
                    <a:solidFill>
                      <a:srgbClr val="FFFFFF"/>
                    </a:solidFill>
                  </a:tcPr>
                </a:tc>
                <a:tc>
                  <a:txBody>
                    <a:bodyPr/>
                    <a:lstStyle/>
                    <a:p>
                      <a:pPr algn="ctr"/>
                      <a:r>
                        <a:rPr sz="1100" b="0" i="0">
                          <a:solidFill>
                            <a:srgbClr val="5A5A5A"/>
                          </a:solidFill>
                          <a:latin typeface="Avenir Next LT Pro"/>
                        </a:rPr>
                        <a:t>10%</a:t>
                      </a:r>
                    </a:p>
                  </a:txBody>
                  <a:tcPr marL="73152" marR="73152" marT="18288" marB="18288" anchor="ctr">
                    <a:solidFill>
                      <a:srgbClr val="FFFFFF"/>
                    </a:solidFill>
                  </a:tcPr>
                </a:tc>
                <a:tc>
                  <a:txBody>
                    <a:bodyPr/>
                    <a:lstStyle/>
                    <a:p>
                      <a:pPr algn="ctr"/>
                      <a:r>
                        <a:rPr sz="1100" b="0" i="0">
                          <a:solidFill>
                            <a:srgbClr val="5A5A5A"/>
                          </a:solidFill>
                          <a:latin typeface="Avenir Next LT Pro"/>
                        </a:rPr>
                        <a:t>24%</a:t>
                      </a:r>
                    </a:p>
                  </a:txBody>
                  <a:tcPr marL="73152" marR="73152" marT="18288" marB="18288" anchor="ctr">
                    <a:solidFill>
                      <a:srgbClr val="FFFFFF"/>
                    </a:solidFill>
                  </a:tcPr>
                </a:tc>
                <a:tc>
                  <a:txBody>
                    <a:bodyPr/>
                    <a:lstStyle/>
                    <a:p>
                      <a:pPr algn="ctr"/>
                      <a:r>
                        <a:rPr sz="1100" b="0" i="0">
                          <a:solidFill>
                            <a:srgbClr val="5A5A5A"/>
                          </a:solidFill>
                          <a:latin typeface="Avenir Next LT Pro"/>
                        </a:rPr>
                        <a:t>15×</a:t>
                      </a:r>
                    </a:p>
                  </a:txBody>
                  <a:tcPr marL="73152" marR="73152" marT="18288" marB="18288" anchor="ctr">
                    <a:solidFill>
                      <a:srgbClr val="FFFFFF"/>
                    </a:solidFill>
                  </a:tcPr>
                </a:tc>
                <a:tc>
                  <a:txBody>
                    <a:bodyPr/>
                    <a:lstStyle/>
                    <a:p>
                      <a:pPr algn="ctr"/>
                      <a:r>
                        <a:rPr sz="1100" b="0" i="0">
                          <a:solidFill>
                            <a:srgbClr val="5A5A5A"/>
                          </a:solidFill>
                          <a:latin typeface="Avenir Next LT Pro"/>
                        </a:rPr>
                        <a:t>~$790</a:t>
                      </a:r>
                    </a:p>
                  </a:txBody>
                  <a:tcPr marL="73152" marR="73152" marT="18288" marB="18288" anchor="ctr">
                    <a:solidFill>
                      <a:srgbClr val="FFFFFF"/>
                    </a:solidFill>
                  </a:tcPr>
                </a:tc>
                <a:tc>
                  <a:txBody>
                    <a:bodyPr/>
                    <a:lstStyle/>
                    <a:p>
                      <a:pPr algn="ctr"/>
                      <a:r>
                        <a:rPr sz="1100" b="0" i="0">
                          <a:solidFill>
                            <a:srgbClr val="5A5A5A"/>
                          </a:solidFill>
                          <a:latin typeface="Avenir Next LT Pro"/>
                        </a:rPr>
                        <a:t>15%</a:t>
                      </a:r>
                    </a:p>
                  </a:txBody>
                  <a:tcPr marL="73152" marR="73152" marT="18288" marB="18288" anchor="ctr">
                    <a:solidFill>
                      <a:srgbClr val="FFFFFF"/>
                    </a:solidFill>
                  </a:tcPr>
                </a:tc>
              </a:tr>
              <a:tr h="384048">
                <a:tc>
                  <a:txBody>
                    <a:bodyPr/>
                    <a:lstStyle/>
                    <a:p>
                      <a:pPr algn="l"/>
                      <a:r>
                        <a:rPr sz="1100" b="1" i="0">
                          <a:solidFill>
                            <a:srgbClr val="0E2841"/>
                          </a:solidFill>
                          <a:latin typeface="Avenir Next LT Pro Demi"/>
                        </a:rPr>
                        <a:t>Base</a:t>
                      </a:r>
                    </a:p>
                  </a:txBody>
                  <a:tcPr marL="73152" marR="73152" marT="18288" marB="18288" anchor="ctr">
                    <a:solidFill>
                      <a:srgbClr val="F4F6F8"/>
                    </a:solidFill>
                  </a:tcPr>
                </a:tc>
                <a:tc>
                  <a:txBody>
                    <a:bodyPr/>
                    <a:lstStyle/>
                    <a:p>
                      <a:pPr algn="ctr"/>
                      <a:r>
                        <a:rPr sz="1100" b="0" i="0">
                          <a:solidFill>
                            <a:srgbClr val="5A5A5A"/>
                          </a:solidFill>
                          <a:latin typeface="Avenir Next LT Pro"/>
                        </a:rPr>
                        <a:t>6%</a:t>
                      </a:r>
                    </a:p>
                  </a:txBody>
                  <a:tcPr marL="73152" marR="73152" marT="18288" marB="18288" anchor="ctr">
                    <a:solidFill>
                      <a:srgbClr val="F4F6F8"/>
                    </a:solidFill>
                  </a:tcPr>
                </a:tc>
                <a:tc>
                  <a:txBody>
                    <a:bodyPr/>
                    <a:lstStyle/>
                    <a:p>
                      <a:pPr algn="ctr"/>
                      <a:r>
                        <a:rPr sz="1100" b="0" i="0">
                          <a:solidFill>
                            <a:srgbClr val="5A5A5A"/>
                          </a:solidFill>
                          <a:latin typeface="Avenir Next LT Pro"/>
                        </a:rPr>
                        <a:t>20%</a:t>
                      </a:r>
                    </a:p>
                  </a:txBody>
                  <a:tcPr marL="73152" marR="73152" marT="18288" marB="18288" anchor="ctr">
                    <a:solidFill>
                      <a:srgbClr val="F4F6F8"/>
                    </a:solidFill>
                  </a:tcPr>
                </a:tc>
                <a:tc>
                  <a:txBody>
                    <a:bodyPr/>
                    <a:lstStyle/>
                    <a:p>
                      <a:pPr algn="ctr"/>
                      <a:r>
                        <a:rPr sz="1100" b="0" i="0">
                          <a:solidFill>
                            <a:srgbClr val="5A5A5A"/>
                          </a:solidFill>
                          <a:latin typeface="Avenir Next LT Pro"/>
                        </a:rPr>
                        <a:t>13×</a:t>
                      </a:r>
                    </a:p>
                  </a:txBody>
                  <a:tcPr marL="73152" marR="73152" marT="18288" marB="18288" anchor="ctr">
                    <a:solidFill>
                      <a:srgbClr val="F4F6F8"/>
                    </a:solidFill>
                  </a:tcPr>
                </a:tc>
                <a:tc>
                  <a:txBody>
                    <a:bodyPr/>
                    <a:lstStyle/>
                    <a:p>
                      <a:pPr algn="ctr"/>
                      <a:r>
                        <a:rPr sz="1100" b="0" i="0">
                          <a:solidFill>
                            <a:srgbClr val="5A5A5A"/>
                          </a:solidFill>
                          <a:latin typeface="Avenir Next LT Pro"/>
                        </a:rPr>
                        <a:t>~$504</a:t>
                      </a:r>
                    </a:p>
                  </a:txBody>
                  <a:tcPr marL="73152" marR="73152" marT="18288" marB="18288" anchor="ctr">
                    <a:solidFill>
                      <a:srgbClr val="F4F6F8"/>
                    </a:solidFill>
                  </a:tcPr>
                </a:tc>
                <a:tc>
                  <a:txBody>
                    <a:bodyPr/>
                    <a:lstStyle/>
                    <a:p>
                      <a:pPr algn="ctr"/>
                      <a:r>
                        <a:rPr sz="1100" b="0" i="0">
                          <a:solidFill>
                            <a:srgbClr val="5A5A5A"/>
                          </a:solidFill>
                          <a:latin typeface="Avenir Next LT Pro"/>
                        </a:rPr>
                        <a:t>55%</a:t>
                      </a:r>
                    </a:p>
                  </a:txBody>
                  <a:tcPr marL="73152" marR="73152" marT="18288" marB="18288" anchor="ctr">
                    <a:solidFill>
                      <a:srgbClr val="F4F6F8"/>
                    </a:solidFill>
                  </a:tcPr>
                </a:tc>
              </a:tr>
              <a:tr h="384048">
                <a:tc>
                  <a:txBody>
                    <a:bodyPr/>
                    <a:lstStyle/>
                    <a:p>
                      <a:pPr algn="l"/>
                      <a:r>
                        <a:rPr sz="1100" b="1" i="0">
                          <a:solidFill>
                            <a:srgbClr val="0E2841"/>
                          </a:solidFill>
                          <a:latin typeface="Avenir Next LT Pro Demi"/>
                        </a:rPr>
                        <a:t>Bear</a:t>
                      </a:r>
                    </a:p>
                  </a:txBody>
                  <a:tcPr marL="73152" marR="73152" marT="18288" marB="18288" anchor="ctr">
                    <a:solidFill>
                      <a:srgbClr val="FFFFFF"/>
                    </a:solidFill>
                  </a:tcPr>
                </a:tc>
                <a:tc>
                  <a:txBody>
                    <a:bodyPr/>
                    <a:lstStyle/>
                    <a:p>
                      <a:pPr algn="ctr"/>
                      <a:r>
                        <a:rPr sz="1100" b="0" i="0">
                          <a:solidFill>
                            <a:srgbClr val="5A5A5A"/>
                          </a:solidFill>
                          <a:latin typeface="Avenir Next LT Pro"/>
                        </a:rPr>
                        <a:t>2%</a:t>
                      </a:r>
                    </a:p>
                  </a:txBody>
                  <a:tcPr marL="73152" marR="73152" marT="18288" marB="18288" anchor="ctr">
                    <a:solidFill>
                      <a:srgbClr val="FFFFFF"/>
                    </a:solidFill>
                  </a:tcPr>
                </a:tc>
                <a:tc>
                  <a:txBody>
                    <a:bodyPr/>
                    <a:lstStyle/>
                    <a:p>
                      <a:pPr algn="ctr"/>
                      <a:r>
                        <a:rPr sz="1100" b="0" i="0">
                          <a:solidFill>
                            <a:srgbClr val="5A5A5A"/>
                          </a:solidFill>
                          <a:latin typeface="Avenir Next LT Pro"/>
                        </a:rPr>
                        <a:t>14%</a:t>
                      </a:r>
                    </a:p>
                  </a:txBody>
                  <a:tcPr marL="73152" marR="73152" marT="18288" marB="18288" anchor="ctr">
                    <a:solidFill>
                      <a:srgbClr val="FFFFFF"/>
                    </a:solidFill>
                  </a:tcPr>
                </a:tc>
                <a:tc>
                  <a:txBody>
                    <a:bodyPr/>
                    <a:lstStyle/>
                    <a:p>
                      <a:pPr algn="ctr"/>
                      <a:r>
                        <a:rPr sz="1100" b="0" i="0">
                          <a:solidFill>
                            <a:srgbClr val="5A5A5A"/>
                          </a:solidFill>
                          <a:latin typeface="Avenir Next LT Pro"/>
                        </a:rPr>
                        <a:t>8×</a:t>
                      </a:r>
                    </a:p>
                  </a:txBody>
                  <a:tcPr marL="73152" marR="73152" marT="18288" marB="18288" anchor="ctr">
                    <a:solidFill>
                      <a:srgbClr val="FFFFFF"/>
                    </a:solidFill>
                  </a:tcPr>
                </a:tc>
                <a:tc>
                  <a:txBody>
                    <a:bodyPr/>
                    <a:lstStyle/>
                    <a:p>
                      <a:pPr algn="ctr"/>
                      <a:r>
                        <a:rPr sz="1100" b="0" i="0">
                          <a:solidFill>
                            <a:srgbClr val="5A5A5A"/>
                          </a:solidFill>
                          <a:latin typeface="Avenir Next LT Pro"/>
                        </a:rPr>
                        <a:t>~$100</a:t>
                      </a:r>
                    </a:p>
                  </a:txBody>
                  <a:tcPr marL="73152" marR="73152" marT="18288" marB="18288" anchor="ctr">
                    <a:solidFill>
                      <a:srgbClr val="FFFFFF"/>
                    </a:solidFill>
                  </a:tcPr>
                </a:tc>
                <a:tc>
                  <a:txBody>
                    <a:bodyPr/>
                    <a:lstStyle/>
                    <a:p>
                      <a:pPr algn="ctr"/>
                      <a:r>
                        <a:rPr sz="1100" b="0" i="0">
                          <a:solidFill>
                            <a:srgbClr val="5A5A5A"/>
                          </a:solidFill>
                          <a:latin typeface="Avenir Next LT Pro"/>
                        </a:rPr>
                        <a:t>30%</a:t>
                      </a:r>
                    </a:p>
                  </a:txBody>
                  <a:tcPr marL="73152" marR="73152" marT="18288" marB="18288" anchor="ctr">
                    <a:solidFill>
                      <a:srgbClr val="FFFFFF"/>
                    </a:solidFill>
                  </a:tcPr>
                </a:tc>
              </a:tr>
            </a:tbl>
          </a:graphicData>
        </a:graphic>
      </p:graphicFrame>
      <p:sp>
        <p:nvSpPr>
          <p:cNvPr id="12" name="TextBox 11"/>
          <p:cNvSpPr txBox="1"/>
          <p:nvPr/>
        </p:nvSpPr>
        <p:spPr>
          <a:xfrm>
            <a:off x="457200" y="4572000"/>
            <a:ext cx="8229600" cy="365760"/>
          </a:xfrm>
          <a:prstGeom prst="rect">
            <a:avLst/>
          </a:prstGeom>
          <a:noFill/>
        </p:spPr>
        <p:txBody>
          <a:bodyPr wrap="none">
            <a:spAutoFit/>
          </a:bodyPr>
          <a:lstStyle/>
          <a:p>
            <a:r>
              <a:rPr sz="1300" b="1" i="0">
                <a:solidFill>
                  <a:srgbClr val="156082"/>
                </a:solidFill>
                <a:latin typeface="Avenir Next LT Pro Demi"/>
              </a:rPr>
              <a:t>Probability-weighted target: ~$426   (~188% upside from ~$148)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300" b="0" i="0">
                <a:solidFill>
                  <a:srgbClr val="0E2841"/>
                </a:solidFill>
                <a:latin typeface="Avenir Next LT Pro Demi"/>
              </a:rPr>
              <a:t>Macro Sensitivity — Housing Is Option Value</a:t>
            </a:r>
          </a:p>
        </p:txBody>
      </p:sp>
      <p:sp>
        <p:nvSpPr>
          <p:cNvPr id="3" name="Rectangle 2"/>
          <p:cNvSpPr/>
          <p:nvPr/>
        </p:nvSpPr>
        <p:spPr>
          <a:xfrm>
            <a:off x="457200" y="932688"/>
            <a:ext cx="8229600" cy="2743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8229600" cy="365760"/>
          </a:xfrm>
          <a:prstGeom prst="rect">
            <a:avLst/>
          </a:prstGeom>
          <a:noFill/>
        </p:spPr>
        <p:txBody>
          <a:bodyPr wrap="none">
            <a:spAutoFit/>
          </a:bodyPr>
          <a:lstStyle/>
          <a:p>
            <a:r>
              <a:rPr sz="700" b="0" i="0">
                <a:solidFill>
                  <a:srgbClr val="5A5A5A"/>
                </a:solidFill>
                <a:latin typeface="Avenir Next LT Pro"/>
              </a:rPr>
              <a:t>Confidential — for discussion purposes only. Not investment advice.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nvGraphicFramePr>
        <p:xfrm>
          <a:off x="457200" y="1554480"/>
          <a:ext cx="8686800" cy="1828800"/>
        </p:xfrm>
        <a:graphic>
          <a:graphicData uri="http://schemas.openxmlformats.org/drawingml/2006/table">
            <a:tbl>
              <a:tblPr>
                <a:tableStyleId>{5C22544A-7EE6-4342-B048-85BDC9FD1C3A}</a:tableStyleId>
              </a:tblPr>
              <a:tblGrid>
                <a:gridCol w="1691640"/>
                <a:gridCol w="1143000"/>
                <a:gridCol w="1417320"/>
                <a:gridCol w="1234440"/>
                <a:gridCol w="960120"/>
                <a:gridCol w="960120"/>
                <a:gridCol w="1280160"/>
              </a:tblGrid>
              <a:tr h="457200">
                <a:tc>
                  <a:txBody>
                    <a:bodyPr/>
                    <a:lstStyle/>
                    <a:p>
                      <a:pPr algn="l"/>
                      <a:r>
                        <a:rPr sz="880" b="1" i="0">
                          <a:solidFill>
                            <a:srgbClr val="FFFFFF"/>
                          </a:solidFill>
                          <a:latin typeface="Avenir Next LT Pro Demi"/>
                        </a:rPr>
                        <a:t>Scenario</a:t>
                      </a:r>
                    </a:p>
                  </a:txBody>
                  <a:tcPr marL="73152" marR="73152" marT="18288" marB="18288" anchor="ctr">
                    <a:solidFill>
                      <a:srgbClr val="0E2841"/>
                    </a:solidFill>
                  </a:tcPr>
                </a:tc>
                <a:tc>
                  <a:txBody>
                    <a:bodyPr/>
                    <a:lstStyle/>
                    <a:p>
                      <a:pPr algn="ctr"/>
                      <a:r>
                        <a:rPr sz="880" b="1" i="0">
                          <a:solidFill>
                            <a:srgbClr val="FFFFFF"/>
                          </a:solidFill>
                          <a:latin typeface="Avenir Next LT Pro Demi"/>
                        </a:rPr>
                        <a:t>30Y Mortgage</a:t>
                      </a:r>
                    </a:p>
                  </a:txBody>
                  <a:tcPr marL="73152" marR="73152" marT="18288" marB="18288" anchor="ctr">
                    <a:solidFill>
                      <a:srgbClr val="0E2841"/>
                    </a:solidFill>
                  </a:tcPr>
                </a:tc>
                <a:tc>
                  <a:txBody>
                    <a:bodyPr/>
                    <a:lstStyle/>
                    <a:p>
                      <a:pPr algn="ctr"/>
                      <a:r>
                        <a:rPr sz="880" b="1" i="0">
                          <a:solidFill>
                            <a:srgbClr val="FFFFFF"/>
                          </a:solidFill>
                          <a:latin typeface="Avenir Next LT Pro Demi"/>
                        </a:rPr>
                        <a:t>Existing Home Sales</a:t>
                      </a:r>
                    </a:p>
                  </a:txBody>
                  <a:tcPr marL="73152" marR="73152" marT="18288" marB="18288" anchor="ctr">
                    <a:solidFill>
                      <a:srgbClr val="0E2841"/>
                    </a:solidFill>
                  </a:tcPr>
                </a:tc>
                <a:tc>
                  <a:txBody>
                    <a:bodyPr/>
                    <a:lstStyle/>
                    <a:p>
                      <a:pPr algn="ctr"/>
                      <a:r>
                        <a:rPr sz="880" b="1" i="0">
                          <a:solidFill>
                            <a:srgbClr val="FFFFFF"/>
                          </a:solidFill>
                          <a:latin typeface="Avenir Next LT Pro Demi"/>
                        </a:rPr>
                        <a:t>RH Revenue</a:t>
                      </a:r>
                    </a:p>
                  </a:txBody>
                  <a:tcPr marL="73152" marR="73152" marT="18288" marB="18288" anchor="ctr">
                    <a:solidFill>
                      <a:srgbClr val="0E2841"/>
                    </a:solidFill>
                  </a:tcPr>
                </a:tc>
                <a:tc>
                  <a:txBody>
                    <a:bodyPr/>
                    <a:lstStyle/>
                    <a:p>
                      <a:pPr algn="ctr"/>
                      <a:r>
                        <a:rPr sz="880" b="1" i="0">
                          <a:solidFill>
                            <a:srgbClr val="FFFFFF"/>
                          </a:solidFill>
                          <a:latin typeface="Avenir Next LT Pro Demi"/>
                        </a:rPr>
                        <a:t>EBITDA Mgn</a:t>
                      </a:r>
                    </a:p>
                  </a:txBody>
                  <a:tcPr marL="73152" marR="73152" marT="18288" marB="18288" anchor="ctr">
                    <a:solidFill>
                      <a:srgbClr val="0E2841"/>
                    </a:solidFill>
                  </a:tcPr>
                </a:tc>
                <a:tc>
                  <a:txBody>
                    <a:bodyPr/>
                    <a:lstStyle/>
                    <a:p>
                      <a:pPr algn="ctr"/>
                      <a:r>
                        <a:rPr sz="880" b="1" i="0">
                          <a:solidFill>
                            <a:srgbClr val="FFFFFF"/>
                          </a:solidFill>
                          <a:latin typeface="Avenir Next LT Pro Demi"/>
                        </a:rPr>
                        <a:t>Adj. EPS</a:t>
                      </a:r>
                    </a:p>
                  </a:txBody>
                  <a:tcPr marL="73152" marR="73152" marT="18288" marB="18288" anchor="ctr">
                    <a:solidFill>
                      <a:srgbClr val="0E2841"/>
                    </a:solidFill>
                  </a:tcPr>
                </a:tc>
                <a:tc>
                  <a:txBody>
                    <a:bodyPr/>
                    <a:lstStyle/>
                    <a:p>
                      <a:pPr algn="ctr"/>
                      <a:r>
                        <a:rPr sz="880" b="1" i="0">
                          <a:solidFill>
                            <a:srgbClr val="FFFFFF"/>
                          </a:solidFill>
                          <a:latin typeface="Avenir Next LT Pro Demi"/>
                        </a:rPr>
                        <a:t>Implied P/E @ $148</a:t>
                      </a:r>
                    </a:p>
                  </a:txBody>
                  <a:tcPr marL="73152" marR="73152" marT="18288" marB="18288" anchor="ctr">
                    <a:solidFill>
                      <a:srgbClr val="0E2841"/>
                    </a:solidFill>
                  </a:tcPr>
                </a:tc>
              </a:tr>
              <a:tr h="457200">
                <a:tc>
                  <a:txBody>
                    <a:bodyPr/>
                    <a:lstStyle/>
                    <a:p>
                      <a:pPr algn="l"/>
                      <a:r>
                        <a:rPr sz="950" b="1" i="0">
                          <a:solidFill>
                            <a:srgbClr val="0E2841"/>
                          </a:solidFill>
                          <a:latin typeface="Avenir Next LT Pro Demi"/>
                        </a:rPr>
                        <a:t>Bull — rate relief</a:t>
                      </a:r>
                    </a:p>
                  </a:txBody>
                  <a:tcPr marL="73152" marR="73152" marT="18288" marB="18288" anchor="ctr">
                    <a:solidFill>
                      <a:srgbClr val="FFFFFF"/>
                    </a:solidFill>
                  </a:tcPr>
                </a:tc>
                <a:tc>
                  <a:txBody>
                    <a:bodyPr/>
                    <a:lstStyle/>
                    <a:p>
                      <a:pPr algn="ctr"/>
                      <a:r>
                        <a:rPr sz="950" b="0" i="0">
                          <a:solidFill>
                            <a:srgbClr val="5A5A5A"/>
                          </a:solidFill>
                          <a:latin typeface="Avenir Next LT Pro"/>
                        </a:rPr>
                        <a:t>&lt;5.5%</a:t>
                      </a:r>
                    </a:p>
                  </a:txBody>
                  <a:tcPr marL="73152" marR="73152" marT="18288" marB="18288" anchor="ctr">
                    <a:solidFill>
                      <a:srgbClr val="FFFFFF"/>
                    </a:solidFill>
                  </a:tcPr>
                </a:tc>
                <a:tc>
                  <a:txBody>
                    <a:bodyPr/>
                    <a:lstStyle/>
                    <a:p>
                      <a:pPr algn="ctr"/>
                      <a:r>
                        <a:rPr sz="950" b="0" i="0">
                          <a:solidFill>
                            <a:srgbClr val="5A5A5A"/>
                          </a:solidFill>
                          <a:latin typeface="Avenir Next LT Pro"/>
                        </a:rPr>
                        <a:t>~5.2–5.8M</a:t>
                      </a:r>
                    </a:p>
                  </a:txBody>
                  <a:tcPr marL="73152" marR="73152" marT="18288" marB="18288" anchor="ctr">
                    <a:solidFill>
                      <a:srgbClr val="FFFFFF"/>
                    </a:solidFill>
                  </a:tcPr>
                </a:tc>
                <a:tc>
                  <a:txBody>
                    <a:bodyPr/>
                    <a:lstStyle/>
                    <a:p>
                      <a:pPr algn="ctr"/>
                      <a:r>
                        <a:rPr sz="950" b="0" i="0">
                          <a:solidFill>
                            <a:srgbClr val="5A5A5A"/>
                          </a:solidFill>
                          <a:latin typeface="Avenir Next LT Pro"/>
                        </a:rPr>
                        <a:t>~$4.2–4.8B</a:t>
                      </a:r>
                    </a:p>
                  </a:txBody>
                  <a:tcPr marL="73152" marR="73152" marT="18288" marB="18288" anchor="ctr">
                    <a:solidFill>
                      <a:srgbClr val="FFFFFF"/>
                    </a:solidFill>
                  </a:tcPr>
                </a:tc>
                <a:tc>
                  <a:txBody>
                    <a:bodyPr/>
                    <a:lstStyle/>
                    <a:p>
                      <a:pPr algn="ctr"/>
                      <a:r>
                        <a:rPr sz="950" b="0" i="0">
                          <a:solidFill>
                            <a:srgbClr val="5A5A5A"/>
                          </a:solidFill>
                          <a:latin typeface="Avenir Next LT Pro"/>
                        </a:rPr>
                        <a:t>22–26%</a:t>
                      </a:r>
                    </a:p>
                  </a:txBody>
                  <a:tcPr marL="73152" marR="73152" marT="18288" marB="18288" anchor="ctr">
                    <a:solidFill>
                      <a:srgbClr val="FFFFFF"/>
                    </a:solidFill>
                  </a:tcPr>
                </a:tc>
                <a:tc>
                  <a:txBody>
                    <a:bodyPr/>
                    <a:lstStyle/>
                    <a:p>
                      <a:pPr algn="ctr"/>
                      <a:r>
                        <a:rPr sz="950" b="0" i="0">
                          <a:solidFill>
                            <a:srgbClr val="5A5A5A"/>
                          </a:solidFill>
                          <a:latin typeface="Avenir Next LT Pro"/>
                        </a:rPr>
                        <a:t>~$18–26</a:t>
                      </a:r>
                    </a:p>
                  </a:txBody>
                  <a:tcPr marL="73152" marR="73152" marT="18288" marB="18288" anchor="ctr">
                    <a:solidFill>
                      <a:srgbClr val="FFFFFF"/>
                    </a:solidFill>
                  </a:tcPr>
                </a:tc>
                <a:tc>
                  <a:txBody>
                    <a:bodyPr/>
                    <a:lstStyle/>
                    <a:p>
                      <a:pPr algn="ctr"/>
                      <a:r>
                        <a:rPr sz="950" b="0" i="0">
                          <a:solidFill>
                            <a:srgbClr val="5A5A5A"/>
                          </a:solidFill>
                          <a:latin typeface="Avenir Next LT Pro"/>
                        </a:rPr>
                        <a:t>6–8×</a:t>
                      </a:r>
                    </a:p>
                  </a:txBody>
                  <a:tcPr marL="73152" marR="73152" marT="18288" marB="18288" anchor="ctr">
                    <a:solidFill>
                      <a:srgbClr val="FFFFFF"/>
                    </a:solidFill>
                  </a:tcPr>
                </a:tc>
              </a:tr>
              <a:tr h="457200">
                <a:tc>
                  <a:txBody>
                    <a:bodyPr/>
                    <a:lstStyle/>
                    <a:p>
                      <a:pPr algn="l"/>
                      <a:r>
                        <a:rPr sz="950" b="1" i="0">
                          <a:solidFill>
                            <a:srgbClr val="0E2841"/>
                          </a:solidFill>
                          <a:latin typeface="Avenir Next LT Pro Demi"/>
                        </a:rPr>
                        <a:t>Base — modest easing</a:t>
                      </a:r>
                    </a:p>
                  </a:txBody>
                  <a:tcPr marL="73152" marR="73152" marT="18288" marB="18288" anchor="ctr">
                    <a:solidFill>
                      <a:srgbClr val="F4F6F8"/>
                    </a:solidFill>
                  </a:tcPr>
                </a:tc>
                <a:tc>
                  <a:txBody>
                    <a:bodyPr/>
                    <a:lstStyle/>
                    <a:p>
                      <a:pPr algn="ctr"/>
                      <a:r>
                        <a:rPr sz="950" b="0" i="0">
                          <a:solidFill>
                            <a:srgbClr val="5A5A5A"/>
                          </a:solidFill>
                          <a:latin typeface="Avenir Next LT Pro"/>
                        </a:rPr>
                        <a:t>5.75–6.25%</a:t>
                      </a:r>
                    </a:p>
                  </a:txBody>
                  <a:tcPr marL="73152" marR="73152" marT="18288" marB="18288" anchor="ctr">
                    <a:solidFill>
                      <a:srgbClr val="F4F6F8"/>
                    </a:solidFill>
                  </a:tcPr>
                </a:tc>
                <a:tc>
                  <a:txBody>
                    <a:bodyPr/>
                    <a:lstStyle/>
                    <a:p>
                      <a:pPr algn="ctr"/>
                      <a:r>
                        <a:rPr sz="950" b="0" i="0">
                          <a:solidFill>
                            <a:srgbClr val="5A5A5A"/>
                          </a:solidFill>
                          <a:latin typeface="Avenir Next LT Pro"/>
                        </a:rPr>
                        <a:t>~4.5–5.0M</a:t>
                      </a:r>
                    </a:p>
                  </a:txBody>
                  <a:tcPr marL="73152" marR="73152" marT="18288" marB="18288" anchor="ctr">
                    <a:solidFill>
                      <a:srgbClr val="F4F6F8"/>
                    </a:solidFill>
                  </a:tcPr>
                </a:tc>
                <a:tc>
                  <a:txBody>
                    <a:bodyPr/>
                    <a:lstStyle/>
                    <a:p>
                      <a:pPr algn="ctr"/>
                      <a:r>
                        <a:rPr sz="950" b="0" i="0">
                          <a:solidFill>
                            <a:srgbClr val="5A5A5A"/>
                          </a:solidFill>
                          <a:latin typeface="Avenir Next LT Pro"/>
                        </a:rPr>
                        <a:t>~$3.6–4.0B</a:t>
                      </a:r>
                    </a:p>
                  </a:txBody>
                  <a:tcPr marL="73152" marR="73152" marT="18288" marB="18288" anchor="ctr">
                    <a:solidFill>
                      <a:srgbClr val="F4F6F8"/>
                    </a:solidFill>
                  </a:tcPr>
                </a:tc>
                <a:tc>
                  <a:txBody>
                    <a:bodyPr/>
                    <a:lstStyle/>
                    <a:p>
                      <a:pPr algn="ctr"/>
                      <a:r>
                        <a:rPr sz="950" b="0" i="0">
                          <a:solidFill>
                            <a:srgbClr val="5A5A5A"/>
                          </a:solidFill>
                          <a:latin typeface="Avenir Next LT Pro"/>
                        </a:rPr>
                        <a:t>18–21%</a:t>
                      </a:r>
                    </a:p>
                  </a:txBody>
                  <a:tcPr marL="73152" marR="73152" marT="18288" marB="18288" anchor="ctr">
                    <a:solidFill>
                      <a:srgbClr val="F4F6F8"/>
                    </a:solidFill>
                  </a:tcPr>
                </a:tc>
                <a:tc>
                  <a:txBody>
                    <a:bodyPr/>
                    <a:lstStyle/>
                    <a:p>
                      <a:pPr algn="ctr"/>
                      <a:r>
                        <a:rPr sz="950" b="0" i="0">
                          <a:solidFill>
                            <a:srgbClr val="5A5A5A"/>
                          </a:solidFill>
                          <a:latin typeface="Avenir Next LT Pro"/>
                        </a:rPr>
                        <a:t>~$10–14</a:t>
                      </a:r>
                    </a:p>
                  </a:txBody>
                  <a:tcPr marL="73152" marR="73152" marT="18288" marB="18288" anchor="ctr">
                    <a:solidFill>
                      <a:srgbClr val="F4F6F8"/>
                    </a:solidFill>
                  </a:tcPr>
                </a:tc>
                <a:tc>
                  <a:txBody>
                    <a:bodyPr/>
                    <a:lstStyle/>
                    <a:p>
                      <a:pPr algn="ctr"/>
                      <a:r>
                        <a:rPr sz="950" b="0" i="0">
                          <a:solidFill>
                            <a:srgbClr val="5A5A5A"/>
                          </a:solidFill>
                          <a:latin typeface="Avenir Next LT Pro"/>
                        </a:rPr>
                        <a:t>11–15×</a:t>
                      </a:r>
                    </a:p>
                  </a:txBody>
                  <a:tcPr marL="73152" marR="73152" marT="18288" marB="18288" anchor="ctr">
                    <a:solidFill>
                      <a:srgbClr val="F4F6F8"/>
                    </a:solidFill>
                  </a:tcPr>
                </a:tc>
              </a:tr>
              <a:tr h="457200">
                <a:tc>
                  <a:txBody>
                    <a:bodyPr/>
                    <a:lstStyle/>
                    <a:p>
                      <a:pPr algn="l"/>
                      <a:r>
                        <a:rPr sz="950" b="1" i="0">
                          <a:solidFill>
                            <a:srgbClr val="0E2841"/>
                          </a:solidFill>
                          <a:latin typeface="Avenir Next LT Pro Demi"/>
                        </a:rPr>
                        <a:t>Bear — rates stay high</a:t>
                      </a:r>
                    </a:p>
                  </a:txBody>
                  <a:tcPr marL="73152" marR="73152" marT="18288" marB="18288" anchor="ctr">
                    <a:solidFill>
                      <a:srgbClr val="FFFFFF"/>
                    </a:solidFill>
                  </a:tcPr>
                </a:tc>
                <a:tc>
                  <a:txBody>
                    <a:bodyPr/>
                    <a:lstStyle/>
                    <a:p>
                      <a:pPr algn="ctr"/>
                      <a:r>
                        <a:rPr sz="950" b="0" i="0">
                          <a:solidFill>
                            <a:srgbClr val="5A5A5A"/>
                          </a:solidFill>
                          <a:latin typeface="Avenir Next LT Pro"/>
                        </a:rPr>
                        <a:t>6.75–7.25%</a:t>
                      </a:r>
                    </a:p>
                  </a:txBody>
                  <a:tcPr marL="73152" marR="73152" marT="18288" marB="18288" anchor="ctr">
                    <a:solidFill>
                      <a:srgbClr val="FFFFFF"/>
                    </a:solidFill>
                  </a:tcPr>
                </a:tc>
                <a:tc>
                  <a:txBody>
                    <a:bodyPr/>
                    <a:lstStyle/>
                    <a:p>
                      <a:pPr algn="ctr"/>
                      <a:r>
                        <a:rPr sz="950" b="0" i="0">
                          <a:solidFill>
                            <a:srgbClr val="5A5A5A"/>
                          </a:solidFill>
                          <a:latin typeface="Avenir Next LT Pro"/>
                        </a:rPr>
                        <a:t>~3.8–4.0M</a:t>
                      </a:r>
                    </a:p>
                  </a:txBody>
                  <a:tcPr marL="73152" marR="73152" marT="18288" marB="18288" anchor="ctr">
                    <a:solidFill>
                      <a:srgbClr val="FFFFFF"/>
                    </a:solidFill>
                  </a:tcPr>
                </a:tc>
                <a:tc>
                  <a:txBody>
                    <a:bodyPr/>
                    <a:lstStyle/>
                    <a:p>
                      <a:pPr algn="ctr"/>
                      <a:r>
                        <a:rPr sz="950" b="0" i="0">
                          <a:solidFill>
                            <a:srgbClr val="5A5A5A"/>
                          </a:solidFill>
                          <a:latin typeface="Avenir Next LT Pro"/>
                        </a:rPr>
                        <a:t>~$3.1–3.3B</a:t>
                      </a:r>
                    </a:p>
                  </a:txBody>
                  <a:tcPr marL="73152" marR="73152" marT="18288" marB="18288" anchor="ctr">
                    <a:solidFill>
                      <a:srgbClr val="FFFFFF"/>
                    </a:solidFill>
                  </a:tcPr>
                </a:tc>
                <a:tc>
                  <a:txBody>
                    <a:bodyPr/>
                    <a:lstStyle/>
                    <a:p>
                      <a:pPr algn="ctr"/>
                      <a:r>
                        <a:rPr sz="950" b="0" i="0">
                          <a:solidFill>
                            <a:srgbClr val="5A5A5A"/>
                          </a:solidFill>
                          <a:latin typeface="Avenir Next LT Pro"/>
                        </a:rPr>
                        <a:t>14–16%</a:t>
                      </a:r>
                    </a:p>
                  </a:txBody>
                  <a:tcPr marL="73152" marR="73152" marT="18288" marB="18288" anchor="ctr">
                    <a:solidFill>
                      <a:srgbClr val="FFFFFF"/>
                    </a:solidFill>
                  </a:tcPr>
                </a:tc>
                <a:tc>
                  <a:txBody>
                    <a:bodyPr/>
                    <a:lstStyle/>
                    <a:p>
                      <a:pPr algn="ctr"/>
                      <a:r>
                        <a:rPr sz="950" b="0" i="0">
                          <a:solidFill>
                            <a:srgbClr val="5A5A5A"/>
                          </a:solidFill>
                          <a:latin typeface="Avenir Next LT Pro"/>
                        </a:rPr>
                        <a:t>~$4–6</a:t>
                      </a:r>
                    </a:p>
                  </a:txBody>
                  <a:tcPr marL="73152" marR="73152" marT="18288" marB="18288" anchor="ctr">
                    <a:solidFill>
                      <a:srgbClr val="FFFFFF"/>
                    </a:solidFill>
                  </a:tcPr>
                </a:tc>
                <a:tc>
                  <a:txBody>
                    <a:bodyPr/>
                    <a:lstStyle/>
                    <a:p>
                      <a:pPr algn="ctr"/>
                      <a:r>
                        <a:rPr sz="950" b="0" i="0">
                          <a:solidFill>
                            <a:srgbClr val="5A5A5A"/>
                          </a:solidFill>
                          <a:latin typeface="Avenir Next LT Pro"/>
                        </a:rPr>
                        <a:t>25–37×</a:t>
                      </a:r>
                    </a:p>
                  </a:txBody>
                  <a:tcPr marL="73152" marR="73152" marT="18288" marB="18288" anchor="ctr">
                    <a:solidFill>
                      <a:srgbClr val="FFFFFF"/>
                    </a:solidFill>
                  </a:tcPr>
                </a:tc>
              </a:tr>
            </a:tbl>
          </a:graphicData>
        </a:graphic>
      </p:graphicFrame>
      <p:sp>
        <p:nvSpPr>
          <p:cNvPr id="7" name="TextBox 6"/>
          <p:cNvSpPr txBox="1"/>
          <p:nvPr/>
        </p:nvSpPr>
        <p:spPr>
          <a:xfrm>
            <a:off x="457200" y="3657600"/>
            <a:ext cx="8229600" cy="548640"/>
          </a:xfrm>
          <a:prstGeom prst="rect">
            <a:avLst/>
          </a:prstGeom>
          <a:noFill/>
        </p:spPr>
        <p:txBody>
          <a:bodyPr wrap="square">
            <a:spAutoFit/>
          </a:bodyPr>
          <a:lstStyle/>
          <a:p>
            <a:r>
              <a:rPr sz="1100" b="1" i="0">
                <a:solidFill>
                  <a:srgbClr val="156082"/>
                </a:solidFill>
                <a:latin typeface="Avenir Next LT Pro Demi"/>
              </a:rPr>
              <a:t>Key distinction: RH tracks housing TRANSACTIONS (turnover), not prices.</a:t>
            </a:r>
          </a:p>
          <a:p>
            <a:r>
              <a:rPr sz="1000" b="0" i="0">
                <a:solidFill>
                  <a:srgbClr val="5A5A5A"/>
                </a:solidFill>
                <a:latin typeface="Avenir Next LT Pro"/>
              </a:rPr>
              <a:t>Base case assumes NO recovery — a rate-driven turn is upside, not a requirement.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300" b="0" i="0">
                <a:solidFill>
                  <a:srgbClr val="0E2841"/>
                </a:solidFill>
                <a:latin typeface="Avenir Next LT Pro Demi"/>
              </a:rPr>
              <a:t>Competitive Landscape</a:t>
            </a:r>
          </a:p>
        </p:txBody>
      </p:sp>
      <p:sp>
        <p:nvSpPr>
          <p:cNvPr id="3" name="Rectangle 2"/>
          <p:cNvSpPr/>
          <p:nvPr/>
        </p:nvSpPr>
        <p:spPr>
          <a:xfrm>
            <a:off x="457200" y="932688"/>
            <a:ext cx="8229600" cy="2743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8229600" cy="365760"/>
          </a:xfrm>
          <a:prstGeom prst="rect">
            <a:avLst/>
          </a:prstGeom>
          <a:noFill/>
        </p:spPr>
        <p:txBody>
          <a:bodyPr wrap="none">
            <a:spAutoFit/>
          </a:bodyPr>
          <a:lstStyle/>
          <a:p>
            <a:r>
              <a:rPr sz="700" b="0" i="0">
                <a:solidFill>
                  <a:srgbClr val="5A5A5A"/>
                </a:solidFill>
                <a:latin typeface="Avenir Next LT Pro"/>
              </a:rPr>
              <a:t>Confidential — for discussion purposes only. Not investment advice.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graphicFrame>
        <p:nvGraphicFramePr>
          <p:cNvPr id="6" name="Table 5"/>
          <p:cNvGraphicFramePr>
            <a:graphicFrameLocks noGrp="1"/>
          </p:cNvGraphicFramePr>
          <p:nvPr/>
        </p:nvGraphicFramePr>
        <p:xfrm>
          <a:off x="457200" y="1554480"/>
          <a:ext cx="8686800" cy="2103120"/>
        </p:xfrm>
        <a:graphic>
          <a:graphicData uri="http://schemas.openxmlformats.org/drawingml/2006/table">
            <a:tbl>
              <a:tblPr>
                <a:tableStyleId>{5C22544A-7EE6-4342-B048-85BDC9FD1C3A}</a:tableStyleId>
              </a:tblPr>
              <a:tblGrid>
                <a:gridCol w="1005840"/>
                <a:gridCol w="2286000"/>
                <a:gridCol w="1463040"/>
                <a:gridCol w="1234440"/>
                <a:gridCol w="1234440"/>
                <a:gridCol w="1463040"/>
              </a:tblGrid>
              <a:tr h="420624">
                <a:tc>
                  <a:txBody>
                    <a:bodyPr/>
                    <a:lstStyle/>
                    <a:p>
                      <a:pPr algn="l"/>
                      <a:r>
                        <a:rPr sz="950" b="1" i="0">
                          <a:solidFill>
                            <a:srgbClr val="FFFFFF"/>
                          </a:solidFill>
                          <a:latin typeface="Avenir Next LT Pro Demi"/>
                        </a:rPr>
                        <a:t>Ticker</a:t>
                      </a:r>
                    </a:p>
                  </a:txBody>
                  <a:tcPr marL="73152" marR="73152" marT="18288" marB="18288" anchor="ctr">
                    <a:solidFill>
                      <a:srgbClr val="0E2841"/>
                    </a:solidFill>
                  </a:tcPr>
                </a:tc>
                <a:tc>
                  <a:txBody>
                    <a:bodyPr/>
                    <a:lstStyle/>
                    <a:p>
                      <a:pPr algn="ctr"/>
                      <a:r>
                        <a:rPr sz="950" b="1" i="0">
                          <a:solidFill>
                            <a:srgbClr val="FFFFFF"/>
                          </a:solidFill>
                          <a:latin typeface="Avenir Next LT Pro Demi"/>
                        </a:rPr>
                        <a:t>Company</a:t>
                      </a:r>
                    </a:p>
                  </a:txBody>
                  <a:tcPr marL="73152" marR="73152" marT="18288" marB="18288" anchor="ctr">
                    <a:solidFill>
                      <a:srgbClr val="0E2841"/>
                    </a:solidFill>
                  </a:tcPr>
                </a:tc>
                <a:tc>
                  <a:txBody>
                    <a:bodyPr/>
                    <a:lstStyle/>
                    <a:p>
                      <a:pPr algn="ctr"/>
                      <a:r>
                        <a:rPr sz="950" b="1" i="0">
                          <a:solidFill>
                            <a:srgbClr val="FFFFFF"/>
                          </a:solidFill>
                          <a:latin typeface="Avenir Next LT Pro Demi"/>
                        </a:rPr>
                        <a:t>Rev CAGR (3y)</a:t>
                      </a:r>
                    </a:p>
                  </a:txBody>
                  <a:tcPr marL="73152" marR="73152" marT="18288" marB="18288" anchor="ctr">
                    <a:solidFill>
                      <a:srgbClr val="0E2841"/>
                    </a:solidFill>
                  </a:tcPr>
                </a:tc>
                <a:tc>
                  <a:txBody>
                    <a:bodyPr/>
                    <a:lstStyle/>
                    <a:p>
                      <a:pPr algn="ctr"/>
                      <a:r>
                        <a:rPr sz="950" b="1" i="0">
                          <a:solidFill>
                            <a:srgbClr val="FFFFFF"/>
                          </a:solidFill>
                          <a:latin typeface="Avenir Next LT Pro Demi"/>
                        </a:rPr>
                        <a:t>EBITDA Mgn</a:t>
                      </a:r>
                    </a:p>
                  </a:txBody>
                  <a:tcPr marL="73152" marR="73152" marT="18288" marB="18288" anchor="ctr">
                    <a:solidFill>
                      <a:srgbClr val="0E2841"/>
                    </a:solidFill>
                  </a:tcPr>
                </a:tc>
                <a:tc>
                  <a:txBody>
                    <a:bodyPr/>
                    <a:lstStyle/>
                    <a:p>
                      <a:pPr algn="ctr"/>
                      <a:r>
                        <a:rPr sz="950" b="1" i="0">
                          <a:solidFill>
                            <a:srgbClr val="FFFFFF"/>
                          </a:solidFill>
                          <a:latin typeface="Avenir Next LT Pro Demi"/>
                        </a:rPr>
                        <a:t>EV/EBITDA</a:t>
                      </a:r>
                    </a:p>
                  </a:txBody>
                  <a:tcPr marL="73152" marR="73152" marT="18288" marB="18288" anchor="ctr">
                    <a:solidFill>
                      <a:srgbClr val="0E2841"/>
                    </a:solidFill>
                  </a:tcPr>
                </a:tc>
                <a:tc>
                  <a:txBody>
                    <a:bodyPr/>
                    <a:lstStyle/>
                    <a:p>
                      <a:pPr algn="ctr"/>
                      <a:r>
                        <a:rPr sz="950" b="1" i="0">
                          <a:solidFill>
                            <a:srgbClr val="FFFFFF"/>
                          </a:solidFill>
                          <a:latin typeface="Avenir Next LT Pro Demi"/>
                        </a:rPr>
                        <a:t>Status</a:t>
                      </a:r>
                    </a:p>
                  </a:txBody>
                  <a:tcPr marL="73152" marR="73152" marT="18288" marB="18288" anchor="ctr">
                    <a:solidFill>
                      <a:srgbClr val="0E2841"/>
                    </a:solidFill>
                  </a:tcPr>
                </a:tc>
              </a:tr>
              <a:tr h="420624">
                <a:tc>
                  <a:txBody>
                    <a:bodyPr/>
                    <a:lstStyle/>
                    <a:p>
                      <a:pPr algn="l"/>
                      <a:r>
                        <a:rPr sz="1050" b="1" i="0">
                          <a:solidFill>
                            <a:srgbClr val="0E2841"/>
                          </a:solidFill>
                          <a:latin typeface="Avenir Next LT Pro Demi"/>
                        </a:rPr>
                        <a:t>ARHS</a:t>
                      </a:r>
                    </a:p>
                  </a:txBody>
                  <a:tcPr marL="73152" marR="73152" marT="18288" marB="18288" anchor="ctr">
                    <a:solidFill>
                      <a:srgbClr val="FFFFFF"/>
                    </a:solidFill>
                  </a:tcPr>
                </a:tc>
                <a:tc>
                  <a:txBody>
                    <a:bodyPr/>
                    <a:lstStyle/>
                    <a:p>
                      <a:pPr algn="ctr"/>
                      <a:r>
                        <a:rPr sz="1050" b="0" i="0">
                          <a:solidFill>
                            <a:srgbClr val="5A5A5A"/>
                          </a:solidFill>
                          <a:latin typeface="Avenir Next LT Pro"/>
                        </a:rPr>
                        <a:t>Arhaus</a:t>
                      </a:r>
                    </a:p>
                  </a:txBody>
                  <a:tcPr marL="73152" marR="73152" marT="18288" marB="18288" anchor="ctr">
                    <a:solidFill>
                      <a:srgbClr val="FFFFFF"/>
                    </a:solidFill>
                  </a:tcPr>
                </a:tc>
                <a:tc>
                  <a:txBody>
                    <a:bodyPr/>
                    <a:lstStyle/>
                    <a:p>
                      <a:pPr algn="ctr"/>
                      <a:r>
                        <a:rPr sz="1050" b="0" i="0">
                          <a:solidFill>
                            <a:srgbClr val="5A5A5A"/>
                          </a:solidFill>
                          <a:latin typeface="Avenir Next LT Pro"/>
                        </a:rPr>
                        <a:t>+11.4%</a:t>
                      </a:r>
                    </a:p>
                  </a:txBody>
                  <a:tcPr marL="73152" marR="73152" marT="18288" marB="18288" anchor="ctr">
                    <a:solidFill>
                      <a:srgbClr val="FFFFFF"/>
                    </a:solidFill>
                  </a:tcPr>
                </a:tc>
                <a:tc>
                  <a:txBody>
                    <a:bodyPr/>
                    <a:lstStyle/>
                    <a:p>
                      <a:pPr algn="ctr"/>
                      <a:r>
                        <a:rPr sz="1050" b="0" i="0">
                          <a:solidFill>
                            <a:srgbClr val="5A5A5A"/>
                          </a:solidFill>
                          <a:latin typeface="Avenir Next LT Pro"/>
                        </a:rPr>
                        <a:t>~14%</a:t>
                      </a:r>
                    </a:p>
                  </a:txBody>
                  <a:tcPr marL="73152" marR="73152" marT="18288" marB="18288" anchor="ctr">
                    <a:solidFill>
                      <a:srgbClr val="FFFFFF"/>
                    </a:solidFill>
                  </a:tcPr>
                </a:tc>
                <a:tc>
                  <a:txBody>
                    <a:bodyPr/>
                    <a:lstStyle/>
                    <a:p>
                      <a:pPr algn="ctr"/>
                      <a:r>
                        <a:rPr sz="1050" b="0" i="0">
                          <a:solidFill>
                            <a:srgbClr val="5A5A5A"/>
                          </a:solidFill>
                          <a:latin typeface="Avenir Next LT Pro"/>
                        </a:rPr>
                        <a:t>~11×</a:t>
                      </a:r>
                    </a:p>
                  </a:txBody>
                  <a:tcPr marL="73152" marR="73152" marT="18288" marB="18288" anchor="ctr">
                    <a:solidFill>
                      <a:srgbClr val="FFFFFF"/>
                    </a:solidFill>
                  </a:tcPr>
                </a:tc>
                <a:tc>
                  <a:txBody>
                    <a:bodyPr/>
                    <a:lstStyle/>
                    <a:p>
                      <a:pPr algn="ctr"/>
                      <a:r>
                        <a:rPr sz="1050" b="0" i="0">
                          <a:solidFill>
                            <a:srgbClr val="5A5A5A"/>
                          </a:solidFill>
                          <a:latin typeface="Avenir Next LT Pro"/>
                        </a:rPr>
                        <a:t>Outperforming</a:t>
                      </a:r>
                    </a:p>
                  </a:txBody>
                  <a:tcPr marL="73152" marR="73152" marT="18288" marB="18288" anchor="ctr">
                    <a:solidFill>
                      <a:srgbClr val="FFFFFF"/>
                    </a:solidFill>
                  </a:tcPr>
                </a:tc>
              </a:tr>
              <a:tr h="420624">
                <a:tc>
                  <a:txBody>
                    <a:bodyPr/>
                    <a:lstStyle/>
                    <a:p>
                      <a:pPr algn="l"/>
                      <a:r>
                        <a:rPr sz="1050" b="1" i="0">
                          <a:solidFill>
                            <a:srgbClr val="0E2841"/>
                          </a:solidFill>
                          <a:latin typeface="Avenir Next LT Pro Demi"/>
                        </a:rPr>
                        <a:t>WSM</a:t>
                      </a:r>
                    </a:p>
                  </a:txBody>
                  <a:tcPr marL="73152" marR="73152" marT="18288" marB="18288" anchor="ctr">
                    <a:solidFill>
                      <a:srgbClr val="F4F6F8"/>
                    </a:solidFill>
                  </a:tcPr>
                </a:tc>
                <a:tc>
                  <a:txBody>
                    <a:bodyPr/>
                    <a:lstStyle/>
                    <a:p>
                      <a:pPr algn="ctr"/>
                      <a:r>
                        <a:rPr sz="1050" b="0" i="0">
                          <a:solidFill>
                            <a:srgbClr val="5A5A5A"/>
                          </a:solidFill>
                          <a:latin typeface="Avenir Next LT Pro"/>
                        </a:rPr>
                        <a:t>Williams-Sonoma</a:t>
                      </a:r>
                    </a:p>
                  </a:txBody>
                  <a:tcPr marL="73152" marR="73152" marT="18288" marB="18288" anchor="ctr">
                    <a:solidFill>
                      <a:srgbClr val="F4F6F8"/>
                    </a:solidFill>
                  </a:tcPr>
                </a:tc>
                <a:tc>
                  <a:txBody>
                    <a:bodyPr/>
                    <a:lstStyle/>
                    <a:p>
                      <a:pPr algn="ctr"/>
                      <a:r>
                        <a:rPr sz="1050" b="0" i="0">
                          <a:solidFill>
                            <a:srgbClr val="5A5A5A"/>
                          </a:solidFill>
                          <a:latin typeface="Avenir Next LT Pro"/>
                        </a:rPr>
                        <a:t>+7.2%</a:t>
                      </a:r>
                    </a:p>
                  </a:txBody>
                  <a:tcPr marL="73152" marR="73152" marT="18288" marB="18288" anchor="ctr">
                    <a:solidFill>
                      <a:srgbClr val="F4F6F8"/>
                    </a:solidFill>
                  </a:tcPr>
                </a:tc>
                <a:tc>
                  <a:txBody>
                    <a:bodyPr/>
                    <a:lstStyle/>
                    <a:p>
                      <a:pPr algn="ctr"/>
                      <a:r>
                        <a:rPr sz="1050" b="0" i="0">
                          <a:solidFill>
                            <a:srgbClr val="5A5A5A"/>
                          </a:solidFill>
                          <a:latin typeface="Avenir Next LT Pro"/>
                        </a:rPr>
                        <a:t>~18%</a:t>
                      </a:r>
                    </a:p>
                  </a:txBody>
                  <a:tcPr marL="73152" marR="73152" marT="18288" marB="18288" anchor="ctr">
                    <a:solidFill>
                      <a:srgbClr val="F4F6F8"/>
                    </a:solidFill>
                  </a:tcPr>
                </a:tc>
                <a:tc>
                  <a:txBody>
                    <a:bodyPr/>
                    <a:lstStyle/>
                    <a:p>
                      <a:pPr algn="ctr"/>
                      <a:r>
                        <a:rPr sz="1050" b="0" i="0">
                          <a:solidFill>
                            <a:srgbClr val="5A5A5A"/>
                          </a:solidFill>
                          <a:latin typeface="Avenir Next LT Pro"/>
                        </a:rPr>
                        <a:t>~15×</a:t>
                      </a:r>
                    </a:p>
                  </a:txBody>
                  <a:tcPr marL="73152" marR="73152" marT="18288" marB="18288" anchor="ctr">
                    <a:solidFill>
                      <a:srgbClr val="F4F6F8"/>
                    </a:solidFill>
                  </a:tcPr>
                </a:tc>
                <a:tc>
                  <a:txBody>
                    <a:bodyPr/>
                    <a:lstStyle/>
                    <a:p>
                      <a:pPr algn="ctr"/>
                      <a:r>
                        <a:rPr sz="1050" b="0" i="0">
                          <a:solidFill>
                            <a:srgbClr val="5A5A5A"/>
                          </a:solidFill>
                          <a:latin typeface="Avenir Next LT Pro"/>
                        </a:rPr>
                        <a:t>Outperforming</a:t>
                      </a:r>
                    </a:p>
                  </a:txBody>
                  <a:tcPr marL="73152" marR="73152" marT="18288" marB="18288" anchor="ctr">
                    <a:solidFill>
                      <a:srgbClr val="F4F6F8"/>
                    </a:solidFill>
                  </a:tcPr>
                </a:tc>
              </a:tr>
              <a:tr h="420624">
                <a:tc>
                  <a:txBody>
                    <a:bodyPr/>
                    <a:lstStyle/>
                    <a:p>
                      <a:pPr algn="l"/>
                      <a:r>
                        <a:rPr sz="1050" b="1" i="0">
                          <a:solidFill>
                            <a:srgbClr val="0E2841"/>
                          </a:solidFill>
                          <a:latin typeface="Avenir Next LT Pro Demi"/>
                        </a:rPr>
                        <a:t>RH</a:t>
                      </a:r>
                    </a:p>
                  </a:txBody>
                  <a:tcPr marL="73152" marR="73152" marT="18288" marB="18288" anchor="ctr">
                    <a:solidFill>
                      <a:srgbClr val="FFFFFF"/>
                    </a:solidFill>
                  </a:tcPr>
                </a:tc>
                <a:tc>
                  <a:txBody>
                    <a:bodyPr/>
                    <a:lstStyle/>
                    <a:p>
                      <a:pPr algn="ctr"/>
                      <a:r>
                        <a:rPr sz="1050" b="0" i="0">
                          <a:solidFill>
                            <a:srgbClr val="5A5A5A"/>
                          </a:solidFill>
                          <a:latin typeface="Avenir Next LT Pro"/>
                        </a:rPr>
                        <a:t>Restoration Hardware</a:t>
                      </a:r>
                    </a:p>
                  </a:txBody>
                  <a:tcPr marL="73152" marR="73152" marT="18288" marB="18288" anchor="ctr">
                    <a:solidFill>
                      <a:srgbClr val="FFFFFF"/>
                    </a:solidFill>
                  </a:tcPr>
                </a:tc>
                <a:tc>
                  <a:txBody>
                    <a:bodyPr/>
                    <a:lstStyle/>
                    <a:p>
                      <a:pPr algn="ctr"/>
                      <a:r>
                        <a:rPr sz="1050" b="0" i="0">
                          <a:solidFill>
                            <a:srgbClr val="5A5A5A"/>
                          </a:solidFill>
                          <a:latin typeface="Avenir Next LT Pro"/>
                        </a:rPr>
                        <a:t>-1.4%</a:t>
                      </a:r>
                    </a:p>
                  </a:txBody>
                  <a:tcPr marL="73152" marR="73152" marT="18288" marB="18288" anchor="ctr">
                    <a:solidFill>
                      <a:srgbClr val="FFFFFF"/>
                    </a:solidFill>
                  </a:tcPr>
                </a:tc>
                <a:tc>
                  <a:txBody>
                    <a:bodyPr/>
                    <a:lstStyle/>
                    <a:p>
                      <a:pPr algn="ctr"/>
                      <a:r>
                        <a:rPr sz="1050" b="0" i="0">
                          <a:solidFill>
                            <a:srgbClr val="5A5A5A"/>
                          </a:solidFill>
                          <a:latin typeface="Avenir Next LT Pro"/>
                        </a:rPr>
                        <a:t>~17%</a:t>
                      </a:r>
                    </a:p>
                  </a:txBody>
                  <a:tcPr marL="73152" marR="73152" marT="18288" marB="18288" anchor="ctr">
                    <a:solidFill>
                      <a:srgbClr val="FFFFFF"/>
                    </a:solidFill>
                  </a:tcPr>
                </a:tc>
                <a:tc>
                  <a:txBody>
                    <a:bodyPr/>
                    <a:lstStyle/>
                    <a:p>
                      <a:pPr algn="ctr"/>
                      <a:r>
                        <a:rPr sz="1050" b="0" i="0">
                          <a:solidFill>
                            <a:srgbClr val="5A5A5A"/>
                          </a:solidFill>
                          <a:latin typeface="Avenir Next LT Pro"/>
                        </a:rPr>
                        <a:t>~8.7×</a:t>
                      </a:r>
                    </a:p>
                  </a:txBody>
                  <a:tcPr marL="73152" marR="73152" marT="18288" marB="18288" anchor="ctr">
                    <a:solidFill>
                      <a:srgbClr val="FFFFFF"/>
                    </a:solidFill>
                  </a:tcPr>
                </a:tc>
                <a:tc>
                  <a:txBody>
                    <a:bodyPr/>
                    <a:lstStyle/>
                    <a:p>
                      <a:pPr algn="ctr"/>
                      <a:r>
                        <a:rPr sz="1050" b="0" i="0">
                          <a:solidFill>
                            <a:srgbClr val="5A5A5A"/>
                          </a:solidFill>
                          <a:latin typeface="Avenir Next LT Pro"/>
                        </a:rPr>
                        <a:t>At Trough</a:t>
                      </a:r>
                    </a:p>
                  </a:txBody>
                  <a:tcPr marL="73152" marR="73152" marT="18288" marB="18288" anchor="ctr">
                    <a:solidFill>
                      <a:srgbClr val="FFFFFF"/>
                    </a:solidFill>
                  </a:tcPr>
                </a:tc>
              </a:tr>
              <a:tr h="420624">
                <a:tc>
                  <a:txBody>
                    <a:bodyPr/>
                    <a:lstStyle/>
                    <a:p>
                      <a:pPr algn="l"/>
                      <a:r>
                        <a:rPr sz="1050" b="1" i="0">
                          <a:solidFill>
                            <a:srgbClr val="0E2841"/>
                          </a:solidFill>
                          <a:latin typeface="Avenir Next LT Pro Demi"/>
                        </a:rPr>
                        <a:t>W</a:t>
                      </a:r>
                    </a:p>
                  </a:txBody>
                  <a:tcPr marL="73152" marR="73152" marT="18288" marB="18288" anchor="ctr">
                    <a:solidFill>
                      <a:srgbClr val="F4F6F8"/>
                    </a:solidFill>
                  </a:tcPr>
                </a:tc>
                <a:tc>
                  <a:txBody>
                    <a:bodyPr/>
                    <a:lstStyle/>
                    <a:p>
                      <a:pPr algn="ctr"/>
                      <a:r>
                        <a:rPr sz="1050" b="0" i="0">
                          <a:solidFill>
                            <a:srgbClr val="5A5A5A"/>
                          </a:solidFill>
                          <a:latin typeface="Avenir Next LT Pro"/>
                        </a:rPr>
                        <a:t>Wayfair</a:t>
                      </a:r>
                    </a:p>
                  </a:txBody>
                  <a:tcPr marL="73152" marR="73152" marT="18288" marB="18288" anchor="ctr">
                    <a:solidFill>
                      <a:srgbClr val="F4F6F8"/>
                    </a:solidFill>
                  </a:tcPr>
                </a:tc>
                <a:tc>
                  <a:txBody>
                    <a:bodyPr/>
                    <a:lstStyle/>
                    <a:p>
                      <a:pPr algn="ctr"/>
                      <a:r>
                        <a:rPr sz="1050" b="0" i="0">
                          <a:solidFill>
                            <a:srgbClr val="5A5A5A"/>
                          </a:solidFill>
                          <a:latin typeface="Avenir Next LT Pro"/>
                        </a:rPr>
                        <a:t>-8.3%</a:t>
                      </a:r>
                    </a:p>
                  </a:txBody>
                  <a:tcPr marL="73152" marR="73152" marT="18288" marB="18288" anchor="ctr">
                    <a:solidFill>
                      <a:srgbClr val="F4F6F8"/>
                    </a:solidFill>
                  </a:tcPr>
                </a:tc>
                <a:tc>
                  <a:txBody>
                    <a:bodyPr/>
                    <a:lstStyle/>
                    <a:p>
                      <a:pPr algn="ctr"/>
                      <a:r>
                        <a:rPr sz="1050" b="0" i="0">
                          <a:solidFill>
                            <a:srgbClr val="5A5A5A"/>
                          </a:solidFill>
                          <a:latin typeface="Avenir Next LT Pro"/>
                        </a:rPr>
                        <a:t>~1%</a:t>
                      </a:r>
                    </a:p>
                  </a:txBody>
                  <a:tcPr marL="73152" marR="73152" marT="18288" marB="18288" anchor="ctr">
                    <a:solidFill>
                      <a:srgbClr val="F4F6F8"/>
                    </a:solidFill>
                  </a:tcPr>
                </a:tc>
                <a:tc>
                  <a:txBody>
                    <a:bodyPr/>
                    <a:lstStyle/>
                    <a:p>
                      <a:pPr algn="ctr"/>
                      <a:r>
                        <a:rPr sz="1050" b="0" i="0">
                          <a:solidFill>
                            <a:srgbClr val="5A5A5A"/>
                          </a:solidFill>
                          <a:latin typeface="Avenir Next LT Pro"/>
                        </a:rPr>
                        <a:t>NM</a:t>
                      </a:r>
                    </a:p>
                  </a:txBody>
                  <a:tcPr marL="73152" marR="73152" marT="18288" marB="18288" anchor="ctr">
                    <a:solidFill>
                      <a:srgbClr val="F4F6F8"/>
                    </a:solidFill>
                  </a:tcPr>
                </a:tc>
                <a:tc>
                  <a:txBody>
                    <a:bodyPr/>
                    <a:lstStyle/>
                    <a:p>
                      <a:pPr algn="ctr"/>
                      <a:r>
                        <a:rPr sz="1050" b="0" i="0">
                          <a:solidFill>
                            <a:srgbClr val="5A5A5A"/>
                          </a:solidFill>
                          <a:latin typeface="Avenir Next LT Pro"/>
                        </a:rPr>
                        <a:t>Underperforming</a:t>
                      </a:r>
                    </a:p>
                  </a:txBody>
                  <a:tcPr marL="73152" marR="73152" marT="18288" marB="18288" anchor="ctr">
                    <a:solidFill>
                      <a:srgbClr val="F4F6F8"/>
                    </a:solidFill>
                  </a:tcPr>
                </a:tc>
              </a:tr>
            </a:tbl>
          </a:graphicData>
        </a:graphic>
      </p:graphicFrame>
      <p:sp>
        <p:nvSpPr>
          <p:cNvPr id="7" name="TextBox 6"/>
          <p:cNvSpPr txBox="1"/>
          <p:nvPr/>
        </p:nvSpPr>
        <p:spPr>
          <a:xfrm>
            <a:off x="457200" y="3749039"/>
            <a:ext cx="8229600" cy="548640"/>
          </a:xfrm>
          <a:prstGeom prst="rect">
            <a:avLst/>
          </a:prstGeom>
          <a:noFill/>
        </p:spPr>
        <p:txBody>
          <a:bodyPr wrap="square">
            <a:spAutoFit/>
          </a:bodyPr>
          <a:lstStyle/>
          <a:p>
            <a:r>
              <a:rPr sz="1100" b="1" i="0">
                <a:solidFill>
                  <a:srgbClr val="156082"/>
                </a:solidFill>
                <a:latin typeface="Avenir Next LT Pro Demi"/>
              </a:rPr>
              <a:t>The real competitor is Arhaus, not European luxury.</a:t>
            </a:r>
          </a:p>
          <a:p>
            <a:r>
              <a:rPr sz="1000" b="0" i="0">
                <a:solidFill>
                  <a:srgbClr val="5A5A5A"/>
                </a:solidFill>
                <a:latin typeface="Avenir Next LT Pro"/>
              </a:rPr>
              <a:t>RH's negative CAGR is self-inflicted + housing — not lost share. Estates moves RH up, out of Arhaus's tier.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548640"/>
          </a:xfrm>
          <a:prstGeom prst="rect">
            <a:avLst/>
          </a:prstGeom>
          <a:noFill/>
        </p:spPr>
        <p:txBody>
          <a:bodyPr wrap="square">
            <a:spAutoFit/>
          </a:bodyPr>
          <a:lstStyle/>
          <a:p>
            <a:r>
              <a:rPr sz="2300" b="0" i="0">
                <a:solidFill>
                  <a:srgbClr val="0E2841"/>
                </a:solidFill>
                <a:latin typeface="Avenir Next LT Pro Demi"/>
              </a:rPr>
              <a:t>Key Risks — What Has to Go Wrong</a:t>
            </a:r>
          </a:p>
        </p:txBody>
      </p:sp>
      <p:sp>
        <p:nvSpPr>
          <p:cNvPr id="3" name="Rectangle 2"/>
          <p:cNvSpPr/>
          <p:nvPr/>
        </p:nvSpPr>
        <p:spPr>
          <a:xfrm>
            <a:off x="457200" y="932688"/>
            <a:ext cx="8229600" cy="27432"/>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19088"/>
            <a:ext cx="8229600" cy="365760"/>
          </a:xfrm>
          <a:prstGeom prst="rect">
            <a:avLst/>
          </a:prstGeom>
          <a:noFill/>
        </p:spPr>
        <p:txBody>
          <a:bodyPr wrap="none">
            <a:spAutoFit/>
          </a:bodyPr>
          <a:lstStyle/>
          <a:p>
            <a:r>
              <a:rPr sz="700" b="0" i="0">
                <a:solidFill>
                  <a:srgbClr val="5A5A5A"/>
                </a:solidFill>
                <a:latin typeface="Avenir Next LT Pro"/>
              </a:rPr>
              <a:t>Confidential — for discussion purposes only. Not investment advice.</a:t>
            </a:r>
          </a:p>
        </p:txBody>
      </p:sp>
      <p:sp>
        <p:nvSpPr>
          <p:cNvPr id="5" name="TextBox 4"/>
          <p:cNvSpPr txBox="1"/>
          <p:nvPr/>
        </p:nvSpPr>
        <p:spPr>
          <a:xfrm>
            <a:off x="457200" y="1051560"/>
            <a:ext cx="8229600" cy="274320"/>
          </a:xfrm>
          <a:prstGeom prst="rect">
            <a:avLst/>
          </a:prstGeom>
          <a:noFill/>
        </p:spPr>
        <p:txBody>
          <a:bodyPr wrap="none">
            <a:spAutoFit/>
          </a:bodyPr>
          <a:lstStyle/>
          <a:p>
            <a:r>
              <a:rPr sz="900" b="0" i="1">
                <a:solidFill>
                  <a:srgbClr val="B0B0B0"/>
                </a:solidFill>
                <a:latin typeface="Avenir Next LT Pro"/>
              </a:rPr>
              <a:t>[ narrative / commentary to be written ]</a:t>
            </a:r>
          </a:p>
        </p:txBody>
      </p:sp>
      <p:sp>
        <p:nvSpPr>
          <p:cNvPr id="6" name="Rectangle 5"/>
          <p:cNvSpPr/>
          <p:nvPr/>
        </p:nvSpPr>
        <p:spPr>
          <a:xfrm>
            <a:off x="457200" y="1554480"/>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200" b="1" i="0">
                <a:solidFill>
                  <a:srgbClr val="0E2841"/>
                </a:solidFill>
                <a:latin typeface="Avenir Next LT Pro Demi"/>
              </a:rPr>
              <a:t>Housing stays depressed through 2027</a:t>
            </a:r>
          </a:p>
          <a:p>
            <a:r>
              <a:rPr sz="950" b="1" i="0">
                <a:solidFill>
                  <a:srgbClr val="B03030"/>
                </a:solidFill>
                <a:latin typeface="Avenir Next LT Pro"/>
              </a:rPr>
              <a:t>Severity: HIGH   ·   Probability: 30%</a:t>
            </a:r>
          </a:p>
        </p:txBody>
      </p:sp>
      <p:sp>
        <p:nvSpPr>
          <p:cNvPr id="7" name="Rectangle 6"/>
          <p:cNvSpPr/>
          <p:nvPr/>
        </p:nvSpPr>
        <p:spPr>
          <a:xfrm>
            <a:off x="457200" y="1554480"/>
            <a:ext cx="73152" cy="96012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709159" y="1554480"/>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200" b="1" i="0">
                <a:solidFill>
                  <a:srgbClr val="0E2841"/>
                </a:solidFill>
                <a:latin typeface="Avenir Next LT Pro Demi"/>
              </a:rPr>
              <a:t>Balance-sheet stress / covenant risk</a:t>
            </a:r>
          </a:p>
          <a:p>
            <a:r>
              <a:rPr sz="950" b="1" i="0">
                <a:solidFill>
                  <a:srgbClr val="B03030"/>
                </a:solidFill>
                <a:latin typeface="Avenir Next LT Pro"/>
              </a:rPr>
              <a:t>Severity: HIGH   ·   Probability: 20%</a:t>
            </a:r>
          </a:p>
        </p:txBody>
      </p:sp>
      <p:sp>
        <p:nvSpPr>
          <p:cNvPr id="9" name="Rectangle 8"/>
          <p:cNvSpPr/>
          <p:nvPr/>
        </p:nvSpPr>
        <p:spPr>
          <a:xfrm>
            <a:off x="4709159" y="1554480"/>
            <a:ext cx="73152" cy="96012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679191"/>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200" b="1" i="0">
                <a:solidFill>
                  <a:srgbClr val="0E2841"/>
                </a:solidFill>
                <a:latin typeface="Avenir Next LT Pro Demi"/>
              </a:rPr>
              <a:t>International execution failure</a:t>
            </a:r>
          </a:p>
          <a:p>
            <a:r>
              <a:rPr sz="950" b="1" i="0">
                <a:solidFill>
                  <a:srgbClr val="C88A12"/>
                </a:solidFill>
                <a:latin typeface="Avenir Next LT Pro"/>
              </a:rPr>
              <a:t>Severity: MED   ·   Probability: 25%</a:t>
            </a:r>
          </a:p>
        </p:txBody>
      </p:sp>
      <p:sp>
        <p:nvSpPr>
          <p:cNvPr id="11" name="Rectangle 10"/>
          <p:cNvSpPr/>
          <p:nvPr/>
        </p:nvSpPr>
        <p:spPr>
          <a:xfrm>
            <a:off x="457200" y="2679191"/>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09159" y="2679191"/>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200" b="1" i="0">
                <a:solidFill>
                  <a:srgbClr val="0E2841"/>
                </a:solidFill>
                <a:latin typeface="Avenir Next LT Pro Demi"/>
              </a:rPr>
              <a:t>Tariff / supply-chain disruption</a:t>
            </a:r>
          </a:p>
          <a:p>
            <a:r>
              <a:rPr sz="950" b="1" i="0">
                <a:solidFill>
                  <a:srgbClr val="C88A12"/>
                </a:solidFill>
                <a:latin typeface="Avenir Next LT Pro"/>
              </a:rPr>
              <a:t>Severity: MED   ·   Probability: 30%</a:t>
            </a:r>
          </a:p>
        </p:txBody>
      </p:sp>
      <p:sp>
        <p:nvSpPr>
          <p:cNvPr id="13" name="Rectangle 12"/>
          <p:cNvSpPr/>
          <p:nvPr/>
        </p:nvSpPr>
        <p:spPr>
          <a:xfrm>
            <a:off x="4709159" y="2679191"/>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803904"/>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200" b="1" i="0">
                <a:solidFill>
                  <a:srgbClr val="0E2841"/>
                </a:solidFill>
                <a:latin typeface="Avenir Next LT Pro Demi"/>
              </a:rPr>
              <a:t>Friedman key-man dependency</a:t>
            </a:r>
          </a:p>
          <a:p>
            <a:r>
              <a:rPr sz="950" b="1" i="0">
                <a:solidFill>
                  <a:srgbClr val="B03030"/>
                </a:solidFill>
                <a:latin typeface="Avenir Next LT Pro"/>
              </a:rPr>
              <a:t>Severity: HIGH   ·   Probability: 10%</a:t>
            </a:r>
          </a:p>
        </p:txBody>
      </p:sp>
      <p:sp>
        <p:nvSpPr>
          <p:cNvPr id="15" name="Rectangle 14"/>
          <p:cNvSpPr/>
          <p:nvPr/>
        </p:nvSpPr>
        <p:spPr>
          <a:xfrm>
            <a:off x="457200" y="3803904"/>
            <a:ext cx="73152" cy="960120"/>
          </a:xfrm>
          <a:prstGeom prst="rect">
            <a:avLst/>
          </a:prstGeom>
          <a:solidFill>
            <a:srgbClr val="B03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709159" y="3803904"/>
            <a:ext cx="3977639" cy="96012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sz="1200" b="1" i="0">
                <a:solidFill>
                  <a:srgbClr val="0E2841"/>
                </a:solidFill>
                <a:latin typeface="Avenir Next LT Pro Demi"/>
              </a:rPr>
              <a:t>Broad consumer / discretionary recession</a:t>
            </a:r>
          </a:p>
          <a:p>
            <a:r>
              <a:rPr sz="950" b="1" i="0">
                <a:solidFill>
                  <a:srgbClr val="C88A12"/>
                </a:solidFill>
                <a:latin typeface="Avenir Next LT Pro"/>
              </a:rPr>
              <a:t>Severity: MED   ·   Probability: 25%</a:t>
            </a:r>
          </a:p>
        </p:txBody>
      </p:sp>
      <p:sp>
        <p:nvSpPr>
          <p:cNvPr id="17" name="Rectangle 16"/>
          <p:cNvSpPr/>
          <p:nvPr/>
        </p:nvSpPr>
        <p:spPr>
          <a:xfrm>
            <a:off x="4709159" y="3803904"/>
            <a:ext cx="73152" cy="960120"/>
          </a:xfrm>
          <a:prstGeom prst="rect">
            <a:avLst/>
          </a:prstGeom>
          <a:solidFill>
            <a:srgbClr val="C88A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sz="2400"/>
        </a:defPPr>
      </a:lstStyle>
      <a:style>
        <a:lnRef idx="2">
          <a:schemeClr val="dk1">
            <a:shade val="50000"/>
          </a:schemeClr>
        </a:lnRef>
        <a:fillRef idx="1">
          <a:schemeClr val="dk1"/>
        </a:fillRef>
        <a:effectRef idx="0">
          <a:schemeClr val="dk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0000"/>
          </a:lnSpc>
          <a:defRPr sz="2400"/>
        </a:defPPr>
      </a:lstStyle>
    </a:txDef>
  </a:objectDefaults>
  <a:extraClrSchemeLst/>
  <a:extLst>
    <a:ext uri="{05A4C25C-085E-4340-85A3-A5531E510DB2}">
      <thm15:themeFamily xmlns:thm15="http://schemas.microsoft.com/office/thememl/2012/main" name="Theme1" id="{3BFAA7AE-A268-4826-9D8B-94FA75FEEF0F}" vid="{9E9B2CBF-1CCA-4D2A-AC69-DF77A87F1DC6}"/>
    </a:ext>
  </a:extLst>
</a:theme>
</file>

<file path=ppt/theme/theme2.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ontinental_16x9">
      <a:dk1>
        <a:srgbClr val="545454"/>
      </a:dk1>
      <a:lt1>
        <a:sysClr val="window" lastClr="FFFFFF"/>
      </a:lt1>
      <a:dk2>
        <a:srgbClr val="000000"/>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Century Gothic">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47"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2EC8420-7163-49FF-8E4A-85261AD340AF}">
  <we:reference id="wa200010001" version="1.0.0.1" store="en-US" storeType="OMEX"/>
  <we:alternateReferences>
    <we:reference id="WA200010001" version="1.0.0.1" store="" storeType="OMEX"/>
  </we:alternateReferences>
  <we:properties>
    <we:property name="claude.fileId" value="&quot;66a6f049-fcc9-46c6-bfc3-b8f1fcac00f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F3AA903C02CEB42B8ED53135F8CD172" ma:contentTypeVersion="19" ma:contentTypeDescription="Create a new document." ma:contentTypeScope="" ma:versionID="d26509f8eb1f4bd0cedb37206d7fe58d">
  <xsd:schema xmlns:xsd="http://www.w3.org/2001/XMLSchema" xmlns:xs="http://www.w3.org/2001/XMLSchema" xmlns:p="http://schemas.microsoft.com/office/2006/metadata/properties" xmlns:ns2="97990345-9152-4417-8f04-d1350c114d86" xmlns:ns3="60323a4b-ec8c-4870-a04a-4daeb2e428a0" xmlns:ns4="5684647e-1a6d-4b94-b02a-af0990aec00f" targetNamespace="http://schemas.microsoft.com/office/2006/metadata/properties" ma:root="true" ma:fieldsID="a00cabcfd3e433e5628bc08f43970357" ns2:_="" ns3:_="" ns4:_="">
    <xsd:import namespace="97990345-9152-4417-8f04-d1350c114d86"/>
    <xsd:import namespace="60323a4b-ec8c-4870-a04a-4daeb2e428a0"/>
    <xsd:import namespace="5684647e-1a6d-4b94-b02a-af0990aec00f"/>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element ref="ns2:MediaServiceSearchProperties" minOccurs="0"/>
                <xsd:element ref="ns2:MediaServiceDateTaken" minOccurs="0"/>
                <xsd:element ref="ns4:SharedWithUsers" minOccurs="0"/>
                <xsd:element ref="ns4:SharedWithDetails" minOccurs="0"/>
                <xsd:element ref="ns2:MediaServiceLocation"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7990345-9152-4417-8f04-d1350c114d8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527491e8-f4ef-4635-9e85-3146e5dcd3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element name="MediaLengthInSeconds" ma:index="26"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0323a4b-ec8c-4870-a04a-4daeb2e428a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ab32fd4-b725-4246-ae97-00f2796f2d8b}" ma:internalName="TaxCatchAll" ma:showField="CatchAllData" ma:web="60323a4b-ec8c-4870-a04a-4daeb2e428a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684647e-1a6d-4b94-b02a-af0990aec00f" elementFormDefault="qualified">
    <xsd:import namespace="http://schemas.microsoft.com/office/2006/documentManagement/types"/>
    <xsd:import namespace="http://schemas.microsoft.com/office/infopath/2007/PartnerControls"/>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pc="http://schemas.microsoft.com/office/infopath/2007/PartnerControls" xmlns:xsi="http://www.w3.org/2001/XMLSchema-instance">
  <documentManagement>
    <lcf76f155ced4ddcb4097134ff3c332f xmlns="97990345-9152-4417-8f04-d1350c114d86">
      <Terms xmlns="http://schemas.microsoft.com/office/infopath/2007/PartnerControls"/>
    </lcf76f155ced4ddcb4097134ff3c332f>
    <TaxCatchAll xmlns="60323a4b-ec8c-4870-a04a-4daeb2e428a0" xsi:nil="true"/>
  </documentManagement>
</p:properties>
</file>

<file path=customXml/itemProps1.xml><?xml version="1.0" encoding="utf-8"?>
<ds:datastoreItem xmlns:ds="http://schemas.openxmlformats.org/officeDocument/2006/customXml" ds:itemID="{595B4667-E460-42B9-B123-AF1C3A04326C}">
  <ds:schemaRefs>
    <ds:schemaRef ds:uri="5684647e-1a6d-4b94-b02a-af0990aec00f"/>
    <ds:schemaRef ds:uri="60323a4b-ec8c-4870-a04a-4daeb2e428a0"/>
    <ds:schemaRef ds:uri="97990345-9152-4417-8f04-d1350c114d8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1FB15A05-7974-443B-B2C6-66CA14E10BBE}">
  <ds:schemaRefs>
    <ds:schemaRef ds:uri="http://schemas.microsoft.com/sharepoint/v3/contenttype/forms"/>
  </ds:schemaRefs>
</ds:datastoreItem>
</file>

<file path=customXml/itemProps3.xml><?xml version="1.0" encoding="utf-8"?>
<ds:datastoreItem xmlns:ds="http://schemas.openxmlformats.org/officeDocument/2006/customXml" ds:itemID="{F45B40EE-95C0-4252-9204-87A3C9A26B20}">
  <ds:schemaRefs>
    <ds:schemaRef ds:uri="http://www.w3.org/XML/1998/namespace"/>
    <ds:schemaRef ds:uri="http://purl.org/dc/elements/1.1/"/>
    <ds:schemaRef ds:uri="http://purl.org/dc/terms/"/>
    <ds:schemaRef ds:uri="http://purl.org/dc/dcmitype/"/>
    <ds:schemaRef ds:uri="5684647e-1a6d-4b94-b02a-af0990aec00f"/>
    <ds:schemaRef ds:uri="http://schemas.microsoft.com/office/2006/documentManagement/types"/>
    <ds:schemaRef ds:uri="http://schemas.openxmlformats.org/package/2006/metadata/core-properties"/>
    <ds:schemaRef ds:uri="http://schemas.microsoft.com/office/infopath/2007/PartnerControls"/>
    <ds:schemaRef ds:uri="60323a4b-ec8c-4870-a04a-4daeb2e428a0"/>
    <ds:schemaRef ds:uri="97990345-9152-4417-8f04-d1350c114d86"/>
    <ds:schemaRef ds:uri="http://schemas.microsoft.com/office/2006/metadata/properties"/>
  </ds:schemaRefs>
</ds:datastoreItem>
</file>

<file path=docMetadata/LabelInfo.xml><?xml version="1.0" encoding="utf-8"?>
<clbl:labelList xmlns:clbl="http://schemas.microsoft.com/office/2020/mipLabelMetadata">
  <clbl:label id="{c327fc46-d125-460c-9dec-2276c3cb8bf4}" enabled="0" method="" siteId="{c327fc46-d125-460c-9dec-2276c3cb8bf4}" removed="1"/>
</clbl:labelList>
</file>

<file path=docProps/app.xml><?xml version="1.0" encoding="utf-8"?>
<Properties xmlns="http://schemas.openxmlformats.org/officeDocument/2006/extended-properties" xmlns:vt="http://schemas.openxmlformats.org/officeDocument/2006/docPropsVTypes">
  <Template>Nike Stock Pitch</Template>
  <TotalTime>1</TotalTime>
  <Words>284</Words>
  <Application>Microsoft Office PowerPoint</Application>
  <PresentationFormat>On-screen Show (4:3)</PresentationFormat>
  <Paragraphs>29</Paragraphs>
  <Slides>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vt:i4>
      </vt:variant>
    </vt:vector>
  </HeadingPairs>
  <TitlesOfParts>
    <vt:vector size="13" baseType="lpstr">
      <vt:lpstr>Arial</vt:lpstr>
      <vt:lpstr>Avenir Next LT Pro</vt:lpstr>
      <vt:lpstr>Avenir Next LT Pro Demi</vt:lpstr>
      <vt:lpstr>Cambria</vt:lpstr>
      <vt:lpstr>Century Gothic</vt:lpstr>
      <vt:lpstr>Wingdings</vt:lpstr>
      <vt:lpstr>Theme1</vt:lpstr>
      <vt:lpstr>PowerPoint Presentation</vt:lpstr>
      <vt:lpstr>Table of Contents</vt:lpstr>
      <vt:lpstr>Investment thesis</vt:lpstr>
      <vt:lpstr>Stock Overview</vt:lpstr>
      <vt:lpstr>Valuation &amp; returns</vt:lpstr>
      <vt:lpstr>Competitive landscape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Derrick Chen</dc:creator>
  <cp:lastModifiedBy>Derrick Chen</cp:lastModifiedBy>
  <cp:revision>1</cp:revision>
  <cp:lastPrinted>2026-06-10T00:07:23Z</cp:lastPrinted>
  <dcterms:created xsi:type="dcterms:W3CDTF">2026-06-26T21:07:49Z</dcterms:created>
  <dcterms:modified xsi:type="dcterms:W3CDTF">2026-07-01T00:39:25Z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TC028048779991</vt:lpwstr>
  </property>
  <property fmtid="{D5CDD505-2E9C-101B-9397-08002B2CF9AE}" pid="3" name="Modified By">
    <vt:lpwstr>i:0#.f|membership|tramirez@kildarepartners.com</vt:lpwstr>
  </property>
  <property fmtid="{D5CDD505-2E9C-101B-9397-08002B2CF9AE}" pid="4" name="Created By">
    <vt:lpwstr>i:0#.f|membership|tramirez@kildarepartners.com</vt:lpwstr>
  </property>
  <property fmtid="{D5CDD505-2E9C-101B-9397-08002B2CF9AE}" pid="5" name="ContentTypeId">
    <vt:lpwstr>0x010100CF3AA903C02CEB42B8ED53135F8CD172</vt:lpwstr>
  </property>
  <property fmtid="{D5CDD505-2E9C-101B-9397-08002B2CF9AE}" pid="6" name="MediaServiceImageTags">
    <vt:lpwstr/>
  </property>
</Properties>
</file>