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2"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7/1/2026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7/1/2026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Bought </a:t>
            </a:r>
            <a:r>
              <a:rPr sz="1050" b="0" dirty="0">
                <a:latin typeface="Avenir Next LT Pro"/>
              </a:rPr>
              <a:t>his own stock at $134–172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351348738"/>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a:solidFill>
                            <a:schemeClr val="tx1"/>
                          </a:solidFill>
                          <a:latin typeface="Avenir Next LT Pro"/>
                        </a:rPr>
                        <a:t>-17.8%</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457200" y="5120640"/>
            <a:ext cx="8229600" cy="274320"/>
          </a:xfrm>
          <a:prstGeom prst="rect">
            <a:avLst/>
          </a:prstGeom>
          <a:noFill/>
        </p:spPr>
        <p:txBody>
          <a:bodyPr wrap="non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a:solidFill>
                            <a:srgbClr val="FFFFFF"/>
                          </a:solidFill>
                          <a:latin typeface="Avenir Next LT Pro Demi"/>
                        </a:rPr>
                        <a:t>Scenario</a:t>
                      </a:r>
                    </a:p>
                  </a:txBody>
                  <a:tcPr marL="73152" marR="73152" marT="18288" marB="18288" anchor="ctr">
                    <a:solidFill>
                      <a:srgbClr val="0E2841"/>
                    </a:solidFill>
                  </a:tcPr>
                </a:tc>
                <a:tc>
                  <a:txBody>
                    <a:bodyPr/>
                    <a:lstStyle/>
                    <a:p>
                      <a:pPr algn="ctr"/>
                      <a:r>
                        <a:rPr sz="1000" b="1" i="0">
                          <a:solidFill>
                            <a:srgbClr val="FFFFFF"/>
                          </a:solidFill>
                          <a:latin typeface="Avenir Next LT Pro Demi"/>
                        </a:rPr>
                        <a:t>Rev CAGR</a:t>
                      </a:r>
                    </a:p>
                  </a:txBody>
                  <a:tcPr marL="73152" marR="73152" marT="18288" marB="18288" anchor="ctr">
                    <a:solidFill>
                      <a:srgbClr val="0E2841"/>
                    </a:solidFill>
                  </a:tcPr>
                </a:tc>
                <a:tc>
                  <a:txBody>
                    <a:bodyPr/>
                    <a:lstStyle/>
                    <a:p>
                      <a:pPr algn="ctr"/>
                      <a:r>
                        <a:rPr sz="1000" b="1" i="0">
                          <a:solidFill>
                            <a:srgbClr val="FFFFFF"/>
                          </a:solidFill>
                          <a:latin typeface="Avenir Next LT Pro Demi"/>
                        </a:rPr>
                        <a:t>EBITDA Mgn</a:t>
                      </a:r>
                    </a:p>
                  </a:txBody>
                  <a:tcPr marL="73152" marR="73152" marT="18288" marB="18288" anchor="ctr">
                    <a:solidFill>
                      <a:srgbClr val="0E2841"/>
                    </a:solidFill>
                  </a:tcPr>
                </a:tc>
                <a:tc>
                  <a:txBody>
                    <a:bodyPr/>
                    <a:lstStyle/>
                    <a:p>
                      <a:pPr algn="ctr"/>
                      <a:r>
                        <a:rPr sz="1000" b="1" i="0">
                          <a:solidFill>
                            <a:srgbClr val="FFFFFF"/>
                          </a:solidFill>
                          <a:latin typeface="Avenir Next LT Pro Demi"/>
                        </a:rPr>
                        <a:t>Exit Mult</a:t>
                      </a:r>
                    </a:p>
                  </a:txBody>
                  <a:tcPr marL="73152" marR="73152" marT="18288" marB="18288" anchor="ctr">
                    <a:solidFill>
                      <a:srgbClr val="0E2841"/>
                    </a:solidFill>
                  </a:tcPr>
                </a:tc>
                <a:tc>
                  <a:txBody>
                    <a:bodyPr/>
                    <a:lstStyle/>
                    <a:p>
                      <a:pPr algn="ctr"/>
                      <a:r>
                        <a:rPr sz="1000" b="1" i="0">
                          <a:solidFill>
                            <a:srgbClr val="FFFFFF"/>
                          </a:solidFill>
                          <a:latin typeface="Avenir Next LT Pro Demi"/>
                        </a:rPr>
                        <a:t>Implied Price</a:t>
                      </a:r>
                    </a:p>
                  </a:txBody>
                  <a:tcPr marL="73152" marR="73152" marT="18288" marB="18288" anchor="ctr">
                    <a:solidFill>
                      <a:srgbClr val="0E2841"/>
                    </a:solidFill>
                  </a:tcPr>
                </a:tc>
                <a:tc>
                  <a:txBody>
                    <a:bodyPr/>
                    <a:lstStyle/>
                    <a:p>
                      <a:pPr algn="ctr"/>
                      <a:r>
                        <a:rPr sz="1000" b="1" i="0">
                          <a:solidFill>
                            <a:srgbClr val="FFFFFF"/>
                          </a:solidFill>
                          <a:latin typeface="Avenir Next LT Pro Demi"/>
                        </a:rPr>
                        <a:t>Prob.</a:t>
                      </a:r>
                    </a:p>
                  </a:txBody>
                  <a:tcPr marL="73152" marR="73152" marT="18288" marB="18288" anchor="ctr">
                    <a:solidFill>
                      <a:srgbClr val="0E2841"/>
                    </a:solidFill>
                  </a:tcPr>
                </a:tc>
                <a:extLst>
                  <a:ext uri="{0D108BD9-81ED-4DB2-BD59-A6C34878D82A}">
                    <a16:rowId xmlns:a16="http://schemas.microsoft.com/office/drawing/2014/main" val="10000"/>
                  </a:ext>
                </a:extLst>
              </a:tr>
              <a:tr h="384048">
                <a:tc>
                  <a:txBody>
                    <a:bodyPr/>
                    <a:lstStyle/>
                    <a:p>
                      <a:pPr algn="l"/>
                      <a:r>
                        <a:rPr sz="1100" b="1" i="0">
                          <a:solidFill>
                            <a:srgbClr val="0E2841"/>
                          </a:solidFill>
                          <a:latin typeface="Avenir Next LT Pro Demi"/>
                        </a:rPr>
                        <a:t>Bull</a:t>
                      </a:r>
                    </a:p>
                  </a:txBody>
                  <a:tcPr marL="73152" marR="73152" marT="18288" marB="18288" anchor="ctr">
                    <a:solidFill>
                      <a:srgbClr val="FFFFFF"/>
                    </a:solidFill>
                  </a:tcPr>
                </a:tc>
                <a:tc>
                  <a:txBody>
                    <a:bodyPr/>
                    <a:lstStyle/>
                    <a:p>
                      <a:pPr algn="ctr"/>
                      <a:r>
                        <a:rPr sz="1100" b="0" i="0">
                          <a:solidFill>
                            <a:srgbClr val="5A5A5A"/>
                          </a:solidFill>
                          <a:latin typeface="Avenir Next LT Pro"/>
                        </a:rPr>
                        <a:t>10%</a:t>
                      </a:r>
                    </a:p>
                  </a:txBody>
                  <a:tcPr marL="73152" marR="73152" marT="18288" marB="18288" anchor="ctr">
                    <a:solidFill>
                      <a:srgbClr val="FFFFFF"/>
                    </a:solidFill>
                  </a:tcPr>
                </a:tc>
                <a:tc>
                  <a:txBody>
                    <a:bodyPr/>
                    <a:lstStyle/>
                    <a:p>
                      <a:pPr algn="ctr"/>
                      <a:r>
                        <a:rPr sz="1100" b="0" i="0">
                          <a:solidFill>
                            <a:srgbClr val="5A5A5A"/>
                          </a:solidFill>
                          <a:latin typeface="Avenir Next LT Pro"/>
                        </a:rPr>
                        <a:t>24%</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tc>
                  <a:txBody>
                    <a:bodyPr/>
                    <a:lstStyle/>
                    <a:p>
                      <a:pPr algn="ctr"/>
                      <a:r>
                        <a:rPr sz="1100" b="0" i="0">
                          <a:solidFill>
                            <a:srgbClr val="5A5A5A"/>
                          </a:solidFill>
                          <a:latin typeface="Avenir Next LT Pro"/>
                        </a:rPr>
                        <a:t>~$810</a:t>
                      </a:r>
                    </a:p>
                  </a:txBody>
                  <a:tcPr marL="73152" marR="73152" marT="18288" marB="18288" anchor="ctr">
                    <a:solidFill>
                      <a:srgbClr val="FFFFFF"/>
                    </a:solidFill>
                  </a:tcPr>
                </a:tc>
                <a:tc>
                  <a:txBody>
                    <a:bodyPr/>
                    <a:lstStyle/>
                    <a:p>
                      <a:pPr algn="ctr"/>
                      <a:r>
                        <a:rPr sz="1100" b="0" i="0">
                          <a:solidFill>
                            <a:srgbClr val="5A5A5A"/>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rgbClr val="0E2841"/>
                          </a:solidFill>
                          <a:latin typeface="Avenir Next LT Pro Demi"/>
                        </a:rPr>
                        <a:t>Base</a:t>
                      </a:r>
                    </a:p>
                  </a:txBody>
                  <a:tcPr marL="73152" marR="73152" marT="18288" marB="18288" anchor="ctr">
                    <a:solidFill>
                      <a:srgbClr val="F4F6F8"/>
                    </a:solidFill>
                  </a:tcPr>
                </a:tc>
                <a:tc>
                  <a:txBody>
                    <a:bodyPr/>
                    <a:lstStyle/>
                    <a:p>
                      <a:pPr algn="ctr"/>
                      <a:r>
                        <a:rPr sz="1100" b="0" i="0">
                          <a:solidFill>
                            <a:srgbClr val="5A5A5A"/>
                          </a:solidFill>
                          <a:latin typeface="Avenir Next LT Pro"/>
                        </a:rPr>
                        <a:t>6%</a:t>
                      </a:r>
                    </a:p>
                  </a:txBody>
                  <a:tcPr marL="73152" marR="73152" marT="18288" marB="18288" anchor="ctr">
                    <a:solidFill>
                      <a:srgbClr val="F4F6F8"/>
                    </a:solidFill>
                  </a:tcPr>
                </a:tc>
                <a:tc>
                  <a:txBody>
                    <a:bodyPr/>
                    <a:lstStyle/>
                    <a:p>
                      <a:pPr algn="ctr"/>
                      <a:r>
                        <a:rPr sz="1100" b="0" i="0">
                          <a:solidFill>
                            <a:srgbClr val="5A5A5A"/>
                          </a:solidFill>
                          <a:latin typeface="Avenir Next LT Pro"/>
                        </a:rPr>
                        <a:t>20%</a:t>
                      </a:r>
                    </a:p>
                  </a:txBody>
                  <a:tcPr marL="73152" marR="73152" marT="18288" marB="18288" anchor="ctr">
                    <a:solidFill>
                      <a:srgbClr val="F4F6F8"/>
                    </a:solidFill>
                  </a:tcPr>
                </a:tc>
                <a:tc>
                  <a:txBody>
                    <a:bodyPr/>
                    <a:lstStyle/>
                    <a:p>
                      <a:pPr algn="ctr"/>
                      <a:r>
                        <a:rPr sz="1100" b="0" i="0">
                          <a:solidFill>
                            <a:srgbClr val="5A5A5A"/>
                          </a:solidFill>
                          <a:latin typeface="Avenir Next LT Pro"/>
                        </a:rPr>
                        <a:t>13×</a:t>
                      </a:r>
                    </a:p>
                  </a:txBody>
                  <a:tcPr marL="73152" marR="73152" marT="18288" marB="18288" anchor="ctr">
                    <a:solidFill>
                      <a:srgbClr val="F4F6F8"/>
                    </a:solidFill>
                  </a:tcPr>
                </a:tc>
                <a:tc>
                  <a:txBody>
                    <a:bodyPr/>
                    <a:lstStyle/>
                    <a:p>
                      <a:pPr algn="ctr"/>
                      <a:r>
                        <a:rPr sz="1100" b="0" i="0">
                          <a:solidFill>
                            <a:srgbClr val="5A5A5A"/>
                          </a:solidFill>
                          <a:latin typeface="Avenir Next LT Pro"/>
                        </a:rPr>
                        <a:t>~$477</a:t>
                      </a:r>
                    </a:p>
                  </a:txBody>
                  <a:tcPr marL="73152" marR="73152" marT="18288" marB="18288" anchor="ctr">
                    <a:solidFill>
                      <a:srgbClr val="F4F6F8"/>
                    </a:solidFill>
                  </a:tcPr>
                </a:tc>
                <a:tc>
                  <a:txBody>
                    <a:bodyPr/>
                    <a:lstStyle/>
                    <a:p>
                      <a:pPr algn="ctr"/>
                      <a:r>
                        <a:rPr sz="1100" b="0" i="0">
                          <a:solidFill>
                            <a:srgbClr val="5A5A5A"/>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rgbClr val="0E2841"/>
                          </a:solidFill>
                          <a:latin typeface="Avenir Next LT Pro Demi"/>
                        </a:rPr>
                        <a:t>Bear</a:t>
                      </a:r>
                    </a:p>
                  </a:txBody>
                  <a:tcPr marL="73152" marR="73152" marT="18288" marB="18288" anchor="ctr">
                    <a:solidFill>
                      <a:srgbClr val="FFFFFF"/>
                    </a:solidFill>
                  </a:tcPr>
                </a:tc>
                <a:tc>
                  <a:txBody>
                    <a:bodyPr/>
                    <a:lstStyle/>
                    <a:p>
                      <a:pPr algn="ctr"/>
                      <a:r>
                        <a:rPr sz="1100" b="0" i="0">
                          <a:solidFill>
                            <a:srgbClr val="5A5A5A"/>
                          </a:solidFill>
                          <a:latin typeface="Avenir Next LT Pro"/>
                        </a:rPr>
                        <a:t>2%</a:t>
                      </a:r>
                    </a:p>
                  </a:txBody>
                  <a:tcPr marL="73152" marR="73152" marT="18288" marB="18288" anchor="ctr">
                    <a:solidFill>
                      <a:srgbClr val="FFFFFF"/>
                    </a:solidFill>
                  </a:tcPr>
                </a:tc>
                <a:tc>
                  <a:txBody>
                    <a:bodyPr/>
                    <a:lstStyle/>
                    <a:p>
                      <a:pPr algn="ctr"/>
                      <a:r>
                        <a:rPr sz="1100" b="0" i="0">
                          <a:solidFill>
                            <a:srgbClr val="5A5A5A"/>
                          </a:solidFill>
                          <a:latin typeface="Avenir Next LT Pro"/>
                        </a:rPr>
                        <a:t>14%</a:t>
                      </a:r>
                    </a:p>
                  </a:txBody>
                  <a:tcPr marL="73152" marR="73152" marT="18288" marB="18288" anchor="ctr">
                    <a:solidFill>
                      <a:srgbClr val="FFFFFF"/>
                    </a:solidFill>
                  </a:tcPr>
                </a:tc>
                <a:tc>
                  <a:txBody>
                    <a:bodyPr/>
                    <a:lstStyle/>
                    <a:p>
                      <a:pPr algn="ctr"/>
                      <a:r>
                        <a:rPr sz="1100" b="0" i="0">
                          <a:solidFill>
                            <a:srgbClr val="5A5A5A"/>
                          </a:solidFill>
                          <a:latin typeface="Avenir Next LT Pro"/>
                        </a:rPr>
                        <a:t>8×</a:t>
                      </a:r>
                    </a:p>
                  </a:txBody>
                  <a:tcPr marL="73152" marR="73152" marT="18288" marB="18288" anchor="ctr">
                    <a:solidFill>
                      <a:srgbClr val="FFFFFF"/>
                    </a:solidFill>
                  </a:tcPr>
                </a:tc>
                <a:tc>
                  <a:txBody>
                    <a:bodyPr/>
                    <a:lstStyle/>
                    <a:p>
                      <a:pPr algn="ctr"/>
                      <a:r>
                        <a:rPr sz="1100" b="0" i="0">
                          <a:solidFill>
                            <a:srgbClr val="5A5A5A"/>
                          </a:solidFill>
                          <a:latin typeface="Avenir Next LT Pro"/>
                        </a:rPr>
                        <a:t>~$100</a:t>
                      </a:r>
                    </a:p>
                  </a:txBody>
                  <a:tcPr marL="73152" marR="73152" marT="18288" marB="18288" anchor="ctr">
                    <a:solidFill>
                      <a:srgbClr val="FFFFFF"/>
                    </a:solidFill>
                  </a:tcPr>
                </a:tc>
                <a:tc>
                  <a:txBody>
                    <a:bodyPr/>
                    <a:lstStyle/>
                    <a:p>
                      <a:pPr algn="ctr"/>
                      <a:r>
                        <a:rPr sz="1100" b="0" i="0">
                          <a:solidFill>
                            <a:srgbClr val="5A5A5A"/>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8A8A8A"/>
                </a:solidFill>
                <a:latin typeface="Avenir Next LT Pro"/>
              </a:rPr>
              <a:t>EPS ≈ (EBITDA − ~$150M D&amp;A − ~$215M interest) × (1 − 25% tax) ÷ ~19M shares. Illustrative scenario mapping,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3" name="Rectangle 2"/>
          <p:cNvSpPr/>
          <p:nvPr/>
        </p:nvSpPr>
        <p:spPr>
          <a:xfrm>
            <a:off x="457200" y="932688"/>
            <a:ext cx="8229600" cy="27432"/>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~8.7×</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548640"/>
          </a:xfrm>
          <a:prstGeom prst="rect">
            <a:avLst/>
          </a:prstGeom>
          <a:noFill/>
        </p:spPr>
        <p:txBody>
          <a:bodyPr wrap="square">
            <a:spAutoFit/>
          </a:bodyPr>
          <a:lstStyle/>
          <a:p>
            <a:r>
              <a:rPr sz="2300" b="0" i="0">
                <a:solidFill>
                  <a:srgbClr val="0E2841"/>
                </a:solidFill>
                <a:latin typeface="Avenir Next LT Pro Demi"/>
              </a:rPr>
              <a:t>Key Risks — What Has to Go Wrong</a:t>
            </a:r>
          </a:p>
        </p:txBody>
      </p:sp>
      <p:sp>
        <p:nvSpPr>
          <p:cNvPr id="4" name="TextBox 3"/>
          <p:cNvSpPr txBox="1"/>
          <p:nvPr/>
        </p:nvSpPr>
        <p:spPr>
          <a:xfrm>
            <a:off x="457200" y="6419088"/>
            <a:ext cx="8229600" cy="365760"/>
          </a:xfrm>
          <a:prstGeom prst="rect">
            <a:avLst/>
          </a:prstGeom>
          <a:noFill/>
        </p:spPr>
        <p:txBody>
          <a:bodyPr wrap="none">
            <a:spAutoFit/>
          </a:bodyPr>
          <a:lstStyle/>
          <a:p>
            <a:r>
              <a:rPr sz="700" b="0" i="0">
                <a:solidFill>
                  <a:srgbClr val="5A5A5A"/>
                </a:solidFill>
                <a:latin typeface="Avenir Next LT Pro"/>
              </a:rPr>
              <a:t>Confidential — for discussion purposes only. Not investment advice.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2.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customXml/itemProps3.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63</TotalTime>
  <Words>994</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1</cp:revision>
  <cp:lastPrinted>2026-06-10T00:07:23Z</cp:lastPrinted>
  <dcterms:created xsi:type="dcterms:W3CDTF">2026-06-26T21:07:49Z</dcterms:created>
  <dcterms:modified xsi:type="dcterms:W3CDTF">2026-07-01T18:03:04Z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