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518" r:id="rId31"/>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Hold — Not Yet</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~$240 if the thesis proves out</a:t>
            </a:r>
            <a:r>
              <a:rPr sz="1200" b="0" dirty="0">
                <a:solidFill>
                  <a:srgbClr val="9AB0C4"/>
                </a:solidFill>
                <a:latin typeface="Avenir Next LT Pro"/>
              </a:rPr>
              <a:t>  </a:t>
            </a:r>
            <a:r>
              <a:rPr sz="1200" b="0" dirty="0">
                <a:solidFill>
                  <a:schemeClr val="bg1"/>
                </a:solidFill>
                <a:latin typeface="Avenir Next LT Pro"/>
              </a:rPr>
              <a:t>(~45% upside — the prize, not the call)</a:t>
            </a:r>
          </a:p>
          <a:p>
            <a:pPr algn="l"/>
            <a:r>
              <a:rPr sz="1100" b="0" dirty="0">
                <a:solidFill>
                  <a:schemeClr val="bg1"/>
                </a:solidFill>
                <a:latin typeface="Avenir Next LT Pro"/>
              </a:rPr>
              <a:t/>
            </a:r>
            <a:r>
              <a:rPr lang="en-US" sz="1100" b="0" dirty="0">
                <a:solidFill>
                  <a:schemeClr val="bg1"/>
                </a:solidFill>
                <a:latin typeface="Avenir Next LT Pro"/>
              </a:rPr>
              <a:t/>
            </a:r>
            <a:r>
              <a:rPr sz="1100" b="0" dirty="0">
                <a:solidFill>
                  <a:schemeClr val="bg1"/>
                </a:solidFill>
                <a:latin typeface="Avenir Next LT Pro"/>
              </a:rPr>
              <a:t>Not yet actionable — the key catalyst (Estates) is unproven and the balance sheet is ~4× levered. Buy on proof, not hope.</a:t>
            </a:r>
            <a:r>
              <a:rPr lang="en-US" sz="1100" b="0" dirty="0">
                <a:solidFill>
                  <a:schemeClr val="bg1"/>
                </a:solidFill>
                <a:latin typeface="Avenir Next LT Pro"/>
              </a:rPr>
              <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~18% outright (~25% incl. options); </a:t>
            </a:r>
            <a:r>
              <a:rPr sz="1050" b="0" dirty="0">
                <a:latin typeface="Avenir Next LT Pro"/>
              </a:rPr>
              <a:t>bought ~$10M at ~$216 (Jun '24)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 promising but unproven</a:t>
            </a:r>
            <a:r>
              <a:rPr lang="en-US" sz="1350" b="1" dirty="0">
                <a:latin typeface="Avenir Next LT Pro Demi"/>
              </a:rPr>
              <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a:solidFill>
                  <a:srgbClr val="000000"/>
                </a:solidFill>
                <a:latin typeface="Avenir Next LT Pro Demi"/>
              </a:rPr>
              <a:t>What Would Make Me a Buyer</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0"/>
            <a:ext cx="8229600" cy="457200"/>
          </a:xfrm>
          <a:prstGeom prst="rect">
            <a:avLst/>
          </a:prstGeom>
          <a:noFill/>
        </p:spPr>
        <p:txBody>
          <a:bodyPr wrap="square">
            <a:spAutoFit/>
          </a:bodyPr>
          <a:lstStyle/>
          <a:p>
            <a:r>
              <a:rPr sz="1200" i="1">
                <a:solidFill>
                  <a:srgbClr val="707070"/>
                </a:solidFill>
                <a:latin typeface="Avenir Next LT Pro"/>
              </a:rPr>
              <a:t>Hold today. Three proofs would flip it to Buy — even at a higher price, because the risk would be lower.</a:t>
            </a:r>
          </a:p>
        </p:txBody>
      </p:sp>
      <p:sp>
        <p:nvSpPr>
          <p:cNvPr id="5" name="Rectangle 4"/>
          <p:cNvSpPr/>
          <p:nvPr/>
        </p:nvSpPr>
        <p:spPr>
          <a:xfrm>
            <a:off x="457200" y="169164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691640"/>
            <a:ext cx="2331720" cy="1143000"/>
          </a:xfrm>
          <a:prstGeom prst="rect">
            <a:avLst/>
          </a:prstGeom>
          <a:noFill/>
        </p:spPr>
        <p:txBody>
          <a:bodyPr wrap="square" anchor="ctr">
            <a:spAutoFit/>
          </a:bodyPr>
          <a:lstStyle/>
          <a:p>
            <a:r>
              <a:rPr sz="1300" b="1">
                <a:solidFill>
                  <a:srgbClr val="000000"/>
                </a:solidFill>
                <a:latin typeface="Avenir Next LT Pro Demi"/>
              </a:rPr>
              <a:t>1 — Core recovery</a:t>
            </a:r>
          </a:p>
        </p:txBody>
      </p:sp>
      <p:sp>
        <p:nvSpPr>
          <p:cNvPr id="7" name="TextBox 6"/>
          <p:cNvSpPr txBox="1"/>
          <p:nvPr/>
        </p:nvSpPr>
        <p:spPr>
          <a:xfrm>
            <a:off x="3063240" y="1691640"/>
            <a:ext cx="5623560" cy="1143000"/>
          </a:xfrm>
          <a:prstGeom prst="rect">
            <a:avLst/>
          </a:prstGeom>
          <a:noFill/>
        </p:spPr>
        <p:txBody>
          <a:bodyPr wrap="square" anchor="ctr">
            <a:spAutoFit/>
          </a:bodyPr>
          <a:lstStyle/>
          <a:p>
            <a:r>
              <a:rPr sz="1150">
                <a:solidFill>
                  <a:srgbClr val="000000"/>
                </a:solidFill>
                <a:latin typeface="Avenir Next LT Pro"/>
              </a:rPr>
              <a:t>Core revenue re-accelerating in or above the 4.5–8% FY26 guide and a return to profitability — a trend, not one quarter. Q2 FY26 guides to just +0.5–2.5%, so the back-half acceleration has to show up.</a:t>
            </a:r>
          </a:p>
        </p:txBody>
      </p:sp>
      <p:sp>
        <p:nvSpPr>
          <p:cNvPr id="8" name="Rectangle 7"/>
          <p:cNvSpPr/>
          <p:nvPr/>
        </p:nvSpPr>
        <p:spPr>
          <a:xfrm>
            <a:off x="457200" y="2999232"/>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99232"/>
            <a:ext cx="2331720" cy="1143000"/>
          </a:xfrm>
          <a:prstGeom prst="rect">
            <a:avLst/>
          </a:prstGeom>
          <a:noFill/>
        </p:spPr>
        <p:txBody>
          <a:bodyPr wrap="square" anchor="ctr">
            <a:spAutoFit/>
          </a:bodyPr>
          <a:lstStyle/>
          <a:p>
            <a:r>
              <a:rPr sz="1300" b="1">
                <a:solidFill>
                  <a:srgbClr val="000000"/>
                </a:solidFill>
                <a:latin typeface="Avenir Next LT Pro Demi"/>
              </a:rPr>
              <a:t>2 — Evidence Estates is working</a:t>
            </a:r>
          </a:p>
        </p:txBody>
      </p:sp>
      <p:sp>
        <p:nvSpPr>
          <p:cNvPr id="10" name="TextBox 9"/>
          <p:cNvSpPr txBox="1"/>
          <p:nvPr/>
        </p:nvSpPr>
        <p:spPr>
          <a:xfrm>
            <a:off x="3063240" y="2999232"/>
            <a:ext cx="5623560" cy="1143000"/>
          </a:xfrm>
          <a:prstGeom prst="rect">
            <a:avLst/>
          </a:prstGeom>
          <a:noFill/>
        </p:spPr>
        <p:txBody>
          <a:bodyPr wrap="square" anchor="ctr">
            <a:spAutoFit/>
          </a:bodyPr>
          <a:lstStyle/>
          <a:p>
            <a:r>
              <a:rPr sz="1150">
                <a:solidFill>
                  <a:srgbClr val="000000"/>
                </a:solidFill>
                <a:latin typeface="Avenir Next LT Pro"/>
              </a:rPr>
              <a:t>Actual revenue contribution and gallery traction. Estates launched Jun 2026 — there is zero results data yet. First read: Q2 FY2026.</a:t>
            </a:r>
          </a:p>
        </p:txBody>
      </p:sp>
      <p:sp>
        <p:nvSpPr>
          <p:cNvPr id="11" name="Rectangle 10"/>
          <p:cNvSpPr/>
          <p:nvPr/>
        </p:nvSpPr>
        <p:spPr>
          <a:xfrm>
            <a:off x="457200" y="4306824"/>
            <a:ext cx="82296" cy="114300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306824"/>
            <a:ext cx="2331720" cy="1143000"/>
          </a:xfrm>
          <a:prstGeom prst="rect">
            <a:avLst/>
          </a:prstGeom>
          <a:noFill/>
        </p:spPr>
        <p:txBody>
          <a:bodyPr wrap="square" anchor="ctr">
            <a:spAutoFit/>
          </a:bodyPr>
          <a:lstStyle/>
          <a:p>
            <a:r>
              <a:rPr sz="1300" b="1">
                <a:solidFill>
                  <a:srgbClr val="000000"/>
                </a:solidFill>
                <a:latin typeface="Avenir Next LT Pro Demi"/>
              </a:rPr>
              <a:t>3 — Durable debt reduction</a:t>
            </a:r>
          </a:p>
        </p:txBody>
      </p:sp>
      <p:sp>
        <p:nvSpPr>
          <p:cNvPr id="13" name="TextBox 12"/>
          <p:cNvSpPr txBox="1"/>
          <p:nvPr/>
        </p:nvSpPr>
        <p:spPr>
          <a:xfrm>
            <a:off x="3063240" y="4306824"/>
            <a:ext cx="5623560" cy="1143000"/>
          </a:xfrm>
          <a:prstGeom prst="rect">
            <a:avLst/>
          </a:prstGeom>
          <a:noFill/>
        </p:spPr>
        <p:txBody>
          <a:bodyPr wrap="square" anchor="ctr">
            <a:spAutoFit/>
          </a:bodyPr>
          <a:lstStyle/>
          <a:p>
            <a:r>
              <a:rPr sz="1150">
                <a:solidFill>
                  <a:srgbClr val="000000"/>
                </a:solidFill>
                <a:latin typeface="Avenir Next LT Pro"/>
              </a:rPr>
              <a:t>Net debt falling on real free cash flow — not the one-time inventory unwind that drove FY25. Leverage trending toward ~3×.</a:t>
            </a:r>
          </a:p>
        </p:txBody>
      </p:sp>
      <p:sp>
        <p:nvSpPr>
          <p:cNvPr id="14" name="TextBox 13"/>
          <p:cNvSpPr txBox="1"/>
          <p:nvPr/>
        </p:nvSpPr>
        <p:spPr>
          <a:xfrm>
            <a:off x="457200" y="5532120"/>
            <a:ext cx="8229600" cy="457200"/>
          </a:xfrm>
          <a:prstGeom prst="rect">
            <a:avLst/>
          </a:prstGeom>
          <a:noFill/>
        </p:spPr>
        <p:txBody>
          <a:bodyPr wrap="square">
            <a:spAutoFit/>
          </a:bodyPr>
          <a:lstStyle/>
          <a:p>
            <a:r>
              <a:rPr sz="1200" b="1">
                <a:solidFill>
                  <a:srgbClr val="000000"/>
                </a:solidFill>
                <a:latin typeface="Avenir Next LT Pro Demi"/>
              </a:rPr>
              <a:t>First real read: Q2 FY2026 results (Estates' debut quarter). Until then — watch, don't own.</a:t>
            </a:r>
          </a:p>
        </p:txBody>
      </p:sp>
      <p:sp>
        <p:nvSpPr>
          <p:cNvPr id="15" name="TextBox 14"/>
          <p:cNvSpPr txBox="1"/>
          <p:nvPr/>
        </p:nvSpPr>
        <p:spPr>
          <a:xfrm>
            <a:off x="457200" y="6355080"/>
            <a:ext cx="8229600" cy="365760"/>
          </a:xfrm>
          <a:prstGeom prst="rect">
            <a:avLst/>
          </a:prstGeom>
          <a:noFill/>
        </p:spPr>
        <p:txBody>
          <a:bodyPr wrap="none">
            <a:spAutoFit/>
          </a:bodyPr>
          <a:lstStyle/>
          <a:p>
            <a:r>
              <a:rPr sz="750" i="1">
                <a:solidFill>
                  <a:srgbClr val="707070"/>
                </a:solidFill>
                <a:latin typeface="Avenir Next LT Pro"/>
              </a:rPr>
              <a:t>Source: RH FY2025 10-K, Q1 FY2026 10-Q, company guidance.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