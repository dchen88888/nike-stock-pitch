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519" r:id="rId32"/>
    <p:sldId id="518" r:id="rId31"/>
    <p:sldId id="481" r:id="rId9"/>
    <p:sldId id="514" r:id="rId27"/>
    <p:sldId id="515" r:id="rId28"/>
    <p:sldId id="517" r:id="rId30"/>
    <p:sldId id="516" r:id="rId29"/>
    <p:sldId id="508" r:id="rId10"/>
    <p:sldId id="482" r:id="rId11"/>
    <p:sldId id="509" r:id="rId12"/>
    <p:sldId id="510" r:id="rId13"/>
    <p:sldId id="506" r:id="rId14"/>
    <p:sldId id="511" r:id="rId15"/>
    <p:sldId id="513" r:id="rId16"/>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7.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5.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 Id="rId27" Type="http://schemas.openxmlformats.org/officeDocument/2006/relationships/slide" Target="slides/slide8.xml"/><Relationship Id="rId28" Type="http://schemas.openxmlformats.org/officeDocument/2006/relationships/slide" Target="slides/slide9.xml"/><Relationship Id="rId29" Type="http://schemas.openxmlformats.org/officeDocument/2006/relationships/slide" Target="slides/slide11.xml"/><Relationship Id="rId30" Type="http://schemas.openxmlformats.org/officeDocument/2006/relationships/slide" Target="slides/slide10.xml"/><Relationship Id="rId31" Type="http://schemas.openxmlformats.org/officeDocument/2006/relationships/slide" Target="slides/slide6.xml"/><Relationship Id="rId32"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7/2/2026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7/2/2026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p:spPr>
        <p:txBody>
          <a:bodyPr wrap="square">
            <a:spAutoFit/>
          </a:bodyPr>
          <a:lstStyle/>
          <a:p>
            <a:pPr algn="just" eaLnBrk="0" hangingPunct="0">
              <a:spcAft>
                <a:spcPts val="400"/>
              </a:spcAft>
            </a:pPr>
            <a:r>
              <a:rPr lang="en-US" sz="650" i="1">
                <a:solidFill/>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solidFill/>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solidFill/>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noFill/>
          </a:ln>
          <a:effectLst/>
        </p:spPr>
        <p:txBody>
          <a:bodyPr vert="horz" wrap="square" lIns="73152" tIns="42203" rIns="73152" bIns="42203" rtlCol="0" anchor="ctr" anchorCtr="0">
            <a:noAutofit/>
          </a:bodyPr>
          <a:lstStyle/>
          <a:p>
            <a:pPr algn="ctr"/>
            <a:r>
              <a:rPr lang="en-US" sz="2400" dirty="0">
                <a:solidFill/>
                <a:latin typeface="Avenir Next LT Pro Demi" panose="020B0704020202020204" pitchFamily="34" charset="0"/>
              </a:rPr>
              <a:t>Restoration Hardware </a:t>
            </a:r>
            <a:r>
              <a:rPr lang="en-US" sz="2400">
                <a:solidFill/>
                <a:latin typeface="Avenir Next LT Pro Demi" panose="020B0704020202020204" pitchFamily="34" charset="0"/>
              </a:rPr>
              <a:t>(RH) Stock </a:t>
            </a:r>
            <a:r>
              <a:rPr lang="en-US" sz="2400" dirty="0">
                <a:solidFill/>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p:txBody>
          <a:bodyPr/>
          <a:lstStyle/>
          <a:p>
            <a:r>
              <a:rPr lang="en-US">
                <a:solidFill/>
              </a:rPr>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rgbClr val="FFFFFF"/>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9A7B44"/>
                    </a:solidFill>
                  </a:tcPr>
                </a:tc>
                <a:tc>
                  <a:txBody>
                    <a:bodyPr/>
                    <a:lstStyle/>
                    <a:p>
                      <a:pPr algn="ctr"/>
                      <a:r>
                        <a:rPr lang="en-US" sz="1400" b="1">
                          <a:solidFill>
                            <a:srgbClr val="FFFFFF"/>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9A7B44"/>
                    </a:solidFill>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p:txBody>
          <a:bodyPr/>
          <a:lstStyle/>
          <a:p>
            <a:r>
              <a:rPr lang="en-US">
                <a:solidFill/>
              </a:rPr>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p:spPr>
        <p:txBody>
          <a:bodyPr wrap="square">
            <a:spAutoFit/>
          </a:bodyPr>
          <a:lstStyle/>
          <a:p>
            <a:r>
              <a:rPr sz="2600" b="0" dirty="0">
                <a:solidFill/>
                <a:latin typeface="Avenir Next LT Pro Demi"/>
              </a:rPr>
              <a:t>Recommendation: Hold</a:t>
            </a:r>
          </a:p>
        </p:txBody>
      </p:sp>
      <p:sp>
        <p:nvSpPr>
          <p:cNvPr id="4" name="Rectangle 3"/>
          <p:cNvSpPr/>
          <p:nvPr/>
        </p:nvSpPr>
        <p:spPr>
          <a:xfrm>
            <a:off x="457200" y="995363"/>
            <a:ext cx="8229600" cy="868680"/>
          </a:xfrm>
          <a:prstGeom prst="rect">
            <a:avLst/>
          </a:prstGeom>
          <a:solidFill>
            <a:srgbClr val="AF8C49"/>
          </a:solidFill>
          <a:ln>
            <a:no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Fair value today ~$165 (proven fundamentals)</a:t>
            </a:r>
            <a:r>
              <a:rPr sz="1200" b="0" dirty="0">
                <a:solidFill>
                  <a:srgbClr val="9AB0C4"/>
                </a:solidFill>
                <a:latin typeface="Avenir Next LT Pro"/>
              </a:rPr>
              <a:t>  →  </a:t>
            </a:r>
            <a:r>
              <a:rPr sz="1200" b="0" dirty="0">
                <a:solidFill>
                  <a:schemeClr val="bg1"/>
                </a:solidFill>
                <a:latin typeface="Avenir Next LT Pro"/>
              </a:rPr>
              <a:t>fairly valued</a:t>
            </a:r>
          </a:p>
          <a:p>
            <a:pPr algn="l"/>
            <a:r>
              <a:rPr sz="1100" b="0" dirty="0">
                <a:solidFill>
                  <a:schemeClr val="bg1"/>
                </a:solidFill>
                <a:latin typeface="Avenir Next LT Pro"/>
              </a:rPr>
              <a:t/>
            </a:r>
            <a:r>
              <a:rPr lang="en-US" sz="1100" b="0" dirty="0">
                <a:solidFill>
                  <a:schemeClr val="bg1"/>
                </a:solidFill>
                <a:latin typeface="Avenir Next LT Pro"/>
              </a:rPr>
              <a:t/>
            </a:r>
            <a:r>
              <a:rPr sz="1100" b="0" dirty="0">
                <a:solidFill>
                  <a:schemeClr val="bg1"/>
                </a:solidFill>
                <a:latin typeface="Avenir Next LT Pro"/>
              </a:rPr>
              <a:t>Upside if the thesis de-risks: ~$240 FV / ~$310 target (~45–90%). Not yet actionable — Estates unproven, ~4× levered. Buy on proof.</a:t>
            </a:r>
            <a:r>
              <a:rPr lang="en-US" sz="1100" b="0" dirty="0">
                <a:solidFill>
                  <a:schemeClr val="bg1"/>
                </a:solidFill>
                <a:latin typeface="Avenir Next LT Pro"/>
              </a:rPr>
              <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 · </a:t>
            </a:r>
            <a:r>
              <a:rPr lang="en-US" sz="1000" b="1" dirty="0">
                <a:solidFill>
                  <a:srgbClr val="5A5A5A"/>
                </a:solidFill>
                <a:latin typeface="Avenir Next LT Pro Demi"/>
              </a:rPr>
              <a:t>30</a:t>
            </a:r>
            <a:r>
              <a:rPr sz="1000" b="1" dirty="0">
                <a:solidFill>
                  <a:srgbClr val="5A5A5A"/>
                </a:solidFill>
                <a:latin typeface="Avenir Next LT Pro Demi"/>
              </a:rPr>
              <a:t>%</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 · 5</a:t>
            </a:r>
            <a:r>
              <a:rPr lang="en-US" sz="1000" b="1" dirty="0">
                <a:solidFill>
                  <a:srgbClr val="5A5A5A"/>
                </a:solidFill>
                <a:latin typeface="Avenir Next LT Pro Demi"/>
              </a:rPr>
              <a:t>5</a:t>
            </a:r>
            <a:r>
              <a:rPr sz="1000" b="1" dirty="0">
                <a:solidFill>
                  <a:srgbClr val="5A5A5A"/>
                </a:solidFill>
                <a:latin typeface="Avenir Next LT Pro Demi"/>
              </a:rPr>
              <a:t>%</a:t>
            </a:r>
          </a:p>
          <a:p>
            <a:pPr algn="ctr"/>
            <a:r>
              <a:rPr sz="2400" b="1" dirty="0">
                <a:solidFill>
                  <a:srgbClr val="9A7B44"/>
                </a:solidFill>
                <a:latin typeface="Avenir Next LT Pro Demi"/>
              </a:rPr>
              <a:t>~$310</a:t>
            </a:r>
            <a:r>
              <a:rPr lang="en-US" sz="2400" b="1" dirty="0">
                <a:solidFill>
                  <a:srgbClr val="9A7B44"/>
                </a:solidFill>
                <a:latin typeface="Avenir Next LT Pro Demi"/>
              </a:rPr>
              <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 · </a:t>
            </a:r>
            <a:r>
              <a:rPr lang="en-US" sz="1000" b="1" dirty="0">
                <a:solidFill>
                  <a:srgbClr val="5A5A5A"/>
                </a:solidFill>
                <a:latin typeface="Avenir Next LT Pro Demi"/>
              </a:rPr>
              <a:t>15</a:t>
            </a:r>
            <a:r>
              <a:rPr sz="1000" b="1" dirty="0">
                <a:solidFill>
                  <a:srgbClr val="5A5A5A"/>
                </a:solidFill>
                <a:latin typeface="Avenir Next LT Pro Demi"/>
              </a:rPr>
              <a:t>%</a:t>
            </a:r>
          </a:p>
          <a:p>
            <a:pPr algn="ctr"/>
            <a:r>
              <a:rPr sz="2400" b="1">
                <a:solidFill>
                  <a:srgbClr val="196B24"/>
                </a:solidFill>
                <a:latin typeface="Avenir Next LT Pro Demi"/>
              </a:rPr>
              <a:t>~$562</a:t>
            </a:r>
            <a:r>
              <a:rPr lang="en-US" sz="2400" b="1">
                <a:solidFill>
                  <a:srgbClr val="196B24"/>
                </a:solidFill>
                <a:latin typeface="Avenir Next LT Pro Demi"/>
              </a:rPr>
              <a:t/>
            </a:r>
            <a:endParaRPr sz="2400" b="1" dirty="0">
              <a:solidFill>
                <a:srgbClr val="196B24"/>
              </a:solidFill>
              <a:latin typeface="Avenir Next LT Pro Demi"/>
            </a:endParaRPr>
          </a:p>
        </p:txBody>
      </p:sp>
      <p:sp>
        <p:nvSpPr>
          <p:cNvPr id="8" name="Rectangle 7"/>
          <p:cNvSpPr/>
          <p:nvPr/>
        </p:nvSpPr>
        <p:spPr>
          <a:xfrm>
            <a:off x="457200" y="3429000"/>
            <a:ext cx="82296" cy="2240280"/>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429000"/>
            <a:ext cx="3794760" cy="2240280"/>
          </a:xfrm>
          <a:prstGeom prst="rect">
            <a:avLst/>
          </a:prstGeom>
          <a:noFill/>
        </p:spPr>
        <p:txBody>
          <a:bodyPr wrap="square">
            <a:spAutoFit/>
          </a:bodyPr>
          <a:lstStyle/>
          <a:p>
            <a:r>
              <a:rPr sz="1300" b="1">
                <a:solidFill>
                  <a:srgbClr val="9A7B44"/>
                </a:solidFill>
                <a:latin typeface="Avenir Next LT Pro Demi"/>
              </a:rPr>
              <a:t>Why it's interesting</a:t>
            </a:r>
          </a:p>
          <a:p>
            <a:pPr>
              <a:spcBef>
                <a:spcPts val="600"/>
              </a:spcBef>
            </a:pPr>
            <a:r>
              <a:rPr sz="1100">
                <a:solidFill>
                  <a:srgbClr val="9A7B44"/>
                </a:solidFill>
                <a:latin typeface="Avenir Next LT Pro"/>
              </a:rPr>
              <a:t>•  </a:t>
            </a:r>
            <a:r>
              <a:rPr sz="1100">
                <a:solidFill>
                  <a:srgbClr val="000000"/>
                </a:solidFill>
                <a:latin typeface="Avenir Next LT Pro"/>
              </a:rPr>
              <a:t>Proven operator — Friedman (~18–25% owner) rebuilt RH from near-bankruptcy</a:t>
            </a:r>
          </a:p>
          <a:p>
            <a:pPr>
              <a:spcBef>
                <a:spcPts val="600"/>
              </a:spcBef>
            </a:pPr>
            <a:r>
              <a:rPr sz="1100">
                <a:solidFill>
                  <a:srgbClr val="9A7B44"/>
                </a:solidFill>
                <a:latin typeface="Avenir Next LT Pro"/>
              </a:rPr>
              <a:t>•  </a:t>
            </a:r>
            <a:r>
              <a:rPr sz="1100">
                <a:solidFill>
                  <a:srgbClr val="000000"/>
                </a:solidFill>
                <a:latin typeface="Avenir Next LT Pro"/>
              </a:rPr>
              <a:t>Differentiated, fully-DTC luxury brand with real pricing power</a:t>
            </a:r>
          </a:p>
          <a:p>
            <a:pPr>
              <a:spcBef>
                <a:spcPts val="600"/>
              </a:spcBef>
            </a:pPr>
            <a:r>
              <a:rPr sz="1100">
                <a:solidFill>
                  <a:srgbClr val="9A7B44"/>
                </a:solidFill>
                <a:latin typeface="Avenir Next LT Pro"/>
              </a:rPr>
              <a:t>•  </a:t>
            </a:r>
            <a:r>
              <a:rPr sz="1100">
                <a:solidFill>
                  <a:srgbClr val="000000"/>
                </a:solidFill>
                <a:latin typeface="Avenir Next LT Pro"/>
              </a:rPr>
              <a:t>Large optionality — ~45–90% upside if Estates + margins prove out</a:t>
            </a:r>
          </a:p>
        </p:txBody>
      </p:sp>
      <p:sp>
        <p:nvSpPr>
          <p:cNvPr id="10" name="Rectangle 9"/>
          <p:cNvSpPr/>
          <p:nvPr/>
        </p:nvSpPr>
        <p:spPr>
          <a:xfrm>
            <a:off x="4709160" y="3429000"/>
            <a:ext cx="82296" cy="224028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92040" y="3429000"/>
            <a:ext cx="3794760" cy="2240280"/>
          </a:xfrm>
          <a:prstGeom prst="rect">
            <a:avLst/>
          </a:prstGeom>
          <a:noFill/>
        </p:spPr>
        <p:txBody>
          <a:bodyPr wrap="square">
            <a:spAutoFit/>
          </a:bodyPr>
          <a:lstStyle/>
          <a:p>
            <a:r>
              <a:rPr sz="1300" b="1">
                <a:solidFill>
                  <a:srgbClr val="B03030"/>
                </a:solidFill>
                <a:latin typeface="Avenir Next LT Pro Demi"/>
              </a:rPr>
              <a:t>Why I'm holding — not yet</a:t>
            </a:r>
          </a:p>
          <a:p>
            <a:pPr>
              <a:spcBef>
                <a:spcPts val="600"/>
              </a:spcBef>
            </a:pPr>
            <a:r>
              <a:rPr sz="1100">
                <a:solidFill>
                  <a:srgbClr val="B03030"/>
                </a:solidFill>
                <a:latin typeface="Avenir Next LT Pro"/>
              </a:rPr>
              <a:t>•  </a:t>
            </a:r>
            <a:r>
              <a:rPr sz="1100">
                <a:solidFill>
                  <a:srgbClr val="000000"/>
                </a:solidFill>
                <a:latin typeface="Avenir Next LT Pro"/>
              </a:rPr>
              <a:t>Estates unproven — zero results data (launched Jun 2026)</a:t>
            </a:r>
          </a:p>
          <a:p>
            <a:pPr>
              <a:spcBef>
                <a:spcPts val="600"/>
              </a:spcBef>
            </a:pPr>
            <a:r>
              <a:rPr sz="1100">
                <a:solidFill>
                  <a:srgbClr val="B03030"/>
                </a:solidFill>
                <a:latin typeface="Avenir Next LT Pro"/>
              </a:rPr>
              <a:t>•  </a:t>
            </a:r>
            <a:r>
              <a:rPr sz="1100">
                <a:solidFill>
                  <a:srgbClr val="000000"/>
                </a:solidFill>
                <a:latin typeface="Avenir Next LT Pro"/>
              </a:rPr>
              <a:t>Core still soft — Q1 net loss; Q2 guides just +0.5–2.5%</a:t>
            </a:r>
          </a:p>
          <a:p>
            <a:pPr>
              <a:spcBef>
                <a:spcPts val="600"/>
              </a:spcBef>
            </a:pPr>
            <a:r>
              <a:rPr sz="1100">
                <a:solidFill>
                  <a:srgbClr val="B03030"/>
                </a:solidFill>
                <a:latin typeface="Avenir Next LT Pro"/>
              </a:rPr>
              <a:t>•  </a:t>
            </a:r>
            <a:r>
              <a:rPr sz="1100">
                <a:solidFill>
                  <a:srgbClr val="000000"/>
                </a:solidFill>
                <a:latin typeface="Avenir Next LT Pro"/>
              </a:rPr>
              <a:t>~4× levered; debt reduction one-time (inventory) and stalling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a:solidFill>
                  <a:srgbClr val="000000"/>
                </a:solidFill>
                <a:latin typeface="Avenir Next LT Pro Demi"/>
              </a:rPr>
              <a:t>Where the Street Values RH — vs. My Verdict</a:t>
            </a:r>
          </a:p>
        </p:txBody>
      </p:sp>
      <p:sp>
        <p:nvSpPr>
          <p:cNvPr id="3" name="Rectangle 2"/>
          <p:cNvSpPr/>
          <p:nvPr/>
        </p:nvSpPr>
        <p:spPr>
          <a:xfrm>
            <a:off x="457200" y="960120"/>
            <a:ext cx="8229600" cy="25603"/>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8229600" cy="2743200"/>
        </p:xfrm>
        <a:graphic>
          <a:graphicData uri="http://schemas.openxmlformats.org/drawingml/2006/table">
            <a:tbl>
              <a:tblPr>
                <a:tableStyleId>{5C22544A-7EE6-4342-B048-85BDC9FD1C3A}</a:tableStyleId>
              </a:tblPr>
              <a:tblGrid>
                <a:gridCol w="3291840"/>
                <a:gridCol w="2011680"/>
                <a:gridCol w="2926080"/>
              </a:tblGrid>
              <a:tr h="457200">
                <a:tc>
                  <a:txBody>
                    <a:bodyPr/>
                    <a:lstStyle/>
                    <a:p>
                      <a:pPr algn="l"/>
                      <a:r>
                        <a:rPr sz="1100" b="1">
                          <a:solidFill>
                            <a:srgbClr val="FFFFFF"/>
                          </a:solidFill>
                          <a:latin typeface="Avenir Next LT Pro Demi"/>
                        </a:rPr>
                        <a:t>Benchmark</a:t>
                      </a:r>
                    </a:p>
                  </a:txBody>
                  <a:tcPr marL="91440" marT="27432" marB="27432" anchor="ctr">
                    <a:solidFill>
                      <a:srgbClr val="9A7B44"/>
                    </a:solidFill>
                  </a:tcPr>
                </a:tc>
                <a:tc>
                  <a:txBody>
                    <a:bodyPr/>
                    <a:lstStyle/>
                    <a:p>
                      <a:pPr algn="ctr"/>
                      <a:r>
                        <a:rPr sz="1100" b="1">
                          <a:solidFill>
                            <a:srgbClr val="FFFFFF"/>
                          </a:solidFill>
                          <a:latin typeface="Avenir Next LT Pro Demi"/>
                        </a:rPr>
                        <a:t>Value</a:t>
                      </a:r>
                    </a:p>
                  </a:txBody>
                  <a:tcPr marL="91440" marT="27432" marB="27432" anchor="ctr">
                    <a:solidFill>
                      <a:srgbClr val="9A7B44"/>
                    </a:solidFill>
                  </a:tcPr>
                </a:tc>
                <a:tc>
                  <a:txBody>
                    <a:bodyPr/>
                    <a:lstStyle/>
                    <a:p>
                      <a:pPr algn="l"/>
                      <a:r>
                        <a:rPr sz="1100" b="1">
                          <a:solidFill>
                            <a:srgbClr val="FFFFFF"/>
                          </a:solidFill>
                          <a:latin typeface="Avenir Next LT Pro Demi"/>
                        </a:rPr>
                        <a:t>Implied read</a:t>
                      </a:r>
                    </a:p>
                  </a:txBody>
                  <a:tcPr marL="91440" marT="27432" marB="27432" anchor="ctr">
                    <a:solidFill>
                      <a:srgbClr val="9A7B44"/>
                    </a:solidFill>
                  </a:tcPr>
                </a:tc>
              </a:tr>
              <a:tr h="457200">
                <a:tc>
                  <a:txBody>
                    <a:bodyPr/>
                    <a:lstStyle/>
                    <a:p>
                      <a:pPr algn="l"/>
                      <a:r>
                        <a:rPr sz="1100" b="1">
                          <a:solidFill>
                            <a:srgbClr val="000000"/>
                          </a:solidFill>
                          <a:latin typeface="Avenir Next LT Pro"/>
                        </a:rPr>
                        <a:t>Current price</a:t>
                      </a:r>
                    </a:p>
                  </a:txBody>
                  <a:tcPr marL="91440" marT="27432" marB="27432" anchor="ctr">
                    <a:solidFill>
                      <a:srgbClr val="FFFFFF"/>
                    </a:solidFill>
                  </a:tcPr>
                </a:tc>
                <a:tc>
                  <a:txBody>
                    <a:bodyPr/>
                    <a:lstStyle/>
                    <a:p>
                      <a:pPr algn="ctr"/>
                      <a:r>
                        <a:rPr sz="1100" b="0">
                          <a:solidFill>
                            <a:srgbClr val="000000"/>
                          </a:solidFill>
                          <a:latin typeface="Avenir Next LT Pro"/>
                        </a:rPr>
                        <a:t>~$166</a:t>
                      </a:r>
                    </a:p>
                  </a:txBody>
                  <a:tcPr marL="91440" marT="27432" marB="27432" anchor="ctr">
                    <a:solidFill>
                      <a:srgbClr val="FFFFFF"/>
                    </a:solidFill>
                  </a:tcPr>
                </a:tc>
                <a:tc>
                  <a:txBody>
                    <a:bodyPr/>
                    <a:lstStyle/>
                    <a:p>
                      <a:pPr algn="l"/>
                      <a:r>
                        <a:rPr sz="1100" b="0">
                          <a:solidFill>
                            <a:srgbClr val="000000"/>
                          </a:solidFill>
                          <a:latin typeface="Avenir Next LT Pro"/>
                        </a:rPr>
                        <a:t>—</a:t>
                      </a:r>
                    </a:p>
                  </a:txBody>
                  <a:tcPr marL="91440" marT="27432" marB="27432" anchor="ctr">
                    <a:solidFill>
                      <a:srgbClr val="FFFFFF"/>
                    </a:solidFill>
                  </a:tcPr>
                </a:tc>
              </a:tr>
              <a:tr h="457200">
                <a:tc>
                  <a:txBody>
                    <a:bodyPr/>
                    <a:lstStyle/>
                    <a:p>
                      <a:pPr algn="l"/>
                      <a:r>
                        <a:rPr sz="1100" b="1">
                          <a:solidFill>
                            <a:srgbClr val="000000"/>
                          </a:solidFill>
                          <a:latin typeface="Avenir Next LT Pro"/>
                        </a:rPr>
                        <a:t>Sell-side price targets</a:t>
                      </a:r>
                    </a:p>
                  </a:txBody>
                  <a:tcPr marL="91440" marT="27432" marB="27432" anchor="ctr">
                    <a:solidFill>
                      <a:srgbClr val="F4F6F8"/>
                    </a:solidFill>
                  </a:tcPr>
                </a:tc>
                <a:tc>
                  <a:txBody>
                    <a:bodyPr/>
                    <a:lstStyle/>
                    <a:p>
                      <a:pPr algn="ctr"/>
                      <a:r>
                        <a:rPr sz="1100" b="0">
                          <a:solidFill>
                            <a:srgbClr val="000000"/>
                          </a:solidFill>
                          <a:latin typeface="Avenir Next LT Pro"/>
                        </a:rPr>
                        <a:t>$130–175</a:t>
                      </a:r>
                    </a:p>
                  </a:txBody>
                  <a:tcPr marL="91440" marT="27432" marB="27432" anchor="ctr">
                    <a:solidFill>
                      <a:srgbClr val="F4F6F8"/>
                    </a:solidFill>
                  </a:tcPr>
                </a:tc>
                <a:tc>
                  <a:txBody>
                    <a:bodyPr/>
                    <a:lstStyle/>
                    <a:p>
                      <a:pPr algn="l"/>
                      <a:r>
                        <a:rPr sz="1100" b="0">
                          <a:solidFill>
                            <a:srgbClr val="000000"/>
                          </a:solidFill>
                          <a:latin typeface="Avenir Next LT Pro"/>
                        </a:rPr>
                        <a:t>Limited upside; ~fairly valued</a:t>
                      </a:r>
                    </a:p>
                  </a:txBody>
                  <a:tcPr marL="91440" marT="27432" marB="27432" anchor="ctr">
                    <a:solidFill>
                      <a:srgbClr val="F4F6F8"/>
                    </a:solidFill>
                  </a:tcPr>
                </a:tc>
              </a:tr>
              <a:tr h="457200">
                <a:tc>
                  <a:txBody>
                    <a:bodyPr/>
                    <a:lstStyle/>
                    <a:p>
                      <a:pPr algn="l"/>
                      <a:r>
                        <a:rPr sz="1100" b="1">
                          <a:solidFill>
                            <a:srgbClr val="000000"/>
                          </a:solidFill>
                          <a:latin typeface="Avenir Next LT Pro"/>
                        </a:rPr>
                        <a:t>Simply Wall St models</a:t>
                      </a:r>
                    </a:p>
                  </a:txBody>
                  <a:tcPr marL="91440" marT="27432" marB="27432" anchor="ctr">
                    <a:solidFill>
                      <a:srgbClr val="FFFFFF"/>
                    </a:solidFill>
                  </a:tcPr>
                </a:tc>
                <a:tc>
                  <a:txBody>
                    <a:bodyPr/>
                    <a:lstStyle/>
                    <a:p>
                      <a:pPr algn="ctr"/>
                      <a:r>
                        <a:rPr sz="1100" b="0">
                          <a:solidFill>
                            <a:srgbClr val="000000"/>
                          </a:solidFill>
                          <a:latin typeface="Avenir Next LT Pro"/>
                        </a:rPr>
                        <a:t>~$165–264</a:t>
                      </a:r>
                    </a:p>
                  </a:txBody>
                  <a:tcPr marL="91440" marT="27432" marB="27432" anchor="ctr">
                    <a:solidFill>
                      <a:srgbClr val="FFFFFF"/>
                    </a:solidFill>
                  </a:tcPr>
                </a:tc>
                <a:tc>
                  <a:txBody>
                    <a:bodyPr/>
                    <a:lstStyle/>
                    <a:p>
                      <a:pPr algn="l"/>
                      <a:r>
                        <a:rPr sz="1100" b="0">
                          <a:solidFill>
                            <a:srgbClr val="000000"/>
                          </a:solidFill>
                          <a:latin typeface="Avenir Next LT Pro"/>
                        </a:rPr>
                        <a:t>Fairly valued to bullish</a:t>
                      </a:r>
                    </a:p>
                  </a:txBody>
                  <a:tcPr marL="91440" marT="27432" marB="27432" anchor="ctr">
                    <a:solidFill>
                      <a:srgbClr val="FFFFFF"/>
                    </a:solidFill>
                  </a:tcPr>
                </a:tc>
              </a:tr>
              <a:tr h="457200">
                <a:tc>
                  <a:txBody>
                    <a:bodyPr/>
                    <a:lstStyle/>
                    <a:p>
                      <a:pPr algn="l"/>
                      <a:r>
                        <a:rPr sz="1100" b="1">
                          <a:solidFill>
                            <a:srgbClr val="9A7B44"/>
                          </a:solidFill>
                          <a:latin typeface="Avenir Next LT Pro Demi"/>
                        </a:rPr>
                        <a:t>My fair value — proven today</a:t>
                      </a:r>
                    </a:p>
                  </a:txBody>
                  <a:tcPr marL="91440" marT="27432" marB="27432" anchor="ctr">
                    <a:solidFill>
                      <a:srgbClr val="F4F6F8"/>
                    </a:solidFill>
                  </a:tcPr>
                </a:tc>
                <a:tc>
                  <a:txBody>
                    <a:bodyPr/>
                    <a:lstStyle/>
                    <a:p>
                      <a:pPr algn="ctr"/>
                      <a:r>
                        <a:rPr sz="1100" b="1">
                          <a:solidFill>
                            <a:srgbClr val="9A7B44"/>
                          </a:solidFill>
                          <a:latin typeface="Avenir Next LT Pro"/>
                        </a:rPr>
                        <a:t>~$165</a:t>
                      </a:r>
                    </a:p>
                  </a:txBody>
                  <a:tcPr marL="91440" marT="27432" marB="27432" anchor="ctr">
                    <a:solidFill>
                      <a:srgbClr val="F4F6F8"/>
                    </a:solidFill>
                  </a:tcPr>
                </a:tc>
                <a:tc>
                  <a:txBody>
                    <a:bodyPr/>
                    <a:lstStyle/>
                    <a:p>
                      <a:pPr algn="l"/>
                      <a:r>
                        <a:rPr sz="1100" b="1">
                          <a:solidFill>
                            <a:srgbClr val="000000"/>
                          </a:solidFill>
                          <a:latin typeface="Avenir Next LT Pro"/>
                        </a:rPr>
                        <a:t>In line with Street → Hold</a:t>
                      </a:r>
                    </a:p>
                  </a:txBody>
                  <a:tcPr marL="91440" marT="27432" marB="27432" anchor="ctr">
                    <a:solidFill>
                      <a:srgbClr val="F4F6F8"/>
                    </a:solidFill>
                  </a:tcPr>
                </a:tc>
              </a:tr>
              <a:tr h="457200">
                <a:tc>
                  <a:txBody>
                    <a:bodyPr/>
                    <a:lstStyle/>
                    <a:p>
                      <a:pPr algn="l"/>
                      <a:r>
                        <a:rPr sz="1100" b="1">
                          <a:solidFill>
                            <a:srgbClr val="9A7B44"/>
                          </a:solidFill>
                          <a:latin typeface="Avenir Next LT Pro Demi"/>
                        </a:rPr>
                        <a:t>My upside case — if de-risked</a:t>
                      </a:r>
                    </a:p>
                  </a:txBody>
                  <a:tcPr marL="91440" marT="27432" marB="27432" anchor="ctr">
                    <a:solidFill>
                      <a:srgbClr val="FFFFFF"/>
                    </a:solidFill>
                  </a:tcPr>
                </a:tc>
                <a:tc>
                  <a:txBody>
                    <a:bodyPr/>
                    <a:lstStyle/>
                    <a:p>
                      <a:pPr algn="ctr"/>
                      <a:r>
                        <a:rPr sz="1100" b="1">
                          <a:solidFill>
                            <a:srgbClr val="9A7B44"/>
                          </a:solidFill>
                          <a:latin typeface="Avenir Next LT Pro"/>
                        </a:rPr>
                        <a:t>~$240 FV / ~$310 tgt</a:t>
                      </a:r>
                    </a:p>
                  </a:txBody>
                  <a:tcPr marL="91440" marT="27432" marB="27432" anchor="ctr">
                    <a:solidFill>
                      <a:srgbClr val="FFFFFF"/>
                    </a:solidFill>
                  </a:tcPr>
                </a:tc>
                <a:tc>
                  <a:txBody>
                    <a:bodyPr/>
                    <a:lstStyle/>
                    <a:p>
                      <a:pPr algn="l"/>
                      <a:r>
                        <a:rPr sz="1100" b="1">
                          <a:solidFill>
                            <a:srgbClr val="000000"/>
                          </a:solidFill>
                          <a:latin typeface="Avenir Next LT Pro"/>
                        </a:rPr>
                        <a:t>The prize (~45–90%) if triggers hit</a:t>
                      </a:r>
                    </a:p>
                  </a:txBody>
                  <a:tcPr marL="91440" marT="27432" marB="27432" anchor="ctr">
                    <a:solidFill>
                      <a:srgbClr val="FFFFFF"/>
                    </a:solidFill>
                  </a:tcPr>
                </a:tc>
              </a:tr>
            </a:tbl>
          </a:graphicData>
        </a:graphic>
      </p:graphicFrame>
      <p:sp>
        <p:nvSpPr>
          <p:cNvPr id="5" name="TextBox 4"/>
          <p:cNvSpPr txBox="1"/>
          <p:nvPr/>
        </p:nvSpPr>
        <p:spPr>
          <a:xfrm>
            <a:off x="457200" y="4572000"/>
            <a:ext cx="8229600" cy="1005840"/>
          </a:xfrm>
          <a:prstGeom prst="rect">
            <a:avLst/>
          </a:prstGeom>
          <a:noFill/>
        </p:spPr>
        <p:txBody>
          <a:bodyPr wrap="square">
            <a:spAutoFit/>
          </a:bodyPr>
          <a:lstStyle/>
          <a:p>
            <a:r>
              <a:rPr sz="1200">
                <a:solidFill>
                  <a:srgbClr val="000000"/>
                </a:solidFill>
                <a:latin typeface="Avenir Next LT Pro"/>
              </a:rPr>
              <a:t>Takeaway: I match the Street on proven value (~$165 ≈ price).</a:t>
            </a:r>
          </a:p>
          <a:p>
            <a:pPr>
              <a:spcBef>
                <a:spcPts val="800"/>
              </a:spcBef>
            </a:pPr>
            <a:r>
              <a:rPr sz="1200" b="1">
                <a:solidFill>
                  <a:srgbClr val="000000"/>
                </a:solidFill>
                <a:latin typeface="Avenir Next LT Pro Demi"/>
              </a:rPr>
              <a:t>My edge is the conditional upside (~$240–310) — and the discipline to wait for proof before paying for it.</a:t>
            </a:r>
          </a:p>
        </p:txBody>
      </p:sp>
      <p:sp>
        <p:nvSpPr>
          <p:cNvPr id="6" name="TextBox 5"/>
          <p:cNvSpPr txBox="1"/>
          <p:nvPr/>
        </p:nvSpPr>
        <p:spPr>
          <a:xfrm>
            <a:off x="457200" y="6172200"/>
            <a:ext cx="8229600" cy="274320"/>
          </a:xfrm>
          <a:prstGeom prst="rect">
            <a:avLst/>
          </a:prstGeom>
          <a:noFill/>
        </p:spPr>
        <p:txBody>
          <a:bodyPr wrap="none">
            <a:spAutoFit/>
          </a:bodyPr>
          <a:lstStyle/>
          <a:p>
            <a:r>
              <a:rPr sz="750" i="1">
                <a:solidFill>
                  <a:srgbClr val="707070"/>
                </a:solidFill>
                <a:latin typeface="Avenir Next LT Pro"/>
              </a:rPr>
              <a:t>Sources: sell-side price-target range &amp; Simply Wall St narrative fair values (per recent research); author's estimates.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a:solidFill>
                  <a:srgbClr val="000000"/>
                </a:solidFill>
                <a:latin typeface="Avenir Next LT Pro Demi"/>
              </a:rPr>
              <a:t>What Would Make Me a Buyer</a:t>
            </a:r>
          </a:p>
        </p:txBody>
      </p:sp>
      <p:sp>
        <p:nvSpPr>
          <p:cNvPr id="3" name="Rectangle 2"/>
          <p:cNvSpPr/>
          <p:nvPr/>
        </p:nvSpPr>
        <p:spPr>
          <a:xfrm>
            <a:off x="457200" y="960120"/>
            <a:ext cx="8229600" cy="25603"/>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8229600" cy="457200"/>
          </a:xfrm>
          <a:prstGeom prst="rect">
            <a:avLst/>
          </a:prstGeom>
          <a:noFill/>
        </p:spPr>
        <p:txBody>
          <a:bodyPr wrap="square">
            <a:spAutoFit/>
          </a:bodyPr>
          <a:lstStyle/>
          <a:p>
            <a:r>
              <a:rPr sz="1200" i="1">
                <a:solidFill>
                  <a:srgbClr val="707070"/>
                </a:solidFill>
                <a:latin typeface="Avenir Next LT Pro"/>
              </a:rPr>
              <a:t>Hold today. Three proofs would flip it to Buy — even at a higher price, because the risk would be lower.</a:t>
            </a:r>
          </a:p>
        </p:txBody>
      </p:sp>
      <p:sp>
        <p:nvSpPr>
          <p:cNvPr id="5" name="Rectangle 4"/>
          <p:cNvSpPr/>
          <p:nvPr/>
        </p:nvSpPr>
        <p:spPr>
          <a:xfrm>
            <a:off x="457200" y="1691640"/>
            <a:ext cx="82296" cy="1143000"/>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691640"/>
            <a:ext cx="2331720" cy="1143000"/>
          </a:xfrm>
          <a:prstGeom prst="rect">
            <a:avLst/>
          </a:prstGeom>
          <a:noFill/>
        </p:spPr>
        <p:txBody>
          <a:bodyPr wrap="square" anchor="ctr">
            <a:spAutoFit/>
          </a:bodyPr>
          <a:lstStyle/>
          <a:p>
            <a:r>
              <a:rPr sz="1300" b="1">
                <a:solidFill>
                  <a:srgbClr val="000000"/>
                </a:solidFill>
                <a:latin typeface="Avenir Next LT Pro Demi"/>
              </a:rPr>
              <a:t>1 — Core recovery</a:t>
            </a:r>
          </a:p>
        </p:txBody>
      </p:sp>
      <p:sp>
        <p:nvSpPr>
          <p:cNvPr id="7" name="TextBox 6"/>
          <p:cNvSpPr txBox="1"/>
          <p:nvPr/>
        </p:nvSpPr>
        <p:spPr>
          <a:xfrm>
            <a:off x="3063240" y="1691640"/>
            <a:ext cx="5623560" cy="1143000"/>
          </a:xfrm>
          <a:prstGeom prst="rect">
            <a:avLst/>
          </a:prstGeom>
          <a:noFill/>
        </p:spPr>
        <p:txBody>
          <a:bodyPr wrap="square" anchor="ctr">
            <a:spAutoFit/>
          </a:bodyPr>
          <a:lstStyle/>
          <a:p>
            <a:r>
              <a:rPr sz="1150">
                <a:solidFill>
                  <a:srgbClr val="000000"/>
                </a:solidFill>
                <a:latin typeface="Avenir Next LT Pro"/>
              </a:rPr>
              <a:t>Revenue back in/above the 4.5–8% guide and a return to profit — a trend, not one quarter.</a:t>
            </a:r>
          </a:p>
        </p:txBody>
      </p:sp>
      <p:sp>
        <p:nvSpPr>
          <p:cNvPr id="8" name="Rectangle 7"/>
          <p:cNvSpPr/>
          <p:nvPr/>
        </p:nvSpPr>
        <p:spPr>
          <a:xfrm>
            <a:off x="457200" y="2999232"/>
            <a:ext cx="82296" cy="114300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99232"/>
            <a:ext cx="2331720" cy="1143000"/>
          </a:xfrm>
          <a:prstGeom prst="rect">
            <a:avLst/>
          </a:prstGeom>
          <a:noFill/>
        </p:spPr>
        <p:txBody>
          <a:bodyPr wrap="square" anchor="ctr">
            <a:spAutoFit/>
          </a:bodyPr>
          <a:lstStyle/>
          <a:p>
            <a:r>
              <a:rPr sz="1300" b="1">
                <a:solidFill>
                  <a:srgbClr val="000000"/>
                </a:solidFill>
                <a:latin typeface="Avenir Next LT Pro Demi"/>
              </a:rPr>
              <a:t>2 — Evidence Estates is working</a:t>
            </a:r>
          </a:p>
        </p:txBody>
      </p:sp>
      <p:sp>
        <p:nvSpPr>
          <p:cNvPr id="10" name="TextBox 9"/>
          <p:cNvSpPr txBox="1"/>
          <p:nvPr/>
        </p:nvSpPr>
        <p:spPr>
          <a:xfrm>
            <a:off x="3063240" y="2999232"/>
            <a:ext cx="5623560" cy="1143000"/>
          </a:xfrm>
          <a:prstGeom prst="rect">
            <a:avLst/>
          </a:prstGeom>
          <a:noFill/>
        </p:spPr>
        <p:txBody>
          <a:bodyPr wrap="square" anchor="ctr">
            <a:spAutoFit/>
          </a:bodyPr>
          <a:lstStyle/>
          <a:p>
            <a:r>
              <a:rPr sz="1150">
                <a:solidFill>
                  <a:srgbClr val="000000"/>
                </a:solidFill>
                <a:latin typeface="Avenir Next LT Pro"/>
              </a:rPr>
              <a:t>Real revenue and gallery traction. Launched Jun 2026 — no data yet; first read Q2 FY2026.</a:t>
            </a:r>
          </a:p>
        </p:txBody>
      </p:sp>
      <p:sp>
        <p:nvSpPr>
          <p:cNvPr id="11" name="Rectangle 10"/>
          <p:cNvSpPr/>
          <p:nvPr/>
        </p:nvSpPr>
        <p:spPr>
          <a:xfrm>
            <a:off x="457200" y="4306824"/>
            <a:ext cx="82296" cy="114300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306824"/>
            <a:ext cx="2331720" cy="1143000"/>
          </a:xfrm>
          <a:prstGeom prst="rect">
            <a:avLst/>
          </a:prstGeom>
          <a:noFill/>
        </p:spPr>
        <p:txBody>
          <a:bodyPr wrap="square" anchor="ctr">
            <a:spAutoFit/>
          </a:bodyPr>
          <a:lstStyle/>
          <a:p>
            <a:r>
              <a:rPr sz="1300" b="1">
                <a:solidFill>
                  <a:srgbClr val="000000"/>
                </a:solidFill>
                <a:latin typeface="Avenir Next LT Pro Demi"/>
              </a:rPr>
              <a:t>3 — Durable debt reduction</a:t>
            </a:r>
          </a:p>
        </p:txBody>
      </p:sp>
      <p:sp>
        <p:nvSpPr>
          <p:cNvPr id="13" name="TextBox 12"/>
          <p:cNvSpPr txBox="1"/>
          <p:nvPr/>
        </p:nvSpPr>
        <p:spPr>
          <a:xfrm>
            <a:off x="3063240" y="4306824"/>
            <a:ext cx="5623560" cy="1143000"/>
          </a:xfrm>
          <a:prstGeom prst="rect">
            <a:avLst/>
          </a:prstGeom>
          <a:noFill/>
        </p:spPr>
        <p:txBody>
          <a:bodyPr wrap="square" anchor="ctr">
            <a:spAutoFit/>
          </a:bodyPr>
          <a:lstStyle/>
          <a:p>
            <a:r>
              <a:rPr sz="1150">
                <a:solidFill>
                  <a:srgbClr val="000000"/>
                </a:solidFill>
                <a:latin typeface="Avenir Next LT Pro"/>
              </a:rPr>
              <a:t>Net debt falling on real FCF — not the one-time inventory unwind. Leverage toward ~3×.</a:t>
            </a:r>
          </a:p>
        </p:txBody>
      </p:sp>
      <p:sp>
        <p:nvSpPr>
          <p:cNvPr id="14" name="TextBox 13"/>
          <p:cNvSpPr txBox="1"/>
          <p:nvPr/>
        </p:nvSpPr>
        <p:spPr>
          <a:xfrm>
            <a:off x="457200" y="5532120"/>
            <a:ext cx="8229600" cy="457200"/>
          </a:xfrm>
          <a:prstGeom prst="rect">
            <a:avLst/>
          </a:prstGeom>
          <a:noFill/>
        </p:spPr>
        <p:txBody>
          <a:bodyPr wrap="square">
            <a:spAutoFit/>
          </a:bodyPr>
          <a:lstStyle/>
          <a:p>
            <a:r>
              <a:rPr sz="1200" b="1">
                <a:solidFill>
                  <a:srgbClr val="000000"/>
                </a:solidFill>
                <a:latin typeface="Avenir Next LT Pro Demi"/>
              </a:rPr>
              <a:t>First real read: Q2 FY2026 results (Estates' debut quarter). Until then — watch, don't own.</a:t>
            </a:r>
          </a:p>
        </p:txBody>
      </p:sp>
      <p:sp>
        <p:nvSpPr>
          <p:cNvPr id="15" name="TextBox 14"/>
          <p:cNvSpPr txBox="1"/>
          <p:nvPr/>
        </p:nvSpPr>
        <p:spPr>
          <a:xfrm>
            <a:off x="457200" y="6172200"/>
            <a:ext cx="8229600" cy="274320"/>
          </a:xfrm>
          <a:prstGeom prst="rect">
            <a:avLst/>
          </a:prstGeom>
          <a:noFill/>
        </p:spPr>
        <p:txBody>
          <a:bodyPr wrap="none">
            <a:spAutoFit/>
          </a:bodyPr>
          <a:lstStyle/>
          <a:p>
            <a:r>
              <a:rPr sz="750" i="1">
                <a:solidFill>
                  <a:srgbClr val="707070"/>
                </a:solidFill>
                <a:latin typeface="Avenir Next LT Pro"/>
              </a:rPr>
              <a:t>Source: RH FY2025 10-K, Q1 FY2026 10-Q, company guidance.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p:txBody>
          <a:bodyPr/>
          <a:lstStyle/>
          <a:p>
            <a:r>
              <a:rPr lang="en-US">
                <a:solidFill/>
              </a:rPr>
              <a:t>Stock</a:t>
            </a:r>
            <a:br>
              <a:rPr lang="en-US"/>
            </a:br>
            <a:r>
              <a:rPr lang="en-US" sz="1800">
                <a:solidFill/>
              </a:rPr>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How RH Got Here</a:t>
            </a:r>
          </a:p>
        </p:txBody>
      </p:sp>
      <p:sp>
        <p:nvSpPr>
          <p:cNvPr id="3" name="Rectangle 2"/>
          <p:cNvSpPr/>
          <p:nvPr/>
        </p:nvSpPr>
        <p:spPr>
          <a:xfrm>
            <a:off x="457200" y="960120"/>
            <a:ext cx="8229600" cy="25603"/>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143000"/>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20240" cy="1143000"/>
          </a:xfrm>
          <a:prstGeom prst="rect">
            <a:avLst/>
          </a:prstGeom>
          <a:noFill/>
        </p:spPr>
        <p:txBody>
          <a:bodyPr wrap="square" anchor="ctr">
            <a:spAutoFit/>
          </a:bodyPr>
          <a:lstStyle/>
          <a:p>
            <a:r>
              <a:rPr sz="1400" b="1">
                <a:solidFill>
                  <a:srgbClr val="000000"/>
                </a:solidFill>
                <a:latin typeface="Avenir Next LT Pro Demi"/>
              </a:rPr>
              <a:t>The Build</a:t>
            </a:r>
          </a:p>
          <a:p>
            <a:r>
              <a:rPr sz="1000" b="0">
                <a:solidFill>
                  <a:srgbClr val="707070"/>
                </a:solidFill>
                <a:latin typeface="Avenir Next LT Pro"/>
              </a:rPr>
              <a:t>Pre-2020</a:t>
            </a:r>
          </a:p>
        </p:txBody>
      </p:sp>
      <p:sp>
        <p:nvSpPr>
          <p:cNvPr id="6" name="TextBox 5"/>
          <p:cNvSpPr txBox="1"/>
          <p:nvPr/>
        </p:nvSpPr>
        <p:spPr>
          <a:xfrm>
            <a:off x="2743200" y="1371600"/>
            <a:ext cx="5943600" cy="1143000"/>
          </a:xfrm>
          <a:prstGeom prst="rect">
            <a:avLst/>
          </a:prstGeom>
          <a:noFill/>
        </p:spPr>
        <p:txBody>
          <a:bodyPr wrap="square" anchor="ctr">
            <a:spAutoFit/>
          </a:bodyPr>
          <a:lstStyle/>
          <a:p>
            <a:r>
              <a:rPr sz="1250" b="0">
                <a:solidFill>
                  <a:srgbClr val="000000"/>
                </a:solidFill>
                <a:latin typeface="Avenir Next LT Pro"/>
              </a:rPr>
              <a:t>Friedman turns RH into a luxury Gallery brand.</a:t>
            </a:r>
          </a:p>
        </p:txBody>
      </p:sp>
      <p:sp>
        <p:nvSpPr>
          <p:cNvPr id="7" name="Rectangle 6"/>
          <p:cNvSpPr/>
          <p:nvPr/>
        </p:nvSpPr>
        <p:spPr>
          <a:xfrm>
            <a:off x="457200" y="2679191"/>
            <a:ext cx="82296" cy="114300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9191"/>
            <a:ext cx="1920240" cy="1143000"/>
          </a:xfrm>
          <a:prstGeom prst="rect">
            <a:avLst/>
          </a:prstGeom>
          <a:noFill/>
        </p:spPr>
        <p:txBody>
          <a:bodyPr wrap="square" anchor="ctr">
            <a:spAutoFit/>
          </a:bodyPr>
          <a:lstStyle/>
          <a:p>
            <a:r>
              <a:rPr sz="1400" b="1">
                <a:solidFill>
                  <a:srgbClr val="000000"/>
                </a:solidFill>
                <a:latin typeface="Avenir Next LT Pro Demi"/>
              </a:rPr>
              <a:t>The Peak</a:t>
            </a:r>
          </a:p>
          <a:p>
            <a:r>
              <a:rPr sz="1000" b="0">
                <a:solidFill>
                  <a:srgbClr val="707070"/>
                </a:solidFill>
                <a:latin typeface="Avenir Next LT Pro"/>
              </a:rPr>
              <a:t>FY2022</a:t>
            </a:r>
          </a:p>
        </p:txBody>
      </p:sp>
      <p:sp>
        <p:nvSpPr>
          <p:cNvPr id="9" name="TextBox 8"/>
          <p:cNvSpPr txBox="1"/>
          <p:nvPr/>
        </p:nvSpPr>
        <p:spPr>
          <a:xfrm>
            <a:off x="2743200" y="2679191"/>
            <a:ext cx="5943600" cy="1143000"/>
          </a:xfrm>
          <a:prstGeom prst="rect">
            <a:avLst/>
          </a:prstGeom>
          <a:noFill/>
        </p:spPr>
        <p:txBody>
          <a:bodyPr wrap="square" anchor="ctr">
            <a:spAutoFit/>
          </a:bodyPr>
          <a:lstStyle/>
          <a:p>
            <a:r>
              <a:rPr sz="1250" b="0">
                <a:solidFill>
                  <a:srgbClr val="000000"/>
                </a:solidFill>
                <a:latin typeface="Avenir Next LT Pro"/>
              </a:rPr>
              <a:t>~$3.6B revenue — then buys back ~7.6M shares at ~$269–321, debt-funded.</a:t>
            </a:r>
          </a:p>
        </p:txBody>
      </p:sp>
      <p:sp>
        <p:nvSpPr>
          <p:cNvPr id="10" name="Rectangle 9"/>
          <p:cNvSpPr/>
          <p:nvPr/>
        </p:nvSpPr>
        <p:spPr>
          <a:xfrm>
            <a:off x="457200" y="3986783"/>
            <a:ext cx="82296" cy="114300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86783"/>
            <a:ext cx="1920240" cy="1143000"/>
          </a:xfrm>
          <a:prstGeom prst="rect">
            <a:avLst/>
          </a:prstGeom>
          <a:noFill/>
        </p:spPr>
        <p:txBody>
          <a:bodyPr wrap="square" anchor="ctr">
            <a:spAutoFit/>
          </a:bodyPr>
          <a:lstStyle/>
          <a:p>
            <a:r>
              <a:rPr sz="1400" b="1">
                <a:solidFill>
                  <a:srgbClr val="000000"/>
                </a:solidFill>
                <a:latin typeface="Avenir Next LT Pro Demi"/>
              </a:rPr>
              <a:t>The Fall</a:t>
            </a:r>
          </a:p>
          <a:p>
            <a:r>
              <a:rPr sz="1000" b="0">
                <a:solidFill>
                  <a:srgbClr val="707070"/>
                </a:solidFill>
                <a:latin typeface="Avenir Next LT Pro"/>
              </a:rPr>
              <a:t>FY23–24</a:t>
            </a:r>
          </a:p>
        </p:txBody>
      </p:sp>
      <p:sp>
        <p:nvSpPr>
          <p:cNvPr id="12" name="TextBox 11"/>
          <p:cNvSpPr txBox="1"/>
          <p:nvPr/>
        </p:nvSpPr>
        <p:spPr>
          <a:xfrm>
            <a:off x="2743200" y="3986783"/>
            <a:ext cx="5943600" cy="1143000"/>
          </a:xfrm>
          <a:prstGeom prst="rect">
            <a:avLst/>
          </a:prstGeom>
          <a:noFill/>
        </p:spPr>
        <p:txBody>
          <a:bodyPr wrap="square" anchor="ctr">
            <a:spAutoFit/>
          </a:bodyPr>
          <a:lstStyle/>
          <a:p>
            <a:r>
              <a:rPr sz="1250" b="0">
                <a:solidFill>
                  <a:srgbClr val="000000"/>
                </a:solidFill>
                <a:latin typeface="Avenir Next LT Pro"/>
              </a:rPr>
              <a:t>Housing freezes; revenue falls to ~$3.03B. Debt now ~$2.4B, ~4× levered.</a:t>
            </a:r>
          </a:p>
        </p:txBody>
      </p:sp>
      <p:sp>
        <p:nvSpPr>
          <p:cNvPr id="13" name="TextBox 12"/>
          <p:cNvSpPr txBox="1"/>
          <p:nvPr/>
        </p:nvSpPr>
        <p:spPr>
          <a:xfrm>
            <a:off x="457200" y="5532120"/>
            <a:ext cx="8229600" cy="411480"/>
          </a:xfrm>
          <a:prstGeom prst="rect">
            <a:avLst/>
          </a:prstGeom>
          <a:noFill/>
        </p:spPr>
        <p:txBody>
          <a:bodyPr wrap="square">
            <a:spAutoFit/>
          </a:bodyPr>
          <a:lstStyle/>
          <a:p>
            <a:r>
              <a:rPr sz="1100" b="1">
                <a:solidFill>
                  <a:srgbClr val="000000"/>
                </a:solidFill>
                <a:latin typeface="Avenir Next LT Pro Demi"/>
              </a:rPr>
              <a:t>Partly self-inflicted: leveraged buybacks at the top, then the cycle turned.</a:t>
            </a:r>
          </a:p>
        </p:txBody>
      </p:sp>
      <p:sp>
        <p:nvSpPr>
          <p:cNvPr id="14" name="TextBox 13"/>
          <p:cNvSpPr txBox="1"/>
          <p:nvPr/>
        </p:nvSpPr>
        <p:spPr>
          <a:xfrm>
            <a:off x="457200" y="6172200"/>
            <a:ext cx="8229600" cy="274320"/>
          </a:xfrm>
          <a:prstGeom prst="rect">
            <a:avLst/>
          </a:prstGeom>
          <a:noFill/>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The Recovery Plan</a:t>
            </a:r>
          </a:p>
        </p:txBody>
      </p:sp>
      <p:sp>
        <p:nvSpPr>
          <p:cNvPr id="3" name="Rectangle 2"/>
          <p:cNvSpPr/>
          <p:nvPr/>
        </p:nvSpPr>
        <p:spPr>
          <a:xfrm>
            <a:off x="457200" y="960120"/>
            <a:ext cx="8229600" cy="25603"/>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960120"/>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7955279" cy="960120"/>
          </a:xfrm>
          <a:prstGeom prst="rect">
            <a:avLst/>
          </a:prstGeom>
          <a:noFill/>
        </p:spPr>
        <p:txBody>
          <a:bodyPr wrap="square" anchor="ctr">
            <a:spAutoFit/>
          </a:bodyPr>
          <a:lstStyle/>
          <a:p>
            <a:r>
              <a:rPr sz="1350" b="1">
                <a:solidFill>
                  <a:srgbClr val="000000"/>
                </a:solidFill>
                <a:latin typeface="Avenir Next LT Pro Demi"/>
              </a:rPr>
              <a:t>Product transformation  —  </a:t>
            </a:r>
            <a:r>
              <a:rPr sz="1250" b="0">
                <a:solidFill>
                  <a:srgbClr val="000000"/>
                </a:solidFill>
                <a:latin typeface="Avenir Next LT Pro"/>
              </a:rPr>
              <a:t>New collections and refreshed Sourcebooks.</a:t>
            </a:r>
          </a:p>
        </p:txBody>
      </p:sp>
      <p:sp>
        <p:nvSpPr>
          <p:cNvPr id="6" name="Rectangle 5"/>
          <p:cNvSpPr/>
          <p:nvPr/>
        </p:nvSpPr>
        <p:spPr>
          <a:xfrm>
            <a:off x="457200" y="2496312"/>
            <a:ext cx="82296" cy="96012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496312"/>
            <a:ext cx="7955279" cy="960120"/>
          </a:xfrm>
          <a:prstGeom prst="rect">
            <a:avLst/>
          </a:prstGeom>
          <a:noFill/>
        </p:spPr>
        <p:txBody>
          <a:bodyPr wrap="square" anchor="ctr">
            <a:spAutoFit/>
          </a:bodyPr>
          <a:lstStyle/>
          <a:p>
            <a:r>
              <a:rPr sz="1350" b="1">
                <a:solidFill>
                  <a:srgbClr val="000000"/>
                </a:solidFill>
                <a:latin typeface="Avenir Next LT Pro Demi"/>
              </a:rPr>
              <a:t>Gallery expansion  —  </a:t>
            </a:r>
            <a:r>
              <a:rPr sz="1250" b="0">
                <a:solidFill>
                  <a:srgbClr val="000000"/>
                </a:solidFill>
                <a:latin typeface="Avenir Next LT Pro"/>
              </a:rPr>
              <a:t>Every major U.S./Canada market — RH's ~$5–6B opportunity.</a:t>
            </a:r>
          </a:p>
        </p:txBody>
      </p:sp>
      <p:sp>
        <p:nvSpPr>
          <p:cNvPr id="8" name="Rectangle 7"/>
          <p:cNvSpPr/>
          <p:nvPr/>
        </p:nvSpPr>
        <p:spPr>
          <a:xfrm>
            <a:off x="457200" y="3621024"/>
            <a:ext cx="82296" cy="96012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621024"/>
            <a:ext cx="7955279" cy="960120"/>
          </a:xfrm>
          <a:prstGeom prst="rect">
            <a:avLst/>
          </a:prstGeom>
          <a:noFill/>
        </p:spPr>
        <p:txBody>
          <a:bodyPr wrap="square" anchor="ctr">
            <a:spAutoFit/>
          </a:bodyPr>
          <a:lstStyle/>
          <a:p>
            <a:r>
              <a:rPr sz="1350" b="1">
                <a:solidFill>
                  <a:srgbClr val="000000"/>
                </a:solidFill>
                <a:latin typeface="Avenir Next LT Pro Demi"/>
              </a:rPr>
              <a:t>Move upmarket  —  </a:t>
            </a:r>
            <a:r>
              <a:rPr sz="1250" b="0">
                <a:solidFill>
                  <a:srgbClr val="000000"/>
                </a:solidFill>
                <a:latin typeface="Avenir Next LT Pro"/>
              </a:rPr>
              <a:t>Estates targets the rate-immune cash buyer.</a:t>
            </a:r>
          </a:p>
        </p:txBody>
      </p:sp>
      <p:sp>
        <p:nvSpPr>
          <p:cNvPr id="10" name="Rectangle 9"/>
          <p:cNvSpPr/>
          <p:nvPr/>
        </p:nvSpPr>
        <p:spPr>
          <a:xfrm>
            <a:off x="457200" y="4745736"/>
            <a:ext cx="82296" cy="960120"/>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745736"/>
            <a:ext cx="7955279" cy="960120"/>
          </a:xfrm>
          <a:prstGeom prst="rect">
            <a:avLst/>
          </a:prstGeom>
          <a:noFill/>
        </p:spPr>
        <p:txBody>
          <a:bodyPr wrap="square" anchor="ctr">
            <a:spAutoFit/>
          </a:bodyPr>
          <a:lstStyle/>
          <a:p>
            <a:r>
              <a:rPr sz="1350" b="1">
                <a:solidFill>
                  <a:srgbClr val="000000"/>
                </a:solidFill>
                <a:latin typeface="Avenir Next LT Pro Demi"/>
              </a:rPr>
              <a:t>Global + platform  —  </a:t>
            </a:r>
            <a:r>
              <a:rPr sz="1250" b="0">
                <a:solidFill>
                  <a:srgbClr val="000000"/>
                </a:solidFill>
                <a:latin typeface="Avenir Next LT Pro"/>
              </a:rPr>
              <a:t>RH England, Guesthouses, hospitality &amp; F&amp;B.</a:t>
            </a:r>
          </a:p>
        </p:txBody>
      </p:sp>
      <p:sp>
        <p:nvSpPr>
          <p:cNvPr id="12" name="TextBox 11"/>
          <p:cNvSpPr txBox="1"/>
          <p:nvPr/>
        </p:nvSpPr>
        <p:spPr>
          <a:xfrm>
            <a:off x="457200" y="6172200"/>
            <a:ext cx="8229600" cy="274320"/>
          </a:xfrm>
          <a:prstGeom prst="rect">
            <a:avLst/>
          </a:prstGeom>
          <a:noFill/>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The Operator — Gary Friedman</a:t>
            </a:r>
          </a:p>
        </p:txBody>
      </p:sp>
      <p:sp>
        <p:nvSpPr>
          <p:cNvPr id="3" name="Rectangle 2"/>
          <p:cNvSpPr/>
          <p:nvPr/>
        </p:nvSpPr>
        <p:spPr>
          <a:xfrm>
            <a:off x="457200" y="960120"/>
            <a:ext cx="8229600" cy="25603"/>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051560"/>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65960" cy="1051560"/>
          </a:xfrm>
          <a:prstGeom prst="rect">
            <a:avLst/>
          </a:prstGeom>
          <a:noFill/>
        </p:spPr>
        <p:txBody>
          <a:bodyPr wrap="square" anchor="ctr">
            <a:spAutoFit/>
          </a:bodyPr>
          <a:lstStyle/>
          <a:p>
            <a:r>
              <a:rPr sz="1250" b="1">
                <a:solidFill>
                  <a:srgbClr val="000000"/>
                </a:solidFill>
                <a:latin typeface="Avenir Next LT Pro Demi"/>
              </a:rPr>
              <a:t>Role</a:t>
            </a:r>
          </a:p>
        </p:txBody>
      </p:sp>
      <p:sp>
        <p:nvSpPr>
          <p:cNvPr id="6" name="TextBox 5"/>
          <p:cNvSpPr txBox="1"/>
          <p:nvPr/>
        </p:nvSpPr>
        <p:spPr>
          <a:xfrm>
            <a:off x="2697480" y="1371600"/>
            <a:ext cx="5989320" cy="1051560"/>
          </a:xfrm>
          <a:prstGeom prst="rect">
            <a:avLst/>
          </a:prstGeom>
          <a:noFill/>
        </p:spPr>
        <p:txBody>
          <a:bodyPr wrap="square" anchor="ctr">
            <a:spAutoFit/>
          </a:bodyPr>
          <a:lstStyle/>
          <a:p>
            <a:r>
              <a:rPr sz="1200" b="0">
                <a:solidFill>
                  <a:srgbClr val="000000"/>
                </a:solidFill>
                <a:latin typeface="Avenir Next LT Pro"/>
              </a:rPr>
              <a:t>Chairman &amp; CEO and the brand's creative force (10-K key-man).</a:t>
            </a:r>
          </a:p>
        </p:txBody>
      </p:sp>
      <p:sp>
        <p:nvSpPr>
          <p:cNvPr id="7" name="Rectangle 6"/>
          <p:cNvSpPr/>
          <p:nvPr/>
        </p:nvSpPr>
        <p:spPr>
          <a:xfrm>
            <a:off x="457200" y="2514600"/>
            <a:ext cx="82296" cy="105156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514600"/>
            <a:ext cx="1965960" cy="1051560"/>
          </a:xfrm>
          <a:prstGeom prst="rect">
            <a:avLst/>
          </a:prstGeom>
          <a:noFill/>
        </p:spPr>
        <p:txBody>
          <a:bodyPr wrap="square" anchor="ctr">
            <a:spAutoFit/>
          </a:bodyPr>
          <a:lstStyle/>
          <a:p>
            <a:r>
              <a:rPr sz="1250" b="1">
                <a:solidFill>
                  <a:srgbClr val="000000"/>
                </a:solidFill>
                <a:latin typeface="Avenir Next LT Pro Demi"/>
              </a:rPr>
              <a:t>Track record</a:t>
            </a:r>
          </a:p>
        </p:txBody>
      </p:sp>
      <p:sp>
        <p:nvSpPr>
          <p:cNvPr id="9" name="TextBox 8"/>
          <p:cNvSpPr txBox="1"/>
          <p:nvPr/>
        </p:nvSpPr>
        <p:spPr>
          <a:xfrm>
            <a:off x="2697480" y="2514600"/>
            <a:ext cx="5989320" cy="1051560"/>
          </a:xfrm>
          <a:prstGeom prst="rect">
            <a:avLst/>
          </a:prstGeom>
          <a:noFill/>
        </p:spPr>
        <p:txBody>
          <a:bodyPr wrap="square" anchor="ctr">
            <a:spAutoFit/>
          </a:bodyPr>
          <a:lstStyle/>
          <a:p>
            <a:r>
              <a:rPr sz="1200" b="0">
                <a:solidFill>
                  <a:srgbClr val="000000"/>
                </a:solidFill>
                <a:latin typeface="Avenir Next LT Pro"/>
              </a:rPr>
              <a:t>Grew Pottery Barn $50M → $1B+; joined RH in 2001 near bankruptcy.</a:t>
            </a:r>
          </a:p>
        </p:txBody>
      </p:sp>
      <p:sp>
        <p:nvSpPr>
          <p:cNvPr id="10" name="Rectangle 9"/>
          <p:cNvSpPr/>
          <p:nvPr/>
        </p:nvSpPr>
        <p:spPr>
          <a:xfrm>
            <a:off x="457200" y="3657600"/>
            <a:ext cx="82296" cy="105156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657600"/>
            <a:ext cx="1965960" cy="1051560"/>
          </a:xfrm>
          <a:prstGeom prst="rect">
            <a:avLst/>
          </a:prstGeom>
          <a:noFill/>
        </p:spPr>
        <p:txBody>
          <a:bodyPr wrap="square" anchor="ctr">
            <a:spAutoFit/>
          </a:bodyPr>
          <a:lstStyle/>
          <a:p>
            <a:r>
              <a:rPr sz="1250" b="1">
                <a:solidFill>
                  <a:srgbClr val="000000"/>
                </a:solidFill>
                <a:latin typeface="Avenir Next LT Pro Demi"/>
              </a:rPr>
              <a:t>Skin in the game</a:t>
            </a:r>
          </a:p>
        </p:txBody>
      </p:sp>
      <p:sp>
        <p:nvSpPr>
          <p:cNvPr id="12" name="TextBox 11"/>
          <p:cNvSpPr txBox="1"/>
          <p:nvPr/>
        </p:nvSpPr>
        <p:spPr>
          <a:xfrm>
            <a:off x="2697480" y="3657600"/>
            <a:ext cx="5989320" cy="1051560"/>
          </a:xfrm>
          <a:prstGeom prst="rect">
            <a:avLst/>
          </a:prstGeom>
          <a:noFill/>
        </p:spPr>
        <p:txBody>
          <a:bodyPr wrap="square" anchor="ctr">
            <a:spAutoFit/>
          </a:bodyPr>
          <a:lstStyle/>
          <a:p>
            <a:r>
              <a:rPr sz="1200" b="0">
                <a:solidFill>
                  <a:srgbClr val="000000"/>
                </a:solidFill>
                <a:latin typeface="Avenir Next LT Pro"/>
              </a:rPr>
              <a:t>Owns ~18% outright (~25% incl. options); bought ~$10M at ~$216 in June 2024.</a:t>
            </a:r>
          </a:p>
        </p:txBody>
      </p:sp>
      <p:sp>
        <p:nvSpPr>
          <p:cNvPr id="13" name="Rectangle 12"/>
          <p:cNvSpPr/>
          <p:nvPr/>
        </p:nvSpPr>
        <p:spPr>
          <a:xfrm>
            <a:off x="457200" y="4800600"/>
            <a:ext cx="82296" cy="105156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800600"/>
            <a:ext cx="1965960" cy="1051560"/>
          </a:xfrm>
          <a:prstGeom prst="rect">
            <a:avLst/>
          </a:prstGeom>
          <a:noFill/>
        </p:spPr>
        <p:txBody>
          <a:bodyPr wrap="square" anchor="ctr">
            <a:spAutoFit/>
          </a:bodyPr>
          <a:lstStyle/>
          <a:p>
            <a:r>
              <a:rPr sz="1250" b="1">
                <a:solidFill>
                  <a:srgbClr val="000000"/>
                </a:solidFill>
                <a:latin typeface="Avenir Next LT Pro Demi"/>
              </a:rPr>
              <a:t>The double edge</a:t>
            </a:r>
          </a:p>
        </p:txBody>
      </p:sp>
      <p:sp>
        <p:nvSpPr>
          <p:cNvPr id="15" name="TextBox 14"/>
          <p:cNvSpPr txBox="1"/>
          <p:nvPr/>
        </p:nvSpPr>
        <p:spPr>
          <a:xfrm>
            <a:off x="2697480" y="4800600"/>
            <a:ext cx="5989320" cy="1051560"/>
          </a:xfrm>
          <a:prstGeom prst="rect">
            <a:avLst/>
          </a:prstGeom>
          <a:noFill/>
        </p:spPr>
        <p:txBody>
          <a:bodyPr wrap="square" anchor="ctr">
            <a:spAutoFit/>
          </a:bodyPr>
          <a:lstStyle/>
          <a:p>
            <a:r>
              <a:rPr sz="1200" b="0">
                <a:solidFill>
                  <a:srgbClr val="000000"/>
                </a:solidFill>
                <a:latin typeface="Avenir Next LT Pro"/>
              </a:rPr>
              <a:t>Bold allocator — same conviction drove the buybacks and Estates.</a:t>
            </a:r>
          </a:p>
        </p:txBody>
      </p:sp>
      <p:sp>
        <p:nvSpPr>
          <p:cNvPr id="16" name="TextBox 15"/>
          <p:cNvSpPr txBox="1"/>
          <p:nvPr/>
        </p:nvSpPr>
        <p:spPr>
          <a:xfrm>
            <a:off x="457200" y="6172200"/>
            <a:ext cx="8229600" cy="274320"/>
          </a:xfrm>
          <a:prstGeom prst="rect">
            <a:avLst/>
          </a:prstGeom>
          <a:noFill/>
        </p:spPr>
        <p:txBody>
          <a:bodyPr wrap="none">
            <a:spAutoFit/>
          </a:bodyPr>
          <a:lstStyle/>
          <a:p>
            <a:r>
              <a:rPr sz="750" b="0" i="1">
                <a:solidFill>
                  <a:srgbClr val="707070"/>
                </a:solidFill>
                <a:latin typeface="Avenir Next LT Pro"/>
              </a:rPr>
              <a:t>Source: RH FY2025 10-K; RH IR &amp; SEC Form 4 (Jun 26, 2024); company bios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Is It Working?</a:t>
            </a:r>
          </a:p>
        </p:txBody>
      </p:sp>
      <p:sp>
        <p:nvSpPr>
          <p:cNvPr id="3" name="Rectangle 2"/>
          <p:cNvSpPr/>
          <p:nvPr/>
        </p:nvSpPr>
        <p:spPr>
          <a:xfrm>
            <a:off x="457200" y="960120"/>
            <a:ext cx="8229600" cy="25603"/>
          </a:xfrm>
          <a:prstGeom prst="rect">
            <a:avLst/>
          </a:prstGeom>
          <a:solidFill>
            <a:srgbClr val="9A7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34440"/>
            <a:ext cx="3977639" cy="384048"/>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WORKING</a:t>
            </a:r>
          </a:p>
        </p:txBody>
      </p:sp>
      <p:sp>
        <p:nvSpPr>
          <p:cNvPr id="5" name="Rectangle 4"/>
          <p:cNvSpPr/>
          <p:nvPr/>
        </p:nvSpPr>
        <p:spPr>
          <a:xfrm>
            <a:off x="4709160" y="1234440"/>
            <a:ext cx="3977639" cy="384048"/>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WATCH</a:t>
            </a:r>
          </a:p>
        </p:txBody>
      </p:sp>
      <p:sp>
        <p:nvSpPr>
          <p:cNvPr id="6" name="TextBox 5"/>
          <p:cNvSpPr txBox="1"/>
          <p:nvPr/>
        </p:nvSpPr>
        <p:spPr>
          <a:xfrm>
            <a:off x="457200" y="182880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FCF inflected to +$252M (from −$214M)</a:t>
            </a:r>
          </a:p>
        </p:txBody>
      </p:sp>
      <p:sp>
        <p:nvSpPr>
          <p:cNvPr id="7" name="TextBox 6"/>
          <p:cNvSpPr txBox="1"/>
          <p:nvPr/>
        </p:nvSpPr>
        <p:spPr>
          <a:xfrm>
            <a:off x="457200" y="265176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Inventory normalized $1.02B → $819M</a:t>
            </a:r>
          </a:p>
        </p:txBody>
      </p:sp>
      <p:sp>
        <p:nvSpPr>
          <p:cNvPr id="8" name="TextBox 7"/>
          <p:cNvSpPr txBox="1"/>
          <p:nvPr/>
        </p:nvSpPr>
        <p:spPr>
          <a:xfrm>
            <a:off x="457200" y="347472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Revenue re-accelerated +8.1% in FY25</a:t>
            </a:r>
          </a:p>
        </p:txBody>
      </p:sp>
      <p:sp>
        <p:nvSpPr>
          <p:cNvPr id="9" name="TextBox 8"/>
          <p:cNvSpPr txBox="1"/>
          <p:nvPr/>
        </p:nvSpPr>
        <p:spPr>
          <a:xfrm>
            <a:off x="4709160" y="182880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Q1 FY26: revenue −1.7%, net loss −$14M</a:t>
            </a:r>
          </a:p>
        </p:txBody>
      </p:sp>
      <p:sp>
        <p:nvSpPr>
          <p:cNvPr id="10" name="TextBox 9"/>
          <p:cNvSpPr txBox="1"/>
          <p:nvPr/>
        </p:nvSpPr>
        <p:spPr>
          <a:xfrm>
            <a:off x="4709160" y="265176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~$225M/yr interest keeps coverage thin</a:t>
            </a:r>
          </a:p>
        </p:txBody>
      </p:sp>
      <p:sp>
        <p:nvSpPr>
          <p:cNvPr id="11" name="TextBox 10"/>
          <p:cNvSpPr txBox="1"/>
          <p:nvPr/>
        </p:nvSpPr>
        <p:spPr>
          <a:xfrm>
            <a:off x="4709160" y="347472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Guidance is back-half loaded</a:t>
            </a:r>
          </a:p>
        </p:txBody>
      </p:sp>
      <p:sp>
        <p:nvSpPr>
          <p:cNvPr id="12" name="TextBox 11"/>
          <p:cNvSpPr txBox="1"/>
          <p:nvPr/>
        </p:nvSpPr>
        <p:spPr>
          <a:xfrm>
            <a:off x="457200" y="4663440"/>
            <a:ext cx="8229600" cy="365760"/>
          </a:xfrm>
          <a:prstGeom prst="rect">
            <a:avLst/>
          </a:prstGeom>
          <a:noFill/>
        </p:spPr>
        <p:txBody>
          <a:bodyPr wrap="square">
            <a:spAutoFit/>
          </a:bodyPr>
          <a:lstStyle/>
          <a:p>
            <a:r>
              <a:rPr sz="1150" b="1">
                <a:solidFill>
                  <a:srgbClr val="000000"/>
                </a:solidFill>
                <a:latin typeface="Avenir Next LT Pro Demi"/>
              </a:rPr>
              <a:t>Verdict: real but early — the next two quarters are the tell.</a:t>
            </a:r>
          </a:p>
        </p:txBody>
      </p:sp>
      <p:sp>
        <p:nvSpPr>
          <p:cNvPr id="13" name="TextBox 12"/>
          <p:cNvSpPr txBox="1"/>
          <p:nvPr/>
        </p:nvSpPr>
        <p:spPr>
          <a:xfrm>
            <a:off x="457200" y="6172200"/>
            <a:ext cx="8229600" cy="274320"/>
          </a:xfrm>
          <a:prstGeom prst="rect">
            <a:avLst/>
          </a:prstGeom>
          <a:noFill/>
        </p:spPr>
        <p:txBody>
          <a:bodyPr wrap="none">
            <a:spAutoFit/>
          </a:bodyPr>
          <a:lstStyle/>
          <a:p>
            <a:r>
              <a:rPr sz="750" b="0" i="1">
                <a:solidFill>
                  <a:srgbClr val="707070"/>
                </a:solidFill>
                <a:latin typeface="Avenir Next LT Pro"/>
              </a:rPr>
              <a:t>Source: RH FY2025 10-K; Q1 FY2026 10-Q</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solidFill/>
                <a:latin typeface="Avenir Next LT Pro Demi"/>
              </a:rPr>
              <a:t>Financial Performance — Trough to Recovery</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94982956"/>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9A7B44"/>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3,029</a:t>
                      </a:r>
                    </a:p>
                  </a:txBody>
                  <a:tcPr marL="73152" marR="73152" marT="18288" marB="18288" anchor="ctr">
                    <a:solidFill>
                      <a:srgbClr val="FFFFFF"/>
                    </a:solidFill>
                  </a:tcPr>
                </a:tc>
                <a:tc>
                  <a:txBody>
                    <a:bodyPr/>
                    <a:lstStyle/>
                    <a:p>
                      <a:pPr algn="ctr"/>
                      <a:r>
                        <a:rPr sz="1100" b="0" i="0">
                          <a:solidFill>
                            <a:schemeClr val="tx1"/>
                          </a:solidFill>
                          <a:latin typeface="Avenir Next LT Pro"/>
                        </a:rPr>
                        <a:t>3,181</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3,680</a:t>
                      </a:r>
                    </a:p>
                  </a:txBody>
                  <a:tcPr marL="73152" marR="73152" marT="18288" marB="18288" anchor="ctr">
                    <a:solidFill>
                      <a:srgbClr val="FFFFFF"/>
                    </a:solidFill>
                  </a:tcPr>
                </a:tc>
                <a:tc>
                  <a:txBody>
                    <a:bodyPr/>
                    <a:lstStyle/>
                    <a:p>
                      <a:pPr algn="ctr"/>
                      <a:r>
                        <a:rPr sz="1100" b="0" i="0">
                          <a:solidFill>
                            <a:schemeClr val="tx1"/>
                          </a:solidFill>
                          <a:latin typeface="Avenir Next LT Pro"/>
                        </a:rPr>
                        <a:t>4,165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a:t>
                      </a:r>
                      <a:r>
                        <a:rPr lang="en-US" sz="1100" b="0" i="0" dirty="0">
                          <a:solidFill>
                            <a:schemeClr val="tx1"/>
                          </a:solidFill>
                          <a:latin typeface="Avenir Next LT Pro"/>
                        </a:rPr>
                        <a:t>5.6</a:t>
                      </a:r>
                      <a:r>
                        <a:rPr sz="1100" b="0" i="0" dirty="0">
                          <a:solidFill>
                            <a:schemeClr val="tx1"/>
                          </a:solidFill>
                          <a:latin typeface="Avenir Next LT Pro"/>
                        </a:rPr>
                        <a:t>%</a:t>
                      </a:r>
                    </a:p>
                  </a:txBody>
                  <a:tcPr marL="73152" marR="73152" marT="18288" marB="18288" anchor="ctr">
                    <a:solidFill>
                      <a:srgbClr val="F4F6F8"/>
                    </a:solidFill>
                  </a:tcPr>
                </a:tc>
                <a:tc>
                  <a:txBody>
                    <a:bodyPr/>
                    <a:lstStyle/>
                    <a:p>
                      <a:pPr algn="ctr"/>
                      <a:r>
                        <a:rPr sz="1100" b="0" i="0">
                          <a:solidFill>
                            <a:schemeClr val="tx1"/>
                          </a:solidFill>
                          <a:latin typeface="Avenir Next LT Pro"/>
                        </a:rPr>
                        <a:t>+5.0%</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+7.0%</a:t>
                      </a:r>
                    </a:p>
                  </a:txBody>
                  <a:tcPr marL="73152" marR="73152" marT="18288" marB="18288" anchor="ctr">
                    <a:solidFill>
                      <a:srgbClr val="F4F6F8"/>
                    </a:solidFill>
                  </a:tcPr>
                </a:tc>
                <a:tc>
                  <a:txBody>
                    <a:bodyPr/>
                    <a:lstStyle/>
                    <a:p>
                      <a:pPr algn="ctr"/>
                      <a:r>
                        <a:rPr sz="1100" b="0" i="0">
                          <a:solidFill>
                            <a:schemeClr val="tx1"/>
                          </a:solidFill>
                          <a:latin typeface="Avenir Next LT Pro"/>
                        </a:rPr>
                        <a:t>+13.2%</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551</a:t>
                      </a:r>
                    </a:p>
                  </a:txBody>
                  <a:tcPr marL="73152" marR="73152" marT="18288" marB="18288" anchor="ctr">
                    <a:solidFill>
                      <a:srgbClr val="F4F6F8"/>
                    </a:solidFill>
                  </a:tcPr>
                </a:tc>
                <a:tc>
                  <a:txBody>
                    <a:bodyPr/>
                    <a:lstStyle/>
                    <a:p>
                      <a:pPr algn="ctr"/>
                      <a:r>
                        <a:rPr sz="1100" b="0" i="0">
                          <a:solidFill>
                            <a:schemeClr val="tx1"/>
                          </a:solidFill>
                          <a:latin typeface="Avenir Next LT Pro"/>
                        </a:rPr>
                        <a:t>539</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589</a:t>
                      </a:r>
                    </a:p>
                  </a:txBody>
                  <a:tcPr marL="73152" marR="73152" marT="18288" marB="18288" anchor="ctr">
                    <a:solidFill>
                      <a:srgbClr val="F4F6F8"/>
                    </a:solidFill>
                  </a:tcPr>
                </a:tc>
                <a:tc>
                  <a:txBody>
                    <a:bodyPr/>
                    <a:lstStyle/>
                    <a:p>
                      <a:pPr algn="ctr"/>
                      <a:r>
                        <a:rPr sz="1100" b="0" i="0">
                          <a:solidFill>
                            <a:schemeClr val="tx1"/>
                          </a:solidFill>
                          <a:latin typeface="Avenir Next LT Pro"/>
                        </a:rPr>
                        <a:t>708</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18.2%</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16.0%</a:t>
                      </a:r>
                    </a:p>
                  </a:txBody>
                  <a:tcPr marL="73152" marR="73152" marT="18288" marB="18288" anchor="ctr">
                    <a:solidFill>
                      <a:srgbClr val="FFFFFF"/>
                    </a:solidFill>
                  </a:tcPr>
                </a:tc>
                <a:tc>
                  <a:txBody>
                    <a:bodyPr/>
                    <a:lstStyle/>
                    <a:p>
                      <a:pPr algn="ctr"/>
                      <a:r>
                        <a:rPr sz="1100" b="0" i="0">
                          <a:solidFill>
                            <a:schemeClr val="tx1"/>
                          </a:solidFill>
                          <a:latin typeface="Avenir Next LT Pro"/>
                        </a:rPr>
                        <a:t>17.0%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~$9</a:t>
                      </a:r>
                    </a:p>
                  </a:txBody>
                  <a:tcPr marL="73152" marR="73152" marT="18288" marB="18288" anchor="ctr">
                    <a:solidFill>
                      <a:srgbClr val="F4F6F8"/>
                    </a:solidFill>
                  </a:tcPr>
                </a:tc>
                <a:tc>
                  <a:txBody>
                    <a:bodyPr/>
                    <a:lstStyle/>
                    <a:p>
                      <a:pPr algn="ctr"/>
                      <a:r>
                        <a:rPr sz="1100" b="0" i="0">
                          <a:solidFill>
                            <a:schemeClr val="tx1"/>
                          </a:solidFill>
                          <a:latin typeface="Avenir Next LT Pro"/>
                        </a:rPr>
                        <a:t>~$14</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218660" y="5041127"/>
            <a:ext cx="8653669" cy="400110"/>
          </a:xfrm>
          <a:prstGeom prst="rect">
            <a:avLst/>
          </a:prstGeom>
          <a:noFill/>
        </p:spPr>
        <p:txBody>
          <a:bodyPr wrap="square">
            <a:spAutoFit/>
          </a:bodyPr>
          <a:lstStyle/>
          <a:p>
            <a:r>
              <a:rPr sz="1000" b="1" i="0" dirty="0">
                <a:solidFill>
                  <a:srgbClr val="9A7B44"/>
                </a:solidFill>
                <a:latin typeface="Avenir Next LT Pro"/>
              </a:rPr>
              <a:t>Story: margins dip near-term (FY26 guide 14–16%) then recover toward ~17%; FCF inflected to +$252M in FY25 — but ~$2.4B net debt (~4× EBITDA) and ~$225M/yr interest make it a leveraged bet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p:txBody>
          <a:bodyPr/>
          <a:lstStyle/>
          <a:p>
            <a:r>
              <a:rPr lang="en-US">
                <a:solidFill/>
              </a:rPr>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solidFill/>
                <a:latin typeface="Avenir Next LT Pro Demi"/>
              </a:rPr>
              <a:t>Valuation — EV/EBITDA, FY2027E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$708M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9A7B44"/>
                </a:solidFill>
                <a:latin typeface="Avenir Next LT Pro Demi"/>
              </a:rPr>
              <a:t>11×</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~$7.8B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~$310</a:t>
            </a:r>
          </a:p>
        </p:txBody>
      </p:sp>
      <p:graphicFrame>
        <p:nvGraphicFramePr>
          <p:cNvPr id="11" name="Table 10"/>
          <p:cNvGraphicFramePr>
            <a:graphicFrameLocks noGrp="1"/>
          </p:cNvGraphicFramePr>
          <p:nvPr>
            <p:extLst>
              <p:ext uri="{D42A27DB-BD31-4B8C-83A1-F6EECF244321}">
                <p14:modId xmlns:p14="http://schemas.microsoft.com/office/powerpoint/2010/main" val="3973473890"/>
              </p:ext>
            </p:extLst>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dirty="0">
                          <a:solidFill>
                            <a:srgbClr val="FFFFFF"/>
                          </a:solidFill>
                          <a:latin typeface="Avenir Next LT Pro Demi"/>
                        </a:rPr>
                        <a:t>Scenario</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Rev CAGR</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EBITDA </a:t>
                      </a:r>
                      <a:r>
                        <a:rPr sz="1000" b="1" i="0" dirty="0" err="1">
                          <a:solidFill>
                            <a:srgbClr val="FFFFFF"/>
                          </a:solidFill>
                          <a:latin typeface="Avenir Next LT Pro Demi"/>
                        </a:rPr>
                        <a:t>Mgn</a:t>
                      </a:r>
                      <a:endParaRPr sz="1000" b="1" i="0" dirty="0">
                        <a:solidFill>
                          <a:srgbClr val="FFFFFF"/>
                        </a:solidFill>
                        <a:latin typeface="Avenir Next LT Pro Demi"/>
                      </a:endParaRP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Exit Mult</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Implied Price</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Prob.</a:t>
                      </a:r>
                    </a:p>
                  </a:txBody>
                  <a:tcPr marL="73152" marR="73152" marT="18288" marB="18288" anchor="ctr">
                    <a:solidFill>
                      <a:srgbClr val="9A7B44"/>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Bull</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10%</a:t>
                      </a:r>
                    </a:p>
                  </a:txBody>
                  <a:tcPr marL="73152" marR="73152" marT="18288" marB="18288" anchor="ctr">
                    <a:solidFill>
                      <a:srgbClr val="FFFFFF"/>
                    </a:solidFill>
                  </a:tcPr>
                </a:tc>
                <a:tc>
                  <a:txBody>
                    <a:bodyPr/>
                    <a:lstStyle/>
                    <a:p>
                      <a:pPr algn="ctr"/>
                      <a:r>
                        <a:rPr sz="1100" b="0" i="0">
                          <a:solidFill>
                            <a:schemeClr val="tx1"/>
                          </a:solidFill>
                          <a:latin typeface="Avenir Next LT Pro"/>
                        </a:rPr>
                        <a:t>20%</a:t>
                      </a:r>
                    </a:p>
                  </a:txBody>
                  <a:tcPr marL="73152" marR="73152" marT="18288" marB="18288" anchor="ctr">
                    <a:solidFill>
                      <a:srgbClr val="FFFFFF"/>
                    </a:solidFill>
                  </a:tcPr>
                </a:tc>
                <a:tc>
                  <a:txBody>
                    <a:bodyPr/>
                    <a:lstStyle/>
                    <a:p>
                      <a:pPr algn="ctr"/>
                      <a:r>
                        <a:rPr sz="1100" b="0" i="0">
                          <a:solidFill>
                            <a:schemeClr val="tx1"/>
                          </a:solidFill>
                          <a:latin typeface="Avenir Next LT Pro"/>
                        </a:rPr>
                        <a:t>13×</a:t>
                      </a:r>
                    </a:p>
                  </a:txBody>
                  <a:tcPr marL="73152" marR="73152" marT="18288" marB="18288" anchor="ctr">
                    <a:solidFill>
                      <a:srgbClr val="FFFFFF"/>
                    </a:solidFill>
                  </a:tcPr>
                </a:tc>
                <a:tc>
                  <a:txBody>
                    <a:bodyPr/>
                    <a:lstStyle/>
                    <a:p>
                      <a:pPr algn="ctr"/>
                      <a:r>
                        <a:rPr sz="1100" b="0" i="0">
                          <a:solidFill>
                            <a:schemeClr val="tx1"/>
                          </a:solidFill>
                          <a:latin typeface="Avenir Next LT Pro"/>
                        </a:rPr>
                        <a:t>~$562</a:t>
                      </a:r>
                    </a:p>
                  </a:txBody>
                  <a:tcPr marL="73152" marR="73152" marT="18288" marB="18288" anchor="ctr">
                    <a:solidFill>
                      <a:srgbClr val="FFFFFF"/>
                    </a:solidFill>
                  </a:tcPr>
                </a:tc>
                <a:tc>
                  <a:txBody>
                    <a:bodyPr/>
                    <a:lstStyle/>
                    <a:p>
                      <a:pPr algn="ctr"/>
                      <a:r>
                        <a:rPr sz="1100" b="0" i="0">
                          <a:solidFill>
                            <a:schemeClr val="tx1"/>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chemeClr val="tx1"/>
                          </a:solidFill>
                          <a:latin typeface="Avenir Next LT Pro Demi"/>
                        </a:rPr>
                        <a:t>Base</a:t>
                      </a:r>
                    </a:p>
                  </a:txBody>
                  <a:tcPr marL="73152" marR="73152" marT="18288" marB="18288" anchor="ctr">
                    <a:solidFill>
                      <a:srgbClr val="F4F6F8"/>
                    </a:solidFill>
                  </a:tcPr>
                </a:tc>
                <a:tc>
                  <a:txBody>
                    <a:bodyPr/>
                    <a:lstStyle/>
                    <a:p>
                      <a:pPr algn="ctr"/>
                      <a:r>
                        <a:rPr sz="1100" b="0" i="0" dirty="0">
                          <a:solidFill>
                            <a:schemeClr val="tx1"/>
                          </a:solidFill>
                          <a:latin typeface="Avenir Next LT Pro"/>
                        </a:rPr>
                        <a:t>6%</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17%</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~$310</a:t>
                      </a:r>
                    </a:p>
                  </a:txBody>
                  <a:tcPr marL="73152" marR="73152" marT="18288" marB="18288" anchor="ctr">
                    <a:solidFill>
                      <a:srgbClr val="F4F6F8"/>
                    </a:solidFill>
                  </a:tcPr>
                </a:tc>
                <a:tc>
                  <a:txBody>
                    <a:bodyPr/>
                    <a:lstStyle/>
                    <a:p>
                      <a:pPr algn="ctr"/>
                      <a:r>
                        <a:rPr sz="1100" b="0" i="0">
                          <a:solidFill>
                            <a:schemeClr val="tx1"/>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chemeClr val="tx1"/>
                          </a:solidFill>
                          <a:latin typeface="Avenir Next LT Pro Demi"/>
                        </a:rPr>
                        <a:t>Bear</a:t>
                      </a:r>
                    </a:p>
                  </a:txBody>
                  <a:tcPr marL="73152" marR="73152" marT="18288" marB="18288" anchor="ctr">
                    <a:solidFill>
                      <a:srgbClr val="FFFFFF"/>
                    </a:solidFill>
                  </a:tcPr>
                </a:tc>
                <a:tc>
                  <a:txBody>
                    <a:bodyPr/>
                    <a:lstStyle/>
                    <a:p>
                      <a:pPr algn="ctr"/>
                      <a:r>
                        <a:rPr sz="1100" b="0" i="0">
                          <a:solidFill>
                            <a:schemeClr val="tx1"/>
                          </a:solidFill>
                          <a:latin typeface="Avenir Next LT Pro"/>
                        </a:rPr>
                        <a:t>2%</a:t>
                      </a:r>
                    </a:p>
                  </a:txBody>
                  <a:tcPr marL="73152" marR="73152" marT="18288" marB="18288" anchor="ctr">
                    <a:solidFill>
                      <a:srgbClr val="FFFFFF"/>
                    </a:solidFill>
                  </a:tcPr>
                </a:tc>
                <a:tc>
                  <a:txBody>
                    <a:bodyPr/>
                    <a:lstStyle/>
                    <a:p>
                      <a:pPr algn="ctr"/>
                      <a:r>
                        <a:rPr sz="1100" b="0" i="0">
                          <a:solidFill>
                            <a:schemeClr val="tx1"/>
                          </a:solidFill>
                          <a:latin typeface="Avenir Next LT Pro"/>
                        </a:rPr>
                        <a:t>14%</a:t>
                      </a:r>
                    </a:p>
                  </a:txBody>
                  <a:tcPr marL="73152" marR="73152" marT="18288" marB="18288" anchor="ctr">
                    <a:solidFill>
                      <a:srgbClr val="FFFFFF"/>
                    </a:solidFill>
                  </a:tcPr>
                </a:tc>
                <a:tc>
                  <a:txBody>
                    <a:bodyPr/>
                    <a:lstStyle/>
                    <a:p>
                      <a:pPr algn="ctr"/>
                      <a:r>
                        <a:rPr sz="1100" b="0" i="0">
                          <a:solidFill>
                            <a:schemeClr val="tx1"/>
                          </a:solidFill>
                          <a:latin typeface="Avenir Next LT Pro"/>
                        </a:rPr>
                        <a:t>8×</a:t>
                      </a:r>
                    </a:p>
                  </a:txBody>
                  <a:tcPr marL="73152" marR="73152" marT="18288" marB="18288" anchor="ctr">
                    <a:solidFill>
                      <a:srgbClr val="FFFFFF"/>
                    </a:solidFill>
                  </a:tcPr>
                </a:tc>
                <a:tc>
                  <a:txBody>
                    <a:bodyPr/>
                    <a:lstStyle/>
                    <a:p>
                      <a:pPr algn="ctr"/>
                      <a:r>
                        <a:rPr sz="1100" b="0" i="0">
                          <a:solidFill>
                            <a:schemeClr val="tx1"/>
                          </a:solidFill>
                          <a:latin typeface="Avenir Next LT Pro"/>
                        </a:rPr>
                        <a:t>~$100</a:t>
                      </a:r>
                    </a:p>
                  </a:txBody>
                  <a:tcPr marL="73152" marR="73152" marT="18288" marB="18288" anchor="ctr">
                    <a:solidFill>
                      <a:srgbClr val="FFFFFF"/>
                    </a:solidFill>
                  </a:tcPr>
                </a:tc>
                <a:tc>
                  <a:txBody>
                    <a:bodyPr/>
                    <a:lstStyle/>
                    <a:p>
                      <a:pPr algn="ctr"/>
                      <a:r>
                        <a:rPr sz="1100" b="0" i="0" dirty="0">
                          <a:solidFill>
                            <a:schemeClr val="tx1"/>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p:spPr>
        <p:txBody>
          <a:bodyPr wrap="none">
            <a:spAutoFit/>
          </a:bodyPr>
          <a:lstStyle/>
          <a:p>
            <a:r>
              <a:rPr sz="1300" b="1" i="0">
                <a:solidFill>
                  <a:srgbClr val="9A7B44"/>
                </a:solidFill>
                <a:latin typeface="Avenir Next LT Pro Demi"/>
              </a:rPr>
              <a:t>Probability-weighted target: ~$285   (~72% upside from ~$166)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solidFill/>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9A7B44"/>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Est. EPS (fwd)</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9A7B44"/>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~$22–35</a:t>
                      </a:r>
                    </a:p>
                  </a:txBody>
                  <a:tcPr marL="73152" marR="73152" marT="18288" marB="18288" anchor="ctr">
                    <a:solidFill>
                      <a:srgbClr val="FFFFFF"/>
                    </a:solidFill>
                  </a:tcPr>
                </a:tc>
                <a:tc>
                  <a:txBody>
                    <a:bodyPr/>
                    <a:lstStyle/>
                    <a:p>
                      <a:pPr algn="ctr"/>
                      <a:r>
                        <a:rPr sz="950" b="0" i="0">
                          <a:solidFill>
                            <a:schemeClr val="tx1"/>
                          </a:solidFill>
                          <a:latin typeface="Avenir Next LT Pro"/>
                        </a:rPr>
                        <a:t>~5–7×</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~$11–19</a:t>
                      </a:r>
                    </a:p>
                  </a:txBody>
                  <a:tcPr marL="73152" marR="73152" marT="18288" marB="18288" anchor="ctr">
                    <a:solidFill>
                      <a:srgbClr val="F4F6F8"/>
                    </a:solidFill>
                  </a:tcPr>
                </a:tc>
                <a:tc>
                  <a:txBody>
                    <a:bodyPr/>
                    <a:lstStyle/>
                    <a:p>
                      <a:pPr algn="ctr"/>
                      <a:r>
                        <a:rPr sz="950" b="0" i="0">
                          <a:solidFill>
                            <a:schemeClr val="tx1"/>
                          </a:solidFill>
                          <a:latin typeface="Avenir Next LT Pro"/>
                        </a:rPr>
                        <a:t>~9–15×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~$3–6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~25–55×</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p:spPr>
        <p:txBody>
          <a:bodyPr wrap="square">
            <a:spAutoFit/>
          </a:bodyPr>
          <a:lstStyle/>
          <a:p>
            <a:r>
              <a:rPr sz="1100" b="1" i="0" dirty="0">
                <a:solidFill/>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
        <p:nvSpPr>
          <p:cNvPr id="8" name="TextBox 7"/>
          <p:cNvSpPr txBox="1"/>
          <p:nvPr/>
        </p:nvSpPr>
        <p:spPr>
          <a:xfrm>
            <a:off x="457200" y="5989320"/>
            <a:ext cx="8229600" cy="365760"/>
          </a:xfrm>
          <a:prstGeom prst="rect">
            <a:avLst/>
          </a:prstGeom>
          <a:noFill/>
        </p:spPr>
        <p:txBody>
          <a:bodyPr wrap="square">
            <a:spAutoFit/>
          </a:bodyPr>
          <a:lstStyle/>
          <a:p>
            <a:r>
              <a:rPr sz="800" i="1">
                <a:solidFill>
                  <a:srgbClr val="707070"/>
                </a:solidFill>
                <a:latin typeface="Avenir Next LT Pro"/>
              </a:rPr>
              <a:t>EPS ≈ (EBITDA − ~$150M D&amp;A − ~$215M interest) × (1 − 25% tax) ÷ ~19M shares. Illustrative, not a forecast.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p:txBody>
          <a:bodyPr/>
          <a:lstStyle/>
          <a:p>
            <a:r>
              <a:rPr lang="en-US">
                <a:solidFill/>
              </a:rPr>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p:spPr>
        <p:txBody>
          <a:bodyPr wrap="square">
            <a:spAutoFit/>
          </a:bodyPr>
          <a:lstStyle/>
          <a:p>
            <a:r>
              <a:rPr sz="2300" b="0" i="0" dirty="0">
                <a:solidFill/>
                <a:latin typeface="Avenir Next LT Pro Demi"/>
              </a:rPr>
              <a:t>Competitive Landscape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9A7B44"/>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~9.3×</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p:spPr>
        <p:txBody>
          <a:bodyPr wrap="square">
            <a:spAutoFit/>
          </a:bodyPr>
          <a:lstStyle/>
          <a:p>
            <a:r>
              <a:rPr sz="1100" b="1" i="0" dirty="0">
                <a:solidFill/>
                <a:latin typeface="Avenir Next LT Pro Demi"/>
              </a:rPr>
              <a:t>The real competitor is Arhaus, not European luxury.</a:t>
            </a:r>
          </a:p>
          <a:p>
            <a:r>
              <a:rPr sz="1000" b="0" i="0" dirty="0">
                <a:solidFill/>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8" y="274320"/>
            <a:ext cx="8229600" cy="446276"/>
          </a:xfrm>
          <a:prstGeom prst="rect">
            <a:avLst/>
          </a:prstGeom>
          <a:noFill/>
        </p:spPr>
        <p:txBody>
          <a:bodyPr wrap="square">
            <a:spAutoFit/>
          </a:bodyPr>
          <a:lstStyle/>
          <a:p>
            <a:r>
              <a:rPr sz="2300" b="0" i="0" dirty="0">
                <a:solidFill/>
                <a:latin typeface="Avenir Next LT Pro Demi"/>
              </a:rPr>
              <a:t>Key Risks — What Has to Go Wrong</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Housing stays depressed through 2027</a:t>
            </a:r>
          </a:p>
          <a:p>
            <a:r>
              <a:rPr sz="950" b="1" i="0" dirty="0">
                <a:solidFill>
                  <a:srgbClr val="B03030"/>
                </a:solidFill>
                <a:latin typeface="Avenir Next LT Pro"/>
              </a:rPr>
              <a:t>Severity: HIGH   ·   Probability:</a:t>
            </a:r>
          </a:p>
        </p:txBody>
      </p:sp>
      <p:sp>
        <p:nvSpPr>
          <p:cNvPr id="7" name="Rectangle 6"/>
          <p:cNvSpPr/>
          <p:nvPr/>
        </p:nvSpPr>
        <p:spPr>
          <a:xfrm>
            <a:off x="457200"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709159"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Balance-sheet stress — ~4.0× levered, ~$225M/yr interest</a:t>
            </a:r>
          </a:p>
          <a:p>
            <a:r>
              <a:rPr sz="950" b="1" i="0" dirty="0">
                <a:solidFill>
                  <a:srgbClr val="B03030"/>
                </a:solidFill>
                <a:latin typeface="Avenir Next LT Pro"/>
              </a:rPr>
              <a:t>Severity: HIGH   ·   Probability:</a:t>
            </a:r>
          </a:p>
        </p:txBody>
      </p:sp>
      <p:sp>
        <p:nvSpPr>
          <p:cNvPr id="9" name="Rectangle 8"/>
          <p:cNvSpPr/>
          <p:nvPr/>
        </p:nvSpPr>
        <p:spPr>
          <a:xfrm>
            <a:off x="4709159"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International execution failure</a:t>
            </a:r>
          </a:p>
          <a:p>
            <a:r>
              <a:rPr sz="950" b="1" i="0" dirty="0">
                <a:solidFill>
                  <a:srgbClr val="C88A12"/>
                </a:solidFill>
                <a:latin typeface="Avenir Next LT Pro"/>
              </a:rPr>
              <a:t>Severity: MED   ·   Probability:</a:t>
            </a:r>
          </a:p>
        </p:txBody>
      </p:sp>
      <p:sp>
        <p:nvSpPr>
          <p:cNvPr id="11" name="Rectangle 10"/>
          <p:cNvSpPr/>
          <p:nvPr/>
        </p:nvSpPr>
        <p:spPr>
          <a:xfrm>
            <a:off x="457200"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709159"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Tariff / supply-chain disruption</a:t>
            </a:r>
          </a:p>
          <a:p>
            <a:r>
              <a:rPr sz="950" b="1" i="0" dirty="0">
                <a:solidFill>
                  <a:srgbClr val="C88A12"/>
                </a:solidFill>
                <a:latin typeface="Avenir Next LT Pro"/>
              </a:rPr>
              <a:t>Severity: MED   ·   Probability:</a:t>
            </a:r>
          </a:p>
        </p:txBody>
      </p:sp>
      <p:sp>
        <p:nvSpPr>
          <p:cNvPr id="13" name="Rectangle 12"/>
          <p:cNvSpPr/>
          <p:nvPr/>
        </p:nvSpPr>
        <p:spPr>
          <a:xfrm>
            <a:off x="4709159"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Friedman key-man dependency</a:t>
            </a:r>
          </a:p>
          <a:p>
            <a:r>
              <a:rPr sz="950" b="1" i="0" dirty="0">
                <a:solidFill>
                  <a:srgbClr val="B03030"/>
                </a:solidFill>
                <a:latin typeface="Avenir Next LT Pro"/>
              </a:rPr>
              <a:t>Severity: HIGH   ·   Probability:</a:t>
            </a:r>
          </a:p>
        </p:txBody>
      </p:sp>
      <p:sp>
        <p:nvSpPr>
          <p:cNvPr id="15" name="Rectangle 14"/>
          <p:cNvSpPr/>
          <p:nvPr/>
        </p:nvSpPr>
        <p:spPr>
          <a:xfrm>
            <a:off x="457200" y="3803904"/>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709159"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Broad consumer / discretionary recession</a:t>
            </a:r>
          </a:p>
          <a:p>
            <a:r>
              <a:rPr sz="950" b="1" i="0" dirty="0">
                <a:solidFill>
                  <a:srgbClr val="C88A12"/>
                </a:solidFill>
                <a:latin typeface="Avenir Next LT Pro"/>
              </a:rPr>
              <a:t>Severity: MED   ·   Probability:</a:t>
            </a:r>
          </a:p>
        </p:txBody>
      </p:sp>
      <p:sp>
        <p:nvSpPr>
          <p:cNvPr id="17" name="Rectangle 16"/>
          <p:cNvSpPr/>
          <p:nvPr/>
        </p:nvSpPr>
        <p:spPr>
          <a:xfrm>
            <a:off x="4709159" y="3803904"/>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4928616"/>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a:solidFill>
                  <a:srgbClr val="0E2841"/>
                </a:solidFill>
                <a:latin typeface="Avenir Next LT Pro Demi"/>
              </a:rPr>
              <a:t>Fulfillment / delivery execution (moat risk at Estates tier)</a:t>
            </a:r>
          </a:p>
          <a:p>
            <a:r>
              <a:rPr sz="950" b="1">
                <a:solidFill>
                  <a:srgbClr val="C88A12"/>
                </a:solidFill>
                <a:latin typeface="Avenir Next LT Pro"/>
              </a:rPr>
              <a:t>Severity: MED   ·   Probability: 30%</a:t>
            </a:r>
          </a:p>
        </p:txBody>
      </p:sp>
      <p:sp>
        <p:nvSpPr>
          <p:cNvPr id="19" name="Rectangle 18"/>
          <p:cNvSpPr/>
          <p:nvPr/>
        </p:nvSpPr>
        <p:spPr>
          <a:xfrm>
            <a:off x="457200" y="4928616"/>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Props1.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3.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399</TotalTime>
  <Words>1025</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3</cp:revision>
  <cp:lastPrinted>2026-06-10T00:07:23Z</cp:lastPrinted>
  <dcterms:created xsi:type="dcterms:W3CDTF">2026-06-26T21:07:49Z</dcterms:created>
  <dcterms:modified xsi:type="dcterms:W3CDTF">2026-07-02T20:59:50Z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