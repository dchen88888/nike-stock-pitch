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22" r:id="rId35"/>
    <p:sldId id="523" r:id="rId36"/>
    <p:sldId id="524" r:id="rId37"/>
    <p:sldId id="508" r:id="rId10"/>
    <p:sldId id="482" r:id="rId11"/>
    <p:sldId id="509" r:id="rId12"/>
    <p:sldId id="506" r:id="rId14"/>
    <p:sldId id="511" r:id="rId15"/>
    <p:sldId id="513" r:id="rId16"/>
    <p:sldId id="525" r:id="rId38"/>
    <p:sldId id="510" r:id="rId13"/>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31" Type="http://schemas.openxmlformats.org/officeDocument/2006/relationships/slide" Target="slides/slide6.xml"/><Relationship Id="rId32" Type="http://schemas.openxmlformats.org/officeDocument/2006/relationships/slide" Target="slides/slide5.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no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no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no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
        <p:nvSpPr>
          <p:cNvPr id="12" name="TextBox 11"/>
          <p:cNvSpPr txBox="1"/>
          <p:nvPr/>
        </p:nvSpPr>
        <p:spPr>
          <a:xfrm>
            <a:off x="457200" y="1965960"/>
            <a:ext cx="8229600" cy="256032"/>
          </a:xfrm>
          <a:prstGeom prst="rect">
            <a:avLst/>
          </a:prstGeom>
          <a:noFill/>
          <a:ln>
            <a:noFill/>
          </a:ln>
        </p:spPr>
        <p:txBody>
          <a:bodyPr wrap="square">
            <a:spAutoFit/>
          </a:bodyPr>
          <a:lstStyle/>
          <a:p>
            <a:r>
              <a:rPr sz="900" b="0" i="1">
                <a:solidFill>
                  <a:srgbClr val="707070"/>
                </a:solidFill>
                <a:latin typeface="Avenir Next LT Pro"/>
              </a:rPr>
              <a:t>2–3 yr outcome range if the thesis plays out (not probability-weighted):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no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no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no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no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no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no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no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no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no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no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no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no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no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no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no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no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Trough → Recovery: Where RH Stands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8229600" cy="548640"/>
          </a:xfrm>
          <a:prstGeom prst="rect">
            <a:avLst/>
          </a:prstGeom>
          <a:noFill/>
          <a:ln>
            <a:noFill/>
          </a:ln>
        </p:spPr>
        <p:txBody>
          <a:bodyPr wrap="square">
            <a:spAutoFit/>
          </a:bodyPr>
          <a:lstStyle/>
          <a:p>
            <a:r>
              <a:rPr sz="1100" b="0" i="0">
                <a:solidFill>
                  <a:srgbClr val="000000"/>
                </a:solidFill>
                <a:latin typeface="Avenir Next LT Pro"/>
              </a:rPr>
              <a:t>Peaked ~$3.6B (FY22) on a housing boom + debt-funded buybacks; housing then froze — revenue fell to a ~$3.0B trough with ~$2.4B net debt.</a:t>
            </a:r>
          </a:p>
        </p:txBody>
      </p:sp>
      <p:sp>
        <p:nvSpPr>
          <p:cNvPr id="5" name="Rectangle 4"/>
          <p:cNvSpPr/>
          <p:nvPr/>
        </p:nvSpPr>
        <p:spPr>
          <a:xfrm>
            <a:off x="457200" y="1874519"/>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WORKING</a:t>
            </a:r>
          </a:p>
        </p:txBody>
      </p:sp>
      <p:sp>
        <p:nvSpPr>
          <p:cNvPr id="6" name="Rectangle 5"/>
          <p:cNvSpPr/>
          <p:nvPr/>
        </p:nvSpPr>
        <p:spPr>
          <a:xfrm>
            <a:off x="4709160" y="1874519"/>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WATCH</a:t>
            </a:r>
          </a:p>
        </p:txBody>
      </p:sp>
      <p:sp>
        <p:nvSpPr>
          <p:cNvPr id="7" name="TextBox 6"/>
          <p:cNvSpPr txBox="1"/>
          <p:nvPr/>
        </p:nvSpPr>
        <p:spPr>
          <a:xfrm>
            <a:off x="457200" y="2423160"/>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FCF inflected to +$252M in FY25 (from −$214M)</a:t>
            </a:r>
          </a:p>
        </p:txBody>
      </p:sp>
      <p:sp>
        <p:nvSpPr>
          <p:cNvPr id="8" name="TextBox 7"/>
          <p:cNvSpPr txBox="1"/>
          <p:nvPr/>
        </p:nvSpPr>
        <p:spPr>
          <a:xfrm>
            <a:off x="457200" y="3081528"/>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Inventory normalized $1.02B → $819M</a:t>
            </a:r>
          </a:p>
        </p:txBody>
      </p:sp>
      <p:sp>
        <p:nvSpPr>
          <p:cNvPr id="9" name="TextBox 8"/>
          <p:cNvSpPr txBox="1"/>
          <p:nvPr/>
        </p:nvSpPr>
        <p:spPr>
          <a:xfrm>
            <a:off x="457200" y="3739896"/>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Revenue re-accelerated +8.1% in FY25</a:t>
            </a:r>
          </a:p>
        </p:txBody>
      </p:sp>
      <p:sp>
        <p:nvSpPr>
          <p:cNvPr id="10" name="TextBox 9"/>
          <p:cNvSpPr txBox="1"/>
          <p:nvPr/>
        </p:nvSpPr>
        <p:spPr>
          <a:xfrm>
            <a:off x="4709160" y="2423160"/>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Q1 FY26: revenue −1.7%, net loss</a:t>
            </a:r>
          </a:p>
        </p:txBody>
      </p:sp>
      <p:sp>
        <p:nvSpPr>
          <p:cNvPr id="11" name="TextBox 10"/>
          <p:cNvSpPr txBox="1"/>
          <p:nvPr/>
        </p:nvSpPr>
        <p:spPr>
          <a:xfrm>
            <a:off x="4709160" y="3081528"/>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~$225M/yr interest keeps coverage thin</a:t>
            </a:r>
          </a:p>
        </p:txBody>
      </p:sp>
      <p:sp>
        <p:nvSpPr>
          <p:cNvPr id="12" name="TextBox 11"/>
          <p:cNvSpPr txBox="1"/>
          <p:nvPr/>
        </p:nvSpPr>
        <p:spPr>
          <a:xfrm>
            <a:off x="4709160" y="3739896"/>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Guidance is back-half loaded</a:t>
            </a:r>
          </a:p>
        </p:txBody>
      </p:sp>
      <p:sp>
        <p:nvSpPr>
          <p:cNvPr id="13" name="TextBox 12"/>
          <p:cNvSpPr txBox="1"/>
          <p:nvPr/>
        </p:nvSpPr>
        <p:spPr>
          <a:xfrm>
            <a:off x="457200" y="4663440"/>
            <a:ext cx="8229600" cy="365760"/>
          </a:xfrm>
          <a:prstGeom prst="rect">
            <a:avLst/>
          </a:prstGeom>
          <a:noFill/>
          <a:ln>
            <a:noFill/>
          </a:ln>
        </p:spPr>
        <p:txBody>
          <a:bodyPr wrap="square">
            <a:spAutoFit/>
          </a:bodyPr>
          <a:lstStyle/>
          <a:p>
            <a:r>
              <a:rPr sz="1150" b="1" i="0">
                <a:solidFill>
                  <a:srgbClr val="000000"/>
                </a:solidFill>
                <a:latin typeface="Avenir Next LT Pro Demi"/>
              </a:rPr>
              <a:t>Recovery is real but early — the next two quarters are the tell.</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Q1 FY2026 10-Q.</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Strategy &amp; Recent Execution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3977639" cy="365760"/>
          </a:xfrm>
          <a:prstGeom prst="rect">
            <a:avLst/>
          </a:prstGeom>
          <a:noFill/>
          <a:ln>
            <a:noFill/>
          </a:ln>
        </p:spPr>
        <p:txBody>
          <a:bodyPr wrap="square">
            <a:spAutoFit/>
          </a:bodyPr>
          <a:lstStyle/>
          <a:p>
            <a:r>
              <a:rPr sz="1100" b="1" i="0">
                <a:solidFill>
                  <a:srgbClr val="000000"/>
                </a:solidFill>
                <a:latin typeface="Avenir Next LT Pro Demi"/>
              </a:rPr>
              <a:t>THE PLAN</a:t>
            </a:r>
          </a:p>
        </p:txBody>
      </p:sp>
      <p:sp>
        <p:nvSpPr>
          <p:cNvPr id="5" name="TextBox 4"/>
          <p:cNvSpPr txBox="1"/>
          <p:nvPr/>
        </p:nvSpPr>
        <p:spPr>
          <a:xfrm>
            <a:off x="457200" y="1554480"/>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Product transformation — new collections</a:t>
            </a:r>
          </a:p>
        </p:txBody>
      </p:sp>
      <p:sp>
        <p:nvSpPr>
          <p:cNvPr id="6" name="TextBox 5"/>
          <p:cNvSpPr txBox="1"/>
          <p:nvPr/>
        </p:nvSpPr>
        <p:spPr>
          <a:xfrm>
            <a:off x="457200" y="2212848"/>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Gallery expansion → RH's ~$5–6B opportunity</a:t>
            </a:r>
          </a:p>
        </p:txBody>
      </p:sp>
      <p:sp>
        <p:nvSpPr>
          <p:cNvPr id="7" name="TextBox 6"/>
          <p:cNvSpPr txBox="1"/>
          <p:nvPr/>
        </p:nvSpPr>
        <p:spPr>
          <a:xfrm>
            <a:off x="457200" y="2871215"/>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Move upmarket — Estates targets the rate-immune buyer</a:t>
            </a:r>
          </a:p>
        </p:txBody>
      </p:sp>
      <p:sp>
        <p:nvSpPr>
          <p:cNvPr id="8" name="TextBox 7"/>
          <p:cNvSpPr txBox="1"/>
          <p:nvPr/>
        </p:nvSpPr>
        <p:spPr>
          <a:xfrm>
            <a:off x="457200" y="3529584"/>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Global + platform — hospitality, F&amp;B</a:t>
            </a:r>
          </a:p>
        </p:txBody>
      </p:sp>
      <p:sp>
        <p:nvSpPr>
          <p:cNvPr id="9" name="TextBox 8"/>
          <p:cNvSpPr txBox="1"/>
          <p:nvPr/>
        </p:nvSpPr>
        <p:spPr>
          <a:xfrm>
            <a:off x="4709160" y="1143000"/>
            <a:ext cx="3977639" cy="365760"/>
          </a:xfrm>
          <a:prstGeom prst="rect">
            <a:avLst/>
          </a:prstGeom>
          <a:noFill/>
          <a:ln>
            <a:noFill/>
          </a:ln>
        </p:spPr>
        <p:txBody>
          <a:bodyPr wrap="square">
            <a:spAutoFit/>
          </a:bodyPr>
          <a:lstStyle/>
          <a:p>
            <a:r>
              <a:rPr sz="1100" b="1" i="0">
                <a:solidFill>
                  <a:srgbClr val="000000"/>
                </a:solidFill>
                <a:latin typeface="Avenir Next LT Pro Demi"/>
              </a:rPr>
              <a:t>RECENT MOVES  (watch, not yet catalysts)</a:t>
            </a:r>
          </a:p>
        </p:txBody>
      </p:sp>
      <p:sp>
        <p:nvSpPr>
          <p:cNvPr id="10" name="TextBox 9"/>
          <p:cNvSpPr txBox="1"/>
          <p:nvPr/>
        </p:nvSpPr>
        <p:spPr>
          <a:xfrm>
            <a:off x="4709160" y="1554480"/>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Estates unveiled — acquired legendary ateliers (owned exclusivity); commercially unproven</a:t>
            </a:r>
          </a:p>
        </p:txBody>
      </p:sp>
      <p:sp>
        <p:nvSpPr>
          <p:cNvPr id="11" name="TextBox 10"/>
          <p:cNvSpPr txBox="1"/>
          <p:nvPr/>
        </p:nvSpPr>
        <p:spPr>
          <a:xfrm>
            <a:off x="4709160" y="2395728"/>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Mercedes-AMG F1 hospitality partnership — brand halo</a:t>
            </a:r>
          </a:p>
        </p:txBody>
      </p:sp>
      <p:sp>
        <p:nvSpPr>
          <p:cNvPr id="12" name="TextBox 11"/>
          <p:cNvSpPr txBox="1"/>
          <p:nvPr/>
        </p:nvSpPr>
        <p:spPr>
          <a:xfrm>
            <a:off x="4709160" y="3236976"/>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RH London Mayfair flagship — Europe doubling-down</a:t>
            </a:r>
          </a:p>
        </p:txBody>
      </p:sp>
      <p:sp>
        <p:nvSpPr>
          <p:cNvPr id="13" name="TextBox 12"/>
          <p:cNvSpPr txBox="1"/>
          <p:nvPr/>
        </p:nvSpPr>
        <p:spPr>
          <a:xfrm>
            <a:off x="457200" y="4663440"/>
            <a:ext cx="8229600" cy="457200"/>
          </a:xfrm>
          <a:prstGeom prst="rect">
            <a:avLst/>
          </a:prstGeom>
          <a:noFill/>
          <a:ln>
            <a:noFill/>
          </a:ln>
        </p:spPr>
        <p:txBody>
          <a:bodyPr wrap="square">
            <a:spAutoFit/>
          </a:bodyPr>
          <a:lstStyle/>
          <a:p>
            <a:r>
              <a:rPr sz="1150" b="1" i="0">
                <a:solidFill>
                  <a:srgbClr val="000000"/>
                </a:solidFill>
                <a:latin typeface="Avenir Next LT Pro Demi"/>
              </a:rPr>
              <a:t>Differentiated and expanding — but unproven and capital-intensive during a levered stretch.</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company announcements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Management &amp; Ownership</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25880"/>
          <a:ext cx="8229599" cy="4114800"/>
        </p:xfrm>
        <a:graphic>
          <a:graphicData uri="http://schemas.openxmlformats.org/drawingml/2006/table">
            <a:tbl>
              <a:tblPr>
                <a:tableStyleId>{5C22544A-7EE6-4342-B048-85BDC9FD1C3A}</a:tableStyleId>
              </a:tblPr>
              <a:tblGrid>
                <a:gridCol w="1920240"/>
                <a:gridCol w="3977639"/>
                <a:gridCol w="2331720"/>
              </a:tblGrid>
              <a:tr h="822960">
                <a:tc>
                  <a:txBody>
                    <a:bodyPr/>
                    <a:lstStyle/>
                    <a:p>
                      <a:r>
                        <a:rPr sz="1050" b="1">
                          <a:solidFill>
                            <a:srgbClr val="FFFFFF"/>
                          </a:solidFill>
                          <a:latin typeface="Avenir Next LT Pro Demi"/>
                        </a:rPr>
                        <a:t>Item</a:t>
                      </a:r>
                    </a:p>
                  </a:txBody>
                  <a:tcPr marL="82296" anchor="ctr">
                    <a:solidFill>
                      <a:srgbClr val="9A7B44"/>
                    </a:solidFill>
                  </a:tcPr>
                </a:tc>
                <a:tc>
                  <a:txBody>
                    <a:bodyPr/>
                    <a:lstStyle/>
                    <a:p>
                      <a:r>
                        <a:rPr sz="1050" b="1">
                          <a:solidFill>
                            <a:srgbClr val="FFFFFF"/>
                          </a:solidFill>
                          <a:latin typeface="Avenir Next LT Pro"/>
                        </a:rPr>
                        <a:t>Detail</a:t>
                      </a:r>
                    </a:p>
                  </a:txBody>
                  <a:tcPr marL="82296" anchor="ctr">
                    <a:solidFill>
                      <a:srgbClr val="9A7B44"/>
                    </a:solidFill>
                  </a:tcPr>
                </a:tc>
                <a:tc>
                  <a:txBody>
                    <a:bodyPr/>
                    <a:lstStyle/>
                    <a:p>
                      <a:r>
                        <a:rPr sz="1050" b="1">
                          <a:solidFill>
                            <a:srgbClr val="FFFFFF"/>
                          </a:solidFill>
                          <a:latin typeface="Avenir Next LT Pro"/>
                        </a:rPr>
                        <a:t>Read</a:t>
                      </a:r>
                    </a:p>
                  </a:txBody>
                  <a:tcPr marL="82296" anchor="ctr">
                    <a:solidFill>
                      <a:srgbClr val="9A7B44"/>
                    </a:solidFill>
                  </a:tcPr>
                </a:tc>
              </a:tr>
              <a:tr h="822960">
                <a:tc>
                  <a:txBody>
                    <a:bodyPr/>
                    <a:lstStyle/>
                    <a:p>
                      <a:r>
                        <a:rPr sz="1050" b="1">
                          <a:solidFill>
                            <a:srgbClr val="000000"/>
                          </a:solidFill>
                          <a:latin typeface="Avenir Next LT Pro Demi"/>
                        </a:rPr>
                        <a:t>Operator</a:t>
                      </a:r>
                    </a:p>
                  </a:txBody>
                  <a:tcPr marL="82296" anchor="ctr">
                    <a:solidFill>
                      <a:srgbClr val="FFFFFF"/>
                    </a:solidFill>
                  </a:tcPr>
                </a:tc>
                <a:tc>
                  <a:txBody>
                    <a:bodyPr/>
                    <a:lstStyle/>
                    <a:p>
                      <a:r>
                        <a:rPr sz="1050" b="0">
                          <a:solidFill>
                            <a:srgbClr val="000000"/>
                          </a:solidFill>
                          <a:latin typeface="Avenir Next LT Pro"/>
                        </a:rPr>
                        <a:t>Friedman (Chair/CEO): grew Pottery Barn $50M→$1B; rebuilt RH from near-bankruptcy (2001)</a:t>
                      </a:r>
                    </a:p>
                  </a:txBody>
                  <a:tcPr marL="82296" anchor="ctr">
                    <a:solidFill>
                      <a:srgbClr val="FFFFFF"/>
                    </a:solidFill>
                  </a:tcPr>
                </a:tc>
                <a:tc>
                  <a:txBody>
                    <a:bodyPr/>
                    <a:lstStyle/>
                    <a:p>
                      <a:r>
                        <a:rPr sz="1050" b="0">
                          <a:solidFill>
                            <a:srgbClr val="000000"/>
                          </a:solidFill>
                          <a:latin typeface="Avenir Next LT Pro"/>
                        </a:rPr>
                        <a:t>Proven; key-man risk</a:t>
                      </a:r>
                    </a:p>
                  </a:txBody>
                  <a:tcPr marL="82296" anchor="ctr">
                    <a:solidFill>
                      <a:srgbClr val="FFFFFF"/>
                    </a:solidFill>
                  </a:tcPr>
                </a:tc>
              </a:tr>
              <a:tr h="822960">
                <a:tc>
                  <a:txBody>
                    <a:bodyPr/>
                    <a:lstStyle/>
                    <a:p>
                      <a:r>
                        <a:rPr sz="1050" b="1">
                          <a:solidFill>
                            <a:srgbClr val="000000"/>
                          </a:solidFill>
                          <a:latin typeface="Avenir Next LT Pro Demi"/>
                        </a:rPr>
                        <a:t>Ownership</a:t>
                      </a:r>
                    </a:p>
                  </a:txBody>
                  <a:tcPr marL="82296" anchor="ctr">
                    <a:solidFill>
                      <a:srgbClr val="F4F6F8"/>
                    </a:solidFill>
                  </a:tcPr>
                </a:tc>
                <a:tc>
                  <a:txBody>
                    <a:bodyPr/>
                    <a:lstStyle/>
                    <a:p>
                      <a:r>
                        <a:rPr sz="1050" b="0">
                          <a:solidFill>
                            <a:srgbClr val="000000"/>
                          </a:solidFill>
                          <a:latin typeface="Avenir Next LT Pro"/>
                        </a:rPr>
                        <a:t>~18% outright (~25% incl. options); bought ~$10M at ~$216 (Jun 2024)</a:t>
                      </a:r>
                    </a:p>
                  </a:txBody>
                  <a:tcPr marL="82296" anchor="ctr">
                    <a:solidFill>
                      <a:srgbClr val="F4F6F8"/>
                    </a:solidFill>
                  </a:tcPr>
                </a:tc>
                <a:tc>
                  <a:txBody>
                    <a:bodyPr/>
                    <a:lstStyle/>
                    <a:p>
                      <a:r>
                        <a:rPr sz="1050" b="0">
                          <a:solidFill>
                            <a:srgbClr val="000000"/>
                          </a:solidFill>
                          <a:latin typeface="Avenir Next LT Pro"/>
                        </a:rPr>
                        <a:t>Deep alignment</a:t>
                      </a:r>
                    </a:p>
                  </a:txBody>
                  <a:tcPr marL="82296" anchor="ctr">
                    <a:solidFill>
                      <a:srgbClr val="F4F6F8"/>
                    </a:solidFill>
                  </a:tcPr>
                </a:tc>
              </a:tr>
              <a:tr h="822960">
                <a:tc>
                  <a:txBody>
                    <a:bodyPr/>
                    <a:lstStyle/>
                    <a:p>
                      <a:r>
                        <a:rPr sz="1050" b="1">
                          <a:solidFill>
                            <a:srgbClr val="000000"/>
                          </a:solidFill>
                          <a:latin typeface="Avenir Next LT Pro Demi"/>
                        </a:rPr>
                        <a:t>Recent insider activity</a:t>
                      </a:r>
                    </a:p>
                  </a:txBody>
                  <a:tcPr marL="82296" anchor="ctr">
                    <a:solidFill>
                      <a:srgbClr val="FFFFFF"/>
                    </a:solidFill>
                  </a:tcPr>
                </a:tc>
                <a:tc>
                  <a:txBody>
                    <a:bodyPr/>
                    <a:lstStyle/>
                    <a:p>
                      <a:r>
                        <a:rPr sz="1050" b="0">
                          <a:solidFill>
                            <a:srgbClr val="000000"/>
                          </a:solidFill>
                          <a:latin typeface="Avenir Next LT Pro"/>
                        </a:rPr>
                        <a:t>Mixed — mostly sales (option/tax) + a recent director open-market buy</a:t>
                      </a:r>
                    </a:p>
                  </a:txBody>
                  <a:tcPr marL="82296" anchor="ctr">
                    <a:solidFill>
                      <a:srgbClr val="FFFFFF"/>
                    </a:solidFill>
                  </a:tcPr>
                </a:tc>
                <a:tc>
                  <a:txBody>
                    <a:bodyPr/>
                    <a:lstStyle/>
                    <a:p>
                      <a:r>
                        <a:rPr sz="1050" b="0">
                          <a:solidFill>
                            <a:srgbClr val="000000"/>
                          </a:solidFill>
                          <a:latin typeface="Avenir Next LT Pro"/>
                        </a:rPr>
                        <a:t>No strong signal</a:t>
                      </a:r>
                    </a:p>
                  </a:txBody>
                  <a:tcPr marL="82296" anchor="ctr">
                    <a:solidFill>
                      <a:srgbClr val="FFFFFF"/>
                    </a:solidFill>
                  </a:tcPr>
                </a:tc>
              </a:tr>
              <a:tr h="822960">
                <a:tc>
                  <a:txBody>
                    <a:bodyPr/>
                    <a:lstStyle/>
                    <a:p>
                      <a:r>
                        <a:rPr sz="1050" b="1">
                          <a:solidFill>
                            <a:srgbClr val="000000"/>
                          </a:solidFill>
                          <a:latin typeface="Avenir Next LT Pro Demi"/>
                        </a:rPr>
                        <a:t>Governance</a:t>
                      </a:r>
                    </a:p>
                  </a:txBody>
                  <a:tcPr marL="82296" anchor="ctr">
                    <a:solidFill>
                      <a:srgbClr val="F4F6F8"/>
                    </a:solidFill>
                  </a:tcPr>
                </a:tc>
                <a:tc>
                  <a:txBody>
                    <a:bodyPr/>
                    <a:lstStyle/>
                    <a:p>
                      <a:r>
                        <a:rPr sz="1050" b="0">
                          <a:solidFill>
                            <a:srgbClr val="000000"/>
                          </a:solidFill>
                          <a:latin typeface="Avenir Next LT Pro"/>
                        </a:rPr>
                        <a:t>Founder-led; Jun 2026 annual meeting routine; no activist involvement</a:t>
                      </a:r>
                    </a:p>
                  </a:txBody>
                  <a:tcPr marL="82296" anchor="ctr">
                    <a:solidFill>
                      <a:srgbClr val="F4F6F8"/>
                    </a:solidFill>
                  </a:tcPr>
                </a:tc>
                <a:tc>
                  <a:txBody>
                    <a:bodyPr/>
                    <a:lstStyle/>
                    <a:p>
                      <a:r>
                        <a:rPr sz="1050" b="0">
                          <a:solidFill>
                            <a:srgbClr val="000000"/>
                          </a:solidFill>
                          <a:latin typeface="Avenir Next LT Pro"/>
                        </a:rPr>
                        <a:t>Stable; no catalyst</a:t>
                      </a:r>
                    </a:p>
                  </a:txBody>
                  <a:tcPr marL="82296" anchor="ctr">
                    <a:solidFill>
                      <a:srgbClr val="F4F6F8"/>
                    </a:solidFill>
                  </a:tcPr>
                </a:tc>
              </a:tr>
            </a:tbl>
          </a:graphicData>
        </a:graphic>
      </p:graphicFrame>
      <p:sp>
        <p:nvSpPr>
          <p:cNvPr id="5" name="TextBox 4"/>
          <p:cNvSpPr txBox="1"/>
          <p:nvPr/>
        </p:nvSpPr>
        <p:spPr>
          <a:xfrm>
            <a:off x="457200" y="5669280"/>
            <a:ext cx="8229600" cy="365760"/>
          </a:xfrm>
          <a:prstGeom prst="rect">
            <a:avLst/>
          </a:prstGeom>
          <a:noFill/>
          <a:ln>
            <a:noFill/>
          </a:ln>
        </p:spPr>
        <p:txBody>
          <a:bodyPr wrap="square">
            <a:spAutoFit/>
          </a:bodyPr>
          <a:lstStyle/>
          <a:p>
            <a:r>
              <a:rPr sz="1150" b="1" i="0">
                <a:solidFill>
                  <a:srgbClr val="000000"/>
                </a:solidFill>
                <a:latin typeface="Avenir Next LT Pro Demi"/>
              </a:rPr>
              <a:t>Aligned, proven operator — but no activist catalyst and no strong insider “buy” signal.</a:t>
            </a:r>
          </a:p>
        </p:txBody>
      </p:sp>
      <p:sp>
        <p:nvSpPr>
          <p:cNvPr id="6" name="TextBox 5"/>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DEF 14A proxy; SEC Form 4; RH 8-K (Jun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